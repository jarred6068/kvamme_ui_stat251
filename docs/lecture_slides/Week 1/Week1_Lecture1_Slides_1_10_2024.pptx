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86" r:id="rId3"/>
    <p:sldId id="285" r:id="rId4"/>
    <p:sldId id="257" r:id="rId5"/>
    <p:sldId id="293" r:id="rId6"/>
    <p:sldId id="259" r:id="rId7"/>
    <p:sldId id="261" r:id="rId8"/>
    <p:sldId id="262" r:id="rId9"/>
    <p:sldId id="265" r:id="rId10"/>
    <p:sldId id="270" r:id="rId11"/>
    <p:sldId id="268" r:id="rId12"/>
    <p:sldId id="280" r:id="rId13"/>
    <p:sldId id="283" r:id="rId14"/>
    <p:sldId id="267"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46" autoAdjust="0"/>
    <p:restoredTop sz="95097" autoAdjust="0"/>
  </p:normalViewPr>
  <p:slideViewPr>
    <p:cSldViewPr snapToGrid="0">
      <p:cViewPr varScale="1">
        <p:scale>
          <a:sx n="64" d="100"/>
          <a:sy n="64" d="100"/>
        </p:scale>
        <p:origin x="77" y="341"/>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C7EA2F-9E63-4866-8ADB-4C7590AC989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99FDC2B-D125-4B51-8A0B-6775C08BC1E3}">
      <dgm:prSet/>
      <dgm:spPr/>
      <dgm:t>
        <a:bodyPr/>
        <a:lstStyle/>
        <a:p>
          <a:pPr>
            <a:lnSpc>
              <a:spcPct val="100000"/>
            </a:lnSpc>
          </a:pPr>
          <a:r>
            <a:rPr lang="en-US" b="1"/>
            <a:t>Data - </a:t>
          </a:r>
          <a:r>
            <a:rPr lang="en-US"/>
            <a:t> a collection of observations/measurements on a set of variables - typically represented as  a table.</a:t>
          </a:r>
        </a:p>
      </dgm:t>
    </dgm:pt>
    <dgm:pt modelId="{5D9B9187-6812-4442-BDD3-37084806E916}" type="parTrans" cxnId="{E0133A49-356E-49AD-AB37-6B6D40B56D2E}">
      <dgm:prSet/>
      <dgm:spPr/>
      <dgm:t>
        <a:bodyPr/>
        <a:lstStyle/>
        <a:p>
          <a:endParaRPr lang="en-US"/>
        </a:p>
      </dgm:t>
    </dgm:pt>
    <dgm:pt modelId="{35F858CF-D367-4A71-8196-59099AA49C88}" type="sibTrans" cxnId="{E0133A49-356E-49AD-AB37-6B6D40B56D2E}">
      <dgm:prSet/>
      <dgm:spPr/>
      <dgm:t>
        <a:bodyPr/>
        <a:lstStyle/>
        <a:p>
          <a:endParaRPr lang="en-US"/>
        </a:p>
      </dgm:t>
    </dgm:pt>
    <dgm:pt modelId="{5B6C2204-A1BD-495C-8582-0BA85FFC7E10}">
      <dgm:prSet/>
      <dgm:spPr/>
      <dgm:t>
        <a:bodyPr/>
        <a:lstStyle/>
        <a:p>
          <a:pPr>
            <a:lnSpc>
              <a:spcPct val="100000"/>
            </a:lnSpc>
          </a:pPr>
          <a:r>
            <a:rPr lang="en-US" b="1"/>
            <a:t>Observation </a:t>
          </a:r>
          <a:r>
            <a:rPr lang="en-US"/>
            <a:t>– the fundamental unit of data – typically observations are rows of a data table</a:t>
          </a:r>
        </a:p>
      </dgm:t>
    </dgm:pt>
    <dgm:pt modelId="{0F6AF99E-A241-4277-A7E3-2EA6D8450A86}" type="parTrans" cxnId="{DF141A6D-76FC-40B9-AAF6-ABB776ADA8BF}">
      <dgm:prSet/>
      <dgm:spPr/>
      <dgm:t>
        <a:bodyPr/>
        <a:lstStyle/>
        <a:p>
          <a:endParaRPr lang="en-US"/>
        </a:p>
      </dgm:t>
    </dgm:pt>
    <dgm:pt modelId="{06933D79-E48C-40DE-9B56-F5CDF07D140D}" type="sibTrans" cxnId="{DF141A6D-76FC-40B9-AAF6-ABB776ADA8BF}">
      <dgm:prSet/>
      <dgm:spPr/>
      <dgm:t>
        <a:bodyPr/>
        <a:lstStyle/>
        <a:p>
          <a:endParaRPr lang="en-US"/>
        </a:p>
      </dgm:t>
    </dgm:pt>
    <dgm:pt modelId="{38F06077-7F5D-497A-94A5-BA46444552D6}">
      <dgm:prSet/>
      <dgm:spPr/>
      <dgm:t>
        <a:bodyPr/>
        <a:lstStyle/>
        <a:p>
          <a:pPr>
            <a:lnSpc>
              <a:spcPct val="100000"/>
            </a:lnSpc>
          </a:pPr>
          <a:r>
            <a:rPr lang="en-US" b="1"/>
            <a:t>Variables </a:t>
          </a:r>
          <a:r>
            <a:rPr lang="en-US"/>
            <a:t>– characteristics of an observation – typically variables are the columns of a data table </a:t>
          </a:r>
        </a:p>
      </dgm:t>
    </dgm:pt>
    <dgm:pt modelId="{97B693BE-5499-4F26-A4DE-56EB1A8B61B8}" type="parTrans" cxnId="{8BD547BD-D283-4ADB-9112-C0127E4E5A5F}">
      <dgm:prSet/>
      <dgm:spPr/>
      <dgm:t>
        <a:bodyPr/>
        <a:lstStyle/>
        <a:p>
          <a:endParaRPr lang="en-US"/>
        </a:p>
      </dgm:t>
    </dgm:pt>
    <dgm:pt modelId="{C9043F50-51CF-482F-ABAC-42C061933690}" type="sibTrans" cxnId="{8BD547BD-D283-4ADB-9112-C0127E4E5A5F}">
      <dgm:prSet/>
      <dgm:spPr/>
      <dgm:t>
        <a:bodyPr/>
        <a:lstStyle/>
        <a:p>
          <a:endParaRPr lang="en-US"/>
        </a:p>
      </dgm:t>
    </dgm:pt>
    <dgm:pt modelId="{11E3FD73-11CC-43B1-B3A0-0211145C5B9E}" type="pres">
      <dgm:prSet presAssocID="{28C7EA2F-9E63-4866-8ADB-4C7590AC9890}" presName="root" presStyleCnt="0">
        <dgm:presLayoutVars>
          <dgm:dir/>
          <dgm:resizeHandles val="exact"/>
        </dgm:presLayoutVars>
      </dgm:prSet>
      <dgm:spPr/>
    </dgm:pt>
    <dgm:pt modelId="{B3EA5C4D-E1FD-4538-B15B-DB6C056726F1}" type="pres">
      <dgm:prSet presAssocID="{899FDC2B-D125-4B51-8A0B-6775C08BC1E3}" presName="compNode" presStyleCnt="0"/>
      <dgm:spPr/>
    </dgm:pt>
    <dgm:pt modelId="{CDD0BCED-D09F-428F-9E8F-DC59C1787CD7}" type="pres">
      <dgm:prSet presAssocID="{899FDC2B-D125-4B51-8A0B-6775C08BC1E3}" presName="bgRect" presStyleLbl="bgShp" presStyleIdx="0" presStyleCnt="3"/>
      <dgm:spPr/>
    </dgm:pt>
    <dgm:pt modelId="{50EFC73B-54E6-4841-A181-4EBB2CBD550F}" type="pres">
      <dgm:prSet presAssocID="{899FDC2B-D125-4B51-8A0B-6775C08BC1E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Ruler"/>
        </a:ext>
      </dgm:extLst>
    </dgm:pt>
    <dgm:pt modelId="{575B0759-1519-4A2E-A100-374C7E01BCD5}" type="pres">
      <dgm:prSet presAssocID="{899FDC2B-D125-4B51-8A0B-6775C08BC1E3}" presName="spaceRect" presStyleCnt="0"/>
      <dgm:spPr/>
    </dgm:pt>
    <dgm:pt modelId="{A1367057-27B6-4A12-868A-6290586330D7}" type="pres">
      <dgm:prSet presAssocID="{899FDC2B-D125-4B51-8A0B-6775C08BC1E3}" presName="parTx" presStyleLbl="revTx" presStyleIdx="0" presStyleCnt="3">
        <dgm:presLayoutVars>
          <dgm:chMax val="0"/>
          <dgm:chPref val="0"/>
        </dgm:presLayoutVars>
      </dgm:prSet>
      <dgm:spPr/>
    </dgm:pt>
    <dgm:pt modelId="{EB046503-D3A2-4469-BA1E-739DC317BFDF}" type="pres">
      <dgm:prSet presAssocID="{35F858CF-D367-4A71-8196-59099AA49C88}" presName="sibTrans" presStyleCnt="0"/>
      <dgm:spPr/>
    </dgm:pt>
    <dgm:pt modelId="{76F638DE-674F-40F1-B32D-FF7AC1AD40F7}" type="pres">
      <dgm:prSet presAssocID="{5B6C2204-A1BD-495C-8582-0BA85FFC7E10}" presName="compNode" presStyleCnt="0"/>
      <dgm:spPr/>
    </dgm:pt>
    <dgm:pt modelId="{911B545B-8700-4D8C-A4E8-C122F76531FA}" type="pres">
      <dgm:prSet presAssocID="{5B6C2204-A1BD-495C-8582-0BA85FFC7E10}" presName="bgRect" presStyleLbl="bgShp" presStyleIdx="1" presStyleCnt="3"/>
      <dgm:spPr/>
    </dgm:pt>
    <dgm:pt modelId="{C495C3A7-F6BB-40B2-92C0-401310511BD3}" type="pres">
      <dgm:prSet presAssocID="{5B6C2204-A1BD-495C-8582-0BA85FFC7E1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ble"/>
        </a:ext>
      </dgm:extLst>
    </dgm:pt>
    <dgm:pt modelId="{65DA4B91-7F16-41EA-816D-B18765ED122E}" type="pres">
      <dgm:prSet presAssocID="{5B6C2204-A1BD-495C-8582-0BA85FFC7E10}" presName="spaceRect" presStyleCnt="0"/>
      <dgm:spPr/>
    </dgm:pt>
    <dgm:pt modelId="{689BF73F-F0F5-48BD-98DA-A2D9322E961B}" type="pres">
      <dgm:prSet presAssocID="{5B6C2204-A1BD-495C-8582-0BA85FFC7E10}" presName="parTx" presStyleLbl="revTx" presStyleIdx="1" presStyleCnt="3">
        <dgm:presLayoutVars>
          <dgm:chMax val="0"/>
          <dgm:chPref val="0"/>
        </dgm:presLayoutVars>
      </dgm:prSet>
      <dgm:spPr/>
    </dgm:pt>
    <dgm:pt modelId="{D49D9CBC-3BC7-4412-BA8A-5A1CC5CB427E}" type="pres">
      <dgm:prSet presAssocID="{06933D79-E48C-40DE-9B56-F5CDF07D140D}" presName="sibTrans" presStyleCnt="0"/>
      <dgm:spPr/>
    </dgm:pt>
    <dgm:pt modelId="{87B4AE54-D64E-44D7-A9F5-2A6B45D8824A}" type="pres">
      <dgm:prSet presAssocID="{38F06077-7F5D-497A-94A5-BA46444552D6}" presName="compNode" presStyleCnt="0"/>
      <dgm:spPr/>
    </dgm:pt>
    <dgm:pt modelId="{C24907FE-2E5C-4B7C-91FE-DAD10386C4D1}" type="pres">
      <dgm:prSet presAssocID="{38F06077-7F5D-497A-94A5-BA46444552D6}" presName="bgRect" presStyleLbl="bgShp" presStyleIdx="2" presStyleCnt="3"/>
      <dgm:spPr/>
    </dgm:pt>
    <dgm:pt modelId="{911C3ABD-F815-4BD6-B5D2-590B6259B183}" type="pres">
      <dgm:prSet presAssocID="{38F06077-7F5D-497A-94A5-BA46444552D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tatistics"/>
        </a:ext>
      </dgm:extLst>
    </dgm:pt>
    <dgm:pt modelId="{724D60D6-6221-4A02-AA08-FCEB22954AB8}" type="pres">
      <dgm:prSet presAssocID="{38F06077-7F5D-497A-94A5-BA46444552D6}" presName="spaceRect" presStyleCnt="0"/>
      <dgm:spPr/>
    </dgm:pt>
    <dgm:pt modelId="{72FAA7D3-E837-432C-87DB-F5B80E7E0DD1}" type="pres">
      <dgm:prSet presAssocID="{38F06077-7F5D-497A-94A5-BA46444552D6}" presName="parTx" presStyleLbl="revTx" presStyleIdx="2" presStyleCnt="3">
        <dgm:presLayoutVars>
          <dgm:chMax val="0"/>
          <dgm:chPref val="0"/>
        </dgm:presLayoutVars>
      </dgm:prSet>
      <dgm:spPr/>
    </dgm:pt>
  </dgm:ptLst>
  <dgm:cxnLst>
    <dgm:cxn modelId="{D1949A1D-A638-4AF7-A441-1AD78F2CE78E}" type="presOf" srcId="{5B6C2204-A1BD-495C-8582-0BA85FFC7E10}" destId="{689BF73F-F0F5-48BD-98DA-A2D9322E961B}" srcOrd="0" destOrd="0" presId="urn:microsoft.com/office/officeart/2018/2/layout/IconVerticalSolidList"/>
    <dgm:cxn modelId="{E0133A49-356E-49AD-AB37-6B6D40B56D2E}" srcId="{28C7EA2F-9E63-4866-8ADB-4C7590AC9890}" destId="{899FDC2B-D125-4B51-8A0B-6775C08BC1E3}" srcOrd="0" destOrd="0" parTransId="{5D9B9187-6812-4442-BDD3-37084806E916}" sibTransId="{35F858CF-D367-4A71-8196-59099AA49C88}"/>
    <dgm:cxn modelId="{DF141A6D-76FC-40B9-AAF6-ABB776ADA8BF}" srcId="{28C7EA2F-9E63-4866-8ADB-4C7590AC9890}" destId="{5B6C2204-A1BD-495C-8582-0BA85FFC7E10}" srcOrd="1" destOrd="0" parTransId="{0F6AF99E-A241-4277-A7E3-2EA6D8450A86}" sibTransId="{06933D79-E48C-40DE-9B56-F5CDF07D140D}"/>
    <dgm:cxn modelId="{252DD799-2BAA-4C9D-BBD0-2B88436277D4}" type="presOf" srcId="{28C7EA2F-9E63-4866-8ADB-4C7590AC9890}" destId="{11E3FD73-11CC-43B1-B3A0-0211145C5B9E}" srcOrd="0" destOrd="0" presId="urn:microsoft.com/office/officeart/2018/2/layout/IconVerticalSolidList"/>
    <dgm:cxn modelId="{8BD547BD-D283-4ADB-9112-C0127E4E5A5F}" srcId="{28C7EA2F-9E63-4866-8ADB-4C7590AC9890}" destId="{38F06077-7F5D-497A-94A5-BA46444552D6}" srcOrd="2" destOrd="0" parTransId="{97B693BE-5499-4F26-A4DE-56EB1A8B61B8}" sibTransId="{C9043F50-51CF-482F-ABAC-42C061933690}"/>
    <dgm:cxn modelId="{6EF646D4-67B7-4782-818A-4B4930C8B6C1}" type="presOf" srcId="{38F06077-7F5D-497A-94A5-BA46444552D6}" destId="{72FAA7D3-E837-432C-87DB-F5B80E7E0DD1}" srcOrd="0" destOrd="0" presId="urn:microsoft.com/office/officeart/2018/2/layout/IconVerticalSolidList"/>
    <dgm:cxn modelId="{1757EBF6-821F-436D-916B-CCD0338AFF9B}" type="presOf" srcId="{899FDC2B-D125-4B51-8A0B-6775C08BC1E3}" destId="{A1367057-27B6-4A12-868A-6290586330D7}" srcOrd="0" destOrd="0" presId="urn:microsoft.com/office/officeart/2018/2/layout/IconVerticalSolidList"/>
    <dgm:cxn modelId="{E30626C0-B212-4BFC-90BE-CD0D4B78FDA4}" type="presParOf" srcId="{11E3FD73-11CC-43B1-B3A0-0211145C5B9E}" destId="{B3EA5C4D-E1FD-4538-B15B-DB6C056726F1}" srcOrd="0" destOrd="0" presId="urn:microsoft.com/office/officeart/2018/2/layout/IconVerticalSolidList"/>
    <dgm:cxn modelId="{034A65F7-C06E-4AB9-8140-7DC389D8637E}" type="presParOf" srcId="{B3EA5C4D-E1FD-4538-B15B-DB6C056726F1}" destId="{CDD0BCED-D09F-428F-9E8F-DC59C1787CD7}" srcOrd="0" destOrd="0" presId="urn:microsoft.com/office/officeart/2018/2/layout/IconVerticalSolidList"/>
    <dgm:cxn modelId="{5B999CE8-E5F9-4C0D-BE2D-772EB005163E}" type="presParOf" srcId="{B3EA5C4D-E1FD-4538-B15B-DB6C056726F1}" destId="{50EFC73B-54E6-4841-A181-4EBB2CBD550F}" srcOrd="1" destOrd="0" presId="urn:microsoft.com/office/officeart/2018/2/layout/IconVerticalSolidList"/>
    <dgm:cxn modelId="{E7E4B640-C344-4138-82BD-9E24A93836EC}" type="presParOf" srcId="{B3EA5C4D-E1FD-4538-B15B-DB6C056726F1}" destId="{575B0759-1519-4A2E-A100-374C7E01BCD5}" srcOrd="2" destOrd="0" presId="urn:microsoft.com/office/officeart/2018/2/layout/IconVerticalSolidList"/>
    <dgm:cxn modelId="{C2E288E0-3C4B-4007-9C80-B349FAA20B3E}" type="presParOf" srcId="{B3EA5C4D-E1FD-4538-B15B-DB6C056726F1}" destId="{A1367057-27B6-4A12-868A-6290586330D7}" srcOrd="3" destOrd="0" presId="urn:microsoft.com/office/officeart/2018/2/layout/IconVerticalSolidList"/>
    <dgm:cxn modelId="{18E2C43A-DFFB-442E-B9B7-F35F32E16EFF}" type="presParOf" srcId="{11E3FD73-11CC-43B1-B3A0-0211145C5B9E}" destId="{EB046503-D3A2-4469-BA1E-739DC317BFDF}" srcOrd="1" destOrd="0" presId="urn:microsoft.com/office/officeart/2018/2/layout/IconVerticalSolidList"/>
    <dgm:cxn modelId="{EA4BDEA3-FF14-4EF0-A71D-945FC263A001}" type="presParOf" srcId="{11E3FD73-11CC-43B1-B3A0-0211145C5B9E}" destId="{76F638DE-674F-40F1-B32D-FF7AC1AD40F7}" srcOrd="2" destOrd="0" presId="urn:microsoft.com/office/officeart/2018/2/layout/IconVerticalSolidList"/>
    <dgm:cxn modelId="{79A44BFD-480B-4728-8615-E9EB25176D98}" type="presParOf" srcId="{76F638DE-674F-40F1-B32D-FF7AC1AD40F7}" destId="{911B545B-8700-4D8C-A4E8-C122F76531FA}" srcOrd="0" destOrd="0" presId="urn:microsoft.com/office/officeart/2018/2/layout/IconVerticalSolidList"/>
    <dgm:cxn modelId="{078D7E8E-25BD-4475-905A-DAFB5315078E}" type="presParOf" srcId="{76F638DE-674F-40F1-B32D-FF7AC1AD40F7}" destId="{C495C3A7-F6BB-40B2-92C0-401310511BD3}" srcOrd="1" destOrd="0" presId="urn:microsoft.com/office/officeart/2018/2/layout/IconVerticalSolidList"/>
    <dgm:cxn modelId="{F4365F3B-12C5-4486-8741-1724DF9AFC69}" type="presParOf" srcId="{76F638DE-674F-40F1-B32D-FF7AC1AD40F7}" destId="{65DA4B91-7F16-41EA-816D-B18765ED122E}" srcOrd="2" destOrd="0" presId="urn:microsoft.com/office/officeart/2018/2/layout/IconVerticalSolidList"/>
    <dgm:cxn modelId="{632D1CF3-46D3-4B98-A7F4-B19B66F11F1F}" type="presParOf" srcId="{76F638DE-674F-40F1-B32D-FF7AC1AD40F7}" destId="{689BF73F-F0F5-48BD-98DA-A2D9322E961B}" srcOrd="3" destOrd="0" presId="urn:microsoft.com/office/officeart/2018/2/layout/IconVerticalSolidList"/>
    <dgm:cxn modelId="{2BA06EE3-AE96-4A81-90F5-E5BB65199BB0}" type="presParOf" srcId="{11E3FD73-11CC-43B1-B3A0-0211145C5B9E}" destId="{D49D9CBC-3BC7-4412-BA8A-5A1CC5CB427E}" srcOrd="3" destOrd="0" presId="urn:microsoft.com/office/officeart/2018/2/layout/IconVerticalSolidList"/>
    <dgm:cxn modelId="{6854EC05-9B9E-4ABB-A1F7-2E39E66308F1}" type="presParOf" srcId="{11E3FD73-11CC-43B1-B3A0-0211145C5B9E}" destId="{87B4AE54-D64E-44D7-A9F5-2A6B45D8824A}" srcOrd="4" destOrd="0" presId="urn:microsoft.com/office/officeart/2018/2/layout/IconVerticalSolidList"/>
    <dgm:cxn modelId="{EA63BEBC-652D-4B25-BD3B-D9D92C501488}" type="presParOf" srcId="{87B4AE54-D64E-44D7-A9F5-2A6B45D8824A}" destId="{C24907FE-2E5C-4B7C-91FE-DAD10386C4D1}" srcOrd="0" destOrd="0" presId="urn:microsoft.com/office/officeart/2018/2/layout/IconVerticalSolidList"/>
    <dgm:cxn modelId="{CDD664B3-2A25-4691-AEE6-5F607EB4AAB5}" type="presParOf" srcId="{87B4AE54-D64E-44D7-A9F5-2A6B45D8824A}" destId="{911C3ABD-F815-4BD6-B5D2-590B6259B183}" srcOrd="1" destOrd="0" presId="urn:microsoft.com/office/officeart/2018/2/layout/IconVerticalSolidList"/>
    <dgm:cxn modelId="{715B8EEF-8C75-4331-A174-678A54ED7B84}" type="presParOf" srcId="{87B4AE54-D64E-44D7-A9F5-2A6B45D8824A}" destId="{724D60D6-6221-4A02-AA08-FCEB22954AB8}" srcOrd="2" destOrd="0" presId="urn:microsoft.com/office/officeart/2018/2/layout/IconVerticalSolidList"/>
    <dgm:cxn modelId="{FFACEF86-705A-4477-9308-ED733BBCFE8A}" type="presParOf" srcId="{87B4AE54-D64E-44D7-A9F5-2A6B45D8824A}" destId="{72FAA7D3-E837-432C-87DB-F5B80E7E0DD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0BCED-D09F-428F-9E8F-DC59C1787CD7}">
      <dsp:nvSpPr>
        <dsp:cNvPr id="0" name=""/>
        <dsp:cNvSpPr/>
      </dsp:nvSpPr>
      <dsp:spPr>
        <a:xfrm>
          <a:off x="0" y="618"/>
          <a:ext cx="10634807" cy="14468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EFC73B-54E6-4841-A181-4EBB2CBD550F}">
      <dsp:nvSpPr>
        <dsp:cNvPr id="0" name=""/>
        <dsp:cNvSpPr/>
      </dsp:nvSpPr>
      <dsp:spPr>
        <a:xfrm>
          <a:off x="437678" y="326163"/>
          <a:ext cx="795778" cy="7957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367057-27B6-4A12-868A-6290586330D7}">
      <dsp:nvSpPr>
        <dsp:cNvPr id="0" name=""/>
        <dsp:cNvSpPr/>
      </dsp:nvSpPr>
      <dsp:spPr>
        <a:xfrm>
          <a:off x="1671134" y="618"/>
          <a:ext cx="8963672" cy="144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127" tIns="153127" rIns="153127" bIns="153127" numCol="1" spcCol="1270" anchor="ctr" anchorCtr="0">
          <a:noAutofit/>
        </a:bodyPr>
        <a:lstStyle/>
        <a:p>
          <a:pPr marL="0" lvl="0" indent="0" algn="l" defTabSz="1111250">
            <a:lnSpc>
              <a:spcPct val="100000"/>
            </a:lnSpc>
            <a:spcBef>
              <a:spcPct val="0"/>
            </a:spcBef>
            <a:spcAft>
              <a:spcPct val="35000"/>
            </a:spcAft>
            <a:buNone/>
          </a:pPr>
          <a:r>
            <a:rPr lang="en-US" sz="2500" b="1" kern="1200"/>
            <a:t>Data - </a:t>
          </a:r>
          <a:r>
            <a:rPr lang="en-US" sz="2500" kern="1200"/>
            <a:t> a collection of observations/measurements on a set of variables - typically represented as  a table.</a:t>
          </a:r>
        </a:p>
      </dsp:txBody>
      <dsp:txXfrm>
        <a:off x="1671134" y="618"/>
        <a:ext cx="8963672" cy="1446869"/>
      </dsp:txXfrm>
    </dsp:sp>
    <dsp:sp modelId="{911B545B-8700-4D8C-A4E8-C122F76531FA}">
      <dsp:nvSpPr>
        <dsp:cNvPr id="0" name=""/>
        <dsp:cNvSpPr/>
      </dsp:nvSpPr>
      <dsp:spPr>
        <a:xfrm>
          <a:off x="0" y="1809205"/>
          <a:ext cx="10634807" cy="14468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95C3A7-F6BB-40B2-92C0-401310511BD3}">
      <dsp:nvSpPr>
        <dsp:cNvPr id="0" name=""/>
        <dsp:cNvSpPr/>
      </dsp:nvSpPr>
      <dsp:spPr>
        <a:xfrm>
          <a:off x="437678" y="2134750"/>
          <a:ext cx="795778" cy="7957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9BF73F-F0F5-48BD-98DA-A2D9322E961B}">
      <dsp:nvSpPr>
        <dsp:cNvPr id="0" name=""/>
        <dsp:cNvSpPr/>
      </dsp:nvSpPr>
      <dsp:spPr>
        <a:xfrm>
          <a:off x="1671134" y="1809205"/>
          <a:ext cx="8963672" cy="144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127" tIns="153127" rIns="153127" bIns="153127" numCol="1" spcCol="1270" anchor="ctr" anchorCtr="0">
          <a:noAutofit/>
        </a:bodyPr>
        <a:lstStyle/>
        <a:p>
          <a:pPr marL="0" lvl="0" indent="0" algn="l" defTabSz="1111250">
            <a:lnSpc>
              <a:spcPct val="100000"/>
            </a:lnSpc>
            <a:spcBef>
              <a:spcPct val="0"/>
            </a:spcBef>
            <a:spcAft>
              <a:spcPct val="35000"/>
            </a:spcAft>
            <a:buNone/>
          </a:pPr>
          <a:r>
            <a:rPr lang="en-US" sz="2500" b="1" kern="1200"/>
            <a:t>Observation </a:t>
          </a:r>
          <a:r>
            <a:rPr lang="en-US" sz="2500" kern="1200"/>
            <a:t>– the fundamental unit of data – typically observations are rows of a data table</a:t>
          </a:r>
        </a:p>
      </dsp:txBody>
      <dsp:txXfrm>
        <a:off x="1671134" y="1809205"/>
        <a:ext cx="8963672" cy="1446869"/>
      </dsp:txXfrm>
    </dsp:sp>
    <dsp:sp modelId="{C24907FE-2E5C-4B7C-91FE-DAD10386C4D1}">
      <dsp:nvSpPr>
        <dsp:cNvPr id="0" name=""/>
        <dsp:cNvSpPr/>
      </dsp:nvSpPr>
      <dsp:spPr>
        <a:xfrm>
          <a:off x="0" y="3617792"/>
          <a:ext cx="10634807" cy="14468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1C3ABD-F815-4BD6-B5D2-590B6259B183}">
      <dsp:nvSpPr>
        <dsp:cNvPr id="0" name=""/>
        <dsp:cNvSpPr/>
      </dsp:nvSpPr>
      <dsp:spPr>
        <a:xfrm>
          <a:off x="437678" y="3943337"/>
          <a:ext cx="795778" cy="7957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FAA7D3-E837-432C-87DB-F5B80E7E0DD1}">
      <dsp:nvSpPr>
        <dsp:cNvPr id="0" name=""/>
        <dsp:cNvSpPr/>
      </dsp:nvSpPr>
      <dsp:spPr>
        <a:xfrm>
          <a:off x="1671134" y="3617792"/>
          <a:ext cx="8963672" cy="144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127" tIns="153127" rIns="153127" bIns="153127" numCol="1" spcCol="1270" anchor="ctr" anchorCtr="0">
          <a:noAutofit/>
        </a:bodyPr>
        <a:lstStyle/>
        <a:p>
          <a:pPr marL="0" lvl="0" indent="0" algn="l" defTabSz="1111250">
            <a:lnSpc>
              <a:spcPct val="100000"/>
            </a:lnSpc>
            <a:spcBef>
              <a:spcPct val="0"/>
            </a:spcBef>
            <a:spcAft>
              <a:spcPct val="35000"/>
            </a:spcAft>
            <a:buNone/>
          </a:pPr>
          <a:r>
            <a:rPr lang="en-US" sz="2500" b="1" kern="1200"/>
            <a:t>Variables </a:t>
          </a:r>
          <a:r>
            <a:rPr lang="en-US" sz="2500" kern="1200"/>
            <a:t>– characteristics of an observation – typically variables are the columns of a data table </a:t>
          </a:r>
        </a:p>
      </dsp:txBody>
      <dsp:txXfrm>
        <a:off x="1671134" y="3617792"/>
        <a:ext cx="8963672" cy="144686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E2AEC-D126-75F1-4591-66E5E65394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54335E-54C9-CDB2-09C6-778C8CB209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F7F489-F533-A061-891F-FE5F3FF08DF8}"/>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5" name="Footer Placeholder 4">
            <a:extLst>
              <a:ext uri="{FF2B5EF4-FFF2-40B4-BE49-F238E27FC236}">
                <a16:creationId xmlns:a16="http://schemas.microsoft.com/office/drawing/2014/main" id="{929F6374-D954-540E-BDFC-73AD70545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DDBC2-D637-1C66-343D-591105C2D3C9}"/>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1505772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7ED3-BDA9-BA09-FA99-4F1C590C9E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F1722C-78AE-8B75-A417-AD306AF907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E52611-038E-8E21-CC01-D37BAA9E7C43}"/>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5" name="Footer Placeholder 4">
            <a:extLst>
              <a:ext uri="{FF2B5EF4-FFF2-40B4-BE49-F238E27FC236}">
                <a16:creationId xmlns:a16="http://schemas.microsoft.com/office/drawing/2014/main" id="{745ADAC0-2ED9-91DB-9D11-63683A043B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A51F52-60BB-EF6D-4944-F11D65ABB6A6}"/>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1612121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64A41-7704-22FE-73B6-F675179EB4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579F4B-FCEB-7C21-03C8-79A24299CA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D3D4EE-2290-6673-46F5-87862886EE81}"/>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5" name="Footer Placeholder 4">
            <a:extLst>
              <a:ext uri="{FF2B5EF4-FFF2-40B4-BE49-F238E27FC236}">
                <a16:creationId xmlns:a16="http://schemas.microsoft.com/office/drawing/2014/main" id="{792181FF-02D0-7039-14FC-A2A885440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564415-6B3E-328E-22A4-BB1E14223955}"/>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2161811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07B23-1543-E493-3984-32EE999EF8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86853E-5E81-C882-DB30-41A557D468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2B7641-ED2B-360E-47F5-1028121771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9C21EE-65BE-0D93-73A7-738448075FA5}"/>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6" name="Footer Placeholder 5">
            <a:extLst>
              <a:ext uri="{FF2B5EF4-FFF2-40B4-BE49-F238E27FC236}">
                <a16:creationId xmlns:a16="http://schemas.microsoft.com/office/drawing/2014/main" id="{326A8519-92FA-EA6D-BB38-269D944DA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AFFBD1-3F16-44F5-3D1E-B09385A0BFC4}"/>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2219752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A53E5-4088-64AF-78C7-4E230B9591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D13838-31FC-BBF4-78BA-6237CC2997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526062-7E54-FAC7-5F2A-31839477A7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5F79B3-6ADA-CE64-5DA4-3C421C0E29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72CE9A-F8B0-5FAC-7EC5-097CC8A06F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058E29-ECD1-3D59-29CF-D8B39AC56FF3}"/>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8" name="Footer Placeholder 7">
            <a:extLst>
              <a:ext uri="{FF2B5EF4-FFF2-40B4-BE49-F238E27FC236}">
                <a16:creationId xmlns:a16="http://schemas.microsoft.com/office/drawing/2014/main" id="{136E4E9C-CF84-C035-5466-D6C6266778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89BA54-2312-2AA4-7B79-0787210CB667}"/>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3226785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7E39A-0B4F-648E-C050-04C5A14136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0FD6B1-BF50-D4AB-B204-8FB70CEE84E8}"/>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4" name="Footer Placeholder 3">
            <a:extLst>
              <a:ext uri="{FF2B5EF4-FFF2-40B4-BE49-F238E27FC236}">
                <a16:creationId xmlns:a16="http://schemas.microsoft.com/office/drawing/2014/main" id="{40346ACA-5DA6-3BAC-5326-17485DFB3E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3B3554-3BAE-A09C-C15A-EF115B147BF3}"/>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51350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E16F4F-3228-886D-9B0F-01F5D6980A63}"/>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3" name="Footer Placeholder 2">
            <a:extLst>
              <a:ext uri="{FF2B5EF4-FFF2-40B4-BE49-F238E27FC236}">
                <a16:creationId xmlns:a16="http://schemas.microsoft.com/office/drawing/2014/main" id="{FC46ACB8-EDC7-7B93-5E46-8B55ED4D9D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18D0D9-D3D2-5CCB-4FC4-14FB8397A991}"/>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75368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4F962-FD11-9169-9453-1BA5EB65B6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68466B-BAD7-2F75-84CF-92740E6F98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A3D627-5419-E3C0-EAD3-7A9F73271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B1F67-FCEB-5398-9D2C-AF1BF7CF5DD8}"/>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6" name="Footer Placeholder 5">
            <a:extLst>
              <a:ext uri="{FF2B5EF4-FFF2-40B4-BE49-F238E27FC236}">
                <a16:creationId xmlns:a16="http://schemas.microsoft.com/office/drawing/2014/main" id="{35E16286-03D1-6BAE-8176-F217595C8B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3963B-F318-7769-FBC7-624CDE4228CF}"/>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1707260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2F606-4699-ABC5-2A48-29F7146367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39E3AD-047E-3528-C716-0A0F651C3E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2A3296-AA88-F4F7-0D91-6FB6138289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D428A1-56E6-43B4-4EB4-F331EF4F38BC}"/>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6" name="Footer Placeholder 5">
            <a:extLst>
              <a:ext uri="{FF2B5EF4-FFF2-40B4-BE49-F238E27FC236}">
                <a16:creationId xmlns:a16="http://schemas.microsoft.com/office/drawing/2014/main" id="{BDBE3AFE-1D77-74C4-AFFE-397C7B50A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09C64A-E587-52E1-588C-05E7038D2ECA}"/>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608000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7EF63-C4C5-8C1E-1A65-834D5D693E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21340C-48C2-D62E-C542-A6F07C22BC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2586B5-1A53-31A1-F6B8-2D50F64498B2}"/>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5" name="Footer Placeholder 4">
            <a:extLst>
              <a:ext uri="{FF2B5EF4-FFF2-40B4-BE49-F238E27FC236}">
                <a16:creationId xmlns:a16="http://schemas.microsoft.com/office/drawing/2014/main" id="{60CBE9CD-648D-0786-DD20-71D8F4E240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37C561-87A1-88E2-84E7-BDA454A98936}"/>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400936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AEBA9-8469-8FD8-744A-D24FFA439A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9F2C0C-C4A2-56EE-3916-6958B0827E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7DC466-B185-3DCB-9A24-3B76F92F6967}"/>
              </a:ext>
            </a:extLst>
          </p:cNvPr>
          <p:cNvSpPr>
            <a:spLocks noGrp="1"/>
          </p:cNvSpPr>
          <p:nvPr>
            <p:ph type="dt" sz="half" idx="10"/>
          </p:nvPr>
        </p:nvSpPr>
        <p:spPr/>
        <p:txBody>
          <a:bodyPr/>
          <a:lstStyle/>
          <a:p>
            <a:fld id="{D808A37A-4640-4712-9D8F-F69B6FC23B38}" type="datetimeFigureOut">
              <a:rPr lang="en-US" smtClean="0"/>
              <a:t>8/18/2026</a:t>
            </a:fld>
            <a:endParaRPr lang="en-US"/>
          </a:p>
        </p:txBody>
      </p:sp>
      <p:sp>
        <p:nvSpPr>
          <p:cNvPr id="5" name="Footer Placeholder 4">
            <a:extLst>
              <a:ext uri="{FF2B5EF4-FFF2-40B4-BE49-F238E27FC236}">
                <a16:creationId xmlns:a16="http://schemas.microsoft.com/office/drawing/2014/main" id="{51EA2B3A-EC4C-ACBF-DC33-73A618EEA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8324EF-E464-DADF-723B-95486C60A3A8}"/>
              </a:ext>
            </a:extLst>
          </p:cNvPr>
          <p:cNvSpPr>
            <a:spLocks noGrp="1"/>
          </p:cNvSpPr>
          <p:nvPr>
            <p:ph type="sldNum" sz="quarter" idx="12"/>
          </p:nvPr>
        </p:nvSpPr>
        <p:spPr/>
        <p:txBody>
          <a:bodyPr/>
          <a:lstStyle/>
          <a:p>
            <a:fld id="{487DAD54-D6C3-40AF-BCB8-5D562E05723E}" type="slidenum">
              <a:rPr lang="en-US" smtClean="0"/>
              <a:t>‹#›</a:t>
            </a:fld>
            <a:endParaRPr lang="en-US"/>
          </a:p>
        </p:txBody>
      </p:sp>
    </p:spTree>
    <p:extLst>
      <p:ext uri="{BB962C8B-B14F-4D97-AF65-F5344CB8AC3E}">
        <p14:creationId xmlns:p14="http://schemas.microsoft.com/office/powerpoint/2010/main" val="1227485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B2A680-0BB1-67B6-5655-374E31BCCD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E23017-BA6B-D3FC-E65C-221BA9E3CC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BEFDBE-367E-E57D-8954-18E0EC2427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08A37A-4640-4712-9D8F-F69B6FC23B38}" type="datetimeFigureOut">
              <a:rPr lang="en-US" smtClean="0"/>
              <a:t>8/18/2026</a:t>
            </a:fld>
            <a:endParaRPr lang="en-US"/>
          </a:p>
        </p:txBody>
      </p:sp>
      <p:sp>
        <p:nvSpPr>
          <p:cNvPr id="5" name="Footer Placeholder 4">
            <a:extLst>
              <a:ext uri="{FF2B5EF4-FFF2-40B4-BE49-F238E27FC236}">
                <a16:creationId xmlns:a16="http://schemas.microsoft.com/office/drawing/2014/main" id="{30404664-7AAA-29C4-A32F-C728BCBBFC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BF8C9A-3290-A6F9-D05F-ABF5891340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7DAD54-D6C3-40AF-BCB8-5D562E05723E}" type="slidenum">
              <a:rPr lang="en-US" smtClean="0"/>
              <a:t>‹#›</a:t>
            </a:fld>
            <a:endParaRPr lang="en-US"/>
          </a:p>
        </p:txBody>
      </p:sp>
    </p:spTree>
    <p:extLst>
      <p:ext uri="{BB962C8B-B14F-4D97-AF65-F5344CB8AC3E}">
        <p14:creationId xmlns:p14="http://schemas.microsoft.com/office/powerpoint/2010/main" val="1006528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www.researchgate.net/figure/Diagram-of-the-skull-measurements-for-the-Egyptian-skulls-data-set-Maximal-breadth-and_fig4_325126938" TargetMode="Externa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hyperlink" Target="https://openclassrooms.com/en/courses/6037301-perform-an-initial-data-analysis/6051886-discover-the-four-variable-types"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publicdomainpictures.net/view-image.php?image=100394&amp;picture=4-eyes" TargetMode="External"/><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hyperlink" Target="https://www.fabhow.com/how-to-calculate-your-body-mass-index.html" TargetMode="Externa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ohiostate.pressbooks.pub/swk3401/chapter/module-3-chapter-5-overview-of-methods-for-data-collection-and-measurement/" TargetMode="External"/><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creativecommons.org/licenses/by-nc-nd/3.0/"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0.png"/><Relationship Id="rId1" Type="http://schemas.openxmlformats.org/officeDocument/2006/relationships/slideLayout" Target="../slideLayouts/slideLayout2.xml"/><Relationship Id="rId5" Type="http://schemas.openxmlformats.org/officeDocument/2006/relationships/hyperlink" Target="https://www.coastalcountry.com/resource/blog-posts/animals/celebrating-todays-dairy-cows" TargetMode="Externa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05280-49E8-8903-A42B-7EB1BF699E79}"/>
              </a:ext>
            </a:extLst>
          </p:cNvPr>
          <p:cNvSpPr>
            <a:spLocks noGrp="1"/>
          </p:cNvSpPr>
          <p:nvPr>
            <p:ph type="ctrTitle"/>
          </p:nvPr>
        </p:nvSpPr>
        <p:spPr/>
        <p:txBody>
          <a:bodyPr>
            <a:normAutofit fontScale="90000"/>
          </a:bodyPr>
          <a:lstStyle/>
          <a:p>
            <a:br>
              <a:rPr lang="en-US" dirty="0"/>
            </a:br>
            <a:r>
              <a:rPr lang="en-US" dirty="0"/>
              <a:t>Lecture 1</a:t>
            </a:r>
            <a:br>
              <a:rPr lang="en-US" dirty="0"/>
            </a:br>
            <a:r>
              <a:rPr lang="en-US" dirty="0"/>
              <a:t>Introduction to Statistical Methods</a:t>
            </a:r>
          </a:p>
        </p:txBody>
      </p:sp>
    </p:spTree>
    <p:extLst>
      <p:ext uri="{BB962C8B-B14F-4D97-AF65-F5344CB8AC3E}">
        <p14:creationId xmlns:p14="http://schemas.microsoft.com/office/powerpoint/2010/main" val="537445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880"/>
            <a:ext cx="11338560" cy="914400"/>
          </a:xfrm>
        </p:spPr>
        <p:txBody>
          <a:bodyPr/>
          <a:lstStyle/>
          <a:p>
            <a:r>
              <a:rPr sz="4000">
                <a:solidFill>
                  <a:srgbClr val="000000"/>
                </a:solidFill>
                <a:latin typeface="Calibri Light"/>
              </a:rPr>
              <a:t>Where does statistics come from?</a:t>
            </a:r>
          </a:p>
        </p:txBody>
      </p:sp>
      <p:sp>
        <p:nvSpPr>
          <p:cNvPr id="3" name="TextBox 2"/>
          <p:cNvSpPr txBox="1"/>
          <p:nvPr/>
        </p:nvSpPr>
        <p:spPr>
          <a:xfrm>
            <a:off x="457200" y="1170432"/>
            <a:ext cx="11292840" cy="411480"/>
          </a:xfrm>
          <a:prstGeom prst="rect">
            <a:avLst/>
          </a:prstGeom>
          <a:noFill/>
        </p:spPr>
        <p:txBody>
          <a:bodyPr wrap="square" lIns="0" tIns="0" rIns="0" bIns="0" anchor="t">
            <a:spAutoFit/>
          </a:bodyPr>
          <a:lstStyle/>
          <a:p>
            <a:pPr algn="l">
              <a:spcAft>
                <a:spcPts val="0"/>
              </a:spcAft>
            </a:pPr>
            <a:r>
              <a:rPr sz="1600" b="0">
                <a:solidFill>
                  <a:srgbClr val="333333"/>
                </a:solidFill>
                <a:latin typeface="Calibri"/>
              </a:rPr>
              <a:t>Statistics began as bookkeeping about people — counting births, deaths, and taxpayers so that a state could describe itself.</a:t>
            </a:r>
          </a:p>
        </p:txBody>
      </p:sp>
      <p:sp>
        <p:nvSpPr>
          <p:cNvPr id="4" name="Rectangle 3"/>
          <p:cNvSpPr/>
          <p:nvPr/>
        </p:nvSpPr>
        <p:spPr>
          <a:xfrm>
            <a:off x="457200" y="3893515"/>
            <a:ext cx="11277295" cy="40233"/>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ectangle 4"/>
          <p:cNvSpPr/>
          <p:nvPr/>
        </p:nvSpPr>
        <p:spPr>
          <a:xfrm>
            <a:off x="1590141" y="3529584"/>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Oval 5"/>
          <p:cNvSpPr/>
          <p:nvPr/>
        </p:nvSpPr>
        <p:spPr>
          <a:xfrm>
            <a:off x="1522476"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457200" y="2231136"/>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1662</a:t>
            </a:r>
          </a:p>
          <a:p>
            <a:pPr algn="l"/>
            <a:r>
              <a:rPr sz="1050">
                <a:solidFill>
                  <a:srgbClr val="262626"/>
                </a:solidFill>
                <a:latin typeface="Calibri"/>
              </a:rPr>
              <a:t>John Graunt studies London's Bills of Mortality — the first life table built from real data.</a:t>
            </a:r>
          </a:p>
        </p:txBody>
      </p:sp>
      <p:sp>
        <p:nvSpPr>
          <p:cNvPr id="8" name="Rectangle 7"/>
          <p:cNvSpPr/>
          <p:nvPr/>
        </p:nvSpPr>
        <p:spPr>
          <a:xfrm>
            <a:off x="2874612" y="3913632"/>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Oval 8"/>
          <p:cNvSpPr/>
          <p:nvPr/>
        </p:nvSpPr>
        <p:spPr>
          <a:xfrm>
            <a:off x="2806946"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1741670" y="4297680"/>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1693</a:t>
            </a:r>
          </a:p>
          <a:p>
            <a:pPr algn="l"/>
            <a:r>
              <a:rPr sz="1050">
                <a:solidFill>
                  <a:srgbClr val="262626"/>
                </a:solidFill>
                <a:latin typeface="Calibri"/>
              </a:rPr>
              <a:t>Edmond Halley's Breslau life table makes it possible to price life annuities.</a:t>
            </a:r>
          </a:p>
        </p:txBody>
      </p:sp>
      <p:sp>
        <p:nvSpPr>
          <p:cNvPr id="11" name="Rectangle 10"/>
          <p:cNvSpPr/>
          <p:nvPr/>
        </p:nvSpPr>
        <p:spPr>
          <a:xfrm>
            <a:off x="4159083" y="3529584"/>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Oval 11"/>
          <p:cNvSpPr/>
          <p:nvPr/>
        </p:nvSpPr>
        <p:spPr>
          <a:xfrm>
            <a:off x="4091417"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3026141" y="2231136"/>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1749</a:t>
            </a:r>
          </a:p>
          <a:p>
            <a:pPr algn="l"/>
            <a:r>
              <a:rPr sz="1050">
                <a:solidFill>
                  <a:srgbClr val="262626"/>
                </a:solidFill>
                <a:latin typeface="Calibri"/>
              </a:rPr>
              <a:t>Gottfried Achenwall coins “Statistik” — literally the science of the state.</a:t>
            </a:r>
          </a:p>
        </p:txBody>
      </p:sp>
      <p:sp>
        <p:nvSpPr>
          <p:cNvPr id="14" name="Rectangle 13"/>
          <p:cNvSpPr/>
          <p:nvPr/>
        </p:nvSpPr>
        <p:spPr>
          <a:xfrm>
            <a:off x="5443553" y="3913632"/>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5375888"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4310612" y="4297680"/>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1790</a:t>
            </a:r>
          </a:p>
          <a:p>
            <a:pPr algn="l"/>
            <a:r>
              <a:rPr sz="1050">
                <a:solidFill>
                  <a:srgbClr val="262626"/>
                </a:solidFill>
                <a:latin typeface="Calibri"/>
              </a:rPr>
              <a:t>The first U.S. census counts the population. Great Britain follows in 1801.</a:t>
            </a:r>
          </a:p>
        </p:txBody>
      </p:sp>
      <p:sp>
        <p:nvSpPr>
          <p:cNvPr id="17" name="Rectangle 16"/>
          <p:cNvSpPr/>
          <p:nvPr/>
        </p:nvSpPr>
        <p:spPr>
          <a:xfrm>
            <a:off x="6728024" y="3529584"/>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Oval 17"/>
          <p:cNvSpPr/>
          <p:nvPr/>
        </p:nvSpPr>
        <p:spPr>
          <a:xfrm>
            <a:off x="6660358"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5595082" y="2231136"/>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1830s</a:t>
            </a:r>
          </a:p>
          <a:p>
            <a:pPr algn="l"/>
            <a:r>
              <a:rPr sz="1050">
                <a:solidFill>
                  <a:srgbClr val="262626"/>
                </a:solidFill>
                <a:latin typeface="Calibri"/>
              </a:rPr>
              <a:t>Adolphe Quetelet applies the normal curve to human traits and invents “the average man.”</a:t>
            </a:r>
          </a:p>
        </p:txBody>
      </p:sp>
      <p:sp>
        <p:nvSpPr>
          <p:cNvPr id="20" name="Rectangle 19"/>
          <p:cNvSpPr/>
          <p:nvPr/>
        </p:nvSpPr>
        <p:spPr>
          <a:xfrm>
            <a:off x="8012495" y="3913632"/>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7944829"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6879553" y="4297680"/>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1900</a:t>
            </a:r>
          </a:p>
          <a:p>
            <a:pPr algn="l"/>
            <a:r>
              <a:rPr sz="1050">
                <a:solidFill>
                  <a:srgbClr val="262626"/>
                </a:solidFill>
                <a:latin typeface="Calibri"/>
              </a:rPr>
              <a:t>Galton and Pearson develop correlation, regression, and the chi-square test.</a:t>
            </a:r>
          </a:p>
        </p:txBody>
      </p:sp>
      <p:sp>
        <p:nvSpPr>
          <p:cNvPr id="23" name="Rectangle 22"/>
          <p:cNvSpPr/>
          <p:nvPr/>
        </p:nvSpPr>
        <p:spPr>
          <a:xfrm>
            <a:off x="9296966" y="3529584"/>
            <a:ext cx="20116" cy="384048"/>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Oval 23"/>
          <p:cNvSpPr/>
          <p:nvPr/>
        </p:nvSpPr>
        <p:spPr>
          <a:xfrm>
            <a:off x="9229300" y="3835908"/>
            <a:ext cx="155448" cy="155448"/>
          </a:xfrm>
          <a:prstGeom prst="ellipse">
            <a:avLst/>
          </a:prstGeom>
          <a:solidFill>
            <a:srgbClr val="FFFFFF"/>
          </a:solid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8164024" y="2231136"/>
            <a:ext cx="2286000" cy="1298448"/>
          </a:xfrm>
          <a:prstGeom prst="rect">
            <a:avLst/>
          </a:prstGeom>
          <a:solidFill>
            <a:srgbClr val="EDF2F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4472C4"/>
                </a:solidFill>
                <a:latin typeface="Calibri"/>
              </a:rPr>
              <a:t>1925</a:t>
            </a:r>
          </a:p>
          <a:p>
            <a:pPr algn="l"/>
            <a:r>
              <a:rPr sz="1050">
                <a:solidFill>
                  <a:srgbClr val="262626"/>
                </a:solidFill>
                <a:latin typeface="Calibri"/>
              </a:rPr>
              <a:t>R. A. Fisher formalizes experimental design, ANOVA, and significance testing.</a:t>
            </a:r>
          </a:p>
        </p:txBody>
      </p:sp>
      <p:sp>
        <p:nvSpPr>
          <p:cNvPr id="26" name="Rectangle 25"/>
          <p:cNvSpPr/>
          <p:nvPr/>
        </p:nvSpPr>
        <p:spPr>
          <a:xfrm>
            <a:off x="10581436" y="3913632"/>
            <a:ext cx="20116" cy="384048"/>
          </a:xfrm>
          <a:prstGeom prst="rect">
            <a:avLst/>
          </a:prstGeom>
          <a:solidFill>
            <a:srgbClr val="C5540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Oval 26"/>
          <p:cNvSpPr/>
          <p:nvPr/>
        </p:nvSpPr>
        <p:spPr>
          <a:xfrm>
            <a:off x="10513771" y="3835908"/>
            <a:ext cx="155448" cy="155448"/>
          </a:xfrm>
          <a:prstGeom prst="ellipse">
            <a:avLst/>
          </a:prstGeom>
          <a:solidFill>
            <a:srgbClr val="FFFFFF"/>
          </a:solidFill>
          <a:ln w="25400">
            <a:solidFill>
              <a:srgbClr val="C5540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9448495" y="4297680"/>
            <a:ext cx="2286000" cy="1298448"/>
          </a:xfrm>
          <a:prstGeom prst="rect">
            <a:avLst/>
          </a:prstGeom>
          <a:solidFill>
            <a:srgbClr val="FCE6D5"/>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73152" rIns="100584" bIns="73152" rtlCol="0" anchor="t"/>
          <a:lstStyle/>
          <a:p>
            <a:pPr algn="l">
              <a:spcAft>
                <a:spcPts val="300"/>
              </a:spcAft>
            </a:pPr>
            <a:r>
              <a:rPr sz="1700" b="1">
                <a:solidFill>
                  <a:srgbClr val="C5540F"/>
                </a:solidFill>
                <a:latin typeface="Calibri"/>
              </a:rPr>
              <a:t>Today</a:t>
            </a:r>
          </a:p>
          <a:p>
            <a:pPr algn="l"/>
            <a:r>
              <a:rPr sz="1050">
                <a:solidFill>
                  <a:srgbClr val="262626"/>
                </a:solidFill>
                <a:latin typeface="Calibri"/>
              </a:rPr>
              <a:t>The same ideas, now run by computers on data far larger than Graunt could count.</a:t>
            </a:r>
          </a:p>
        </p:txBody>
      </p:sp>
      <p:sp>
        <p:nvSpPr>
          <p:cNvPr id="29" name="TextBox 28"/>
          <p:cNvSpPr txBox="1"/>
          <p:nvPr/>
        </p:nvSpPr>
        <p:spPr>
          <a:xfrm>
            <a:off x="457200" y="6144768"/>
            <a:ext cx="11292840" cy="566928"/>
          </a:xfrm>
          <a:prstGeom prst="rect">
            <a:avLst/>
          </a:prstGeom>
          <a:noFill/>
        </p:spPr>
        <p:txBody>
          <a:bodyPr wrap="square" lIns="0" tIns="0" rIns="0" bIns="0" anchor="t">
            <a:spAutoFit/>
          </a:bodyPr>
          <a:lstStyle/>
          <a:p>
            <a:pPr algn="l">
              <a:spcAft>
                <a:spcPts val="0"/>
              </a:spcAft>
            </a:pPr>
            <a:r>
              <a:rPr sz="900" b="0">
                <a:solidFill>
                  <a:srgbClr val="595959"/>
                </a:solidFill>
                <a:latin typeface="Calibri"/>
              </a:rPr>
              <a:t>Sources: J. Graunt (1662), Natural and Political Observations Made upon the Bills of Mortality. E. Halley (1693), Phil. Trans. R. Soc. 17:596–610. G. Achenwall (1749), Abriss der neuesten Staatswissenschaft. A. Quetelet (1835), Sur l’homme et le développement de ses facultés. R. A. Fisher (1925), Statistical Methods for Research Workers.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1EF8-6BBA-1878-3F40-5C2DA99A5F93}"/>
              </a:ext>
            </a:extLst>
          </p:cNvPr>
          <p:cNvSpPr>
            <a:spLocks noGrp="1"/>
          </p:cNvSpPr>
          <p:nvPr>
            <p:ph type="title"/>
          </p:nvPr>
        </p:nvSpPr>
        <p:spPr/>
        <p:txBody>
          <a:bodyPr/>
          <a:lstStyle/>
          <a:p>
            <a:r>
              <a:rPr lang="en-US" dirty="0"/>
              <a:t>Answering Questions with data</a:t>
            </a:r>
          </a:p>
        </p:txBody>
      </p:sp>
      <p:sp>
        <p:nvSpPr>
          <p:cNvPr id="3" name="Content Placeholder 2">
            <a:extLst>
              <a:ext uri="{FF2B5EF4-FFF2-40B4-BE49-F238E27FC236}">
                <a16:creationId xmlns:a16="http://schemas.microsoft.com/office/drawing/2014/main" id="{7F1B62F3-D3C6-98BC-6982-F4DC222913AC}"/>
              </a:ext>
            </a:extLst>
          </p:cNvPr>
          <p:cNvSpPr>
            <a:spLocks noGrp="1"/>
          </p:cNvSpPr>
          <p:nvPr>
            <p:ph idx="1"/>
          </p:nvPr>
        </p:nvSpPr>
        <p:spPr/>
        <p:txBody>
          <a:bodyPr>
            <a:normAutofit fontScale="92500" lnSpcReduction="20000"/>
          </a:bodyPr>
          <a:lstStyle/>
          <a:p>
            <a:r>
              <a:rPr lang="en-US" dirty="0"/>
              <a:t>What proportion of people in the U.S are biologically female?</a:t>
            </a:r>
          </a:p>
          <a:p>
            <a:pPr marL="457200" lvl="1" indent="0">
              <a:buNone/>
            </a:pPr>
            <a:r>
              <a:rPr lang="en-US" dirty="0"/>
              <a:t>Survey Americans and ask them to report their sex </a:t>
            </a:r>
          </a:p>
          <a:p>
            <a:pPr marL="457200" lvl="1" indent="0">
              <a:buNone/>
            </a:pPr>
            <a:endParaRPr lang="en-US" dirty="0"/>
          </a:p>
          <a:p>
            <a:r>
              <a:rPr lang="en-US" dirty="0"/>
              <a:t>Does a low-carb diet result in significant weight loss?</a:t>
            </a:r>
          </a:p>
          <a:p>
            <a:pPr marL="457200" lvl="1" indent="0">
              <a:buNone/>
            </a:pPr>
            <a:r>
              <a:rPr lang="en-US" dirty="0"/>
              <a:t>- Design an experiment to evaluate the effectiveness of the low carb diet on weight   loss</a:t>
            </a:r>
          </a:p>
          <a:p>
            <a:pPr marL="457200" lvl="1" indent="0">
              <a:buNone/>
            </a:pPr>
            <a:r>
              <a:rPr lang="en-US" dirty="0"/>
              <a:t>- Record information such as starting and ending weight, calories consumed per day, …</a:t>
            </a:r>
          </a:p>
          <a:p>
            <a:endParaRPr lang="en-US" dirty="0"/>
          </a:p>
          <a:p>
            <a:r>
              <a:rPr lang="en-US" dirty="0"/>
              <a:t>Are people more likely to stop at Starbucks if they’ve recently seen a Starbucks TV add?</a:t>
            </a:r>
          </a:p>
          <a:p>
            <a:pPr lvl="1">
              <a:buFontTx/>
              <a:buChar char="-"/>
            </a:pPr>
            <a:r>
              <a:rPr lang="en-US" dirty="0"/>
              <a:t>Conduct a marketing survey to record the number of people who have gone to </a:t>
            </a:r>
            <a:r>
              <a:rPr lang="en-US" dirty="0" err="1"/>
              <a:t>starbucks</a:t>
            </a:r>
            <a:r>
              <a:rPr lang="en-US" dirty="0"/>
              <a:t> since add aired </a:t>
            </a:r>
          </a:p>
          <a:p>
            <a:pPr lvl="1">
              <a:buFontTx/>
              <a:buChar char="-"/>
            </a:pPr>
            <a:r>
              <a:rPr lang="en-US" dirty="0"/>
              <a:t>Compare between those who saw the add and those who did not</a:t>
            </a:r>
          </a:p>
        </p:txBody>
      </p:sp>
    </p:spTree>
    <p:extLst>
      <p:ext uri="{BB962C8B-B14F-4D97-AF65-F5344CB8AC3E}">
        <p14:creationId xmlns:p14="http://schemas.microsoft.com/office/powerpoint/2010/main" val="2771044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5297762" y="329184"/>
            <a:ext cx="6251110" cy="1783080"/>
          </a:xfrm>
        </p:spPr>
        <p:txBody>
          <a:bodyPr anchor="b">
            <a:normAutofit/>
          </a:bodyPr>
          <a:lstStyle/>
          <a:p>
            <a:r>
              <a:rPr lang="en-US" sz="4600"/>
              <a:t>Where do we find Statistics? – Everywhere!</a:t>
            </a:r>
          </a:p>
        </p:txBody>
      </p:sp>
      <p:pic>
        <p:nvPicPr>
          <p:cNvPr id="28" name="Picture 27" descr="Magnifying glass showing decling performance">
            <a:extLst>
              <a:ext uri="{FF2B5EF4-FFF2-40B4-BE49-F238E27FC236}">
                <a16:creationId xmlns:a16="http://schemas.microsoft.com/office/drawing/2014/main" id="{491A1366-9770-9575-D961-04B594935C1F}"/>
              </a:ext>
            </a:extLst>
          </p:cNvPr>
          <p:cNvPicPr>
            <a:picLocks noChangeAspect="1"/>
          </p:cNvPicPr>
          <p:nvPr/>
        </p:nvPicPr>
        <p:blipFill rotWithShape="1">
          <a:blip r:embed="rId2"/>
          <a:srcRect l="12053" r="42616"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4"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EEA3AD6-2CBD-4D34-25F0-40B9C4DC3AB2}"/>
              </a:ext>
            </a:extLst>
          </p:cNvPr>
          <p:cNvSpPr>
            <a:spLocks noGrp="1"/>
          </p:cNvSpPr>
          <p:nvPr>
            <p:ph idx="1"/>
          </p:nvPr>
        </p:nvSpPr>
        <p:spPr>
          <a:xfrm>
            <a:off x="4791075" y="2706624"/>
            <a:ext cx="7210425" cy="4009262"/>
          </a:xfrm>
        </p:spPr>
        <p:txBody>
          <a:bodyPr>
            <a:normAutofit lnSpcReduction="10000"/>
          </a:bodyPr>
          <a:lstStyle/>
          <a:p>
            <a:r>
              <a:rPr lang="en-US" sz="2400" b="1" dirty="0"/>
              <a:t>Sports</a:t>
            </a:r>
            <a:r>
              <a:rPr lang="en-US" sz="2400" dirty="0"/>
              <a:t> (number of points scored per game by an athlete)</a:t>
            </a:r>
          </a:p>
          <a:p>
            <a:r>
              <a:rPr lang="en-US" sz="2400" b="1" dirty="0"/>
              <a:t>Weather</a:t>
            </a:r>
            <a:r>
              <a:rPr lang="en-US" sz="2400" dirty="0"/>
              <a:t> Forecasting (average monthly rainfall)</a:t>
            </a:r>
          </a:p>
          <a:p>
            <a:r>
              <a:rPr lang="en-US" sz="2400" b="1" dirty="0"/>
              <a:t>Economy</a:t>
            </a:r>
            <a:r>
              <a:rPr lang="en-US" sz="2400" dirty="0"/>
              <a:t> (median income, unemployment rate)</a:t>
            </a:r>
          </a:p>
          <a:p>
            <a:r>
              <a:rPr lang="en-US" sz="2400" b="1" dirty="0"/>
              <a:t>Sales Tracking </a:t>
            </a:r>
            <a:r>
              <a:rPr lang="en-US" sz="2400" dirty="0"/>
              <a:t>(projected sales revenue from </a:t>
            </a:r>
            <a:r>
              <a:rPr lang="en-US" sz="2400" dirty="0" err="1"/>
              <a:t>iphone</a:t>
            </a:r>
            <a:r>
              <a:rPr lang="en-US" sz="2400" dirty="0"/>
              <a:t> 14’s sold in a given month)</a:t>
            </a:r>
          </a:p>
          <a:p>
            <a:r>
              <a:rPr lang="en-US" sz="2400" b="1" dirty="0"/>
              <a:t>Medicine</a:t>
            </a:r>
            <a:r>
              <a:rPr lang="en-US" sz="2400" dirty="0"/>
              <a:t> (percentage of people who were pain free from using a drug)</a:t>
            </a:r>
          </a:p>
          <a:p>
            <a:r>
              <a:rPr lang="en-US" sz="2400" b="1" dirty="0"/>
              <a:t>Manufacturing </a:t>
            </a:r>
            <a:r>
              <a:rPr lang="en-US" sz="2400" dirty="0"/>
              <a:t>(number of cans of coke produced in a given month)</a:t>
            </a:r>
          </a:p>
          <a:p>
            <a:endParaRPr lang="en-US" sz="2400" dirty="0"/>
          </a:p>
          <a:p>
            <a:endParaRPr lang="en-US" sz="2400" dirty="0"/>
          </a:p>
        </p:txBody>
      </p:sp>
    </p:spTree>
    <p:extLst>
      <p:ext uri="{BB962C8B-B14F-4D97-AF65-F5344CB8AC3E}">
        <p14:creationId xmlns:p14="http://schemas.microsoft.com/office/powerpoint/2010/main" val="1912649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11E5-5072-535E-73ED-CD8B689624BC}"/>
              </a:ext>
            </a:extLst>
          </p:cNvPr>
          <p:cNvSpPr>
            <a:spLocks noGrp="1"/>
          </p:cNvSpPr>
          <p:nvPr>
            <p:ph type="title"/>
          </p:nvPr>
        </p:nvSpPr>
        <p:spPr/>
        <p:txBody>
          <a:bodyPr/>
          <a:lstStyle/>
          <a:p>
            <a:r>
              <a:rPr lang="en-US" dirty="0"/>
              <a:t>The Science of Data</a:t>
            </a:r>
          </a:p>
        </p:txBody>
      </p:sp>
      <p:sp>
        <p:nvSpPr>
          <p:cNvPr id="3" name="Content Placeholder 2">
            <a:extLst>
              <a:ext uri="{FF2B5EF4-FFF2-40B4-BE49-F238E27FC236}">
                <a16:creationId xmlns:a16="http://schemas.microsoft.com/office/drawing/2014/main" id="{1B2B3378-73EA-CA40-9586-969EA3222400}"/>
              </a:ext>
            </a:extLst>
          </p:cNvPr>
          <p:cNvSpPr>
            <a:spLocks noGrp="1"/>
          </p:cNvSpPr>
          <p:nvPr>
            <p:ph idx="1"/>
          </p:nvPr>
        </p:nvSpPr>
        <p:spPr>
          <a:xfrm>
            <a:off x="838200" y="1879600"/>
            <a:ext cx="10515600" cy="1270000"/>
          </a:xfrm>
        </p:spPr>
        <p:txBody>
          <a:bodyPr>
            <a:normAutofit/>
          </a:bodyPr>
          <a:lstStyle/>
          <a:p>
            <a:pPr marL="0" indent="0">
              <a:buNone/>
            </a:pPr>
            <a:r>
              <a:rPr lang="en-US" sz="2000" b="1" dirty="0"/>
              <a:t>Statistical science</a:t>
            </a:r>
            <a:r>
              <a:rPr lang="en-US" sz="2000" dirty="0"/>
              <a:t> deals with the collection, analysis, interpretation, and presentation of data</a:t>
            </a:r>
          </a:p>
          <a:p>
            <a:pPr marL="0" indent="0">
              <a:buNone/>
            </a:pPr>
            <a:r>
              <a:rPr lang="en-US" sz="2000" b="1" dirty="0"/>
              <a:t>Data</a:t>
            </a:r>
            <a:r>
              <a:rPr lang="en-US" sz="2000" dirty="0"/>
              <a:t> is a collection of observations/measurements, and can be </a:t>
            </a:r>
            <a:r>
              <a:rPr lang="en-US" sz="2000" b="1" dirty="0"/>
              <a:t>structured</a:t>
            </a:r>
            <a:r>
              <a:rPr lang="en-US" sz="2000" dirty="0"/>
              <a:t> or </a:t>
            </a:r>
            <a:r>
              <a:rPr lang="en-US" sz="2000" b="1" dirty="0"/>
              <a:t>unstructured</a:t>
            </a:r>
            <a:r>
              <a:rPr lang="en-US" sz="2000" dirty="0"/>
              <a:t>.</a:t>
            </a:r>
          </a:p>
        </p:txBody>
      </p:sp>
      <p:sp>
        <p:nvSpPr>
          <p:cNvPr id="4" name="accent rule">
            <a:extLst>
              <a:ext uri="{FF2B5EF4-FFF2-40B4-BE49-F238E27FC236}">
                <a16:creationId xmlns:a16="http://schemas.microsoft.com/office/drawing/2014/main" id="{B148CBA5-9A48-43AD-B298-220F28585C94}"/>
              </a:ext>
            </a:extLst>
          </p:cNvPr>
          <p:cNvSpPr/>
          <p:nvPr/>
        </p:nvSpPr>
        <p:spPr>
          <a:xfrm>
            <a:off x="838200" y="1701800"/>
            <a:ext cx="3810000" cy="1905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card structured">
            <a:extLst>
              <a:ext uri="{FF2B5EF4-FFF2-40B4-BE49-F238E27FC236}">
                <a16:creationId xmlns:a16="http://schemas.microsoft.com/office/drawing/2014/main" id="{2302DE62-F1D2-4337-BEF8-8094094677B5}"/>
              </a:ext>
            </a:extLst>
          </p:cNvPr>
          <p:cNvSpPr/>
          <p:nvPr/>
        </p:nvSpPr>
        <p:spPr>
          <a:xfrm>
            <a:off x="838200" y="2870200"/>
            <a:ext cx="5105400" cy="3403600"/>
          </a:xfrm>
          <a:prstGeom prst="roundRect">
            <a:avLst/>
          </a:prstGeom>
          <a:solidFill>
            <a:srgbClr val="FCE6D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279400" tIns="203200" rIns="254000" bIns="203200" anchor="ctr">
            <a:noAutofit/>
          </a:bodyPr>
          <a:lstStyle/>
          <a:p>
            <a:pPr marL="0" indent="0" algn="l">
              <a:buNone/>
            </a:pPr>
            <a:r>
              <a:rPr lang="en-US" sz="2200" b="1" dirty="0">
                <a:solidFill>
                  <a:srgbClr val="C5540F"/>
                </a:solidFill>
                <a:latin typeface="Calibri"/>
              </a:rPr>
              <a:t>Structured data</a:t>
            </a:r>
          </a:p>
          <a:p>
            <a:pPr marL="0" indent="0" algn="l">
              <a:buNone/>
            </a:pPr>
            <a:r>
              <a:rPr lang="en-US" sz="1800" dirty="0">
                <a:solidFill>
                  <a:srgbClr val="262626"/>
                </a:solidFill>
                <a:latin typeface="Calibri"/>
              </a:rPr>
              <a:t>Predefined format: fixed rows, columns and fields, easily stored in databases.</a:t>
            </a:r>
          </a:p>
          <a:p>
            <a:pPr marL="0" indent="0" algn="l">
              <a:buNone/>
            </a:pPr>
            <a:r>
              <a:rPr lang="en-US" sz="1800" b="1" dirty="0">
                <a:solidFill>
                  <a:srgbClr val="404040"/>
                </a:solidFill>
                <a:latin typeface="Calibri"/>
              </a:rPr>
              <a:t>Examples:</a:t>
            </a:r>
          </a:p>
          <a:p>
            <a:pPr marL="190500" indent="-190500" algn="l">
              <a:lnSpc>
                <a:spcPct val="100000"/>
              </a:lnSpc>
              <a:spcBef>
                <a:spcPts val="500"/>
              </a:spcBef>
              <a:buFont typeface="Arial"/>
              <a:buChar char="•"/>
            </a:pPr>
            <a:r>
              <a:rPr lang="en-US" sz="1800" dirty="0">
                <a:solidFill>
                  <a:srgbClr val="262626"/>
                </a:solidFill>
                <a:latin typeface="Calibri"/>
              </a:rPr>
              <a:t>Spreadsheets and CSV files</a:t>
            </a:r>
          </a:p>
          <a:p>
            <a:pPr marL="190500" indent="-190500" algn="l">
              <a:lnSpc>
                <a:spcPct val="100000"/>
              </a:lnSpc>
              <a:spcBef>
                <a:spcPts val="500"/>
              </a:spcBef>
              <a:buFont typeface="Arial"/>
              <a:buChar char="•"/>
            </a:pPr>
            <a:r>
              <a:rPr lang="en-US" sz="1800" dirty="0">
                <a:solidFill>
                  <a:srgbClr val="262626"/>
                </a:solidFill>
                <a:latin typeface="Calibri"/>
              </a:rPr>
              <a:t>Survey responses, sensor readings</a:t>
            </a:r>
          </a:p>
          <a:p>
            <a:pPr marL="190500" indent="-190500" algn="l">
              <a:lnSpc>
                <a:spcPct val="100000"/>
              </a:lnSpc>
              <a:spcBef>
                <a:spcPts val="500"/>
              </a:spcBef>
              <a:buFont typeface="Arial"/>
              <a:buChar char="•"/>
            </a:pPr>
            <a:r>
              <a:rPr lang="en-US" sz="1800" dirty="0">
                <a:solidFill>
                  <a:srgbClr val="262626"/>
                </a:solidFill>
                <a:latin typeface="Calibri"/>
              </a:rPr>
              <a:t>Transaction records</a:t>
            </a:r>
          </a:p>
        </p:txBody>
      </p:sp>
      <p:sp>
        <p:nvSpPr>
          <p:cNvPr id="6" name="card unstructured">
            <a:extLst>
              <a:ext uri="{FF2B5EF4-FFF2-40B4-BE49-F238E27FC236}">
                <a16:creationId xmlns:a16="http://schemas.microsoft.com/office/drawing/2014/main" id="{85C18E51-3723-4863-AE6A-02981E3B781C}"/>
              </a:ext>
            </a:extLst>
          </p:cNvPr>
          <p:cNvSpPr/>
          <p:nvPr/>
        </p:nvSpPr>
        <p:spPr>
          <a:xfrm>
            <a:off x="6248400" y="2870200"/>
            <a:ext cx="5105400" cy="3403600"/>
          </a:xfrm>
          <a:prstGeom prst="roundRect">
            <a:avLst/>
          </a:prstGeom>
          <a:solidFill>
            <a:srgbClr val="DCE6F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279400" tIns="203200" rIns="254000" bIns="203200" anchor="ctr">
            <a:noAutofit/>
          </a:bodyPr>
          <a:lstStyle/>
          <a:p>
            <a:pPr marL="0" indent="0" algn="l">
              <a:buNone/>
            </a:pPr>
            <a:r>
              <a:rPr lang="en-US" sz="2200" b="1" dirty="0">
                <a:solidFill>
                  <a:srgbClr val="1F3864"/>
                </a:solidFill>
                <a:latin typeface="Calibri"/>
              </a:rPr>
              <a:t>Unstructured data</a:t>
            </a:r>
          </a:p>
          <a:p>
            <a:pPr marL="0" indent="0" algn="l">
              <a:buNone/>
            </a:pPr>
            <a:r>
              <a:rPr lang="en-US" sz="1800" dirty="0">
                <a:solidFill>
                  <a:srgbClr val="262626"/>
                </a:solidFill>
                <a:latin typeface="Calibri"/>
              </a:rPr>
              <a:t>No predefined format or fixed fields; requires processing before it can be analyzed.</a:t>
            </a:r>
          </a:p>
          <a:p>
            <a:pPr marL="0" indent="0" algn="l">
              <a:buNone/>
            </a:pPr>
            <a:r>
              <a:rPr lang="en-US" sz="1800" b="1" dirty="0">
                <a:solidFill>
                  <a:srgbClr val="404040"/>
                </a:solidFill>
                <a:latin typeface="Calibri"/>
              </a:rPr>
              <a:t>Examples:</a:t>
            </a:r>
          </a:p>
          <a:p>
            <a:pPr marL="190500" indent="-190500" algn="l">
              <a:lnSpc>
                <a:spcPct val="100000"/>
              </a:lnSpc>
              <a:spcBef>
                <a:spcPts val="500"/>
              </a:spcBef>
              <a:buFont typeface="Arial"/>
              <a:buChar char="•"/>
            </a:pPr>
            <a:r>
              <a:rPr lang="en-US" sz="1800" dirty="0">
                <a:solidFill>
                  <a:srgbClr val="262626"/>
                </a:solidFill>
                <a:latin typeface="Calibri"/>
              </a:rPr>
              <a:t>Free-text notes, emails, social posts</a:t>
            </a:r>
          </a:p>
          <a:p>
            <a:pPr marL="190500" indent="-190500" algn="l">
              <a:lnSpc>
                <a:spcPct val="100000"/>
              </a:lnSpc>
              <a:spcBef>
                <a:spcPts val="500"/>
              </a:spcBef>
              <a:buFont typeface="Arial"/>
              <a:buChar char="•"/>
            </a:pPr>
            <a:r>
              <a:rPr lang="en-US" sz="1800" dirty="0">
                <a:solidFill>
                  <a:srgbClr val="262626"/>
                </a:solidFill>
                <a:latin typeface="Calibri"/>
              </a:rPr>
              <a:t>Images, audio and video</a:t>
            </a:r>
          </a:p>
          <a:p>
            <a:pPr marL="190500" indent="-190500" algn="l">
              <a:lnSpc>
                <a:spcPct val="100000"/>
              </a:lnSpc>
              <a:spcBef>
                <a:spcPts val="500"/>
              </a:spcBef>
              <a:buFont typeface="Arial"/>
              <a:buChar char="•"/>
            </a:pPr>
            <a:r>
              <a:rPr lang="en-US" sz="1800" dirty="0">
                <a:solidFill>
                  <a:srgbClr val="262626"/>
                </a:solidFill>
                <a:latin typeface="Calibri"/>
              </a:rPr>
              <a:t>Web pages and PDF documents</a:t>
            </a:r>
          </a:p>
        </p:txBody>
      </p:sp>
    </p:spTree>
    <p:extLst>
      <p:ext uri="{BB962C8B-B14F-4D97-AF65-F5344CB8AC3E}">
        <p14:creationId xmlns:p14="http://schemas.microsoft.com/office/powerpoint/2010/main" val="3108338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357793" y="244076"/>
            <a:ext cx="10515600" cy="1325563"/>
          </a:xfrm>
        </p:spPr>
        <p:txBody>
          <a:bodyPr/>
          <a:lstStyle/>
          <a:p>
            <a:r>
              <a:rPr lang="en-US" dirty="0"/>
              <a:t>What Do Data Look Like? </a:t>
            </a:r>
          </a:p>
        </p:txBody>
      </p:sp>
      <p:sp>
        <p:nvSpPr>
          <p:cNvPr id="9" name="Content Placeholder 2">
            <a:extLst>
              <a:ext uri="{FF2B5EF4-FFF2-40B4-BE49-F238E27FC236}">
                <a16:creationId xmlns:a16="http://schemas.microsoft.com/office/drawing/2014/main" id="{A8A8168E-B6BB-3016-EE7E-6E0B94393F37}"/>
              </a:ext>
            </a:extLst>
          </p:cNvPr>
          <p:cNvSpPr>
            <a:spLocks noGrp="1"/>
          </p:cNvSpPr>
          <p:nvPr>
            <p:ph idx="1"/>
          </p:nvPr>
        </p:nvSpPr>
        <p:spPr>
          <a:xfrm>
            <a:off x="274320" y="1481328"/>
            <a:ext cx="4016326" cy="1600200"/>
          </a:xfrm>
        </p:spPr>
        <p:txBody>
          <a:bodyPr>
            <a:normAutofit fontScale="92500" lnSpcReduction="20000"/>
          </a:bodyPr>
          <a:lstStyle/>
          <a:p>
            <a:pPr marL="0" indent="0">
              <a:buNone/>
            </a:pPr>
            <a:r>
              <a:rPr lang="en-US" sz="2000" dirty="0"/>
              <a:t>The following table records sales of child car seats from 20 stores. For each store, the unit sales, price charged, community income, regional population, local education level, shelving quality, and whether the store is urban and in the U.S. are recorded</a:t>
            </a:r>
          </a:p>
        </p:txBody>
      </p:sp>
      <p:pic>
        <p:nvPicPr>
          <p:cNvPr id="10" name="Picture 9" descr="carseats_table.png"/>
          <p:cNvPicPr>
            <a:picLocks noChangeAspect="1"/>
          </p:cNvPicPr>
          <p:nvPr/>
        </p:nvPicPr>
        <p:blipFill>
          <a:blip r:embed="rId2"/>
          <a:stretch>
            <a:fillRect/>
          </a:stretch>
        </p:blipFill>
        <p:spPr>
          <a:xfrm>
            <a:off x="5138928" y="1389888"/>
            <a:ext cx="7026420" cy="4428108"/>
          </a:xfrm>
          <a:prstGeom prst="rect">
            <a:avLst/>
          </a:prstGeom>
        </p:spPr>
      </p:pic>
      <p:sp>
        <p:nvSpPr>
          <p:cNvPr id="11" name="TextBox 10"/>
          <p:cNvSpPr txBox="1"/>
          <p:nvPr/>
        </p:nvSpPr>
        <p:spPr>
          <a:xfrm>
            <a:off x="365760" y="3218688"/>
            <a:ext cx="4663440" cy="274320"/>
          </a:xfrm>
          <a:prstGeom prst="rect">
            <a:avLst/>
          </a:prstGeom>
          <a:noFill/>
        </p:spPr>
        <p:txBody>
          <a:bodyPr wrap="square" lIns="0" tIns="0" rIns="0" bIns="0" anchor="t">
            <a:spAutoFit/>
          </a:bodyPr>
          <a:lstStyle/>
          <a:p>
            <a:pPr algn="l">
              <a:spcAft>
                <a:spcPts val="0"/>
              </a:spcAft>
            </a:pPr>
            <a:r>
              <a:rPr sz="1500" b="1">
                <a:solidFill>
                  <a:srgbClr val="000000"/>
                </a:solidFill>
                <a:latin typeface="Calibri"/>
              </a:rPr>
              <a:t>Reading a data table</a:t>
            </a:r>
          </a:p>
        </p:txBody>
      </p:sp>
      <p:sp>
        <p:nvSpPr>
          <p:cNvPr id="12" name="TextBox 11"/>
          <p:cNvSpPr txBox="1"/>
          <p:nvPr/>
        </p:nvSpPr>
        <p:spPr>
          <a:xfrm>
            <a:off x="365760" y="3584448"/>
            <a:ext cx="4663440" cy="237744"/>
          </a:xfrm>
          <a:prstGeom prst="rect">
            <a:avLst/>
          </a:prstGeom>
          <a:noFill/>
        </p:spPr>
        <p:txBody>
          <a:bodyPr wrap="square" lIns="0" tIns="0" rIns="0" bIns="0" anchor="t">
            <a:spAutoFit/>
          </a:bodyPr>
          <a:lstStyle/>
          <a:p>
            <a:pPr algn="l">
              <a:spcAft>
                <a:spcPts val="0"/>
              </a:spcAft>
            </a:pPr>
            <a:r>
              <a:rPr sz="1150" b="1">
                <a:solidFill>
                  <a:srgbClr val="C5540F"/>
                </a:solidFill>
                <a:latin typeface="Calibri"/>
              </a:rPr>
              <a:t>Each column is a variable</a:t>
            </a:r>
          </a:p>
        </p:txBody>
      </p:sp>
      <p:sp>
        <p:nvSpPr>
          <p:cNvPr id="13" name="Rectangle 12"/>
          <p:cNvSpPr/>
          <p:nvPr/>
        </p:nvSpPr>
        <p:spPr>
          <a:xfrm>
            <a:off x="365760" y="3950208"/>
            <a:ext cx="896112" cy="256032"/>
          </a:xfrm>
          <a:prstGeom prst="rect">
            <a:avLst/>
          </a:prstGeom>
          <a:solidFill>
            <a:srgbClr val="EFEFE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1">
                <a:solidFill>
                  <a:srgbClr val="404040"/>
                </a:solidFill>
                <a:latin typeface="Calibri"/>
              </a:rPr>
              <a:t>Sales</a:t>
            </a:r>
          </a:p>
        </p:txBody>
      </p:sp>
      <p:sp>
        <p:nvSpPr>
          <p:cNvPr id="14" name="Rectangle 13"/>
          <p:cNvSpPr/>
          <p:nvPr/>
        </p:nvSpPr>
        <p:spPr>
          <a:xfrm>
            <a:off x="1261872" y="3950208"/>
            <a:ext cx="896112" cy="256032"/>
          </a:xfrm>
          <a:prstGeom prst="rect">
            <a:avLst/>
          </a:prstGeom>
          <a:solidFill>
            <a:srgbClr val="FCE6D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1">
                <a:solidFill>
                  <a:srgbClr val="C5540F"/>
                </a:solidFill>
                <a:latin typeface="Calibri"/>
              </a:rPr>
              <a:t>Price</a:t>
            </a:r>
          </a:p>
        </p:txBody>
      </p:sp>
      <p:sp>
        <p:nvSpPr>
          <p:cNvPr id="15" name="Rectangle 14"/>
          <p:cNvSpPr/>
          <p:nvPr/>
        </p:nvSpPr>
        <p:spPr>
          <a:xfrm>
            <a:off x="2157984" y="3950208"/>
            <a:ext cx="896112" cy="256032"/>
          </a:xfrm>
          <a:prstGeom prst="rect">
            <a:avLst/>
          </a:prstGeom>
          <a:solidFill>
            <a:srgbClr val="EFEFE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1">
                <a:solidFill>
                  <a:srgbClr val="404040"/>
                </a:solidFill>
                <a:latin typeface="Calibri"/>
              </a:rPr>
              <a:t>Income</a:t>
            </a:r>
          </a:p>
        </p:txBody>
      </p:sp>
      <p:sp>
        <p:nvSpPr>
          <p:cNvPr id="16" name="Rectangle 15"/>
          <p:cNvSpPr/>
          <p:nvPr/>
        </p:nvSpPr>
        <p:spPr>
          <a:xfrm>
            <a:off x="3054096" y="3950208"/>
            <a:ext cx="896112" cy="256032"/>
          </a:xfrm>
          <a:prstGeom prst="rect">
            <a:avLst/>
          </a:prstGeom>
          <a:solidFill>
            <a:srgbClr val="EFEFE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1">
                <a:solidFill>
                  <a:srgbClr val="404040"/>
                </a:solidFill>
                <a:latin typeface="Calibri"/>
              </a:rPr>
              <a:t>ShelveLoc</a:t>
            </a:r>
          </a:p>
        </p:txBody>
      </p:sp>
      <p:sp>
        <p:nvSpPr>
          <p:cNvPr id="17" name="Rectangle 16"/>
          <p:cNvSpPr/>
          <p:nvPr/>
        </p:nvSpPr>
        <p:spPr>
          <a:xfrm>
            <a:off x="3950208" y="3950208"/>
            <a:ext cx="896112" cy="256032"/>
          </a:xfrm>
          <a:prstGeom prst="rect">
            <a:avLst/>
          </a:prstGeom>
          <a:solidFill>
            <a:srgbClr val="EFEFE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1">
                <a:solidFill>
                  <a:srgbClr val="404040"/>
                </a:solidFill>
                <a:latin typeface="Calibri"/>
              </a:rPr>
              <a:t>Urban</a:t>
            </a:r>
          </a:p>
        </p:txBody>
      </p:sp>
      <p:sp>
        <p:nvSpPr>
          <p:cNvPr id="18" name="Rectangle 17"/>
          <p:cNvSpPr/>
          <p:nvPr/>
        </p:nvSpPr>
        <p:spPr>
          <a:xfrm>
            <a:off x="365760" y="4206240"/>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4.38</a:t>
            </a:r>
          </a:p>
        </p:txBody>
      </p:sp>
      <p:sp>
        <p:nvSpPr>
          <p:cNvPr id="19" name="Rectangle 18"/>
          <p:cNvSpPr/>
          <p:nvPr/>
        </p:nvSpPr>
        <p:spPr>
          <a:xfrm>
            <a:off x="1261872" y="4206240"/>
            <a:ext cx="896112" cy="256032"/>
          </a:xfrm>
          <a:prstGeom prst="rect">
            <a:avLst/>
          </a:prstGeom>
          <a:solidFill>
            <a:srgbClr val="FCE6D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108</a:t>
            </a:r>
          </a:p>
        </p:txBody>
      </p:sp>
      <p:sp>
        <p:nvSpPr>
          <p:cNvPr id="20" name="Rectangle 19"/>
          <p:cNvSpPr/>
          <p:nvPr/>
        </p:nvSpPr>
        <p:spPr>
          <a:xfrm>
            <a:off x="2157984" y="4206240"/>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98</a:t>
            </a:r>
          </a:p>
        </p:txBody>
      </p:sp>
      <p:sp>
        <p:nvSpPr>
          <p:cNvPr id="21" name="Rectangle 20"/>
          <p:cNvSpPr/>
          <p:nvPr/>
        </p:nvSpPr>
        <p:spPr>
          <a:xfrm>
            <a:off x="3054096" y="4206240"/>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Bad</a:t>
            </a:r>
          </a:p>
        </p:txBody>
      </p:sp>
      <p:sp>
        <p:nvSpPr>
          <p:cNvPr id="22" name="Rectangle 21"/>
          <p:cNvSpPr/>
          <p:nvPr/>
        </p:nvSpPr>
        <p:spPr>
          <a:xfrm>
            <a:off x="3950208" y="4206240"/>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Yes</a:t>
            </a:r>
          </a:p>
        </p:txBody>
      </p:sp>
      <p:sp>
        <p:nvSpPr>
          <p:cNvPr id="23" name="Rectangle 22"/>
          <p:cNvSpPr/>
          <p:nvPr/>
        </p:nvSpPr>
        <p:spPr>
          <a:xfrm>
            <a:off x="365760" y="4462272"/>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11.62</a:t>
            </a:r>
          </a:p>
        </p:txBody>
      </p:sp>
      <p:sp>
        <p:nvSpPr>
          <p:cNvPr id="24" name="Rectangle 23"/>
          <p:cNvSpPr/>
          <p:nvPr/>
        </p:nvSpPr>
        <p:spPr>
          <a:xfrm>
            <a:off x="1261872" y="4462272"/>
            <a:ext cx="896112" cy="256032"/>
          </a:xfrm>
          <a:prstGeom prst="rect">
            <a:avLst/>
          </a:prstGeom>
          <a:solidFill>
            <a:srgbClr val="FCE6D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139</a:t>
            </a:r>
          </a:p>
        </p:txBody>
      </p:sp>
      <p:sp>
        <p:nvSpPr>
          <p:cNvPr id="25" name="Rectangle 24"/>
          <p:cNvSpPr/>
          <p:nvPr/>
        </p:nvSpPr>
        <p:spPr>
          <a:xfrm>
            <a:off x="2157984" y="4462272"/>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83</a:t>
            </a:r>
          </a:p>
        </p:txBody>
      </p:sp>
      <p:sp>
        <p:nvSpPr>
          <p:cNvPr id="26" name="Rectangle 25"/>
          <p:cNvSpPr/>
          <p:nvPr/>
        </p:nvSpPr>
        <p:spPr>
          <a:xfrm>
            <a:off x="3054096" y="4462272"/>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Good</a:t>
            </a:r>
          </a:p>
        </p:txBody>
      </p:sp>
      <p:sp>
        <p:nvSpPr>
          <p:cNvPr id="27" name="Rectangle 26"/>
          <p:cNvSpPr/>
          <p:nvPr/>
        </p:nvSpPr>
        <p:spPr>
          <a:xfrm>
            <a:off x="3950208" y="4462272"/>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Yes</a:t>
            </a:r>
          </a:p>
        </p:txBody>
      </p:sp>
      <p:sp>
        <p:nvSpPr>
          <p:cNvPr id="28" name="Rectangle 27"/>
          <p:cNvSpPr/>
          <p:nvPr/>
        </p:nvSpPr>
        <p:spPr>
          <a:xfrm>
            <a:off x="365760" y="4718304"/>
            <a:ext cx="896112" cy="256032"/>
          </a:xfrm>
          <a:prstGeom prst="rect">
            <a:avLst/>
          </a:prstGeom>
          <a:solidFill>
            <a:srgbClr val="DCE6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5.07</a:t>
            </a:r>
          </a:p>
        </p:txBody>
      </p:sp>
      <p:sp>
        <p:nvSpPr>
          <p:cNvPr id="29" name="Rectangle 28"/>
          <p:cNvSpPr/>
          <p:nvPr/>
        </p:nvSpPr>
        <p:spPr>
          <a:xfrm>
            <a:off x="1261872" y="4718304"/>
            <a:ext cx="896112" cy="256032"/>
          </a:xfrm>
          <a:prstGeom prst="rect">
            <a:avLst/>
          </a:prstGeom>
          <a:solidFill>
            <a:srgbClr val="DCE6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96</a:t>
            </a:r>
          </a:p>
        </p:txBody>
      </p:sp>
      <p:sp>
        <p:nvSpPr>
          <p:cNvPr id="30" name="Rectangle 29"/>
          <p:cNvSpPr/>
          <p:nvPr/>
        </p:nvSpPr>
        <p:spPr>
          <a:xfrm>
            <a:off x="2157984" y="4718304"/>
            <a:ext cx="896112" cy="256032"/>
          </a:xfrm>
          <a:prstGeom prst="rect">
            <a:avLst/>
          </a:prstGeom>
          <a:solidFill>
            <a:srgbClr val="DCE6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91</a:t>
            </a:r>
          </a:p>
        </p:txBody>
      </p:sp>
      <p:sp>
        <p:nvSpPr>
          <p:cNvPr id="31" name="Rectangle 30"/>
          <p:cNvSpPr/>
          <p:nvPr/>
        </p:nvSpPr>
        <p:spPr>
          <a:xfrm>
            <a:off x="3054096" y="4718304"/>
            <a:ext cx="896112" cy="256032"/>
          </a:xfrm>
          <a:prstGeom prst="rect">
            <a:avLst/>
          </a:prstGeom>
          <a:solidFill>
            <a:srgbClr val="DCE6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Bad</a:t>
            </a:r>
          </a:p>
        </p:txBody>
      </p:sp>
      <p:sp>
        <p:nvSpPr>
          <p:cNvPr id="32" name="Rectangle 31"/>
          <p:cNvSpPr/>
          <p:nvPr/>
        </p:nvSpPr>
        <p:spPr>
          <a:xfrm>
            <a:off x="3950208" y="4718304"/>
            <a:ext cx="896112" cy="256032"/>
          </a:xfrm>
          <a:prstGeom prst="rect">
            <a:avLst/>
          </a:prstGeom>
          <a:solidFill>
            <a:srgbClr val="DCE6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Yes</a:t>
            </a:r>
          </a:p>
        </p:txBody>
      </p:sp>
      <p:sp>
        <p:nvSpPr>
          <p:cNvPr id="33" name="Rectangle 32"/>
          <p:cNvSpPr/>
          <p:nvPr/>
        </p:nvSpPr>
        <p:spPr>
          <a:xfrm>
            <a:off x="365760" y="4974336"/>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6.87</a:t>
            </a:r>
          </a:p>
        </p:txBody>
      </p:sp>
      <p:sp>
        <p:nvSpPr>
          <p:cNvPr id="34" name="Rectangle 33"/>
          <p:cNvSpPr/>
          <p:nvPr/>
        </p:nvSpPr>
        <p:spPr>
          <a:xfrm>
            <a:off x="1261872" y="4974336"/>
            <a:ext cx="896112" cy="256032"/>
          </a:xfrm>
          <a:prstGeom prst="rect">
            <a:avLst/>
          </a:prstGeom>
          <a:solidFill>
            <a:srgbClr val="FCE6D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131</a:t>
            </a:r>
          </a:p>
        </p:txBody>
      </p:sp>
      <p:sp>
        <p:nvSpPr>
          <p:cNvPr id="35" name="Rectangle 34"/>
          <p:cNvSpPr/>
          <p:nvPr/>
        </p:nvSpPr>
        <p:spPr>
          <a:xfrm>
            <a:off x="2157984" y="4974336"/>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105</a:t>
            </a:r>
          </a:p>
        </p:txBody>
      </p:sp>
      <p:sp>
        <p:nvSpPr>
          <p:cNvPr id="36" name="Rectangle 35"/>
          <p:cNvSpPr/>
          <p:nvPr/>
        </p:nvSpPr>
        <p:spPr>
          <a:xfrm>
            <a:off x="3054096" y="4974336"/>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Medium</a:t>
            </a:r>
          </a:p>
        </p:txBody>
      </p:sp>
      <p:sp>
        <p:nvSpPr>
          <p:cNvPr id="37" name="Rectangle 36"/>
          <p:cNvSpPr/>
          <p:nvPr/>
        </p:nvSpPr>
        <p:spPr>
          <a:xfrm>
            <a:off x="3950208" y="4974336"/>
            <a:ext cx="896112" cy="25603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r>
              <a:rPr sz="850" b="0">
                <a:solidFill>
                  <a:srgbClr val="262626"/>
                </a:solidFill>
                <a:latin typeface="Calibri"/>
              </a:rPr>
              <a:t>Yes</a:t>
            </a:r>
          </a:p>
        </p:txBody>
      </p:sp>
      <p:sp>
        <p:nvSpPr>
          <p:cNvPr id="38" name="TextBox 37"/>
          <p:cNvSpPr txBox="1"/>
          <p:nvPr/>
        </p:nvSpPr>
        <p:spPr>
          <a:xfrm>
            <a:off x="365760" y="5321808"/>
            <a:ext cx="4663440" cy="237744"/>
          </a:xfrm>
          <a:prstGeom prst="rect">
            <a:avLst/>
          </a:prstGeom>
          <a:noFill/>
        </p:spPr>
        <p:txBody>
          <a:bodyPr wrap="square" lIns="0" tIns="0" rIns="0" bIns="0" anchor="t">
            <a:spAutoFit/>
          </a:bodyPr>
          <a:lstStyle/>
          <a:p>
            <a:pPr algn="l">
              <a:spcAft>
                <a:spcPts val="0"/>
              </a:spcAft>
            </a:pPr>
            <a:r>
              <a:rPr sz="1150" b="1">
                <a:solidFill>
                  <a:srgbClr val="1F3864"/>
                </a:solidFill>
                <a:latin typeface="Calibri"/>
              </a:rPr>
              <a:t>Each row is one observation — one store</a:t>
            </a:r>
          </a:p>
        </p:txBody>
      </p:sp>
      <p:sp>
        <p:nvSpPr>
          <p:cNvPr id="39" name="TextBox 38"/>
          <p:cNvSpPr txBox="1"/>
          <p:nvPr/>
        </p:nvSpPr>
        <p:spPr>
          <a:xfrm>
            <a:off x="365760" y="5989320"/>
            <a:ext cx="11475720" cy="640080"/>
          </a:xfrm>
          <a:prstGeom prst="rect">
            <a:avLst/>
          </a:prstGeom>
          <a:noFill/>
        </p:spPr>
        <p:txBody>
          <a:bodyPr wrap="square" lIns="0" tIns="0" rIns="0" bIns="0" anchor="t">
            <a:spAutoFit/>
          </a:bodyPr>
          <a:lstStyle/>
          <a:p>
            <a:pPr algn="l">
              <a:spcAft>
                <a:spcPts val="0"/>
              </a:spcAft>
            </a:pPr>
            <a:r>
              <a:rPr sz="1100" b="0">
                <a:solidFill>
                  <a:srgbClr val="595959"/>
                </a:solidFill>
                <a:latin typeface="Calibri"/>
              </a:rPr>
              <a:t>Source: Carseats data set, R package ISLR2. James, G., Witten, D., Hastie, T., and Tibshirani, R. (2021). An Introduction to Statistical Learning, 2nd ed. Springer. Carseats is a simulated data set of 400 stores distributed with the textbook; 20 stores are shown here.</a:t>
            </a:r>
          </a:p>
        </p:txBody>
      </p:sp>
    </p:spTree>
    <p:extLst>
      <p:ext uri="{BB962C8B-B14F-4D97-AF65-F5344CB8AC3E}">
        <p14:creationId xmlns:p14="http://schemas.microsoft.com/office/powerpoint/2010/main" val="2364824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141DE-B6DC-5855-48A0-EF14DCD5FAEE}"/>
              </a:ext>
            </a:extLst>
          </p:cNvPr>
          <p:cNvSpPr>
            <a:spLocks noGrp="1"/>
          </p:cNvSpPr>
          <p:nvPr>
            <p:ph type="title"/>
          </p:nvPr>
        </p:nvSpPr>
        <p:spPr>
          <a:xfrm>
            <a:off x="521207" y="117942"/>
            <a:ext cx="10515600" cy="1325563"/>
          </a:xfrm>
        </p:spPr>
        <p:txBody>
          <a:bodyPr/>
          <a:lstStyle/>
          <a:p>
            <a:r>
              <a:rPr lang="en-US" dirty="0"/>
              <a:t>Example data 2</a:t>
            </a:r>
          </a:p>
        </p:txBody>
      </p:sp>
      <p:pic>
        <p:nvPicPr>
          <p:cNvPr id="8" name="Picture 7">
            <a:extLst>
              <a:ext uri="{FF2B5EF4-FFF2-40B4-BE49-F238E27FC236}">
                <a16:creationId xmlns:a16="http://schemas.microsoft.com/office/drawing/2014/main" id="{63D631F3-0028-35A9-70DA-6F62D90E86D1}"/>
              </a:ext>
            </a:extLst>
          </p:cNvPr>
          <p:cNvPicPr>
            <a:picLocks noChangeAspect="1"/>
          </p:cNvPicPr>
          <p:nvPr/>
        </p:nvPicPr>
        <p:blipFill>
          <a:blip r:embed="rId2"/>
          <a:stretch>
            <a:fillRect/>
          </a:stretch>
        </p:blipFill>
        <p:spPr>
          <a:xfrm>
            <a:off x="7238114" y="1027906"/>
            <a:ext cx="4692296" cy="5786866"/>
          </a:xfrm>
          <a:prstGeom prst="rect">
            <a:avLst/>
          </a:prstGeom>
        </p:spPr>
      </p:pic>
      <p:sp>
        <p:nvSpPr>
          <p:cNvPr id="9" name="Content Placeholder 2">
            <a:extLst>
              <a:ext uri="{FF2B5EF4-FFF2-40B4-BE49-F238E27FC236}">
                <a16:creationId xmlns:a16="http://schemas.microsoft.com/office/drawing/2014/main" id="{FF630D4D-B9B1-570B-0C2B-646EE2F1B569}"/>
              </a:ext>
            </a:extLst>
          </p:cNvPr>
          <p:cNvSpPr>
            <a:spLocks noGrp="1"/>
          </p:cNvSpPr>
          <p:nvPr>
            <p:ph idx="1"/>
          </p:nvPr>
        </p:nvSpPr>
        <p:spPr>
          <a:xfrm>
            <a:off x="458066" y="5869998"/>
            <a:ext cx="6561570" cy="876300"/>
          </a:xfrm>
        </p:spPr>
        <p:txBody>
          <a:bodyPr>
            <a:normAutofit fontScale="85000" lnSpcReduction="20000"/>
          </a:bodyPr>
          <a:lstStyle/>
          <a:p>
            <a:pPr marL="0" indent="0">
              <a:buNone/>
            </a:pPr>
            <a:r>
              <a:rPr lang="en-US" sz="1400" dirty="0"/>
              <a:t>Source: D. J. Hand, F. Daly, A. D. Lunn, K. J. </a:t>
            </a:r>
            <a:r>
              <a:rPr lang="en-US" sz="1400" dirty="0" err="1"/>
              <a:t>McConway</a:t>
            </a:r>
            <a:r>
              <a:rPr lang="en-US" sz="1400" dirty="0"/>
              <a:t> and E. Ostrowski (1994). A Handbook of Small Datasets, Chapman and Hall/CRC, London.</a:t>
            </a:r>
          </a:p>
          <a:p>
            <a:pPr marL="0" indent="0">
              <a:buNone/>
            </a:pPr>
            <a:r>
              <a:rPr lang="en-US" sz="1400" dirty="0"/>
              <a:t>Visualizing Tests for Equality of Covariance Matrices - Scientific Figure on ResearchGate. Available from: https://www.researchgate.net/figure/Diagram-of-the-skull-measurements-for-the-Egyptian-skulls-data-set-Maximal-breadth-and_fig4_325126938 [accessed 21 Aug, 2023]</a:t>
            </a:r>
          </a:p>
          <a:p>
            <a:pPr marL="0" indent="0">
              <a:buNone/>
            </a:pPr>
            <a:endParaRPr lang="en-US" sz="1700" dirty="0"/>
          </a:p>
          <a:p>
            <a:pPr marL="0" indent="0">
              <a:buNone/>
            </a:pPr>
            <a:endParaRPr lang="en-US" sz="1700" dirty="0"/>
          </a:p>
        </p:txBody>
      </p:sp>
      <p:pic>
        <p:nvPicPr>
          <p:cNvPr id="11" name="Picture 10" descr="A diagram of a person's head&#10;&#10;Description automatically generated">
            <a:extLst>
              <a:ext uri="{FF2B5EF4-FFF2-40B4-BE49-F238E27FC236}">
                <a16:creationId xmlns:a16="http://schemas.microsoft.com/office/drawing/2014/main" id="{777ECFB0-5EB9-AC13-887B-619B9DB2EFC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58066" y="3011053"/>
            <a:ext cx="5320941" cy="2735589"/>
          </a:xfrm>
          <a:prstGeom prst="rect">
            <a:avLst/>
          </a:prstGeom>
        </p:spPr>
      </p:pic>
      <p:sp>
        <p:nvSpPr>
          <p:cNvPr id="12" name="Content Placeholder 2">
            <a:extLst>
              <a:ext uri="{FF2B5EF4-FFF2-40B4-BE49-F238E27FC236}">
                <a16:creationId xmlns:a16="http://schemas.microsoft.com/office/drawing/2014/main" id="{EEBFF238-31BF-05B7-9433-3732FD9B05D6}"/>
              </a:ext>
            </a:extLst>
          </p:cNvPr>
          <p:cNvSpPr txBox="1">
            <a:spLocks/>
          </p:cNvSpPr>
          <p:nvPr/>
        </p:nvSpPr>
        <p:spPr>
          <a:xfrm>
            <a:off x="458066" y="1566861"/>
            <a:ext cx="4874707" cy="144419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The following are data from an analysis of 150 Egyptian skulls from 5 epochs of Egyptian history. For each skull, the epoch, and several measurements characterizing the shape of the skull are recorded</a:t>
            </a:r>
          </a:p>
          <a:p>
            <a:pPr marL="0" indent="0">
              <a:buFont typeface="Arial" panose="020B0604020202020204" pitchFamily="34" charset="0"/>
              <a:buNone/>
            </a:pPr>
            <a:endParaRPr lang="en-US" sz="1700" dirty="0"/>
          </a:p>
          <a:p>
            <a:pPr marL="0" indent="0">
              <a:buFont typeface="Arial" panose="020B0604020202020204" pitchFamily="34" charset="0"/>
              <a:buNone/>
            </a:pPr>
            <a:endParaRPr lang="en-US" sz="1700" dirty="0"/>
          </a:p>
        </p:txBody>
      </p:sp>
    </p:spTree>
    <p:extLst>
      <p:ext uri="{BB962C8B-B14F-4D97-AF65-F5344CB8AC3E}">
        <p14:creationId xmlns:p14="http://schemas.microsoft.com/office/powerpoint/2010/main" val="3254742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545378" y="153121"/>
            <a:ext cx="10515600" cy="1325563"/>
          </a:xfrm>
        </p:spPr>
        <p:txBody>
          <a:bodyPr/>
          <a:lstStyle/>
          <a:p>
            <a:r>
              <a:rPr lang="en-US" dirty="0"/>
              <a:t>Checkpoint:</a:t>
            </a:r>
          </a:p>
        </p:txBody>
      </p:sp>
      <p:graphicFrame>
        <p:nvGraphicFramePr>
          <p:cNvPr id="5" name="Content Placeholder 2">
            <a:extLst>
              <a:ext uri="{FF2B5EF4-FFF2-40B4-BE49-F238E27FC236}">
                <a16:creationId xmlns:a16="http://schemas.microsoft.com/office/drawing/2014/main" id="{567FBFC7-F7AD-42E5-5268-DA2E59A50182}"/>
              </a:ext>
            </a:extLst>
          </p:cNvPr>
          <p:cNvGraphicFramePr>
            <a:graphicFrameLocks noGrp="1"/>
          </p:cNvGraphicFramePr>
          <p:nvPr>
            <p:ph idx="1"/>
          </p:nvPr>
        </p:nvGraphicFramePr>
        <p:xfrm>
          <a:off x="485775" y="1459345"/>
          <a:ext cx="10634807" cy="5065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5237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p:txBody>
          <a:bodyPr/>
          <a:lstStyle/>
          <a:p>
            <a:r>
              <a:rPr lang="en-US" dirty="0"/>
              <a:t>Types of Variables: Qualitative vs Quantitative</a:t>
            </a:r>
          </a:p>
        </p:txBody>
      </p:sp>
      <p:pic>
        <p:nvPicPr>
          <p:cNvPr id="11" name="Picture 10" descr="A diagram of a variety of objects&#10;&#10;Description automatically generated">
            <a:extLst>
              <a:ext uri="{FF2B5EF4-FFF2-40B4-BE49-F238E27FC236}">
                <a16:creationId xmlns:a16="http://schemas.microsoft.com/office/drawing/2014/main" id="{54C50A30-A4EE-4449-6080-CFFC18C8567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78991" y="2081212"/>
            <a:ext cx="10034017" cy="3919538"/>
          </a:xfrm>
          <a:prstGeom prst="rect">
            <a:avLst/>
          </a:prstGeom>
        </p:spPr>
      </p:pic>
    </p:spTree>
    <p:extLst>
      <p:ext uri="{BB962C8B-B14F-4D97-AF65-F5344CB8AC3E}">
        <p14:creationId xmlns:p14="http://schemas.microsoft.com/office/powerpoint/2010/main" val="173574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p:txBody>
          <a:bodyPr/>
          <a:lstStyle/>
          <a:p>
            <a:r>
              <a:rPr lang="en-US" dirty="0"/>
              <a:t>Types of Variables: Qualitative vs Quantitative</a:t>
            </a:r>
          </a:p>
        </p:txBody>
      </p:sp>
      <p:sp>
        <p:nvSpPr>
          <p:cNvPr id="9" name="TextBox 8">
            <a:extLst>
              <a:ext uri="{FF2B5EF4-FFF2-40B4-BE49-F238E27FC236}">
                <a16:creationId xmlns:a16="http://schemas.microsoft.com/office/drawing/2014/main" id="{D2B5399D-0B33-473E-D0B4-000D18CF4028}"/>
              </a:ext>
            </a:extLst>
          </p:cNvPr>
          <p:cNvSpPr txBox="1"/>
          <p:nvPr/>
        </p:nvSpPr>
        <p:spPr>
          <a:xfrm>
            <a:off x="434109" y="1502921"/>
            <a:ext cx="8146474" cy="4847481"/>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2400" b="1" i="0" u="none" strike="noStrike" kern="1200" cap="none" spc="0" normalizeH="0" baseline="0" noProof="0" dirty="0">
                <a:ln>
                  <a:noFill/>
                </a:ln>
                <a:solidFill>
                  <a:prstClr val="black"/>
                </a:solidFill>
                <a:effectLst/>
                <a:uLnTx/>
                <a:uFillTx/>
                <a:latin typeface="Calibri" panose="020F0502020204030204"/>
                <a:ea typeface="+mn-ea"/>
                <a:cs typeface="+mn-cs"/>
              </a:rPr>
              <a:t>Qualitative (Categorical) variable </a:t>
            </a:r>
            <a:r>
              <a:rPr kumimoji="0" lang="it-IT" sz="2400" b="0" i="0" u="none" strike="noStrike" kern="1200" cap="none" spc="0" normalizeH="0" baseline="0" noProof="0" dirty="0">
                <a:ln>
                  <a:noFill/>
                </a:ln>
                <a:solidFill>
                  <a:prstClr val="black"/>
                </a:solidFill>
                <a:effectLst/>
                <a:uLnTx/>
                <a:uFillTx/>
                <a:latin typeface="Calibri" panose="020F0502020204030204"/>
                <a:ea typeface="+mn-ea"/>
                <a:cs typeface="+mn-cs"/>
              </a:rPr>
              <a:t>– non-numeric qualities or characteristics that can be placed in distinct categories </a:t>
            </a:r>
          </a:p>
          <a:p>
            <a:pPr lvl="1">
              <a:lnSpc>
                <a:spcPct val="90000"/>
              </a:lnSpc>
              <a:spcBef>
                <a:spcPts val="1000"/>
              </a:spcBef>
              <a:defRPr/>
            </a:pPr>
            <a:r>
              <a:rPr lang="it-IT" sz="2000" dirty="0">
                <a:solidFill>
                  <a:prstClr val="black"/>
                </a:solidFill>
                <a:latin typeface="Calibri" panose="020F0502020204030204"/>
              </a:rPr>
              <a:t>State/city (ID, WA, MT, ...)</a:t>
            </a:r>
          </a:p>
          <a:p>
            <a:pPr lvl="1">
              <a:lnSpc>
                <a:spcPct val="90000"/>
              </a:lnSpc>
              <a:spcBef>
                <a:spcPts val="1000"/>
              </a:spcBef>
              <a:defRPr/>
            </a:pPr>
            <a:r>
              <a:rPr lang="it-IT" sz="2000" dirty="0">
                <a:solidFill>
                  <a:prstClr val="black"/>
                </a:solidFill>
                <a:latin typeface="Calibri" panose="020F0502020204030204"/>
              </a:rPr>
              <a:t>Treatment (Drug/Placebo)</a:t>
            </a:r>
          </a:p>
          <a:p>
            <a:pPr lvl="1">
              <a:lnSpc>
                <a:spcPct val="90000"/>
              </a:lnSpc>
              <a:spcBef>
                <a:spcPts val="1000"/>
              </a:spcBef>
              <a:defRPr/>
            </a:pPr>
            <a:r>
              <a:rPr lang="it-IT" sz="2000" dirty="0">
                <a:solidFill>
                  <a:prstClr val="black"/>
                </a:solidFill>
                <a:latin typeface="Calibri" panose="020F0502020204030204"/>
              </a:rPr>
              <a:t>Genotype (AA, AT, TT)</a:t>
            </a:r>
          </a:p>
          <a:p>
            <a:pPr lvl="1">
              <a:lnSpc>
                <a:spcPct val="90000"/>
              </a:lnSpc>
              <a:spcBef>
                <a:spcPts val="1000"/>
              </a:spcBef>
              <a:defRPr/>
            </a:pPr>
            <a:r>
              <a:rPr lang="it-IT" sz="2000" dirty="0">
                <a:solidFill>
                  <a:prstClr val="black"/>
                </a:solidFill>
                <a:latin typeface="Calibri" panose="020F0502020204030204"/>
              </a:rPr>
              <a:t>Survival (live or die) </a:t>
            </a:r>
          </a:p>
          <a:p>
            <a:pPr>
              <a:lnSpc>
                <a:spcPct val="90000"/>
              </a:lnSpc>
              <a:spcBef>
                <a:spcPts val="1000"/>
              </a:spcBef>
              <a:defRPr/>
            </a:pPr>
            <a:r>
              <a:rPr kumimoji="0" lang="it-IT" sz="2400" b="1" i="0" u="none" strike="noStrike" kern="1200" cap="none" spc="0" normalizeH="0" baseline="0" noProof="0" dirty="0">
                <a:ln>
                  <a:noFill/>
                </a:ln>
                <a:solidFill>
                  <a:prstClr val="black"/>
                </a:solidFill>
                <a:effectLst/>
                <a:uLnTx/>
                <a:uFillTx/>
                <a:latin typeface="Calibri" panose="020F0502020204030204"/>
                <a:ea typeface="+mn-ea"/>
                <a:cs typeface="+mn-cs"/>
              </a:rPr>
              <a:t>Quantitative (numeric) variable </a:t>
            </a:r>
            <a:r>
              <a:rPr kumimoji="0" lang="it-IT" sz="2400" b="0" i="0" u="none" strike="noStrike" kern="1200" cap="none" spc="0" normalizeH="0" baseline="0" noProof="0" dirty="0">
                <a:ln>
                  <a:noFill/>
                </a:ln>
                <a:solidFill>
                  <a:prstClr val="black"/>
                </a:solidFill>
                <a:effectLst/>
                <a:uLnTx/>
                <a:uFillTx/>
                <a:latin typeface="Calibri" panose="020F0502020204030204"/>
                <a:ea typeface="+mn-ea"/>
                <a:cs typeface="+mn-cs"/>
              </a:rPr>
              <a:t>– numerical characteristics - can be ordered or ranked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lvl="1">
              <a:lnSpc>
                <a:spcPct val="90000"/>
              </a:lnSpc>
              <a:spcBef>
                <a:spcPts val="1000"/>
              </a:spcBef>
              <a:defRPr/>
            </a:pPr>
            <a:r>
              <a:rPr lang="en-US" sz="2000" dirty="0">
                <a:solidFill>
                  <a:prstClr val="black"/>
                </a:solidFill>
                <a:latin typeface="Calibri" panose="020F0502020204030204"/>
              </a:rPr>
              <a:t>Height (inches/cm)</a:t>
            </a:r>
          </a:p>
          <a:p>
            <a:pPr lvl="1">
              <a:lnSpc>
                <a:spcPct val="90000"/>
              </a:lnSpc>
              <a:spcBef>
                <a:spcPts val="1000"/>
              </a:spcBef>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Weight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lbs</a:t>
            </a:r>
            <a:r>
              <a:rPr lang="en-US" sz="2000" dirty="0">
                <a:solidFill>
                  <a:prstClr val="black"/>
                </a:solidFill>
                <a:latin typeface="Calibri" panose="020F0502020204030204"/>
              </a:rPr>
              <a:t>/kg)</a:t>
            </a:r>
          </a:p>
          <a:p>
            <a:pPr lvl="1">
              <a:lnSpc>
                <a:spcPct val="90000"/>
              </a:lnSpc>
              <a:spcBef>
                <a:spcPts val="1000"/>
              </a:spcBef>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Longevity/Age (number of years)</a:t>
            </a:r>
            <a:endParaRPr lang="en-US" sz="2000" dirty="0">
              <a:solidFill>
                <a:prstClr val="black"/>
              </a:solidFill>
              <a:latin typeface="Calibri" panose="020F0502020204030204"/>
            </a:endParaRPr>
          </a:p>
          <a:p>
            <a:pPr lvl="1">
              <a:lnSpc>
                <a:spcPct val="90000"/>
              </a:lnSpc>
              <a:spcBef>
                <a:spcPts val="1000"/>
              </a:spcBef>
              <a:defRPr/>
            </a:pPr>
            <a:r>
              <a:rPr lang="en-US" sz="2000" dirty="0">
                <a:solidFill>
                  <a:prstClr val="black"/>
                </a:solidFill>
                <a:latin typeface="Calibri" panose="020F0502020204030204"/>
              </a:rPr>
              <a:t>Dose (micrograms per gram)</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descr="A group of eyeballs with different colors&#10;&#10;Description automatically generated">
            <a:extLst>
              <a:ext uri="{FF2B5EF4-FFF2-40B4-BE49-F238E27FC236}">
                <a16:creationId xmlns:a16="http://schemas.microsoft.com/office/drawing/2014/main" id="{C9CB58EF-0020-259B-BBA0-EDD86D22EA6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843241" y="1290485"/>
            <a:ext cx="2914650" cy="2914650"/>
          </a:xfrm>
          <a:prstGeom prst="rect">
            <a:avLst/>
          </a:prstGeom>
        </p:spPr>
      </p:pic>
      <p:pic>
        <p:nvPicPr>
          <p:cNvPr id="8" name="Picture 7" descr="A person standing in front of a height chart&#10;&#10;Description automatically generated">
            <a:extLst>
              <a:ext uri="{FF2B5EF4-FFF2-40B4-BE49-F238E27FC236}">
                <a16:creationId xmlns:a16="http://schemas.microsoft.com/office/drawing/2014/main" id="{89B104AB-C4AB-B363-BF96-947E6616FA7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9568873" y="3994439"/>
            <a:ext cx="2451676" cy="2725447"/>
          </a:xfrm>
          <a:prstGeom prst="rect">
            <a:avLst/>
          </a:prstGeom>
        </p:spPr>
      </p:pic>
    </p:spTree>
    <p:extLst>
      <p:ext uri="{BB962C8B-B14F-4D97-AF65-F5344CB8AC3E}">
        <p14:creationId xmlns:p14="http://schemas.microsoft.com/office/powerpoint/2010/main" val="3065098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104775" y="69850"/>
            <a:ext cx="10515600" cy="1325563"/>
          </a:xfrm>
        </p:spPr>
        <p:txBody>
          <a:bodyPr/>
          <a:lstStyle/>
          <a:p>
            <a:r>
              <a:rPr lang="en-US" dirty="0"/>
              <a:t>Practice: Qualitative vs Quantitative</a:t>
            </a:r>
          </a:p>
        </p:txBody>
      </p:sp>
      <p:sp>
        <p:nvSpPr>
          <p:cNvPr id="3" name="TextBox 2">
            <a:extLst>
              <a:ext uri="{FF2B5EF4-FFF2-40B4-BE49-F238E27FC236}">
                <a16:creationId xmlns:a16="http://schemas.microsoft.com/office/drawing/2014/main" id="{8E831E4D-A6B4-F06F-3427-B337D4295CFB}"/>
              </a:ext>
            </a:extLst>
          </p:cNvPr>
          <p:cNvSpPr txBox="1"/>
          <p:nvPr/>
        </p:nvSpPr>
        <p:spPr>
          <a:xfrm>
            <a:off x="434109" y="2159442"/>
            <a:ext cx="5661891" cy="646331"/>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2000" b="0" i="0" u="none" strike="noStrike" kern="1200" cap="none" spc="0" normalizeH="0" baseline="0" noProof="0" dirty="0">
                <a:ln>
                  <a:noFill/>
                </a:ln>
                <a:solidFill>
                  <a:prstClr val="black"/>
                </a:solidFill>
                <a:effectLst/>
                <a:uLnTx/>
                <a:uFillTx/>
                <a:latin typeface="Calibri" panose="020F0502020204030204"/>
                <a:ea typeface="+mn-ea"/>
                <a:cs typeface="+mn-cs"/>
              </a:rPr>
              <a:t>From our example data of egyptian skulls, which variables are qualitative and which are quantitative?</a:t>
            </a:r>
          </a:p>
        </p:txBody>
      </p:sp>
      <p:pic>
        <p:nvPicPr>
          <p:cNvPr id="4" name="Picture 3">
            <a:extLst>
              <a:ext uri="{FF2B5EF4-FFF2-40B4-BE49-F238E27FC236}">
                <a16:creationId xmlns:a16="http://schemas.microsoft.com/office/drawing/2014/main" id="{3F312E28-59BC-B226-775F-D5CF9922FAB9}"/>
              </a:ext>
            </a:extLst>
          </p:cNvPr>
          <p:cNvPicPr>
            <a:picLocks noChangeAspect="1"/>
          </p:cNvPicPr>
          <p:nvPr/>
        </p:nvPicPr>
        <p:blipFill>
          <a:blip r:embed="rId2"/>
          <a:stretch>
            <a:fillRect/>
          </a:stretch>
        </p:blipFill>
        <p:spPr>
          <a:xfrm>
            <a:off x="7304836" y="1072395"/>
            <a:ext cx="4694327" cy="5785605"/>
          </a:xfrm>
          <a:prstGeom prst="rect">
            <a:avLst/>
          </a:prstGeom>
        </p:spPr>
      </p:pic>
      <p:sp>
        <p:nvSpPr>
          <p:cNvPr id="5" name="TextBox 4">
            <a:extLst>
              <a:ext uri="{FF2B5EF4-FFF2-40B4-BE49-F238E27FC236}">
                <a16:creationId xmlns:a16="http://schemas.microsoft.com/office/drawing/2014/main" id="{B9E6328E-BC34-D96A-EE97-4C6144D12878}"/>
              </a:ext>
            </a:extLst>
          </p:cNvPr>
          <p:cNvSpPr txBox="1"/>
          <p:nvPr/>
        </p:nvSpPr>
        <p:spPr>
          <a:xfrm>
            <a:off x="591127" y="3805382"/>
            <a:ext cx="3269673" cy="369332"/>
          </a:xfrm>
          <a:prstGeom prst="rect">
            <a:avLst/>
          </a:prstGeom>
          <a:noFill/>
        </p:spPr>
        <p:txBody>
          <a:bodyPr wrap="square" rtlCol="0">
            <a:spAutoFit/>
          </a:bodyPr>
          <a:lstStyle/>
          <a:p>
            <a:r>
              <a:rPr lang="en-US" dirty="0">
                <a:solidFill>
                  <a:srgbClr val="FF0000"/>
                </a:solidFill>
              </a:rPr>
              <a:t>Qualitative: Epoch</a:t>
            </a:r>
          </a:p>
        </p:txBody>
      </p:sp>
      <p:sp>
        <p:nvSpPr>
          <p:cNvPr id="6" name="TextBox 5">
            <a:extLst>
              <a:ext uri="{FF2B5EF4-FFF2-40B4-BE49-F238E27FC236}">
                <a16:creationId xmlns:a16="http://schemas.microsoft.com/office/drawing/2014/main" id="{C34BFAB7-0B15-EF69-1025-9748F115FE7D}"/>
              </a:ext>
            </a:extLst>
          </p:cNvPr>
          <p:cNvSpPr txBox="1"/>
          <p:nvPr/>
        </p:nvSpPr>
        <p:spPr>
          <a:xfrm>
            <a:off x="591126" y="5103091"/>
            <a:ext cx="3269673" cy="369332"/>
          </a:xfrm>
          <a:prstGeom prst="rect">
            <a:avLst/>
          </a:prstGeom>
          <a:noFill/>
        </p:spPr>
        <p:txBody>
          <a:bodyPr wrap="square" rtlCol="0">
            <a:spAutoFit/>
          </a:bodyPr>
          <a:lstStyle/>
          <a:p>
            <a:r>
              <a:rPr lang="en-US" dirty="0">
                <a:solidFill>
                  <a:srgbClr val="FF0000"/>
                </a:solidFill>
              </a:rPr>
              <a:t>Quantitative: mb, </a:t>
            </a:r>
            <a:r>
              <a:rPr lang="en-US" dirty="0" err="1">
                <a:solidFill>
                  <a:srgbClr val="FF0000"/>
                </a:solidFill>
              </a:rPr>
              <a:t>bh</a:t>
            </a:r>
            <a:r>
              <a:rPr lang="en-US" dirty="0">
                <a:solidFill>
                  <a:srgbClr val="FF0000"/>
                </a:solidFill>
              </a:rPr>
              <a:t>, bl, </a:t>
            </a:r>
            <a:r>
              <a:rPr lang="en-US" dirty="0" err="1">
                <a:solidFill>
                  <a:srgbClr val="FF0000"/>
                </a:solidFill>
              </a:rPr>
              <a:t>nh</a:t>
            </a:r>
            <a:endParaRPr lang="en-US" dirty="0">
              <a:solidFill>
                <a:srgbClr val="FF0000"/>
              </a:solidFill>
            </a:endParaRPr>
          </a:p>
        </p:txBody>
      </p:sp>
    </p:spTree>
    <p:extLst>
      <p:ext uri="{BB962C8B-B14F-4D97-AF65-F5344CB8AC3E}">
        <p14:creationId xmlns:p14="http://schemas.microsoft.com/office/powerpoint/2010/main" val="293497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p:txBody>
          <a:bodyPr/>
          <a:lstStyle/>
          <a:p>
            <a:r>
              <a:rPr lang="en-US" dirty="0"/>
              <a:t>Types of Variables: Qualitative vs Quantitative</a:t>
            </a:r>
          </a:p>
        </p:txBody>
      </p:sp>
      <p:sp>
        <p:nvSpPr>
          <p:cNvPr id="9" name="TextBox 8">
            <a:extLst>
              <a:ext uri="{FF2B5EF4-FFF2-40B4-BE49-F238E27FC236}">
                <a16:creationId xmlns:a16="http://schemas.microsoft.com/office/drawing/2014/main" id="{D2B5399D-0B33-473E-D0B4-000D18CF4028}"/>
              </a:ext>
            </a:extLst>
          </p:cNvPr>
          <p:cNvSpPr txBox="1"/>
          <p:nvPr/>
        </p:nvSpPr>
        <p:spPr>
          <a:xfrm>
            <a:off x="434109" y="2159442"/>
            <a:ext cx="5661891" cy="476027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2400" b="1" i="0" u="none" strike="noStrike" kern="1200" cap="none" spc="0" normalizeH="0" baseline="0" noProof="0" dirty="0">
                <a:ln>
                  <a:noFill/>
                </a:ln>
                <a:solidFill>
                  <a:prstClr val="black"/>
                </a:solidFill>
                <a:effectLst/>
                <a:uLnTx/>
                <a:uFillTx/>
                <a:latin typeface="Calibri" panose="020F0502020204030204"/>
                <a:ea typeface="+mn-ea"/>
                <a:cs typeface="+mn-cs"/>
              </a:rPr>
              <a:t>Qualitative nominal </a:t>
            </a:r>
            <a:r>
              <a:rPr kumimoji="0" lang="it-IT" sz="2400" b="0" i="0" u="none" strike="noStrike" kern="1200" cap="none" spc="0" normalizeH="0" baseline="0" noProof="0" dirty="0">
                <a:ln>
                  <a:noFill/>
                </a:ln>
                <a:solidFill>
                  <a:prstClr val="black"/>
                </a:solidFill>
                <a:effectLst/>
                <a:uLnTx/>
                <a:uFillTx/>
                <a:latin typeface="Calibri" panose="020F0502020204030204"/>
                <a:ea typeface="+mn-ea"/>
                <a:cs typeface="+mn-cs"/>
              </a:rPr>
              <a:t>– non-numeric qualities or characteristics that can be placed in distinct categories that do not have a natural ordering (e.g labels, names, colors, etc</a:t>
            </a:r>
            <a:r>
              <a:rPr kumimoji="0" lang="it-IT"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it-IT" sz="20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it-IT" sz="2000" dirty="0">
              <a:solidFill>
                <a:prstClr val="black"/>
              </a:solidFill>
              <a:latin typeface="Calibri" panose="020F0502020204030204"/>
            </a:endParaRPr>
          </a:p>
          <a:p>
            <a:pPr>
              <a:lnSpc>
                <a:spcPct val="90000"/>
              </a:lnSpc>
              <a:spcBef>
                <a:spcPts val="1000"/>
              </a:spcBef>
              <a:defRPr/>
            </a:pPr>
            <a:r>
              <a:rPr kumimoji="0" lang="it-IT" sz="2400" b="1" i="0" u="none" strike="noStrike" kern="1200" cap="none" spc="0" normalizeH="0" baseline="0" noProof="0" dirty="0">
                <a:ln>
                  <a:noFill/>
                </a:ln>
                <a:solidFill>
                  <a:prstClr val="black"/>
                </a:solidFill>
                <a:effectLst/>
                <a:uLnTx/>
                <a:uFillTx/>
                <a:latin typeface="Calibri" panose="020F0502020204030204"/>
                <a:ea typeface="+mn-ea"/>
                <a:cs typeface="+mn-cs"/>
              </a:rPr>
              <a:t>Qualitative ordinal </a:t>
            </a:r>
            <a:r>
              <a:rPr kumimoji="0" lang="it-IT" sz="2400" b="0" i="0" u="none" strike="noStrike" kern="1200" cap="none" spc="0" normalizeH="0" baseline="0" noProof="0" dirty="0">
                <a:ln>
                  <a:noFill/>
                </a:ln>
                <a:solidFill>
                  <a:prstClr val="black"/>
                </a:solidFill>
                <a:effectLst/>
                <a:uLnTx/>
                <a:uFillTx/>
                <a:latin typeface="Calibri" panose="020F0502020204030204"/>
                <a:ea typeface="+mn-ea"/>
                <a:cs typeface="+mn-cs"/>
              </a:rPr>
              <a:t>– non-numeric qualities or characteristics that can be placed in distinct categories with an inherent ordering (Likert responses, education level, military ranking)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it-IT"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descr="A yellow face with black text&#10;&#10;Description automatically generated">
            <a:extLst>
              <a:ext uri="{FF2B5EF4-FFF2-40B4-BE49-F238E27FC236}">
                <a16:creationId xmlns:a16="http://schemas.microsoft.com/office/drawing/2014/main" id="{17D8358B-2C9E-2B5B-AD98-C23DD96FA27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762617" y="4656860"/>
            <a:ext cx="5150694" cy="1700643"/>
          </a:xfrm>
          <a:prstGeom prst="rect">
            <a:avLst/>
          </a:prstGeom>
        </p:spPr>
      </p:pic>
      <p:sp>
        <p:nvSpPr>
          <p:cNvPr id="5" name="TextBox 4">
            <a:extLst>
              <a:ext uri="{FF2B5EF4-FFF2-40B4-BE49-F238E27FC236}">
                <a16:creationId xmlns:a16="http://schemas.microsoft.com/office/drawing/2014/main" id="{7A9929A6-D88A-3E31-A14D-F0B04F1F2CC5}"/>
              </a:ext>
            </a:extLst>
          </p:cNvPr>
          <p:cNvSpPr txBox="1"/>
          <p:nvPr/>
        </p:nvSpPr>
        <p:spPr>
          <a:xfrm>
            <a:off x="6762617" y="6357503"/>
            <a:ext cx="5150694" cy="230832"/>
          </a:xfrm>
          <a:prstGeom prst="rect">
            <a:avLst/>
          </a:prstGeom>
          <a:noFill/>
        </p:spPr>
        <p:txBody>
          <a:bodyPr wrap="square" rtlCol="0">
            <a:spAutoFit/>
          </a:bodyPr>
          <a:lstStyle/>
          <a:p>
            <a:r>
              <a:rPr lang="en-US" sz="900">
                <a:hlinkClick r:id="rId3" tooltip="https://ohiostate.pressbooks.pub/swk3401/chapter/module-3-chapter-5-overview-of-methods-for-data-collection-and-measurement/"/>
              </a:rPr>
              <a:t>This Photo</a:t>
            </a:r>
            <a:r>
              <a:rPr lang="en-US" sz="900"/>
              <a:t> by Unknown Author is licensed under </a:t>
            </a:r>
            <a:r>
              <a:rPr lang="en-US" sz="900">
                <a:hlinkClick r:id="rId4" tooltip="https://creativecommons.org/licenses/by-nc-nd/3.0/"/>
              </a:rPr>
              <a:t>CC BY-NC-ND</a:t>
            </a:r>
            <a:endParaRPr lang="en-US" sz="900"/>
          </a:p>
        </p:txBody>
      </p:sp>
      <p:pic>
        <p:nvPicPr>
          <p:cNvPr id="10" name="Picture 9" descr="urban_pie.png"/>
          <p:cNvPicPr>
            <a:picLocks noChangeAspect="1"/>
          </p:cNvPicPr>
          <p:nvPr/>
        </p:nvPicPr>
        <p:blipFill>
          <a:blip r:embed="rId5"/>
          <a:stretch>
            <a:fillRect/>
          </a:stretch>
        </p:blipFill>
        <p:spPr>
          <a:xfrm>
            <a:off x="7470648" y="1325880"/>
            <a:ext cx="4197096" cy="3099791"/>
          </a:xfrm>
          <a:prstGeom prst="rect">
            <a:avLst/>
          </a:prstGeom>
        </p:spPr>
      </p:pic>
    </p:spTree>
    <p:extLst>
      <p:ext uri="{BB962C8B-B14F-4D97-AF65-F5344CB8AC3E}">
        <p14:creationId xmlns:p14="http://schemas.microsoft.com/office/powerpoint/2010/main" val="3436510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104775" y="69850"/>
            <a:ext cx="10515600" cy="1325563"/>
          </a:xfrm>
        </p:spPr>
        <p:txBody>
          <a:bodyPr/>
          <a:lstStyle/>
          <a:p>
            <a:r>
              <a:rPr lang="en-US" dirty="0"/>
              <a:t>Practice: Qualitative vs Quantitative</a:t>
            </a:r>
          </a:p>
        </p:txBody>
      </p:sp>
      <p:sp>
        <p:nvSpPr>
          <p:cNvPr id="3" name="TextBox 2">
            <a:extLst>
              <a:ext uri="{FF2B5EF4-FFF2-40B4-BE49-F238E27FC236}">
                <a16:creationId xmlns:a16="http://schemas.microsoft.com/office/drawing/2014/main" id="{8E831E4D-A6B4-F06F-3427-B337D4295CFB}"/>
              </a:ext>
            </a:extLst>
          </p:cNvPr>
          <p:cNvSpPr txBox="1"/>
          <p:nvPr/>
        </p:nvSpPr>
        <p:spPr>
          <a:xfrm>
            <a:off x="434110" y="2159442"/>
            <a:ext cx="4221018" cy="1200329"/>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sz="2000" dirty="0">
                <a:solidFill>
                  <a:prstClr val="black"/>
                </a:solidFill>
                <a:latin typeface="Calibri" panose="020F0502020204030204"/>
              </a:rPr>
              <a:t>In the Carseats example data, which variable(s) are qualitative nominal and which are qualitative ordinal?</a:t>
            </a:r>
          </a:p>
        </p:txBody>
      </p:sp>
      <p:pic>
        <p:nvPicPr>
          <p:cNvPr id="11" name="Picture 10" descr="carseats_table.png"/>
          <p:cNvPicPr>
            <a:picLocks noChangeAspect="1"/>
          </p:cNvPicPr>
          <p:nvPr/>
        </p:nvPicPr>
        <p:blipFill>
          <a:blip r:embed="rId2"/>
          <a:stretch>
            <a:fillRect/>
          </a:stretch>
        </p:blipFill>
        <p:spPr>
          <a:xfrm>
            <a:off x="4846320" y="1554480"/>
            <a:ext cx="7040880" cy="4437221"/>
          </a:xfrm>
          <a:prstGeom prst="rect">
            <a:avLst/>
          </a:prstGeom>
        </p:spPr>
      </p:pic>
      <p:sp>
        <p:nvSpPr>
          <p:cNvPr id="4" name="TextBox 3">
            <a:extLst>
              <a:ext uri="{FF2B5EF4-FFF2-40B4-BE49-F238E27FC236}">
                <a16:creationId xmlns:a16="http://schemas.microsoft.com/office/drawing/2014/main" id="{84EAD342-BB5B-4FD8-494C-69A41D2CC292}"/>
              </a:ext>
            </a:extLst>
          </p:cNvPr>
          <p:cNvSpPr txBox="1"/>
          <p:nvPr/>
        </p:nvSpPr>
        <p:spPr>
          <a:xfrm>
            <a:off x="591127" y="3805382"/>
            <a:ext cx="3269673" cy="646331"/>
          </a:xfrm>
          <a:prstGeom prst="rect">
            <a:avLst/>
          </a:prstGeom>
          <a:noFill/>
        </p:spPr>
        <p:txBody>
          <a:bodyPr wrap="square" rtlCol="0">
            <a:spAutoFit/>
          </a:bodyPr>
          <a:lstStyle/>
          <a:p>
            <a:r>
              <a:rPr lang="en-US" dirty="0">
                <a:solidFill>
                  <a:srgbClr val="FF0000"/>
                </a:solidFill>
              </a:rPr>
              <a:t>Qualitative nominal: Urban, US</a:t>
            </a:r>
          </a:p>
        </p:txBody>
      </p:sp>
      <p:sp>
        <p:nvSpPr>
          <p:cNvPr id="5" name="TextBox 4">
            <a:extLst>
              <a:ext uri="{FF2B5EF4-FFF2-40B4-BE49-F238E27FC236}">
                <a16:creationId xmlns:a16="http://schemas.microsoft.com/office/drawing/2014/main" id="{C730F326-57E6-7A8B-4880-35D7C64CB66F}"/>
              </a:ext>
            </a:extLst>
          </p:cNvPr>
          <p:cNvSpPr txBox="1"/>
          <p:nvPr/>
        </p:nvSpPr>
        <p:spPr>
          <a:xfrm>
            <a:off x="591126" y="5121564"/>
            <a:ext cx="3269673" cy="369332"/>
          </a:xfrm>
          <a:prstGeom prst="rect">
            <a:avLst/>
          </a:prstGeom>
          <a:noFill/>
        </p:spPr>
        <p:txBody>
          <a:bodyPr wrap="square" rtlCol="0">
            <a:spAutoFit/>
          </a:bodyPr>
          <a:lstStyle/>
          <a:p>
            <a:r>
              <a:rPr lang="en-US" dirty="0">
                <a:solidFill>
                  <a:srgbClr val="FF0000"/>
                </a:solidFill>
              </a:rPr>
              <a:t>Qualitative ordinal: ShelveLoc (Bad &lt; Medium &lt; Good)</a:t>
            </a:r>
          </a:p>
        </p:txBody>
      </p:sp>
      <p:sp>
        <p:nvSpPr>
          <p:cNvPr id="12" name="TextBox 11"/>
          <p:cNvSpPr txBox="1"/>
          <p:nvPr/>
        </p:nvSpPr>
        <p:spPr>
          <a:xfrm>
            <a:off x="429768" y="6309360"/>
            <a:ext cx="11338560" cy="274320"/>
          </a:xfrm>
          <a:prstGeom prst="rect">
            <a:avLst/>
          </a:prstGeom>
          <a:noFill/>
        </p:spPr>
        <p:txBody>
          <a:bodyPr wrap="square" lIns="0" tIns="0" rIns="0" bIns="0" anchor="t">
            <a:spAutoFit/>
          </a:bodyPr>
          <a:lstStyle/>
          <a:p>
            <a:pPr algn="l">
              <a:spcAft>
                <a:spcPts val="0"/>
              </a:spcAft>
            </a:pPr>
            <a:r>
              <a:rPr sz="1000" b="0">
                <a:solidFill>
                  <a:srgbClr val="595959"/>
                </a:solidFill>
                <a:latin typeface="Calibri"/>
              </a:rPr>
              <a:t>Carseats data set, R package ISLR2 (James, Witten, Hastie and Tibshirani, 2021); 20 of the 400 simulated stores shown.</a:t>
            </a:r>
          </a:p>
        </p:txBody>
      </p:sp>
    </p:spTree>
    <p:extLst>
      <p:ext uri="{BB962C8B-B14F-4D97-AF65-F5344CB8AC3E}">
        <p14:creationId xmlns:p14="http://schemas.microsoft.com/office/powerpoint/2010/main" val="210203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p:txBody>
          <a:bodyPr/>
          <a:lstStyle/>
          <a:p>
            <a:r>
              <a:rPr lang="en-US" dirty="0"/>
              <a:t>Quantitative Variables: Discrete vs Continuous</a:t>
            </a:r>
          </a:p>
        </p:txBody>
      </p:sp>
      <p:sp>
        <p:nvSpPr>
          <p:cNvPr id="9" name="TextBox 8">
            <a:extLst>
              <a:ext uri="{FF2B5EF4-FFF2-40B4-BE49-F238E27FC236}">
                <a16:creationId xmlns:a16="http://schemas.microsoft.com/office/drawing/2014/main" id="{D2B5399D-0B33-473E-D0B4-000D18CF4028}"/>
              </a:ext>
            </a:extLst>
          </p:cNvPr>
          <p:cNvSpPr txBox="1"/>
          <p:nvPr/>
        </p:nvSpPr>
        <p:spPr>
          <a:xfrm>
            <a:off x="434109" y="1808461"/>
            <a:ext cx="5661891" cy="4843377"/>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Quantitative discrete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quantitative variables that take on distinct, countable values such 0,1,2,3… (whole numbers or integers)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all counts are quantitative discrete 	   variables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Quantitative continuous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variables that can take on infinite number of values within an interval of any two specific values</a:t>
            </a:r>
            <a:r>
              <a:rPr lang="en-US" sz="2400" dirty="0">
                <a:solidFill>
                  <a:prstClr val="black"/>
                </a:solidFill>
                <a:latin typeface="Calibri" panose="020F0502020204030204"/>
              </a:rPr>
              <a:t> (</a:t>
            </a:r>
            <a:r>
              <a:rPr lang="en-US" sz="2400" dirty="0" err="1">
                <a:solidFill>
                  <a:prstClr val="black"/>
                </a:solidFill>
                <a:latin typeface="Calibri" panose="020F0502020204030204"/>
              </a:rPr>
              <a:t>e.g</a:t>
            </a:r>
            <a:r>
              <a:rPr lang="en-US" sz="2400" dirty="0">
                <a:solidFill>
                  <a:prstClr val="black"/>
                </a:solidFill>
                <a:latin typeface="Calibri" panose="020F0502020204030204"/>
              </a:rPr>
              <a:t> temperature </a:t>
            </a:r>
            <a:r>
              <a:rPr lang="en-US" sz="2400" dirty="0">
                <a:solidFill>
                  <a:prstClr val="black"/>
                </a:solidFill>
                <a:latin typeface="Century Gothic" panose="020B0502020202020204" pitchFamily="34" charset="0"/>
              </a:rPr>
              <a:t>◦</a:t>
            </a:r>
            <a:r>
              <a:rPr lang="en-US" sz="2400" dirty="0">
                <a:solidFill>
                  <a:prstClr val="black"/>
                </a:solidFill>
              </a:rPr>
              <a:t>F</a:t>
            </a:r>
            <a:r>
              <a:rPr lang="en-US" sz="2400" dirty="0">
                <a:solidFill>
                  <a:prstClr val="black"/>
                </a:solidFill>
                <a:latin typeface="Calibri" panose="020F0502020204030204"/>
              </a:rPr>
              <a:t>, height in inches, speed in miles per hour)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45B12863-5A45-B490-8B73-853E2EDD5FEB}"/>
              </a:ext>
            </a:extLst>
          </p:cNvPr>
          <p:cNvGrpSpPr/>
          <p:nvPr/>
        </p:nvGrpSpPr>
        <p:grpSpPr>
          <a:xfrm>
            <a:off x="6096000" y="5171258"/>
            <a:ext cx="5409648" cy="1321617"/>
            <a:chOff x="6500301" y="4534023"/>
            <a:chExt cx="5409648" cy="1321617"/>
          </a:xfrm>
        </p:grpSpPr>
        <p:cxnSp>
          <p:nvCxnSpPr>
            <p:cNvPr id="4" name="Straight Connector 3">
              <a:extLst>
                <a:ext uri="{FF2B5EF4-FFF2-40B4-BE49-F238E27FC236}">
                  <a16:creationId xmlns:a16="http://schemas.microsoft.com/office/drawing/2014/main" id="{106E68E4-A802-FBE4-B9B6-5585535DB2BF}"/>
                </a:ext>
              </a:extLst>
            </p:cNvPr>
            <p:cNvCxnSpPr/>
            <p:nvPr/>
          </p:nvCxnSpPr>
          <p:spPr>
            <a:xfrm>
              <a:off x="6844146" y="5194300"/>
              <a:ext cx="48101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77A96C5-98A2-436E-85CD-6D4EFC3E4717}"/>
                </a:ext>
              </a:extLst>
            </p:cNvPr>
            <p:cNvCxnSpPr/>
            <p:nvPr/>
          </p:nvCxnSpPr>
          <p:spPr>
            <a:xfrm>
              <a:off x="6844146" y="4959927"/>
              <a:ext cx="0" cy="49876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373CDAC-2910-EE34-35F7-F0C8CA3C468C}"/>
                </a:ext>
              </a:extLst>
            </p:cNvPr>
            <p:cNvCxnSpPr/>
            <p:nvPr/>
          </p:nvCxnSpPr>
          <p:spPr>
            <a:xfrm>
              <a:off x="11654271" y="4986482"/>
              <a:ext cx="0" cy="498764"/>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A64A037-5701-C955-28F9-08333B69AB7C}"/>
                    </a:ext>
                  </a:extLst>
                </p:cNvPr>
                <p:cNvSpPr txBox="1"/>
                <p:nvPr/>
              </p:nvSpPr>
              <p:spPr>
                <a:xfrm>
                  <a:off x="6500301" y="5485246"/>
                  <a:ext cx="511357"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40</m:t>
                        </m:r>
                        <m:r>
                          <m:rPr>
                            <m:sty m:val="p"/>
                          </m:rP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FA64A037-5701-C955-28F9-08333B69AB7C}"/>
                    </a:ext>
                  </a:extLst>
                </p:cNvPr>
                <p:cNvSpPr txBox="1">
                  <a:spLocks noRot="1" noChangeAspect="1" noMove="1" noResize="1" noEditPoints="1" noAdjustHandles="1" noChangeArrowheads="1" noChangeShapeType="1" noTextEdit="1"/>
                </p:cNvSpPr>
                <p:nvPr/>
              </p:nvSpPr>
              <p:spPr>
                <a:xfrm>
                  <a:off x="6500301" y="5485246"/>
                  <a:ext cx="511357" cy="276999"/>
                </a:xfrm>
                <a:prstGeom prst="rect">
                  <a:avLst/>
                </a:prstGeom>
                <a:blipFill>
                  <a:blip r:embed="rId2"/>
                  <a:stretch>
                    <a:fillRect l="-9524" r="-10714"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DB788FF-8AF6-3BE7-EA55-AC4D620DE867}"/>
                    </a:ext>
                  </a:extLst>
                </p:cNvPr>
                <p:cNvSpPr txBox="1"/>
                <p:nvPr/>
              </p:nvSpPr>
              <p:spPr>
                <a:xfrm>
                  <a:off x="11398592" y="5504658"/>
                  <a:ext cx="511357" cy="276999"/>
                </a:xfrm>
                <a:prstGeom prst="rect">
                  <a:avLst/>
                </a:prstGeom>
                <a:noFill/>
              </p:spPr>
              <p:txBody>
                <a:bodyPr wrap="none" lIns="0" tIns="0" rIns="0" bIns="0" rtlCol="0">
                  <a:spAutoFit/>
                </a:bodyPr>
                <a:lstStyle/>
                <a:p>
                  <a:pPr/>
                  <a14:m>
                    <m:oMathPara xmlns:m="http://schemas.openxmlformats.org/officeDocument/2006/math">
                      <m:oMath>
                        <m:r>
                          <a:rPr lang="en-US" i="1" smtClean="0">
                            <a:latin typeface="Cambria Math" panose="02040503050406030204" pitchFamily="18" charset="0"/>
                          </a:rPr>
                          <m:t>9</m:t>
                        </m:r>
                        <m:r>
                          <a:rPr lang="en-US" b="0" i="1" smtClean="0">
                            <a:latin typeface="Cambria Math" panose="02040503050406030204" pitchFamily="18" charset="0"/>
                          </a:rPr>
                          <m:t>7</m:t>
                        </m:r>
                        <m:r>
                          <m:rPr>
                            <m:sty m:val="p"/>
                          </m:rP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4DB788FF-8AF6-3BE7-EA55-AC4D620DE867}"/>
                    </a:ext>
                  </a:extLst>
                </p:cNvPr>
                <p:cNvSpPr txBox="1">
                  <a:spLocks noRot="1" noChangeAspect="1" noMove="1" noResize="1" noEditPoints="1" noAdjustHandles="1" noChangeArrowheads="1" noChangeShapeType="1" noTextEdit="1"/>
                </p:cNvSpPr>
                <p:nvPr/>
              </p:nvSpPr>
              <p:spPr>
                <a:xfrm>
                  <a:off x="11398592" y="5504658"/>
                  <a:ext cx="511357" cy="276999"/>
                </a:xfrm>
                <a:prstGeom prst="rect">
                  <a:avLst/>
                </a:prstGeom>
                <a:blipFill>
                  <a:blip r:embed="rId3"/>
                  <a:stretch>
                    <a:fillRect l="-10843" r="-12048" b="-666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B2B129F-1F3E-5474-8289-9A5C3A731AD6}"/>
                </a:ext>
              </a:extLst>
            </p:cNvPr>
            <p:cNvSpPr txBox="1"/>
            <p:nvPr/>
          </p:nvSpPr>
          <p:spPr>
            <a:xfrm>
              <a:off x="7348492" y="5209309"/>
              <a:ext cx="3790012" cy="646331"/>
            </a:xfrm>
            <a:prstGeom prst="rect">
              <a:avLst/>
            </a:prstGeom>
            <a:noFill/>
          </p:spPr>
          <p:txBody>
            <a:bodyPr wrap="none" rtlCol="0">
              <a:spAutoFit/>
            </a:bodyPr>
            <a:lstStyle/>
            <a:p>
              <a:pPr algn="ctr"/>
              <a:r>
                <a:rPr lang="en-US" dirty="0"/>
                <a:t>Moscow, ID Daily Surface Temperature</a:t>
              </a:r>
            </a:p>
            <a:p>
              <a:pPr algn="ctr"/>
              <a:r>
                <a:rPr lang="en-US" dirty="0"/>
                <a:t>(July)</a:t>
              </a:r>
            </a:p>
          </p:txBody>
        </p:sp>
        <p:sp>
          <p:nvSpPr>
            <p:cNvPr id="13" name="TextBox 12">
              <a:extLst>
                <a:ext uri="{FF2B5EF4-FFF2-40B4-BE49-F238E27FC236}">
                  <a16:creationId xmlns:a16="http://schemas.microsoft.com/office/drawing/2014/main" id="{62C5385C-6276-01F5-1B87-85C550E447C4}"/>
                </a:ext>
              </a:extLst>
            </p:cNvPr>
            <p:cNvSpPr txBox="1"/>
            <p:nvPr/>
          </p:nvSpPr>
          <p:spPr>
            <a:xfrm>
              <a:off x="11320236" y="4590595"/>
              <a:ext cx="589713" cy="369332"/>
            </a:xfrm>
            <a:prstGeom prst="rect">
              <a:avLst/>
            </a:prstGeom>
            <a:noFill/>
          </p:spPr>
          <p:txBody>
            <a:bodyPr wrap="none" rtlCol="0">
              <a:spAutoFit/>
            </a:bodyPr>
            <a:lstStyle/>
            <a:p>
              <a:r>
                <a:rPr lang="en-US" dirty="0"/>
                <a:t>Max</a:t>
              </a:r>
            </a:p>
          </p:txBody>
        </p:sp>
        <p:sp>
          <p:nvSpPr>
            <p:cNvPr id="14" name="TextBox 13">
              <a:extLst>
                <a:ext uri="{FF2B5EF4-FFF2-40B4-BE49-F238E27FC236}">
                  <a16:creationId xmlns:a16="http://schemas.microsoft.com/office/drawing/2014/main" id="{275D370F-8F01-EB76-C53A-B5B5290FF7D7}"/>
                </a:ext>
              </a:extLst>
            </p:cNvPr>
            <p:cNvSpPr txBox="1"/>
            <p:nvPr/>
          </p:nvSpPr>
          <p:spPr>
            <a:xfrm>
              <a:off x="6565864" y="4534023"/>
              <a:ext cx="556563" cy="369332"/>
            </a:xfrm>
            <a:prstGeom prst="rect">
              <a:avLst/>
            </a:prstGeom>
            <a:noFill/>
          </p:spPr>
          <p:txBody>
            <a:bodyPr wrap="none" rtlCol="0">
              <a:spAutoFit/>
            </a:bodyPr>
            <a:lstStyle/>
            <a:p>
              <a:r>
                <a:rPr lang="en-US" dirty="0"/>
                <a:t>Min</a:t>
              </a:r>
            </a:p>
          </p:txBody>
        </p:sp>
      </p:grpSp>
      <p:pic>
        <p:nvPicPr>
          <p:cNvPr id="17" name="Picture 16" descr="A cow standing in a field&#10;&#10;Description automatically generated">
            <a:extLst>
              <a:ext uri="{FF2B5EF4-FFF2-40B4-BE49-F238E27FC236}">
                <a16:creationId xmlns:a16="http://schemas.microsoft.com/office/drawing/2014/main" id="{6DF87C0B-221E-D58C-C314-4621BC5C6B8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041094" y="1546229"/>
            <a:ext cx="3716797" cy="2787598"/>
          </a:xfrm>
          <a:prstGeom prst="rect">
            <a:avLst/>
          </a:prstGeom>
        </p:spPr>
      </p:pic>
      <p:cxnSp>
        <p:nvCxnSpPr>
          <p:cNvPr id="19" name="Straight Arrow Connector 18">
            <a:extLst>
              <a:ext uri="{FF2B5EF4-FFF2-40B4-BE49-F238E27FC236}">
                <a16:creationId xmlns:a16="http://schemas.microsoft.com/office/drawing/2014/main" id="{DB58C36D-7D74-88B5-C2AD-3E0DFB0D519E}"/>
              </a:ext>
            </a:extLst>
          </p:cNvPr>
          <p:cNvCxnSpPr>
            <a:cxnSpLocks/>
          </p:cNvCxnSpPr>
          <p:nvPr/>
        </p:nvCxnSpPr>
        <p:spPr>
          <a:xfrm flipV="1">
            <a:off x="7804727" y="2724727"/>
            <a:ext cx="1717964" cy="1127077"/>
          </a:xfrm>
          <a:prstGeom prst="straightConnector1">
            <a:avLst/>
          </a:prstGeom>
          <a:ln w="571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8A9B041-FA3A-C52D-05BA-868E522500B5}"/>
              </a:ext>
            </a:extLst>
          </p:cNvPr>
          <p:cNvSpPr txBox="1"/>
          <p:nvPr/>
        </p:nvSpPr>
        <p:spPr>
          <a:xfrm>
            <a:off x="5822348" y="3823232"/>
            <a:ext cx="2163669" cy="646331"/>
          </a:xfrm>
          <a:prstGeom prst="rect">
            <a:avLst/>
          </a:prstGeom>
          <a:noFill/>
        </p:spPr>
        <p:txBody>
          <a:bodyPr wrap="none" rtlCol="0">
            <a:spAutoFit/>
          </a:bodyPr>
          <a:lstStyle/>
          <a:p>
            <a:r>
              <a:rPr lang="en-US" dirty="0"/>
              <a:t>e.g. number of black </a:t>
            </a:r>
          </a:p>
          <a:p>
            <a:r>
              <a:rPr lang="en-US" dirty="0"/>
              <a:t>spots on a dairy cow</a:t>
            </a:r>
          </a:p>
        </p:txBody>
      </p:sp>
    </p:spTree>
    <p:extLst>
      <p:ext uri="{BB962C8B-B14F-4D97-AF65-F5344CB8AC3E}">
        <p14:creationId xmlns:p14="http://schemas.microsoft.com/office/powerpoint/2010/main" val="1074975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152400" y="239891"/>
            <a:ext cx="10515600" cy="1325563"/>
          </a:xfrm>
        </p:spPr>
        <p:txBody>
          <a:bodyPr/>
          <a:lstStyle/>
          <a:p>
            <a:r>
              <a:rPr lang="en-US" dirty="0"/>
              <a:t>Practice: Discrete vs Continuous</a:t>
            </a:r>
          </a:p>
        </p:txBody>
      </p:sp>
      <p:sp>
        <p:nvSpPr>
          <p:cNvPr id="3" name="TextBox 2">
            <a:extLst>
              <a:ext uri="{FF2B5EF4-FFF2-40B4-BE49-F238E27FC236}">
                <a16:creationId xmlns:a16="http://schemas.microsoft.com/office/drawing/2014/main" id="{0188B80F-E353-D6A4-82DB-12D37AECA5FA}"/>
              </a:ext>
            </a:extLst>
          </p:cNvPr>
          <p:cNvSpPr txBox="1"/>
          <p:nvPr/>
        </p:nvSpPr>
        <p:spPr>
          <a:xfrm>
            <a:off x="434110" y="2159442"/>
            <a:ext cx="4204565" cy="1200329"/>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sz="2000" dirty="0">
                <a:solidFill>
                  <a:prstClr val="black"/>
                </a:solidFill>
                <a:latin typeface="Calibri" panose="020F0502020204030204"/>
              </a:rPr>
              <a:t>In the Carseats example data, which variable(s) are quantitative discrete and which are quantitative continuous?</a:t>
            </a:r>
          </a:p>
        </p:txBody>
      </p:sp>
      <p:pic>
        <p:nvPicPr>
          <p:cNvPr id="11" name="Picture 10" descr="carseats_table.png"/>
          <p:cNvPicPr>
            <a:picLocks noChangeAspect="1"/>
          </p:cNvPicPr>
          <p:nvPr/>
        </p:nvPicPr>
        <p:blipFill>
          <a:blip r:embed="rId2"/>
          <a:stretch>
            <a:fillRect/>
          </a:stretch>
        </p:blipFill>
        <p:spPr>
          <a:xfrm>
            <a:off x="4846320" y="1554480"/>
            <a:ext cx="7040880" cy="4437221"/>
          </a:xfrm>
          <a:prstGeom prst="rect">
            <a:avLst/>
          </a:prstGeom>
        </p:spPr>
      </p:pic>
      <p:sp>
        <p:nvSpPr>
          <p:cNvPr id="4" name="TextBox 3">
            <a:extLst>
              <a:ext uri="{FF2B5EF4-FFF2-40B4-BE49-F238E27FC236}">
                <a16:creationId xmlns:a16="http://schemas.microsoft.com/office/drawing/2014/main" id="{5BFBE5D2-952D-A7F7-E8C1-C31C2F5C149C}"/>
              </a:ext>
            </a:extLst>
          </p:cNvPr>
          <p:cNvSpPr txBox="1"/>
          <p:nvPr/>
        </p:nvSpPr>
        <p:spPr>
          <a:xfrm>
            <a:off x="591127" y="3805382"/>
            <a:ext cx="3269673" cy="646331"/>
          </a:xfrm>
          <a:prstGeom prst="rect">
            <a:avLst/>
          </a:prstGeom>
          <a:noFill/>
        </p:spPr>
        <p:txBody>
          <a:bodyPr wrap="square" rtlCol="0">
            <a:spAutoFit/>
          </a:bodyPr>
          <a:lstStyle/>
          <a:p>
            <a:r>
              <a:rPr lang="en-US" dirty="0">
                <a:solidFill>
                  <a:srgbClr val="FF0000"/>
                </a:solidFill>
              </a:rPr>
              <a:t>Quantitative discrete: Population, Education (both counts)</a:t>
            </a:r>
          </a:p>
        </p:txBody>
      </p:sp>
      <p:sp>
        <p:nvSpPr>
          <p:cNvPr id="5" name="TextBox 4">
            <a:extLst>
              <a:ext uri="{FF2B5EF4-FFF2-40B4-BE49-F238E27FC236}">
                <a16:creationId xmlns:a16="http://schemas.microsoft.com/office/drawing/2014/main" id="{7B543275-F5D3-03A6-25A4-BA0C39F21698}"/>
              </a:ext>
            </a:extLst>
          </p:cNvPr>
          <p:cNvSpPr txBox="1"/>
          <p:nvPr/>
        </p:nvSpPr>
        <p:spPr>
          <a:xfrm>
            <a:off x="591126" y="5140037"/>
            <a:ext cx="3269673" cy="646331"/>
          </a:xfrm>
          <a:prstGeom prst="rect">
            <a:avLst/>
          </a:prstGeom>
          <a:noFill/>
        </p:spPr>
        <p:txBody>
          <a:bodyPr wrap="square" rtlCol="0">
            <a:spAutoFit/>
          </a:bodyPr>
          <a:lstStyle/>
          <a:p>
            <a:r>
              <a:rPr lang="en-US" dirty="0">
                <a:solidFill>
                  <a:srgbClr val="FF0000"/>
                </a:solidFill>
              </a:rPr>
              <a:t>Quantitative continuous: Sales, Price, Income</a:t>
            </a:r>
          </a:p>
        </p:txBody>
      </p:sp>
      <p:sp>
        <p:nvSpPr>
          <p:cNvPr id="12" name="TextBox 11"/>
          <p:cNvSpPr txBox="1"/>
          <p:nvPr/>
        </p:nvSpPr>
        <p:spPr>
          <a:xfrm>
            <a:off x="429768" y="6309360"/>
            <a:ext cx="11338560" cy="274320"/>
          </a:xfrm>
          <a:prstGeom prst="rect">
            <a:avLst/>
          </a:prstGeom>
          <a:noFill/>
        </p:spPr>
        <p:txBody>
          <a:bodyPr wrap="square" lIns="0" tIns="0" rIns="0" bIns="0" anchor="t">
            <a:spAutoFit/>
          </a:bodyPr>
          <a:lstStyle/>
          <a:p>
            <a:pPr algn="l">
              <a:spcAft>
                <a:spcPts val="0"/>
              </a:spcAft>
            </a:pPr>
            <a:r>
              <a:rPr sz="1000" b="0">
                <a:solidFill>
                  <a:srgbClr val="595959"/>
                </a:solidFill>
                <a:latin typeface="Calibri"/>
              </a:rPr>
              <a:t>Carseats data set, R package ISLR2 (James, Witten, Hastie and Tibshirani, 2021); 20 of the 400 simulated stores shown.</a:t>
            </a:r>
          </a:p>
        </p:txBody>
      </p:sp>
    </p:spTree>
    <p:extLst>
      <p:ext uri="{BB962C8B-B14F-4D97-AF65-F5344CB8AC3E}">
        <p14:creationId xmlns:p14="http://schemas.microsoft.com/office/powerpoint/2010/main" val="309916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05F6EF9-EBF7-49DD-8A6A-BEF98EE36C8A}">
  <we:reference id="wa200010001" version="1.0.0.1" store="en-US" storeType="OMEX"/>
  <we:alternateReferences>
    <we:reference id="wa200010001" version="1.0.0.1" store="en-US" storeType="OMEX"/>
  </we:alternateReferences>
  <we:properties>
    <we:property name="claude.fileId" value="&quot;12316abd-73cf-4a85-9b4b-f0bf15246e5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2461</TotalTime>
  <Words>1322</Words>
  <Application>Microsoft Office PowerPoint</Application>
  <PresentationFormat>Widescreen</PresentationFormat>
  <Paragraphs>138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Cambria Math</vt:lpstr>
      <vt:lpstr>Century Gothic</vt:lpstr>
      <vt:lpstr>Office Theme</vt:lpstr>
      <vt:lpstr> Lecture 1 Introduction to Statistical Methods</vt:lpstr>
      <vt:lpstr>Where does statistics come from?</vt:lpstr>
      <vt:lpstr>Answering Questions with data</vt:lpstr>
      <vt:lpstr>Where do we find Statistics? – Everywhere!</vt:lpstr>
      <vt:lpstr>The Science of Data</vt:lpstr>
      <vt:lpstr>What Do Data Look Like? </vt:lpstr>
      <vt:lpstr>Example data 2</vt:lpstr>
      <vt:lpstr>Checkpoint:</vt:lpstr>
      <vt:lpstr>Types of Variables: Qualitative vs Quantitative</vt:lpstr>
      <vt:lpstr>Types of Variables: Qualitative vs Quantitative</vt:lpstr>
      <vt:lpstr>Practice: Qualitative vs Quantitative</vt:lpstr>
      <vt:lpstr>Types of Variables: Qualitative vs Quantitative</vt:lpstr>
      <vt:lpstr>Practice: Qualitative vs Quantitative</vt:lpstr>
      <vt:lpstr>Quantitative Variables: Discrete vs Continuous</vt:lpstr>
      <vt:lpstr>Practice: Discrete vs Continuous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Jarred Kvamme</dc:creator>
  <cp:lastModifiedBy>Jarred Kvamme</cp:lastModifiedBy>
  <cp:revision>173</cp:revision>
  <dcterms:created xsi:type="dcterms:W3CDTF">2023-07-25T18:54:28Z</dcterms:created>
  <dcterms:modified xsi:type="dcterms:W3CDTF">2026-08-18T18:53:55Z</dcterms:modified>
</cp:coreProperties>
</file>