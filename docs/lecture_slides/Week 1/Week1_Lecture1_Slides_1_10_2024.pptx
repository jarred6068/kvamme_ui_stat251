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11.svg" ContentType="image/svg+xml"/>
  <Override PartName="/ppt/media/image7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86" r:id="rId19"/>
    <p:sldId id="285" r:id="rId3"/>
    <p:sldId id="257" r:id="rId4"/>
    <p:sldId id="261" r:id="rId5"/>
    <p:sldId id="259" r:id="rId6"/>
    <p:sldId id="262" r:id="rId7"/>
    <p:sldId id="265" r:id="rId8"/>
    <p:sldId id="270" r:id="rId9"/>
    <p:sldId id="268" r:id="rId10"/>
    <p:sldId id="280" r:id="rId11"/>
    <p:sldId id="283" r:id="rId12"/>
    <p:sldId id="267" r:id="rId13"/>
    <p:sldId id="26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846" autoAdjust="0"/>
    <p:restoredTop sz="95097" autoAdjust="0"/>
  </p:normalViewPr>
  <p:slideViewPr>
    <p:cSldViewPr snapToGrid="0">
      <p:cViewPr varScale="1">
        <p:scale>
          <a:sx n="83" d="100"/>
          <a:sy n="83" d="100"/>
        </p:scale>
        <p:origin x="418" y="7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/Relationships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svg"/><Relationship Id="rId3" Type="http://schemas.openxmlformats.org/officeDocument/2006/relationships/image" Target="../media/image8.png"/><Relationship Id="rId4" Type="http://schemas.openxmlformats.org/officeDocument/2006/relationships/image" Target="../media/image9.svg"/><Relationship Id="rId5" Type="http://schemas.openxmlformats.org/officeDocument/2006/relationships/image" Target="../media/image10.png"/><Relationship Id="rId6" Type="http://schemas.openxmlformats.org/officeDocument/2006/relationships/image" Target="../media/image11.svg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svg"/><Relationship Id="rId3" Type="http://schemas.openxmlformats.org/officeDocument/2006/relationships/image" Target="../media/image8.png"/><Relationship Id="rId4" Type="http://schemas.openxmlformats.org/officeDocument/2006/relationships/image" Target="../media/image9.svg"/><Relationship Id="rId5" Type="http://schemas.openxmlformats.org/officeDocument/2006/relationships/image" Target="../media/image10.png"/><Relationship Id="rId6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8C7EA2F-9E63-4866-8ADB-4C7590AC9890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99FDC2B-D125-4B51-8A0B-6775C08BC1E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Data - </a:t>
          </a:r>
          <a:r>
            <a:rPr lang="en-US"/>
            <a:t> a collection of observations/measurements on a set of variables - typically represented as  a table.</a:t>
          </a:r>
        </a:p>
      </dgm:t>
    </dgm:pt>
    <dgm:pt modelId="{5D9B9187-6812-4442-BDD3-37084806E916}" type="parTrans" cxnId="{E0133A49-356E-49AD-AB37-6B6D40B56D2E}">
      <dgm:prSet/>
      <dgm:spPr/>
      <dgm:t>
        <a:bodyPr/>
        <a:lstStyle/>
        <a:p>
          <a:endParaRPr lang="en-US"/>
        </a:p>
      </dgm:t>
    </dgm:pt>
    <dgm:pt modelId="{35F858CF-D367-4A71-8196-59099AA49C88}" type="sibTrans" cxnId="{E0133A49-356E-49AD-AB37-6B6D40B56D2E}">
      <dgm:prSet/>
      <dgm:spPr/>
      <dgm:t>
        <a:bodyPr/>
        <a:lstStyle/>
        <a:p>
          <a:endParaRPr lang="en-US"/>
        </a:p>
      </dgm:t>
    </dgm:pt>
    <dgm:pt modelId="{5B6C2204-A1BD-495C-8582-0BA85FFC7E1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Observation </a:t>
          </a:r>
          <a:r>
            <a:rPr lang="en-US"/>
            <a:t>– the fundamental unit of data – typically observations are rows of a data table</a:t>
          </a:r>
        </a:p>
      </dgm:t>
    </dgm:pt>
    <dgm:pt modelId="{0F6AF99E-A241-4277-A7E3-2EA6D8450A86}" type="parTrans" cxnId="{DF141A6D-76FC-40B9-AAF6-ABB776ADA8BF}">
      <dgm:prSet/>
      <dgm:spPr/>
      <dgm:t>
        <a:bodyPr/>
        <a:lstStyle/>
        <a:p>
          <a:endParaRPr lang="en-US"/>
        </a:p>
      </dgm:t>
    </dgm:pt>
    <dgm:pt modelId="{06933D79-E48C-40DE-9B56-F5CDF07D140D}" type="sibTrans" cxnId="{DF141A6D-76FC-40B9-AAF6-ABB776ADA8BF}">
      <dgm:prSet/>
      <dgm:spPr/>
      <dgm:t>
        <a:bodyPr/>
        <a:lstStyle/>
        <a:p>
          <a:endParaRPr lang="en-US"/>
        </a:p>
      </dgm:t>
    </dgm:pt>
    <dgm:pt modelId="{38F06077-7F5D-497A-94A5-BA46444552D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Variables </a:t>
          </a:r>
          <a:r>
            <a:rPr lang="en-US"/>
            <a:t>– characteristics of an observation – typically variables are the columns of a data table </a:t>
          </a:r>
        </a:p>
      </dgm:t>
    </dgm:pt>
    <dgm:pt modelId="{97B693BE-5499-4F26-A4DE-56EB1A8B61B8}" type="parTrans" cxnId="{8BD547BD-D283-4ADB-9112-C0127E4E5A5F}">
      <dgm:prSet/>
      <dgm:spPr/>
      <dgm:t>
        <a:bodyPr/>
        <a:lstStyle/>
        <a:p>
          <a:endParaRPr lang="en-US"/>
        </a:p>
      </dgm:t>
    </dgm:pt>
    <dgm:pt modelId="{C9043F50-51CF-482F-ABAC-42C061933690}" type="sibTrans" cxnId="{8BD547BD-D283-4ADB-9112-C0127E4E5A5F}">
      <dgm:prSet/>
      <dgm:spPr/>
      <dgm:t>
        <a:bodyPr/>
        <a:lstStyle/>
        <a:p>
          <a:endParaRPr lang="en-US"/>
        </a:p>
      </dgm:t>
    </dgm:pt>
    <dgm:pt modelId="{11E3FD73-11CC-43B1-B3A0-0211145C5B9E}" type="pres">
      <dgm:prSet presAssocID="{28C7EA2F-9E63-4866-8ADB-4C7590AC9890}" presName="root" presStyleCnt="0">
        <dgm:presLayoutVars>
          <dgm:dir/>
          <dgm:resizeHandles val="exact"/>
        </dgm:presLayoutVars>
      </dgm:prSet>
      <dgm:spPr/>
    </dgm:pt>
    <dgm:pt modelId="{B3EA5C4D-E1FD-4538-B15B-DB6C056726F1}" type="pres">
      <dgm:prSet presAssocID="{899FDC2B-D125-4B51-8A0B-6775C08BC1E3}" presName="compNode" presStyleCnt="0"/>
      <dgm:spPr/>
    </dgm:pt>
    <dgm:pt modelId="{CDD0BCED-D09F-428F-9E8F-DC59C1787CD7}" type="pres">
      <dgm:prSet presAssocID="{899FDC2B-D125-4B51-8A0B-6775C08BC1E3}" presName="bgRect" presStyleLbl="bgShp" presStyleIdx="0" presStyleCnt="3"/>
      <dgm:spPr/>
    </dgm:pt>
    <dgm:pt modelId="{50EFC73B-54E6-4841-A181-4EBB2CBD550F}" type="pres">
      <dgm:prSet presAssocID="{899FDC2B-D125-4B51-8A0B-6775C08BC1E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uler"/>
        </a:ext>
      </dgm:extLst>
    </dgm:pt>
    <dgm:pt modelId="{575B0759-1519-4A2E-A100-374C7E01BCD5}" type="pres">
      <dgm:prSet presAssocID="{899FDC2B-D125-4B51-8A0B-6775C08BC1E3}" presName="spaceRect" presStyleCnt="0"/>
      <dgm:spPr/>
    </dgm:pt>
    <dgm:pt modelId="{A1367057-27B6-4A12-868A-6290586330D7}" type="pres">
      <dgm:prSet presAssocID="{899FDC2B-D125-4B51-8A0B-6775C08BC1E3}" presName="parTx" presStyleLbl="revTx" presStyleIdx="0" presStyleCnt="3">
        <dgm:presLayoutVars>
          <dgm:chMax val="0"/>
          <dgm:chPref val="0"/>
        </dgm:presLayoutVars>
      </dgm:prSet>
      <dgm:spPr/>
    </dgm:pt>
    <dgm:pt modelId="{EB046503-D3A2-4469-BA1E-739DC317BFDF}" type="pres">
      <dgm:prSet presAssocID="{35F858CF-D367-4A71-8196-59099AA49C88}" presName="sibTrans" presStyleCnt="0"/>
      <dgm:spPr/>
    </dgm:pt>
    <dgm:pt modelId="{76F638DE-674F-40F1-B32D-FF7AC1AD40F7}" type="pres">
      <dgm:prSet presAssocID="{5B6C2204-A1BD-495C-8582-0BA85FFC7E10}" presName="compNode" presStyleCnt="0"/>
      <dgm:spPr/>
    </dgm:pt>
    <dgm:pt modelId="{911B545B-8700-4D8C-A4E8-C122F76531FA}" type="pres">
      <dgm:prSet presAssocID="{5B6C2204-A1BD-495C-8582-0BA85FFC7E10}" presName="bgRect" presStyleLbl="bgShp" presStyleIdx="1" presStyleCnt="3"/>
      <dgm:spPr/>
    </dgm:pt>
    <dgm:pt modelId="{C495C3A7-F6BB-40B2-92C0-401310511BD3}" type="pres">
      <dgm:prSet presAssocID="{5B6C2204-A1BD-495C-8582-0BA85FFC7E10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able"/>
        </a:ext>
      </dgm:extLst>
    </dgm:pt>
    <dgm:pt modelId="{65DA4B91-7F16-41EA-816D-B18765ED122E}" type="pres">
      <dgm:prSet presAssocID="{5B6C2204-A1BD-495C-8582-0BA85FFC7E10}" presName="spaceRect" presStyleCnt="0"/>
      <dgm:spPr/>
    </dgm:pt>
    <dgm:pt modelId="{689BF73F-F0F5-48BD-98DA-A2D9322E961B}" type="pres">
      <dgm:prSet presAssocID="{5B6C2204-A1BD-495C-8582-0BA85FFC7E10}" presName="parTx" presStyleLbl="revTx" presStyleIdx="1" presStyleCnt="3">
        <dgm:presLayoutVars>
          <dgm:chMax val="0"/>
          <dgm:chPref val="0"/>
        </dgm:presLayoutVars>
      </dgm:prSet>
      <dgm:spPr/>
    </dgm:pt>
    <dgm:pt modelId="{D49D9CBC-3BC7-4412-BA8A-5A1CC5CB427E}" type="pres">
      <dgm:prSet presAssocID="{06933D79-E48C-40DE-9B56-F5CDF07D140D}" presName="sibTrans" presStyleCnt="0"/>
      <dgm:spPr/>
    </dgm:pt>
    <dgm:pt modelId="{87B4AE54-D64E-44D7-A9F5-2A6B45D8824A}" type="pres">
      <dgm:prSet presAssocID="{38F06077-7F5D-497A-94A5-BA46444552D6}" presName="compNode" presStyleCnt="0"/>
      <dgm:spPr/>
    </dgm:pt>
    <dgm:pt modelId="{C24907FE-2E5C-4B7C-91FE-DAD10386C4D1}" type="pres">
      <dgm:prSet presAssocID="{38F06077-7F5D-497A-94A5-BA46444552D6}" presName="bgRect" presStyleLbl="bgShp" presStyleIdx="2" presStyleCnt="3"/>
      <dgm:spPr/>
    </dgm:pt>
    <dgm:pt modelId="{911C3ABD-F815-4BD6-B5D2-590B6259B183}" type="pres">
      <dgm:prSet presAssocID="{38F06077-7F5D-497A-94A5-BA46444552D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724D60D6-6221-4A02-AA08-FCEB22954AB8}" type="pres">
      <dgm:prSet presAssocID="{38F06077-7F5D-497A-94A5-BA46444552D6}" presName="spaceRect" presStyleCnt="0"/>
      <dgm:spPr/>
    </dgm:pt>
    <dgm:pt modelId="{72FAA7D3-E837-432C-87DB-F5B80E7E0DD1}" type="pres">
      <dgm:prSet presAssocID="{38F06077-7F5D-497A-94A5-BA46444552D6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D1949A1D-A638-4AF7-A441-1AD78F2CE78E}" type="presOf" srcId="{5B6C2204-A1BD-495C-8582-0BA85FFC7E10}" destId="{689BF73F-F0F5-48BD-98DA-A2D9322E961B}" srcOrd="0" destOrd="0" presId="urn:microsoft.com/office/officeart/2018/2/layout/IconVerticalSolidList"/>
    <dgm:cxn modelId="{E0133A49-356E-49AD-AB37-6B6D40B56D2E}" srcId="{28C7EA2F-9E63-4866-8ADB-4C7590AC9890}" destId="{899FDC2B-D125-4B51-8A0B-6775C08BC1E3}" srcOrd="0" destOrd="0" parTransId="{5D9B9187-6812-4442-BDD3-37084806E916}" sibTransId="{35F858CF-D367-4A71-8196-59099AA49C88}"/>
    <dgm:cxn modelId="{DF141A6D-76FC-40B9-AAF6-ABB776ADA8BF}" srcId="{28C7EA2F-9E63-4866-8ADB-4C7590AC9890}" destId="{5B6C2204-A1BD-495C-8582-0BA85FFC7E10}" srcOrd="1" destOrd="0" parTransId="{0F6AF99E-A241-4277-A7E3-2EA6D8450A86}" sibTransId="{06933D79-E48C-40DE-9B56-F5CDF07D140D}"/>
    <dgm:cxn modelId="{252DD799-2BAA-4C9D-BBD0-2B88436277D4}" type="presOf" srcId="{28C7EA2F-9E63-4866-8ADB-4C7590AC9890}" destId="{11E3FD73-11CC-43B1-B3A0-0211145C5B9E}" srcOrd="0" destOrd="0" presId="urn:microsoft.com/office/officeart/2018/2/layout/IconVerticalSolidList"/>
    <dgm:cxn modelId="{8BD547BD-D283-4ADB-9112-C0127E4E5A5F}" srcId="{28C7EA2F-9E63-4866-8ADB-4C7590AC9890}" destId="{38F06077-7F5D-497A-94A5-BA46444552D6}" srcOrd="2" destOrd="0" parTransId="{97B693BE-5499-4F26-A4DE-56EB1A8B61B8}" sibTransId="{C9043F50-51CF-482F-ABAC-42C061933690}"/>
    <dgm:cxn modelId="{6EF646D4-67B7-4782-818A-4B4930C8B6C1}" type="presOf" srcId="{38F06077-7F5D-497A-94A5-BA46444552D6}" destId="{72FAA7D3-E837-432C-87DB-F5B80E7E0DD1}" srcOrd="0" destOrd="0" presId="urn:microsoft.com/office/officeart/2018/2/layout/IconVerticalSolidList"/>
    <dgm:cxn modelId="{1757EBF6-821F-436D-916B-CCD0338AFF9B}" type="presOf" srcId="{899FDC2B-D125-4B51-8A0B-6775C08BC1E3}" destId="{A1367057-27B6-4A12-868A-6290586330D7}" srcOrd="0" destOrd="0" presId="urn:microsoft.com/office/officeart/2018/2/layout/IconVerticalSolidList"/>
    <dgm:cxn modelId="{E30626C0-B212-4BFC-90BE-CD0D4B78FDA4}" type="presParOf" srcId="{11E3FD73-11CC-43B1-B3A0-0211145C5B9E}" destId="{B3EA5C4D-E1FD-4538-B15B-DB6C056726F1}" srcOrd="0" destOrd="0" presId="urn:microsoft.com/office/officeart/2018/2/layout/IconVerticalSolidList"/>
    <dgm:cxn modelId="{034A65F7-C06E-4AB9-8140-7DC389D8637E}" type="presParOf" srcId="{B3EA5C4D-E1FD-4538-B15B-DB6C056726F1}" destId="{CDD0BCED-D09F-428F-9E8F-DC59C1787CD7}" srcOrd="0" destOrd="0" presId="urn:microsoft.com/office/officeart/2018/2/layout/IconVerticalSolidList"/>
    <dgm:cxn modelId="{5B999CE8-E5F9-4C0D-BE2D-772EB005163E}" type="presParOf" srcId="{B3EA5C4D-E1FD-4538-B15B-DB6C056726F1}" destId="{50EFC73B-54E6-4841-A181-4EBB2CBD550F}" srcOrd="1" destOrd="0" presId="urn:microsoft.com/office/officeart/2018/2/layout/IconVerticalSolidList"/>
    <dgm:cxn modelId="{E7E4B640-C344-4138-82BD-9E24A93836EC}" type="presParOf" srcId="{B3EA5C4D-E1FD-4538-B15B-DB6C056726F1}" destId="{575B0759-1519-4A2E-A100-374C7E01BCD5}" srcOrd="2" destOrd="0" presId="urn:microsoft.com/office/officeart/2018/2/layout/IconVerticalSolidList"/>
    <dgm:cxn modelId="{C2E288E0-3C4B-4007-9C80-B349FAA20B3E}" type="presParOf" srcId="{B3EA5C4D-E1FD-4538-B15B-DB6C056726F1}" destId="{A1367057-27B6-4A12-868A-6290586330D7}" srcOrd="3" destOrd="0" presId="urn:microsoft.com/office/officeart/2018/2/layout/IconVerticalSolidList"/>
    <dgm:cxn modelId="{18E2C43A-DFFB-442E-B9B7-F35F32E16EFF}" type="presParOf" srcId="{11E3FD73-11CC-43B1-B3A0-0211145C5B9E}" destId="{EB046503-D3A2-4469-BA1E-739DC317BFDF}" srcOrd="1" destOrd="0" presId="urn:microsoft.com/office/officeart/2018/2/layout/IconVerticalSolidList"/>
    <dgm:cxn modelId="{EA4BDEA3-FF14-4EF0-A71D-945FC263A001}" type="presParOf" srcId="{11E3FD73-11CC-43B1-B3A0-0211145C5B9E}" destId="{76F638DE-674F-40F1-B32D-FF7AC1AD40F7}" srcOrd="2" destOrd="0" presId="urn:microsoft.com/office/officeart/2018/2/layout/IconVerticalSolidList"/>
    <dgm:cxn modelId="{79A44BFD-480B-4728-8615-E9EB25176D98}" type="presParOf" srcId="{76F638DE-674F-40F1-B32D-FF7AC1AD40F7}" destId="{911B545B-8700-4D8C-A4E8-C122F76531FA}" srcOrd="0" destOrd="0" presId="urn:microsoft.com/office/officeart/2018/2/layout/IconVerticalSolidList"/>
    <dgm:cxn modelId="{078D7E8E-25BD-4475-905A-DAFB5315078E}" type="presParOf" srcId="{76F638DE-674F-40F1-B32D-FF7AC1AD40F7}" destId="{C495C3A7-F6BB-40B2-92C0-401310511BD3}" srcOrd="1" destOrd="0" presId="urn:microsoft.com/office/officeart/2018/2/layout/IconVerticalSolidList"/>
    <dgm:cxn modelId="{F4365F3B-12C5-4486-8741-1724DF9AFC69}" type="presParOf" srcId="{76F638DE-674F-40F1-B32D-FF7AC1AD40F7}" destId="{65DA4B91-7F16-41EA-816D-B18765ED122E}" srcOrd="2" destOrd="0" presId="urn:microsoft.com/office/officeart/2018/2/layout/IconVerticalSolidList"/>
    <dgm:cxn modelId="{632D1CF3-46D3-4B98-A7F4-B19B66F11F1F}" type="presParOf" srcId="{76F638DE-674F-40F1-B32D-FF7AC1AD40F7}" destId="{689BF73F-F0F5-48BD-98DA-A2D9322E961B}" srcOrd="3" destOrd="0" presId="urn:microsoft.com/office/officeart/2018/2/layout/IconVerticalSolidList"/>
    <dgm:cxn modelId="{2BA06EE3-AE96-4A81-90F5-E5BB65199BB0}" type="presParOf" srcId="{11E3FD73-11CC-43B1-B3A0-0211145C5B9E}" destId="{D49D9CBC-3BC7-4412-BA8A-5A1CC5CB427E}" srcOrd="3" destOrd="0" presId="urn:microsoft.com/office/officeart/2018/2/layout/IconVerticalSolidList"/>
    <dgm:cxn modelId="{6854EC05-9B9E-4ABB-A1F7-2E39E66308F1}" type="presParOf" srcId="{11E3FD73-11CC-43B1-B3A0-0211145C5B9E}" destId="{87B4AE54-D64E-44D7-A9F5-2A6B45D8824A}" srcOrd="4" destOrd="0" presId="urn:microsoft.com/office/officeart/2018/2/layout/IconVerticalSolidList"/>
    <dgm:cxn modelId="{EA63BEBC-652D-4B25-BD3B-D9D92C501488}" type="presParOf" srcId="{87B4AE54-D64E-44D7-A9F5-2A6B45D8824A}" destId="{C24907FE-2E5C-4B7C-91FE-DAD10386C4D1}" srcOrd="0" destOrd="0" presId="urn:microsoft.com/office/officeart/2018/2/layout/IconVerticalSolidList"/>
    <dgm:cxn modelId="{CDD664B3-2A25-4691-AEE6-5F607EB4AAB5}" type="presParOf" srcId="{87B4AE54-D64E-44D7-A9F5-2A6B45D8824A}" destId="{911C3ABD-F815-4BD6-B5D2-590B6259B183}" srcOrd="1" destOrd="0" presId="urn:microsoft.com/office/officeart/2018/2/layout/IconVerticalSolidList"/>
    <dgm:cxn modelId="{715B8EEF-8C75-4331-A174-678A54ED7B84}" type="presParOf" srcId="{87B4AE54-D64E-44D7-A9F5-2A6B45D8824A}" destId="{724D60D6-6221-4A02-AA08-FCEB22954AB8}" srcOrd="2" destOrd="0" presId="urn:microsoft.com/office/officeart/2018/2/layout/IconVerticalSolidList"/>
    <dgm:cxn modelId="{FFACEF86-705A-4477-9308-ED733BBCFE8A}" type="presParOf" srcId="{87B4AE54-D64E-44D7-A9F5-2A6B45D8824A}" destId="{72FAA7D3-E837-432C-87DB-F5B80E7E0DD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D0BCED-D09F-428F-9E8F-DC59C1787CD7}">
      <dsp:nvSpPr>
        <dsp:cNvPr id="0" name=""/>
        <dsp:cNvSpPr/>
      </dsp:nvSpPr>
      <dsp:spPr>
        <a:xfrm>
          <a:off x="0" y="618"/>
          <a:ext cx="10634807" cy="144686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EFC73B-54E6-4841-A181-4EBB2CBD550F}">
      <dsp:nvSpPr>
        <dsp:cNvPr id="0" name=""/>
        <dsp:cNvSpPr/>
      </dsp:nvSpPr>
      <dsp:spPr>
        <a:xfrm>
          <a:off x="437678" y="326163"/>
          <a:ext cx="795778" cy="79577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367057-27B6-4A12-868A-6290586330D7}">
      <dsp:nvSpPr>
        <dsp:cNvPr id="0" name=""/>
        <dsp:cNvSpPr/>
      </dsp:nvSpPr>
      <dsp:spPr>
        <a:xfrm>
          <a:off x="1671134" y="618"/>
          <a:ext cx="8963672" cy="14468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3127" tIns="153127" rIns="153127" bIns="1531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/>
            <a:t>Data - </a:t>
          </a:r>
          <a:r>
            <a:rPr lang="en-US" sz="2500" kern="1200"/>
            <a:t> a collection of observations/measurements on a set of variables - typically represented as  a table.</a:t>
          </a:r>
        </a:p>
      </dsp:txBody>
      <dsp:txXfrm>
        <a:off x="1671134" y="618"/>
        <a:ext cx="8963672" cy="1446869"/>
      </dsp:txXfrm>
    </dsp:sp>
    <dsp:sp modelId="{911B545B-8700-4D8C-A4E8-C122F76531FA}">
      <dsp:nvSpPr>
        <dsp:cNvPr id="0" name=""/>
        <dsp:cNvSpPr/>
      </dsp:nvSpPr>
      <dsp:spPr>
        <a:xfrm>
          <a:off x="0" y="1809205"/>
          <a:ext cx="10634807" cy="144686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495C3A7-F6BB-40B2-92C0-401310511BD3}">
      <dsp:nvSpPr>
        <dsp:cNvPr id="0" name=""/>
        <dsp:cNvSpPr/>
      </dsp:nvSpPr>
      <dsp:spPr>
        <a:xfrm>
          <a:off x="437678" y="2134750"/>
          <a:ext cx="795778" cy="79577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9BF73F-F0F5-48BD-98DA-A2D9322E961B}">
      <dsp:nvSpPr>
        <dsp:cNvPr id="0" name=""/>
        <dsp:cNvSpPr/>
      </dsp:nvSpPr>
      <dsp:spPr>
        <a:xfrm>
          <a:off x="1671134" y="1809205"/>
          <a:ext cx="8963672" cy="14468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3127" tIns="153127" rIns="153127" bIns="1531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/>
            <a:t>Observation </a:t>
          </a:r>
          <a:r>
            <a:rPr lang="en-US" sz="2500" kern="1200"/>
            <a:t>– the fundamental unit of data – typically observations are rows of a data table</a:t>
          </a:r>
        </a:p>
      </dsp:txBody>
      <dsp:txXfrm>
        <a:off x="1671134" y="1809205"/>
        <a:ext cx="8963672" cy="1446869"/>
      </dsp:txXfrm>
    </dsp:sp>
    <dsp:sp modelId="{C24907FE-2E5C-4B7C-91FE-DAD10386C4D1}">
      <dsp:nvSpPr>
        <dsp:cNvPr id="0" name=""/>
        <dsp:cNvSpPr/>
      </dsp:nvSpPr>
      <dsp:spPr>
        <a:xfrm>
          <a:off x="0" y="3617792"/>
          <a:ext cx="10634807" cy="144686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1C3ABD-F815-4BD6-B5D2-590B6259B183}">
      <dsp:nvSpPr>
        <dsp:cNvPr id="0" name=""/>
        <dsp:cNvSpPr/>
      </dsp:nvSpPr>
      <dsp:spPr>
        <a:xfrm>
          <a:off x="437678" y="3943337"/>
          <a:ext cx="795778" cy="79577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FAA7D3-E837-432C-87DB-F5B80E7E0DD1}">
      <dsp:nvSpPr>
        <dsp:cNvPr id="0" name=""/>
        <dsp:cNvSpPr/>
      </dsp:nvSpPr>
      <dsp:spPr>
        <a:xfrm>
          <a:off x="1671134" y="3617792"/>
          <a:ext cx="8963672" cy="14468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3127" tIns="153127" rIns="153127" bIns="1531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/>
            <a:t>Variables </a:t>
          </a:r>
          <a:r>
            <a:rPr lang="en-US" sz="2500" kern="1200"/>
            <a:t>– characteristics of an observation – typically variables are the columns of a data table </a:t>
          </a:r>
        </a:p>
      </dsp:txBody>
      <dsp:txXfrm>
        <a:off x="1671134" y="3617792"/>
        <a:ext cx="8963672" cy="144686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E2AEC-D126-75F1-4591-66E5E65394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54335E-54C9-CDB2-09C6-778C8CB209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F7F489-F533-A061-891F-FE5F3FF08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8A37A-4640-4712-9D8F-F69B6FC23B38}" type="datetimeFigureOut">
              <a:rPr lang="en-US" smtClean="0"/>
              <a:t>1/18/2024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6374-D954-540E-BDFC-73AD70545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FDDBC2-D637-1C66-343D-591105C2D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DAD54-D6C3-40AF-BCB8-5D562E05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7727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57ED3-BDA9-BA09-FA99-4F1C590C9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F1722C-78AE-8B75-A417-AD306AF907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52611-038E-8E21-CC01-D37BAA9E7C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8A37A-4640-4712-9D8F-F69B6FC23B38}" type="datetimeFigureOut">
              <a:rPr lang="en-US" smtClean="0"/>
              <a:t>1/18/2024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5ADAC0-2ED9-91DB-9D11-63683A043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A51F52-60BB-EF6D-4944-F11D65ABB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DAD54-D6C3-40AF-BCB8-5D562E05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1212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64A41-7704-22FE-73B6-F675179EB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79F4B-FCEB-7C21-03C8-79A24299CA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3D4EE-2290-6673-46F5-87862886E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8A37A-4640-4712-9D8F-F69B6FC23B38}" type="datetimeFigureOut">
              <a:rPr lang="en-US" smtClean="0"/>
              <a:t>1/18/2024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2181FF-02D0-7039-14FC-A2A885440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64415-6B3E-328E-22A4-BB1E14223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DAD54-D6C3-40AF-BCB8-5D562E05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811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07B23-1543-E493-3984-32EE999EF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6853E-5E81-C882-DB30-41A557D468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2B7641-ED2B-360E-47F5-1028121771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9C21EE-65BE-0D93-73A7-738448075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8A37A-4640-4712-9D8F-F69B6FC23B38}" type="datetimeFigureOut">
              <a:rPr lang="en-US" smtClean="0"/>
              <a:t>1/18/2024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6A8519-92FA-EA6D-BB38-269D944DA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AFFBD1-3F16-44F5-3D1E-B09385A0B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DAD54-D6C3-40AF-BCB8-5D562E05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752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A53E5-4088-64AF-78C7-4E230B959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D13838-31FC-BBF4-78BA-6237CC299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526062-7E54-FAC7-5F2A-31839477A7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5F79B3-6ADA-CE64-5DA4-3C421C0E29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72CE9A-F8B0-5FAC-7EC5-097CC8A06F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058E29-ECD1-3D59-29CF-D8B39AC56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8A37A-4640-4712-9D8F-F69B6FC23B38}" type="datetimeFigureOut">
              <a:rPr lang="en-US" smtClean="0"/>
              <a:t>1/18/2024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6E4E9C-CF84-C035-5466-D6C626677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89BA54-2312-2AA4-7B79-0787210CB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DAD54-D6C3-40AF-BCB8-5D562E05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785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7E39A-0B4F-648E-C050-04C5A1413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0FD6B1-BF50-D4AB-B204-8FB70CEE8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8A37A-4640-4712-9D8F-F69B6FC23B38}" type="datetimeFigureOut">
              <a:rPr lang="en-US" smtClean="0"/>
              <a:t>1/18/2024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346ACA-5DA6-3BAC-5326-17485DFB3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3B3554-3BAE-A09C-C15A-EF115B147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DAD54-D6C3-40AF-BCB8-5D562E05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504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E16F4F-3228-886D-9B0F-01F5D6980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8A37A-4640-4712-9D8F-F69B6FC23B38}" type="datetimeFigureOut">
              <a:rPr lang="en-US" smtClean="0"/>
              <a:t>1/18/2024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46ACB8-EDC7-7B93-5E46-8B55ED4D9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8D0D9-D3D2-5CCB-4FC4-14FB8397A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DAD54-D6C3-40AF-BCB8-5D562E05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682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4F962-FD11-9169-9453-1BA5EB65B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8466B-BAD7-2F75-84CF-92740E6F98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A3D627-5419-E3C0-EAD3-7A9F73271D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0B1F67-FCEB-5398-9D2C-AF1BF7CF5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8A37A-4640-4712-9D8F-F69B6FC23B38}" type="datetimeFigureOut">
              <a:rPr lang="en-US" smtClean="0"/>
              <a:t>1/18/2024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E16286-03D1-6BAE-8176-F217595C8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C3963B-F318-7769-FBC7-624CDE422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DAD54-D6C3-40AF-BCB8-5D562E05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2600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2F606-4699-ABC5-2A48-29F714636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39E3AD-047E-3528-C716-0A0F651C3E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2A3296-AA88-F4F7-0D91-6FB6138289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D428A1-56E6-43B4-4EB4-F331EF4F3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8A37A-4640-4712-9D8F-F69B6FC23B38}" type="datetimeFigureOut">
              <a:rPr lang="en-US" smtClean="0"/>
              <a:t>1/18/2024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BE3AFE-1D77-74C4-AFFE-397C7B50A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09C64A-E587-52E1-588C-05E7038D2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DAD54-D6C3-40AF-BCB8-5D562E05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000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7EF63-C4C5-8C1E-1A65-834D5D693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21340C-48C2-D62E-C542-A6F07C22BC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2586B5-1A53-31A1-F6B8-2D50F6449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8A37A-4640-4712-9D8F-F69B6FC23B38}" type="datetimeFigureOut">
              <a:rPr lang="en-US" smtClean="0"/>
              <a:t>1/18/2024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BE9CD-648D-0786-DD20-71D8F4E24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37C561-87A1-88E2-84E7-BDA454A98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DAD54-D6C3-40AF-BCB8-5D562E05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62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AAEBA9-8469-8FD8-744A-D24FFA439A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9F2C0C-C4A2-56EE-3916-6958B0827E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7DC466-B185-3DCB-9A24-3B76F92F6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8A37A-4640-4712-9D8F-F69B6FC23B38}" type="datetimeFigureOut">
              <a:rPr lang="en-US" smtClean="0"/>
              <a:t>1/18/2024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A2B3A-EC4C-ACBF-DC33-73A618EEA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324EF-E464-DADF-723B-95486C60A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DAD54-D6C3-40AF-BCB8-5D562E05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4857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B2A680-0BB1-67B6-5655-374E31BCC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E23017-BA6B-D3FC-E65C-221BA9E3CC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BEFDBE-367E-E57D-8954-18E0EC2427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08A37A-4640-4712-9D8F-F69B6FC23B38}" type="datetimeFigureOut">
              <a:rPr lang="en-US" smtClean="0"/>
              <a:t>1/18/2024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404664-7AAA-29C4-A32F-C728BCBBFC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F8C9A-3290-A6F9-D05F-ABF5891340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7DAD54-D6C3-40AF-BCB8-5D562E05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528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www.researchgate.net/figure/Diagram-of-the-skull-measurements-for-the-Egyptian-skulls-data-set-Maximal-breadth-and_fig4_325126938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hyperlink" Target="https://fiftyfourandahalf.com/2017/09/27/i-tried-to-ignore-it/" TargetMode="External"/><Relationship Id="rId4" Type="http://schemas.openxmlformats.org/officeDocument/2006/relationships/hyperlink" Target="https://creativecommons.org/licenses/by-nc-nd/3.0/" TargetMode="External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g"/><Relationship Id="rId3" Type="http://schemas.openxmlformats.org/officeDocument/2006/relationships/hyperlink" Target="https://openclassrooms.com/en/courses/6037301-perform-an-initial-data-analysis/6051886-discover-the-four-variable-types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jpg"/><Relationship Id="rId3" Type="http://schemas.openxmlformats.org/officeDocument/2006/relationships/hyperlink" Target="https://www.publicdomainpictures.net/view-image.php?image=100394&amp;picture=4-eyes" TargetMode="External"/><Relationship Id="rId4" Type="http://schemas.openxmlformats.org/officeDocument/2006/relationships/image" Target="../media/image14.jpg"/><Relationship Id="rId5" Type="http://schemas.openxmlformats.org/officeDocument/2006/relationships/hyperlink" Target="https://www.fabhow.com/how-to-calculate-your-body-mass-index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3" Type="http://schemas.openxmlformats.org/officeDocument/2006/relationships/hyperlink" Target="https://ohiostate.pressbooks.pub/swk3401/chapter/module-3-chapter-5-overview-of-methods-for-data-collection-and-measurement/" TargetMode="External"/><Relationship Id="rId4" Type="http://schemas.openxmlformats.org/officeDocument/2006/relationships/hyperlink" Target="https://creativecommons.org/licenses/by-nc-nd/3.0/" TargetMode="External"/><Relationship Id="rId5" Type="http://schemas.openxmlformats.org/officeDocument/2006/relationships/image" Target="../media/image17.png"/><Relationship Id="rId6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0.png"/><Relationship Id="rId3" Type="http://schemas.openxmlformats.org/officeDocument/2006/relationships/image" Target="../media/image180.png"/><Relationship Id="rId4" Type="http://schemas.openxmlformats.org/officeDocument/2006/relationships/image" Target="../media/image18.png"/><Relationship Id="rId5" Type="http://schemas.openxmlformats.org/officeDocument/2006/relationships/hyperlink" Target="https://www.coastalcountry.com/resource/blog-posts/animals/celebrating-todays-dairy-cows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05280-49E8-8903-A42B-7EB1BF699E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Lecture 1</a:t>
            </a:r>
            <a:br>
              <a:rPr lang="en-US" dirty="0"/>
            </a:br>
            <a:r>
              <a:rPr lang="en-US" dirty="0"/>
              <a:t>Introduction to Statistical Methods</a:t>
            </a:r>
          </a:p>
        </p:txBody>
      </p:sp>
    </p:spTree>
    <p:extLst>
      <p:ext uri="{BB962C8B-B14F-4D97-AF65-F5344CB8AC3E}">
        <p14:creationId xmlns:p14="http://schemas.microsoft.com/office/powerpoint/2010/main" val="5374451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11EF8-6BBA-1878-3F40-5C2DA99A5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Answering Questions with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B62F3-D3C6-98BC-6982-F4DC222913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What proportion of people in the U.S are biologically female?</a:t>
            </a:r>
          </a:p>
          <a:p>
            <a:pPr marL="457200" lvl="1" indent="0">
              <a:buNone/>
            </a:pPr>
            <a:r>
              <a:rPr lang="en-US" dirty="0"/>
              <a:t>Survey Americans and ask them to report their sex 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Does a low-carb diet result in significant weight loss?</a:t>
            </a:r>
          </a:p>
          <a:p>
            <a:pPr marL="457200" lvl="1" indent="0">
              <a:buNone/>
            </a:pPr>
            <a:r>
              <a:rPr lang="en-US" dirty="0"/>
              <a:t>- Design an experiment to evaluate the effectiveness of the low carb diet on weight   loss</a:t>
            </a:r>
          </a:p>
          <a:p>
            <a:pPr marL="457200" lvl="1" indent="0">
              <a:buNone/>
            </a:pPr>
            <a:r>
              <a:rPr lang="en-US" dirty="0"/>
              <a:t>- Record information such as starting and ending weight, calories consumed per day, …</a:t>
            </a:r>
          </a:p>
          <a:p>
            <a:endParaRPr lang="en-US" dirty="0"/>
          </a:p>
          <a:p>
            <a:r>
              <a:rPr lang="en-US" dirty="0"/>
              <a:t>Are people more likely to stop at Starbucks if they’ve recently seen a Starbucks TV add?</a:t>
            </a:r>
          </a:p>
          <a:p>
            <a:pPr lvl="1">
              <a:buFontTx/>
              <a:buChar char="-"/>
            </a:pPr>
            <a:r>
              <a:rPr lang="en-US" dirty="0"/>
              <a:t>Conduct a marketing survey to record the number of people who have gone to </a:t>
            </a:r>
            <a:r>
              <a:rPr lang="en-US" dirty="0" err="1"/>
              <a:t>starbucks</a:t>
            </a:r>
            <a:r>
              <a:rPr lang="en-US" dirty="0"/>
              <a:t> since add aired </a:t>
            </a:r>
          </a:p>
          <a:p>
            <a:pPr lvl="1">
              <a:buFontTx/>
              <a:buChar char="-"/>
            </a:pPr>
            <a:r>
              <a:rPr lang="en-US" dirty="0"/>
              <a:t>Compare between those who saw the add and those who did not</a:t>
            </a:r>
          </a:p>
        </p:txBody>
      </p:sp>
    </p:spTree>
    <p:extLst>
      <p:ext uri="{BB962C8B-B14F-4D97-AF65-F5344CB8AC3E}">
        <p14:creationId xmlns:p14="http://schemas.microsoft.com/office/powerpoint/2010/main" val="2771044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380C86-D709-6FB8-5A19-C2314095D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anchor="b">
            <a:normAutofit/>
          </a:bodyPr>
          <a:lstStyle/>
          <a:p>
            <a:r>
              <a:rPr lang="en-US" sz="4600"/>
              <a:t>Where do we find Statistics? – Everywhere!</a:t>
            </a:r>
          </a:p>
        </p:txBody>
      </p:sp>
      <p:pic>
        <p:nvPicPr>
          <p:cNvPr id="28" name="Picture 27" descr="Magnifying glass showing decling performance">
            <a:extLst>
              <a:ext uri="{FF2B5EF4-FFF2-40B4-BE49-F238E27FC236}">
                <a16:creationId xmlns:a16="http://schemas.microsoft.com/office/drawing/2014/main" id="{491A1366-9770-9575-D961-04B594935C1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053" r="42616" b="-1"/>
          <a:stretch/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34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EA3AD6-2CBD-4D34-25F0-40B9C4DC3A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1075" y="2706624"/>
            <a:ext cx="7210425" cy="4009262"/>
          </a:xfrm>
        </p:spPr>
        <p:txBody>
          <a:bodyPr>
            <a:normAutofit fontScale="85000" lnSpcReduction="20000"/>
          </a:bodyPr>
          <a:lstStyle/>
          <a:p>
            <a:r>
              <a:rPr lang="en-US" sz="2400" b="1" dirty="0"/>
              <a:t>Sports</a:t>
            </a:r>
            <a:r>
              <a:rPr lang="en-US" sz="2400" dirty="0"/>
              <a:t> (number of points scored per game by an athlete)</a:t>
            </a:r>
          </a:p>
          <a:p>
            <a:r>
              <a:rPr lang="en-US" sz="2400" b="1" dirty="0"/>
              <a:t>Weather</a:t>
            </a:r>
            <a:r>
              <a:rPr lang="en-US" sz="2400" dirty="0"/>
              <a:t> Forecasting (average monthly rainfall)</a:t>
            </a:r>
          </a:p>
          <a:p>
            <a:r>
              <a:rPr lang="en-US" sz="2400" b="1" dirty="0"/>
              <a:t>Economy</a:t>
            </a:r>
            <a:r>
              <a:rPr lang="en-US" sz="2400" dirty="0"/>
              <a:t> (median income, unemployment rate)</a:t>
            </a:r>
          </a:p>
          <a:p>
            <a:r>
              <a:rPr lang="en-US" sz="2400" b="1" dirty="0"/>
              <a:t>Sales Tracking </a:t>
            </a:r>
            <a:r>
              <a:rPr lang="en-US" sz="2400" dirty="0"/>
              <a:t>(projected sales revenue from </a:t>
            </a:r>
            <a:r>
              <a:rPr lang="en-US" sz="2400" dirty="0" err="1"/>
              <a:t>iphone</a:t>
            </a:r>
            <a:r>
              <a:rPr lang="en-US" sz="2400" dirty="0"/>
              <a:t> 14’s sold in a given month)</a:t>
            </a:r>
          </a:p>
          <a:p>
            <a:r>
              <a:rPr lang="en-US" sz="2400" b="1" dirty="0"/>
              <a:t>Medicine</a:t>
            </a:r>
            <a:r>
              <a:rPr lang="en-US" sz="2400" dirty="0"/>
              <a:t> (percentage of people who were pain free from using a drug)</a:t>
            </a:r>
          </a:p>
          <a:p>
            <a:r>
              <a:rPr lang="en-US" sz="2400" b="1" dirty="0"/>
              <a:t>Manufacturing </a:t>
            </a:r>
            <a:r>
              <a:rPr lang="en-US" sz="2400" dirty="0"/>
              <a:t>(number of cans of coke produced in a given month)</a:t>
            </a:r>
          </a:p>
          <a:p>
            <a:endParaRPr lang="en-US" sz="2400" dirty="0"/>
          </a:p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b="1" dirty="0"/>
              <a:t>science of statistics </a:t>
            </a:r>
            <a:r>
              <a:rPr lang="en-US" sz="2400" dirty="0"/>
              <a:t>deals with the collection, analysis, interpretation, and presentation of data</a:t>
            </a:r>
          </a:p>
          <a:p>
            <a:pPr marL="0" indent="0">
              <a:buNone/>
            </a:pPr>
            <a:r>
              <a:rPr lang="en-US" sz="2400" b="1" dirty="0"/>
              <a:t>Data</a:t>
            </a:r>
            <a:r>
              <a:rPr lang="en-US" sz="2400" dirty="0"/>
              <a:t> is a collection of observations/measurements</a:t>
            </a:r>
            <a:endParaRPr lang="en-US" sz="1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126494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141DE-B6DC-5855-48A0-EF14DCD5F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117942"/>
            <a:ext cx="10515600" cy="1325563"/>
          </a:xfrm>
        </p:spPr>
        <p:txBody>
          <a:bodyPr/>
          <a:lstStyle/>
          <a:p>
            <a:r>
              <a:rPr lang="en-US" dirty="0"/>
              <a:t>What Do Data Look Like?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D631F3-0028-35A9-70DA-6F62D90E8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8114" y="1027906"/>
            <a:ext cx="4692296" cy="5786866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F630D4D-B9B1-570B-0C2B-646EE2F1B5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066" y="5869998"/>
            <a:ext cx="6561570" cy="876300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1400" dirty="0"/>
              <a:t>Source: D. J. Hand, F. Daly, A. D. Lunn, K. J. </a:t>
            </a:r>
            <a:r>
              <a:rPr lang="en-US" sz="1400" dirty="0" err="1"/>
              <a:t>McConway</a:t>
            </a:r>
            <a:r>
              <a:rPr lang="en-US" sz="1400" dirty="0"/>
              <a:t> and E. Ostrowski (1994). A Handbook of Small Datasets, Chapman and Hall/CRC, London.</a:t>
            </a:r>
          </a:p>
          <a:p>
            <a:pPr marL="0" indent="0">
              <a:buNone/>
            </a:pPr>
            <a:r>
              <a:rPr lang="en-US" sz="1400" dirty="0"/>
              <a:t>Visualizing Tests for Equality of Covariance Matrices - Scientific Figure on ResearchGate. Available from: https://www.researchgate.net/figure/Diagram-of-the-skull-measurements-for-the-Egyptian-skulls-data-set-Maximal-breadth-and_fig4_325126938 [accessed 21 Aug, 2023]</a:t>
            </a:r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endParaRPr lang="en-US" sz="1700" dirty="0"/>
          </a:p>
        </p:txBody>
      </p:sp>
      <p:pic>
        <p:nvPicPr>
          <p:cNvPr id="11" name="Picture 10" descr="A diagram of a person's head&#10;&#10;Description automatically generated">
            <a:extLst>
              <a:ext uri="{FF2B5EF4-FFF2-40B4-BE49-F238E27FC236}">
                <a16:creationId xmlns:a16="http://schemas.microsoft.com/office/drawing/2014/main" id="{777ECFB0-5EB9-AC13-887B-619B9DB2EF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458066" y="3011053"/>
            <a:ext cx="5320941" cy="2735589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EBFF238-31BF-05B7-9433-3732FD9B05D6}"/>
              </a:ext>
            </a:extLst>
          </p:cNvPr>
          <p:cNvSpPr txBox="1">
            <a:spLocks/>
          </p:cNvSpPr>
          <p:nvPr/>
        </p:nvSpPr>
        <p:spPr>
          <a:xfrm>
            <a:off x="458066" y="1566861"/>
            <a:ext cx="4874707" cy="144419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/>
              <a:t>The following are data from an analysis of 150 Egyptian skulls from 5 epochs of Egyptian history. For each skull, the epoch, and several measurements characterizing the shape of the skull are recorded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700" dirty="0"/>
          </a:p>
          <a:p>
            <a:pPr marL="0" indent="0">
              <a:buFont typeface="Arial" panose="020B0604020202020204" pitchFamily="34" charset="0"/>
              <a:buNone/>
            </a:pP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32547426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80C86-D709-6FB8-5A19-C2314095D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793" y="244076"/>
            <a:ext cx="10515600" cy="1325563"/>
          </a:xfrm>
        </p:spPr>
        <p:txBody>
          <a:bodyPr/>
          <a:lstStyle/>
          <a:p>
            <a:r>
              <a:rPr lang="en-US" dirty="0"/>
              <a:t>Example Data 2 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8A8168E-B6BB-3016-EE7E-6E0B94393F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320" y="1481328"/>
            <a:ext cx="4709160" cy="16002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dirty="0"/>
              <a:t>The following table contains data on 20 clients contacted during a bank’s direct marketing campaign for a term deposit account. For each client, the job, education level, age, account balance, length of the marketing call, and whether they subscribed are recorded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8928" y="1389888"/>
            <a:ext cx="6812280" cy="429315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32186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Reading a data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584448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5540F"/>
                </a:solidFill>
                <a:latin typeface="Calibri"/>
              </a:rPr>
              <a:t>Each column is a variable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950208"/>
            <a:ext cx="896112" cy="256032"/>
          </a:xfrm>
          <a:prstGeom prst="rect">
            <a:avLst/>
          </a:prstGeom>
          <a:solidFill>
            <a:srgbClr val="EFEFE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1">
                <a:solidFill>
                  <a:srgbClr val="404040"/>
                </a:solidFill>
                <a:latin typeface="Calibri"/>
              </a:rPr>
              <a:t>Client 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61872" y="3950208"/>
            <a:ext cx="896112" cy="256032"/>
          </a:xfrm>
          <a:prstGeom prst="rect">
            <a:avLst/>
          </a:prstGeom>
          <a:solidFill>
            <a:srgbClr val="EFEFE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1">
                <a:solidFill>
                  <a:srgbClr val="404040"/>
                </a:solidFill>
                <a:latin typeface="Calibri"/>
              </a:rPr>
              <a:t>Job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7984" y="3950208"/>
            <a:ext cx="896112" cy="256032"/>
          </a:xfrm>
          <a:prstGeom prst="rect">
            <a:avLst/>
          </a:prstGeom>
          <a:solidFill>
            <a:srgbClr val="FCE6D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1">
                <a:solidFill>
                  <a:srgbClr val="C5540F"/>
                </a:solidFill>
                <a:latin typeface="Calibri"/>
              </a:rPr>
              <a:t>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54096" y="3950208"/>
            <a:ext cx="896112" cy="256032"/>
          </a:xfrm>
          <a:prstGeom prst="rect">
            <a:avLst/>
          </a:prstGeom>
          <a:solidFill>
            <a:srgbClr val="EFEFE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1">
                <a:solidFill>
                  <a:srgbClr val="404040"/>
                </a:solidFill>
                <a:latin typeface="Calibri"/>
              </a:rPr>
              <a:t>Balance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50208" y="3950208"/>
            <a:ext cx="896112" cy="256032"/>
          </a:xfrm>
          <a:prstGeom prst="rect">
            <a:avLst/>
          </a:prstGeom>
          <a:solidFill>
            <a:srgbClr val="EFEFE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1">
                <a:solidFill>
                  <a:srgbClr val="404040"/>
                </a:solidFill>
                <a:latin typeface="Calibri"/>
              </a:rPr>
              <a:t>Subscribed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206240"/>
            <a:ext cx="89611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0">
                <a:solidFill>
                  <a:srgbClr val="262626"/>
                </a:solidFill>
                <a:latin typeface="Calibri"/>
              </a:rPr>
              <a:t>C-1047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61872" y="4206240"/>
            <a:ext cx="89611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0">
                <a:solidFill>
                  <a:srgbClr val="262626"/>
                </a:solidFill>
                <a:latin typeface="Calibri"/>
              </a:rPr>
              <a:t>mgmt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57984" y="4206240"/>
            <a:ext cx="896112" cy="256032"/>
          </a:xfrm>
          <a:prstGeom prst="rect">
            <a:avLst/>
          </a:prstGeom>
          <a:solidFill>
            <a:srgbClr val="FCE6D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0">
                <a:solidFill>
                  <a:srgbClr val="262626"/>
                </a:solidFill>
                <a:latin typeface="Calibri"/>
              </a:rPr>
              <a:t>42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54096" y="4206240"/>
            <a:ext cx="89611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0">
                <a:solidFill>
                  <a:srgbClr val="262626"/>
                </a:solidFill>
                <a:latin typeface="Calibri"/>
              </a:rPr>
              <a:t>2,143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50208" y="4206240"/>
            <a:ext cx="89611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0">
                <a:solidFill>
                  <a:srgbClr val="262626"/>
                </a:solidFill>
                <a:latin typeface="Calibri"/>
              </a:rPr>
              <a:t>no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462272"/>
            <a:ext cx="89611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0">
                <a:solidFill>
                  <a:srgbClr val="262626"/>
                </a:solidFill>
                <a:latin typeface="Calibri"/>
              </a:rPr>
              <a:t>C-1052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61872" y="4462272"/>
            <a:ext cx="89611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0">
                <a:solidFill>
                  <a:srgbClr val="262626"/>
                </a:solidFill>
                <a:latin typeface="Calibri"/>
              </a:rPr>
              <a:t>blue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57984" y="4462272"/>
            <a:ext cx="896112" cy="256032"/>
          </a:xfrm>
          <a:prstGeom prst="rect">
            <a:avLst/>
          </a:prstGeom>
          <a:solidFill>
            <a:srgbClr val="FCE6D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0">
                <a:solidFill>
                  <a:srgbClr val="262626"/>
                </a:solidFill>
                <a:latin typeface="Calibri"/>
              </a:rPr>
              <a:t>35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54096" y="4462272"/>
            <a:ext cx="89611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0">
                <a:solidFill>
                  <a:srgbClr val="262626"/>
                </a:solidFill>
                <a:latin typeface="Calibri"/>
              </a:rPr>
              <a:t>413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50208" y="4462272"/>
            <a:ext cx="89611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0">
                <a:solidFill>
                  <a:srgbClr val="262626"/>
                </a:solidFill>
                <a:latin typeface="Calibri"/>
              </a:rPr>
              <a:t>no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718304"/>
            <a:ext cx="896112" cy="256032"/>
          </a:xfrm>
          <a:prstGeom prst="rect">
            <a:avLst/>
          </a:prstGeom>
          <a:solidFill>
            <a:srgbClr val="DCE6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0">
                <a:solidFill>
                  <a:srgbClr val="262626"/>
                </a:solidFill>
                <a:latin typeface="Calibri"/>
              </a:rPr>
              <a:t>C-1068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61872" y="4718304"/>
            <a:ext cx="896112" cy="256032"/>
          </a:xfrm>
          <a:prstGeom prst="rect">
            <a:avLst/>
          </a:prstGeom>
          <a:solidFill>
            <a:srgbClr val="DCE6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0">
                <a:solidFill>
                  <a:srgbClr val="262626"/>
                </a:solidFill>
                <a:latin typeface="Calibri"/>
              </a:rPr>
              <a:t>tech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57984" y="4718304"/>
            <a:ext cx="896112" cy="256032"/>
          </a:xfrm>
          <a:prstGeom prst="rect">
            <a:avLst/>
          </a:prstGeom>
          <a:solidFill>
            <a:srgbClr val="DCE6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0">
                <a:solidFill>
                  <a:srgbClr val="262626"/>
                </a:solidFill>
                <a:latin typeface="Calibri"/>
              </a:rPr>
              <a:t>29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54096" y="4718304"/>
            <a:ext cx="896112" cy="256032"/>
          </a:xfrm>
          <a:prstGeom prst="rect">
            <a:avLst/>
          </a:prstGeom>
          <a:solidFill>
            <a:srgbClr val="DCE6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0">
                <a:solidFill>
                  <a:srgbClr val="262626"/>
                </a:solidFill>
                <a:latin typeface="Calibri"/>
              </a:rPr>
              <a:t>876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50208" y="4718304"/>
            <a:ext cx="896112" cy="256032"/>
          </a:xfrm>
          <a:prstGeom prst="rect">
            <a:avLst/>
          </a:prstGeom>
          <a:solidFill>
            <a:srgbClr val="DCE6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0">
                <a:solidFill>
                  <a:srgbClr val="262626"/>
                </a:solidFill>
                <a:latin typeface="Calibri"/>
              </a:rPr>
              <a:t>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974336"/>
            <a:ext cx="89611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0">
                <a:solidFill>
                  <a:srgbClr val="262626"/>
                </a:solidFill>
                <a:latin typeface="Calibri"/>
              </a:rPr>
              <a:t>C-1073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61872" y="4974336"/>
            <a:ext cx="89611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0">
                <a:solidFill>
                  <a:srgbClr val="262626"/>
                </a:solidFill>
                <a:latin typeface="Calibri"/>
              </a:rPr>
              <a:t>admin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7984" y="4974336"/>
            <a:ext cx="896112" cy="256032"/>
          </a:xfrm>
          <a:prstGeom prst="rect">
            <a:avLst/>
          </a:prstGeom>
          <a:solidFill>
            <a:srgbClr val="FCE6D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0">
                <a:solidFill>
                  <a:srgbClr val="262626"/>
                </a:solidFill>
                <a:latin typeface="Calibri"/>
              </a:rPr>
              <a:t>47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54096" y="4974336"/>
            <a:ext cx="89611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0">
                <a:solidFill>
                  <a:srgbClr val="262626"/>
                </a:solidFill>
                <a:latin typeface="Calibri"/>
              </a:rPr>
              <a:t>1,584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50208" y="4974336"/>
            <a:ext cx="89611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0">
                <a:solidFill>
                  <a:srgbClr val="262626"/>
                </a:solidFill>
                <a:latin typeface="Calibri"/>
              </a:rPr>
              <a:t>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5321808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3864"/>
                </a:solidFill>
                <a:latin typeface="Calibri"/>
              </a:rPr>
              <a:t>Each row is one observation — one client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5989320"/>
            <a:ext cx="11475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Source: Variable structure adapted from Moro, S., Rita, P., and Cortez, P. (2014). Bank Marketing [Dataset]. UCI Machine Learning Repository. https://doi.org/10.24432/C5K306. The 20 client records shown here are simulated for illustration; the real data set contains 45,211 clients.</a:t>
            </a:r>
          </a:p>
        </p:txBody>
      </p:sp>
    </p:spTree>
    <p:extLst>
      <p:ext uri="{BB962C8B-B14F-4D97-AF65-F5344CB8AC3E}">
        <p14:creationId xmlns:p14="http://schemas.microsoft.com/office/powerpoint/2010/main" val="23648243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80C86-D709-6FB8-5A19-C2314095D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378" y="153121"/>
            <a:ext cx="10515600" cy="1325563"/>
          </a:xfrm>
        </p:spPr>
        <p:txBody>
          <a:bodyPr/>
          <a:lstStyle/>
          <a:p>
            <a:r>
              <a:rPr lang="en-US" dirty="0"/>
              <a:t>Checkpoint: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67FBFC7-F7AD-42E5-5268-DA2E59A5018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85775" y="1459345"/>
          <a:ext cx="10634807" cy="50652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052371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80C86-D709-6FB8-5A19-C2314095D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Variables: Qualitative vs Quantitative</a:t>
            </a:r>
          </a:p>
        </p:txBody>
      </p:sp>
      <p:pic>
        <p:nvPicPr>
          <p:cNvPr id="11" name="Picture 10" descr="A diagram of a variety of objects&#10;&#10;Description automatically generated">
            <a:extLst>
              <a:ext uri="{FF2B5EF4-FFF2-40B4-BE49-F238E27FC236}">
                <a16:creationId xmlns:a16="http://schemas.microsoft.com/office/drawing/2014/main" id="{54C50A30-A4EE-4449-6080-CFFC18C856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78991" y="2081212"/>
            <a:ext cx="10034017" cy="391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7495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80C86-D709-6FB8-5A19-C2314095D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Variables: Qualitative vs Quantitative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B5399D-0B33-473E-D0B4-000D18CF4028}"/>
              </a:ext>
            </a:extLst>
          </p:cNvPr>
          <p:cNvSpPr txBox="1"/>
          <p:nvPr/>
        </p:nvSpPr>
        <p:spPr>
          <a:xfrm>
            <a:off x="434109" y="1502921"/>
            <a:ext cx="8146474" cy="484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it-IT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Qualitative (Categorical) variable </a:t>
            </a:r>
            <a:r>
              <a:rPr kumimoji="0" lang="it-IT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non-numeric qualities or characteristics that can be placed in distinct categories </a:t>
            </a:r>
          </a:p>
          <a:p>
            <a:pPr lvl="1">
              <a:lnSpc>
                <a:spcPct val="90000"/>
              </a:lnSpc>
              <a:spcBef>
                <a:spcPts val="1000"/>
              </a:spcBef>
              <a:defRPr/>
            </a:pPr>
            <a:r>
              <a:rPr lang="it-IT" sz="2000" dirty="0">
                <a:solidFill>
                  <a:prstClr val="black"/>
                </a:solidFill>
                <a:latin typeface="Calibri" panose="020F0502020204030204"/>
              </a:rPr>
              <a:t>State/city (ID, WA, MT, ...)</a:t>
            </a:r>
          </a:p>
          <a:p>
            <a:pPr lvl="1">
              <a:lnSpc>
                <a:spcPct val="90000"/>
              </a:lnSpc>
              <a:spcBef>
                <a:spcPts val="1000"/>
              </a:spcBef>
              <a:defRPr/>
            </a:pPr>
            <a:r>
              <a:rPr lang="it-IT" sz="2000" dirty="0">
                <a:solidFill>
                  <a:prstClr val="black"/>
                </a:solidFill>
                <a:latin typeface="Calibri" panose="020F0502020204030204"/>
              </a:rPr>
              <a:t>Treatment (Drug/Placebo)</a:t>
            </a:r>
          </a:p>
          <a:p>
            <a:pPr lvl="1">
              <a:lnSpc>
                <a:spcPct val="90000"/>
              </a:lnSpc>
              <a:spcBef>
                <a:spcPts val="1000"/>
              </a:spcBef>
              <a:defRPr/>
            </a:pPr>
            <a:r>
              <a:rPr lang="it-IT" sz="2000" dirty="0">
                <a:solidFill>
                  <a:prstClr val="black"/>
                </a:solidFill>
                <a:latin typeface="Calibri" panose="020F0502020204030204"/>
              </a:rPr>
              <a:t>Genotype (AA, AT, TT)</a:t>
            </a:r>
          </a:p>
          <a:p>
            <a:pPr lvl="1">
              <a:lnSpc>
                <a:spcPct val="90000"/>
              </a:lnSpc>
              <a:spcBef>
                <a:spcPts val="1000"/>
              </a:spcBef>
              <a:defRPr/>
            </a:pPr>
            <a:r>
              <a:rPr lang="it-IT" sz="2000" dirty="0">
                <a:solidFill>
                  <a:prstClr val="black"/>
                </a:solidFill>
                <a:latin typeface="Calibri" panose="020F0502020204030204"/>
              </a:rPr>
              <a:t>Survival (live or die) </a:t>
            </a:r>
          </a:p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kumimoji="0" lang="it-IT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Quantitative (numeric) variable </a:t>
            </a:r>
            <a:r>
              <a:rPr kumimoji="0" lang="it-IT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numerical characteristics - can be ordered or ranked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lvl="1"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sz="2000" dirty="0">
                <a:solidFill>
                  <a:prstClr val="black"/>
                </a:solidFill>
                <a:latin typeface="Calibri" panose="020F0502020204030204"/>
              </a:rPr>
              <a:t>Height (inches/cm)</a:t>
            </a:r>
          </a:p>
          <a:p>
            <a:pPr lvl="1">
              <a:lnSpc>
                <a:spcPct val="90000"/>
              </a:lnSpc>
              <a:spcBef>
                <a:spcPts val="1000"/>
              </a:spcBef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Weight 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lbs</a:t>
            </a:r>
            <a:r>
              <a:rPr lang="en-US" sz="2000" dirty="0">
                <a:solidFill>
                  <a:prstClr val="black"/>
                </a:solidFill>
                <a:latin typeface="Calibri" panose="020F0502020204030204"/>
              </a:rPr>
              <a:t>/kg)</a:t>
            </a:r>
          </a:p>
          <a:p>
            <a:pPr lvl="1">
              <a:lnSpc>
                <a:spcPct val="90000"/>
              </a:lnSpc>
              <a:spcBef>
                <a:spcPts val="1000"/>
              </a:spcBef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Longevity/Age (number of years)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  <a:p>
            <a:pPr lvl="1"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sz="2000" dirty="0">
                <a:solidFill>
                  <a:prstClr val="black"/>
                </a:solidFill>
                <a:latin typeface="Calibri" panose="020F0502020204030204"/>
              </a:rPr>
              <a:t>Dose (micrograms per gram)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 descr="A group of eyeballs with different colors&#10;&#10;Description automatically generated">
            <a:extLst>
              <a:ext uri="{FF2B5EF4-FFF2-40B4-BE49-F238E27FC236}">
                <a16:creationId xmlns:a16="http://schemas.microsoft.com/office/drawing/2014/main" id="{C9CB58EF-0020-259B-BBA0-EDD86D22EA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843241" y="1290485"/>
            <a:ext cx="2914650" cy="2914650"/>
          </a:xfrm>
          <a:prstGeom prst="rect">
            <a:avLst/>
          </a:prstGeom>
        </p:spPr>
      </p:pic>
      <p:pic>
        <p:nvPicPr>
          <p:cNvPr id="8" name="Picture 7" descr="A person standing in front of a height chart&#10;&#10;Description automatically generated">
            <a:extLst>
              <a:ext uri="{FF2B5EF4-FFF2-40B4-BE49-F238E27FC236}">
                <a16:creationId xmlns:a16="http://schemas.microsoft.com/office/drawing/2014/main" id="{89B104AB-C4AB-B363-BF96-947E6616FA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9568873" y="3994439"/>
            <a:ext cx="2451676" cy="272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0985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80C86-D709-6FB8-5A19-C2314095D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775" y="69850"/>
            <a:ext cx="10515600" cy="1325563"/>
          </a:xfrm>
        </p:spPr>
        <p:txBody>
          <a:bodyPr/>
          <a:lstStyle/>
          <a:p>
            <a:r>
              <a:rPr lang="en-US" dirty="0"/>
              <a:t>Practice: Qualitative vs Quantitative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831E4D-A6B4-F06F-3427-B337D4295CFB}"/>
              </a:ext>
            </a:extLst>
          </p:cNvPr>
          <p:cNvSpPr txBox="1"/>
          <p:nvPr/>
        </p:nvSpPr>
        <p:spPr>
          <a:xfrm>
            <a:off x="434109" y="2159442"/>
            <a:ext cx="56618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it-IT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From our example data of egyptian skulls, which variables are qualitative and which are quantitative?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312E28-59BC-B226-775F-D5CF9922FA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4836" y="1072395"/>
            <a:ext cx="4694327" cy="57856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9E6328E-BC34-D96A-EE97-4C6144D12878}"/>
              </a:ext>
            </a:extLst>
          </p:cNvPr>
          <p:cNvSpPr txBox="1"/>
          <p:nvPr/>
        </p:nvSpPr>
        <p:spPr>
          <a:xfrm>
            <a:off x="591127" y="3805382"/>
            <a:ext cx="3269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Qualitative: Epoch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4BFAB7-0B15-EF69-1025-9748F115FE7D}"/>
              </a:ext>
            </a:extLst>
          </p:cNvPr>
          <p:cNvSpPr txBox="1"/>
          <p:nvPr/>
        </p:nvSpPr>
        <p:spPr>
          <a:xfrm>
            <a:off x="591126" y="5103091"/>
            <a:ext cx="3269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Quantitative: mb, </a:t>
            </a:r>
            <a:r>
              <a:rPr lang="en-US" dirty="0" err="1">
                <a:solidFill>
                  <a:srgbClr val="FF0000"/>
                </a:solidFill>
              </a:rPr>
              <a:t>bh</a:t>
            </a:r>
            <a:r>
              <a:rPr lang="en-US" dirty="0">
                <a:solidFill>
                  <a:srgbClr val="FF0000"/>
                </a:solidFill>
              </a:rPr>
              <a:t>, bl, </a:t>
            </a:r>
            <a:r>
              <a:rPr lang="en-US" dirty="0" err="1">
                <a:solidFill>
                  <a:srgbClr val="FF0000"/>
                </a:solidFill>
              </a:rPr>
              <a:t>nh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4979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80C86-D709-6FB8-5A19-C2314095D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Variables: Qualitative vs Quantitative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B5399D-0B33-473E-D0B4-000D18CF4028}"/>
              </a:ext>
            </a:extLst>
          </p:cNvPr>
          <p:cNvSpPr txBox="1"/>
          <p:nvPr/>
        </p:nvSpPr>
        <p:spPr>
          <a:xfrm>
            <a:off x="434109" y="2159442"/>
            <a:ext cx="5661891" cy="4760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it-IT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Qualitative nominal </a:t>
            </a:r>
            <a:r>
              <a:rPr kumimoji="0" lang="it-IT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non-numeric qualities or characteristics that can be placed in distinct categories that do not have a natural ordering (e.g labels, names, colors, etc</a:t>
            </a:r>
            <a:r>
              <a:rPr kumimoji="0" lang="it-IT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it-IT" sz="2000" dirty="0">
              <a:solidFill>
                <a:prstClr val="black"/>
              </a:solidFill>
              <a:latin typeface="Calibri" panose="020F0502020204030204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it-IT" sz="2000" dirty="0">
              <a:solidFill>
                <a:prstClr val="black"/>
              </a:solidFill>
              <a:latin typeface="Calibri" panose="020F0502020204030204"/>
            </a:endParaRPr>
          </a:p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kumimoji="0" lang="it-IT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Qualitative ordinal </a:t>
            </a:r>
            <a:r>
              <a:rPr kumimoji="0" lang="it-IT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non-numeric qualities or characteristics that can be placed in distinct categories with an inherent ordering (Likert responses, education level, military ranking)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it-IT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 descr="A yellow face with black text&#10;&#10;Description automatically generated">
            <a:extLst>
              <a:ext uri="{FF2B5EF4-FFF2-40B4-BE49-F238E27FC236}">
                <a16:creationId xmlns:a16="http://schemas.microsoft.com/office/drawing/2014/main" id="{17D8358B-2C9E-2B5B-AD98-C23DD96FA2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2617" y="4656860"/>
            <a:ext cx="5150694" cy="17006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A9929A6-D88A-3E31-A14D-F0B04F1F2CC5}"/>
              </a:ext>
            </a:extLst>
          </p:cNvPr>
          <p:cNvSpPr txBox="1"/>
          <p:nvPr/>
        </p:nvSpPr>
        <p:spPr>
          <a:xfrm>
            <a:off x="6762617" y="6357503"/>
            <a:ext cx="515069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hlinkClick r:id="rId3" tooltip="https://ohiostate.pressbooks.pub/swk3401/chapter/module-3-chapter-5-overview-of-methods-for-data-collection-and-measurement/"/>
              </a:rPr>
              <a:t>This Photo</a:t>
            </a:r>
            <a:r>
              <a:rPr lang="en-US" sz="900"/>
              <a:t> by Unknown Author is licensed under </a:t>
            </a:r>
            <a:r>
              <a:rPr lang="en-US" sz="900">
                <a:hlinkClick r:id="rId4" tooltip="https://creativecommons.org/licenses/by-nc-nd/3.0/"/>
              </a:rPr>
              <a:t>CC BY-NC-ND</a:t>
            </a:r>
            <a:endParaRPr lang="en-US" sz="900"/>
          </a:p>
        </p:txBody>
      </p:sp>
      <p:pic>
        <p:nvPicPr>
          <p:cNvPr id="10" name="Picture 9" descr="job_pi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0648" y="1325880"/>
            <a:ext cx="4197096" cy="309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5106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80C86-D709-6FB8-5A19-C2314095D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775" y="69850"/>
            <a:ext cx="10515600" cy="1325563"/>
          </a:xfrm>
        </p:spPr>
        <p:txBody>
          <a:bodyPr/>
          <a:lstStyle/>
          <a:p>
            <a:r>
              <a:rPr lang="en-US" dirty="0"/>
              <a:t>Practice: Qualitative vs Quantitative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831E4D-A6B4-F06F-3427-B337D4295CFB}"/>
              </a:ext>
            </a:extLst>
          </p:cNvPr>
          <p:cNvSpPr txBox="1"/>
          <p:nvPr/>
        </p:nvSpPr>
        <p:spPr>
          <a:xfrm>
            <a:off x="434110" y="2159442"/>
            <a:ext cx="42210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it-IT" sz="2000" dirty="0">
                <a:solidFill>
                  <a:prstClr val="black"/>
                </a:solidFill>
                <a:latin typeface="Calibri" panose="020F0502020204030204"/>
              </a:rPr>
              <a:t>In the bank marketing example data, which variable(s) are qualitative nominal and which are qualitative ordinal?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554480"/>
            <a:ext cx="7040880" cy="443722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4EAD342-BB5B-4FD8-494C-69A41D2CC292}"/>
              </a:ext>
            </a:extLst>
          </p:cNvPr>
          <p:cNvSpPr txBox="1"/>
          <p:nvPr/>
        </p:nvSpPr>
        <p:spPr>
          <a:xfrm>
            <a:off x="591127" y="3805382"/>
            <a:ext cx="32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Qualitative nominal: Client ID, Job, Subscribed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30F326-57E6-7A8B-4880-35D7C64CB66F}"/>
              </a:ext>
            </a:extLst>
          </p:cNvPr>
          <p:cNvSpPr txBox="1"/>
          <p:nvPr/>
        </p:nvSpPr>
        <p:spPr>
          <a:xfrm>
            <a:off x="591126" y="5121564"/>
            <a:ext cx="3269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Qualitative ordinal: Education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630936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Calibri"/>
              </a:rPr>
              <a:t>Data structure adapted from Moro, Rita, and Cortez (2014), Bank Marketing, UCI Machine Learning Repository; the 20 records shown are simulated.</a:t>
            </a:r>
          </a:p>
        </p:txBody>
      </p:sp>
    </p:spTree>
    <p:extLst>
      <p:ext uri="{BB962C8B-B14F-4D97-AF65-F5344CB8AC3E}">
        <p14:creationId xmlns:p14="http://schemas.microsoft.com/office/powerpoint/2010/main" val="2102031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80C86-D709-6FB8-5A19-C2314095D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Quantitative Variables: Discrete vs Continuous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B5399D-0B33-473E-D0B4-000D18CF4028}"/>
              </a:ext>
            </a:extLst>
          </p:cNvPr>
          <p:cNvSpPr txBox="1"/>
          <p:nvPr/>
        </p:nvSpPr>
        <p:spPr>
          <a:xfrm>
            <a:off x="434109" y="1808461"/>
            <a:ext cx="5661891" cy="4843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Quantitative discrete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quantitative variables that take on distinct, countable values such 0,1,2,3… (whole numbers or integers)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- all counts are quantitative discrete 	   variables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Quantitative continuous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variables that can take on infinite number of values within an interval of any two specific values</a:t>
            </a:r>
            <a:r>
              <a:rPr lang="en-US" sz="2400" dirty="0">
                <a:solidFill>
                  <a:prstClr val="black"/>
                </a:solidFill>
                <a:latin typeface="Calibri" panose="020F0502020204030204"/>
              </a:rPr>
              <a:t> (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e.g</a:t>
            </a:r>
            <a:r>
              <a:rPr lang="en-US" sz="2400" dirty="0">
                <a:solidFill>
                  <a:prstClr val="black"/>
                </a:solidFill>
                <a:latin typeface="Calibri" panose="020F0502020204030204"/>
              </a:rPr>
              <a:t> temperature </a:t>
            </a:r>
            <a:r>
              <a:rPr lang="en-US" sz="2400" dirty="0">
                <a:solidFill>
                  <a:prstClr val="black"/>
                </a:solidFill>
                <a:latin typeface="Century Gothic" panose="020B0502020202020204" pitchFamily="34" charset="0"/>
              </a:rPr>
              <a:t>◦</a:t>
            </a:r>
            <a:r>
              <a:rPr lang="en-US" sz="2400" dirty="0">
                <a:solidFill>
                  <a:prstClr val="black"/>
                </a:solidFill>
              </a:rPr>
              <a:t>F</a:t>
            </a:r>
            <a:r>
              <a:rPr lang="en-US" sz="2400" dirty="0">
                <a:solidFill>
                  <a:prstClr val="black"/>
                </a:solidFill>
                <a:latin typeface="Calibri" panose="020F0502020204030204"/>
              </a:rPr>
              <a:t>, height in inches, speed in miles per hour)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5B12863-5A45-B490-8B73-853E2EDD5FEB}"/>
              </a:ext>
            </a:extLst>
          </p:cNvPr>
          <p:cNvGrpSpPr/>
          <p:nvPr/>
        </p:nvGrpSpPr>
        <p:grpSpPr>
          <a:xfrm>
            <a:off x="6096000" y="5171258"/>
            <a:ext cx="5409648" cy="1321617"/>
            <a:chOff x="6500301" y="4534023"/>
            <a:chExt cx="5409648" cy="1321617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06E68E4-A802-FBE4-B9B6-5585535DB2BF}"/>
                </a:ext>
              </a:extLst>
            </p:cNvPr>
            <p:cNvCxnSpPr/>
            <p:nvPr/>
          </p:nvCxnSpPr>
          <p:spPr>
            <a:xfrm>
              <a:off x="6844146" y="5194300"/>
              <a:ext cx="4810125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77A96C5-98A2-436E-85CD-6D4EFC3E4717}"/>
                </a:ext>
              </a:extLst>
            </p:cNvPr>
            <p:cNvCxnSpPr/>
            <p:nvPr/>
          </p:nvCxnSpPr>
          <p:spPr>
            <a:xfrm>
              <a:off x="6844146" y="4959927"/>
              <a:ext cx="0" cy="49876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373CDAC-2910-EE34-35F7-F0C8CA3C468C}"/>
                </a:ext>
              </a:extLst>
            </p:cNvPr>
            <p:cNvCxnSpPr/>
            <p:nvPr/>
          </p:nvCxnSpPr>
          <p:spPr>
            <a:xfrm>
              <a:off x="11654271" y="4986482"/>
              <a:ext cx="0" cy="49876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A64A037-5701-C955-28F9-08333B69AB7C}"/>
                    </a:ext>
                  </a:extLst>
                </p:cNvPr>
                <p:cNvSpPr txBox="1"/>
                <p:nvPr/>
              </p:nvSpPr>
              <p:spPr>
                <a:xfrm>
                  <a:off x="6500301" y="5485246"/>
                  <a:ext cx="51135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℉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A64A037-5701-C955-28F9-08333B69AB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00301" y="5485246"/>
                  <a:ext cx="511357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9524" r="-10714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DB788FF-8AF6-3BE7-EA55-AC4D620DE867}"/>
                    </a:ext>
                  </a:extLst>
                </p:cNvPr>
                <p:cNvSpPr txBox="1"/>
                <p:nvPr/>
              </p:nvSpPr>
              <p:spPr>
                <a:xfrm>
                  <a:off x="11398592" y="5504658"/>
                  <a:ext cx="51135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℉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DB788FF-8AF6-3BE7-EA55-AC4D620DE8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98592" y="5504658"/>
                  <a:ext cx="511357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0843" r="-12048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B2B129F-1F3E-5474-8289-9A5C3A731AD6}"/>
                </a:ext>
              </a:extLst>
            </p:cNvPr>
            <p:cNvSpPr txBox="1"/>
            <p:nvPr/>
          </p:nvSpPr>
          <p:spPr>
            <a:xfrm>
              <a:off x="7348492" y="5209309"/>
              <a:ext cx="379001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Moscow, ID Daily Surface Temperature</a:t>
              </a:r>
            </a:p>
            <a:p>
              <a:pPr algn="ctr"/>
              <a:r>
                <a:rPr lang="en-US" dirty="0"/>
                <a:t>(July)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2C5385C-6276-01F5-1B87-85C550E447C4}"/>
                </a:ext>
              </a:extLst>
            </p:cNvPr>
            <p:cNvSpPr txBox="1"/>
            <p:nvPr/>
          </p:nvSpPr>
          <p:spPr>
            <a:xfrm>
              <a:off x="11320236" y="4590595"/>
              <a:ext cx="5897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Max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75D370F-8F01-EB76-C53A-B5B5290FF7D7}"/>
                </a:ext>
              </a:extLst>
            </p:cNvPr>
            <p:cNvSpPr txBox="1"/>
            <p:nvPr/>
          </p:nvSpPr>
          <p:spPr>
            <a:xfrm>
              <a:off x="6565864" y="4534023"/>
              <a:ext cx="5565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Min</a:t>
              </a:r>
            </a:p>
          </p:txBody>
        </p:sp>
      </p:grpSp>
      <p:pic>
        <p:nvPicPr>
          <p:cNvPr id="17" name="Picture 16" descr="A cow standing in a field&#10;&#10;Description automatically generated">
            <a:extLst>
              <a:ext uri="{FF2B5EF4-FFF2-40B4-BE49-F238E27FC236}">
                <a16:creationId xmlns:a16="http://schemas.microsoft.com/office/drawing/2014/main" id="{6DF87C0B-221E-D58C-C314-4621BC5C6B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8041094" y="1546229"/>
            <a:ext cx="3716797" cy="2787598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B58C36D-7D74-88B5-C2AD-3E0DFB0D519E}"/>
              </a:ext>
            </a:extLst>
          </p:cNvPr>
          <p:cNvCxnSpPr>
            <a:cxnSpLocks/>
          </p:cNvCxnSpPr>
          <p:nvPr/>
        </p:nvCxnSpPr>
        <p:spPr>
          <a:xfrm flipV="1">
            <a:off x="7804727" y="2724727"/>
            <a:ext cx="1717964" cy="1127077"/>
          </a:xfrm>
          <a:prstGeom prst="straightConnector1">
            <a:avLst/>
          </a:prstGeom>
          <a:ln w="5715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A9B041-FA3A-C52D-05BA-868E522500B5}"/>
              </a:ext>
            </a:extLst>
          </p:cNvPr>
          <p:cNvSpPr txBox="1"/>
          <p:nvPr/>
        </p:nvSpPr>
        <p:spPr>
          <a:xfrm>
            <a:off x="5822348" y="3823232"/>
            <a:ext cx="21636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number of black </a:t>
            </a:r>
          </a:p>
          <a:p>
            <a:r>
              <a:rPr lang="en-US" dirty="0"/>
              <a:t>spots on a dairy cow</a:t>
            </a:r>
          </a:p>
        </p:txBody>
      </p:sp>
    </p:spTree>
    <p:extLst>
      <p:ext uri="{BB962C8B-B14F-4D97-AF65-F5344CB8AC3E}">
        <p14:creationId xmlns:p14="http://schemas.microsoft.com/office/powerpoint/2010/main" val="10749759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80C86-D709-6FB8-5A19-C2314095D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239891"/>
            <a:ext cx="10515600" cy="1325563"/>
          </a:xfrm>
        </p:spPr>
        <p:txBody>
          <a:bodyPr/>
          <a:lstStyle/>
          <a:p>
            <a:r>
              <a:rPr lang="en-US" dirty="0"/>
              <a:t>Practice: Discrete vs Continuous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88B80F-E353-D6A4-82DB-12D37AECA5FA}"/>
              </a:ext>
            </a:extLst>
          </p:cNvPr>
          <p:cNvSpPr txBox="1"/>
          <p:nvPr/>
        </p:nvSpPr>
        <p:spPr>
          <a:xfrm>
            <a:off x="434110" y="2159442"/>
            <a:ext cx="420456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it-IT" sz="2000" dirty="0">
                <a:solidFill>
                  <a:prstClr val="black"/>
                </a:solidFill>
                <a:latin typeface="Calibri" panose="020F0502020204030204"/>
              </a:rPr>
              <a:t>In the bank marketing example data, which variable(s) are quantitative discrete and which are quantitative continuous?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554480"/>
            <a:ext cx="7040880" cy="443722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FBE5D2-952D-A7F7-E8C1-C31C2F5C149C}"/>
              </a:ext>
            </a:extLst>
          </p:cNvPr>
          <p:cNvSpPr txBox="1"/>
          <p:nvPr/>
        </p:nvSpPr>
        <p:spPr>
          <a:xfrm>
            <a:off x="591127" y="3805382"/>
            <a:ext cx="32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Quantitative discrete: Age (a count of the number of years)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543275-F5D3-03A6-25A4-BA0C39F21698}"/>
              </a:ext>
            </a:extLst>
          </p:cNvPr>
          <p:cNvSpPr txBox="1"/>
          <p:nvPr/>
        </p:nvSpPr>
        <p:spPr>
          <a:xfrm>
            <a:off x="591126" y="5140037"/>
            <a:ext cx="32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Quantitative continuous: Balance, Call Length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630936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Calibri"/>
              </a:rPr>
              <a:t>Data structure adapted from Moro, Rita, and Cortez (2014), Bank Marketing, UCI Machine Learning Repository; the 20 records shown are simulated.</a:t>
            </a:r>
          </a:p>
        </p:txBody>
      </p:sp>
    </p:spTree>
    <p:extLst>
      <p:ext uri="{BB962C8B-B14F-4D97-AF65-F5344CB8AC3E}">
        <p14:creationId xmlns:p14="http://schemas.microsoft.com/office/powerpoint/2010/main" val="3099163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11338560" cy="914400"/>
          </a:xfrm>
        </p:spPr>
        <p:txBody>
          <a:bodyPr/>
          <a:lstStyle/>
          <a:p>
            <a:r>
              <a:rPr sz="4000">
                <a:solidFill>
                  <a:srgbClr val="000000"/>
                </a:solidFill>
                <a:latin typeface="Calibri Light"/>
              </a:rPr>
              <a:t>Where does statistics come from?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70432"/>
            <a:ext cx="11292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Statistics began as bookkeeping about people — counting births, deaths, and taxpayers so that a state could describe itself.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893515"/>
            <a:ext cx="11277295" cy="40233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90141" y="3529584"/>
            <a:ext cx="20116" cy="38404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22476" y="3835908"/>
            <a:ext cx="155448" cy="1554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31136"/>
            <a:ext cx="2286000" cy="1298448"/>
          </a:xfrm>
          <a:prstGeom prst="rect">
            <a:avLst/>
          </a:prstGeom>
          <a:solidFill>
            <a:srgbClr val="ED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73152" bIns="73152"/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4472C4"/>
                </a:solidFill>
                <a:latin typeface="Calibri"/>
              </a:rPr>
              <a:t>1662</a:t>
            </a:r>
          </a:p>
          <a:p>
            <a:pPr algn="l"/>
            <a:r>
              <a:rPr sz="1050">
                <a:solidFill>
                  <a:srgbClr val="262626"/>
                </a:solidFill>
                <a:latin typeface="Calibri"/>
              </a:rPr>
              <a:t>John Graunt studies London's Bills of Mortality — the first life table built from real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74612" y="3913632"/>
            <a:ext cx="20116" cy="38404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806946" y="3835908"/>
            <a:ext cx="155448" cy="1554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41670" y="4297680"/>
            <a:ext cx="2286000" cy="1298448"/>
          </a:xfrm>
          <a:prstGeom prst="rect">
            <a:avLst/>
          </a:prstGeom>
          <a:solidFill>
            <a:srgbClr val="ED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73152" bIns="73152"/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4472C4"/>
                </a:solidFill>
                <a:latin typeface="Calibri"/>
              </a:rPr>
              <a:t>1693</a:t>
            </a:r>
          </a:p>
          <a:p>
            <a:pPr algn="l"/>
            <a:r>
              <a:rPr sz="1050">
                <a:solidFill>
                  <a:srgbClr val="262626"/>
                </a:solidFill>
                <a:latin typeface="Calibri"/>
              </a:rPr>
              <a:t>Edmond Halley's Breslau life table makes it possible to price life annuities.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59083" y="3529584"/>
            <a:ext cx="20116" cy="38404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091417" y="3835908"/>
            <a:ext cx="155448" cy="1554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26141" y="2231136"/>
            <a:ext cx="2286000" cy="1298448"/>
          </a:xfrm>
          <a:prstGeom prst="rect">
            <a:avLst/>
          </a:prstGeom>
          <a:solidFill>
            <a:srgbClr val="ED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73152" bIns="73152"/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4472C4"/>
                </a:solidFill>
                <a:latin typeface="Calibri"/>
              </a:rPr>
              <a:t>1749</a:t>
            </a:r>
          </a:p>
          <a:p>
            <a:pPr algn="l"/>
            <a:r>
              <a:rPr sz="1050">
                <a:solidFill>
                  <a:srgbClr val="262626"/>
                </a:solidFill>
                <a:latin typeface="Calibri"/>
              </a:rPr>
              <a:t>Gottfried Achenwall coins “Statistik” — literally the science of the state.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3553" y="3913632"/>
            <a:ext cx="20116" cy="38404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375888" y="3835908"/>
            <a:ext cx="155448" cy="1554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0612" y="4297680"/>
            <a:ext cx="2286000" cy="1298448"/>
          </a:xfrm>
          <a:prstGeom prst="rect">
            <a:avLst/>
          </a:prstGeom>
          <a:solidFill>
            <a:srgbClr val="ED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73152" bIns="73152"/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4472C4"/>
                </a:solidFill>
                <a:latin typeface="Calibri"/>
              </a:rPr>
              <a:t>1790</a:t>
            </a:r>
          </a:p>
          <a:p>
            <a:pPr algn="l"/>
            <a:r>
              <a:rPr sz="1050">
                <a:solidFill>
                  <a:srgbClr val="262626"/>
                </a:solidFill>
                <a:latin typeface="Calibri"/>
              </a:rPr>
              <a:t>The first U.S. census counts the population. Great Britain follows in 1801.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8024" y="3529584"/>
            <a:ext cx="20116" cy="38404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60358" y="3835908"/>
            <a:ext cx="155448" cy="1554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95082" y="2231136"/>
            <a:ext cx="2286000" cy="1298448"/>
          </a:xfrm>
          <a:prstGeom prst="rect">
            <a:avLst/>
          </a:prstGeom>
          <a:solidFill>
            <a:srgbClr val="ED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73152" bIns="73152"/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4472C4"/>
                </a:solidFill>
                <a:latin typeface="Calibri"/>
              </a:rPr>
              <a:t>1830s</a:t>
            </a:r>
          </a:p>
          <a:p>
            <a:pPr algn="l"/>
            <a:r>
              <a:rPr sz="1050">
                <a:solidFill>
                  <a:srgbClr val="262626"/>
                </a:solidFill>
                <a:latin typeface="Calibri"/>
              </a:rPr>
              <a:t>Adolphe Quetelet applies the normal curve to human traits and invents “the average man.”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2495" y="3913632"/>
            <a:ext cx="20116" cy="38404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44829" y="3835908"/>
            <a:ext cx="155448" cy="1554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79553" y="4297680"/>
            <a:ext cx="2286000" cy="1298448"/>
          </a:xfrm>
          <a:prstGeom prst="rect">
            <a:avLst/>
          </a:prstGeom>
          <a:solidFill>
            <a:srgbClr val="ED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73152" bIns="73152"/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4472C4"/>
                </a:solidFill>
                <a:latin typeface="Calibri"/>
              </a:rPr>
              <a:t>1900</a:t>
            </a:r>
          </a:p>
          <a:p>
            <a:pPr algn="l"/>
            <a:r>
              <a:rPr sz="1050">
                <a:solidFill>
                  <a:srgbClr val="262626"/>
                </a:solidFill>
                <a:latin typeface="Calibri"/>
              </a:rPr>
              <a:t>Galton and Pearson develop correlation, regression, and the chi-square test.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96966" y="3529584"/>
            <a:ext cx="20116" cy="38404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29300" y="3835908"/>
            <a:ext cx="155448" cy="1554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64024" y="2231136"/>
            <a:ext cx="2286000" cy="1298448"/>
          </a:xfrm>
          <a:prstGeom prst="rect">
            <a:avLst/>
          </a:prstGeom>
          <a:solidFill>
            <a:srgbClr val="ED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73152" bIns="73152"/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4472C4"/>
                </a:solidFill>
                <a:latin typeface="Calibri"/>
              </a:rPr>
              <a:t>1925</a:t>
            </a:r>
          </a:p>
          <a:p>
            <a:pPr algn="l"/>
            <a:r>
              <a:rPr sz="1050">
                <a:solidFill>
                  <a:srgbClr val="262626"/>
                </a:solidFill>
                <a:latin typeface="Calibri"/>
              </a:rPr>
              <a:t>R. A. Fisher formalizes experimental design, ANOVA, and significance testing.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581436" y="3913632"/>
            <a:ext cx="20116" cy="384048"/>
          </a:xfrm>
          <a:prstGeom prst="rect">
            <a:avLst/>
          </a:prstGeom>
          <a:solidFill>
            <a:srgbClr val="C55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513771" y="3835908"/>
            <a:ext cx="155448" cy="1554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55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48495" y="4297680"/>
            <a:ext cx="2286000" cy="1298448"/>
          </a:xfrm>
          <a:prstGeom prst="rect">
            <a:avLst/>
          </a:prstGeom>
          <a:solidFill>
            <a:srgbClr val="FCE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73152" bIns="73152"/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C5540F"/>
                </a:solidFill>
                <a:latin typeface="Calibri"/>
              </a:rPr>
              <a:t>Today</a:t>
            </a:r>
          </a:p>
          <a:p>
            <a:pPr algn="l"/>
            <a:r>
              <a:rPr sz="1050">
                <a:solidFill>
                  <a:srgbClr val="262626"/>
                </a:solidFill>
                <a:latin typeface="Calibri"/>
              </a:rPr>
              <a:t>The same ideas, now run by computers on data far larger than Graunt could count.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144768"/>
            <a:ext cx="11292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Sources: J. Graunt (1662), Natural and Political Observations Made upon the Bills of Mortality. E. Halley (1693), Phil. Trans. R. Soc. 17:596–610. G. Achenwall (1749), Abriss der neuesten Staatswissenschaft. A. Quetelet (1835), Sur l’homme et le développement de ses facultés. R. A. Fisher (1925), Statistical Methods for Research Workers.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2424</TotalTime>
  <Words>854</Words>
  <Application>Microsoft Office PowerPoint</Application>
  <PresentationFormat>Widescreen</PresentationFormat>
  <Paragraphs>77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Cambria Math</vt:lpstr>
      <vt:lpstr>Century Gothic</vt:lpstr>
      <vt:lpstr>Office Theme</vt:lpstr>
      <vt:lpstr> Lecture 1 Introduction to Statistical Methods</vt:lpstr>
      <vt:lpstr>Answering Questions with data</vt:lpstr>
      <vt:lpstr>Where do we find Statistics? – Everywhere!</vt:lpstr>
      <vt:lpstr>What Do Data Look Like? </vt:lpstr>
      <vt:lpstr>Example Data 2 </vt:lpstr>
      <vt:lpstr>Checkpoint:</vt:lpstr>
      <vt:lpstr>Types of Variables: Qualitative vs Quantitative</vt:lpstr>
      <vt:lpstr>Types of Variables: Qualitative vs Quantitative</vt:lpstr>
      <vt:lpstr>Practice: Qualitative vs Quantitative</vt:lpstr>
      <vt:lpstr>Types of Variables: Qualitative vs Quantitative</vt:lpstr>
      <vt:lpstr>Practice: Qualitative vs Quantitative</vt:lpstr>
      <vt:lpstr>Quantitative Variables: Discrete vs Continuous</vt:lpstr>
      <vt:lpstr>Practice: Discrete vs Continuous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166</cp:revision>
  <dcterms:created xsi:type="dcterms:W3CDTF">2023-07-25T18:54:28Z</dcterms:created>
  <dcterms:modified xsi:type="dcterms:W3CDTF">2024-01-18T22:00:20Z</dcterms:modified>
</cp:coreProperties>
</file>