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9" r:id="rId3"/>
    <p:sldId id="290" r:id="rId4"/>
    <p:sldId id="291" r:id="rId5"/>
    <p:sldId id="275" r:id="rId6"/>
    <p:sldId id="292" r:id="rId7"/>
    <p:sldId id="286" r:id="rId8"/>
    <p:sldId id="277" r:id="rId9"/>
    <p:sldId id="287" r:id="rId10"/>
    <p:sldId id="288" r:id="rId11"/>
    <p:sldId id="279" r:id="rId12"/>
    <p:sldId id="281" r:id="rId13"/>
    <p:sldId id="284" r:id="rId14"/>
    <p:sldId id="273" r:id="rId15"/>
    <p:sldId id="274" r:id="rId16"/>
    <p:sldId id="267" r:id="rId17"/>
    <p:sldId id="268" r:id="rId18"/>
    <p:sldId id="269" r:id="rId19"/>
    <p:sldId id="276"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76" d="100"/>
          <a:sy n="76" d="100"/>
        </p:scale>
        <p:origin x="68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821C1-92D8-0827-CE2B-80FEA840C2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4EA748-2C8E-5D78-5734-D9BCC16ECD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A15553-DE39-3C41-4AFF-70F29A86EAC2}"/>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5" name="Footer Placeholder 4">
            <a:extLst>
              <a:ext uri="{FF2B5EF4-FFF2-40B4-BE49-F238E27FC236}">
                <a16:creationId xmlns:a16="http://schemas.microsoft.com/office/drawing/2014/main" id="{1872837C-8079-1B7F-0DCF-61C39ED303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95E205-162F-206E-F4C6-EB23D9DC159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425874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13490-30A7-12A6-2775-77578A346E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37B95F-B119-D057-5670-8EC21A84E5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AD001D-CEFB-FD30-FB40-0BEA5B52DC2E}"/>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5" name="Footer Placeholder 4">
            <a:extLst>
              <a:ext uri="{FF2B5EF4-FFF2-40B4-BE49-F238E27FC236}">
                <a16:creationId xmlns:a16="http://schemas.microsoft.com/office/drawing/2014/main" id="{BBD3377D-E7F3-D264-FB03-A4AF3E3364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F48992-A907-9503-F005-BAA8A33CEA5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660803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6B320-EDC1-EDD2-5F4C-2A675BD0CAE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F58A940-1637-AC6F-0247-A5E578765F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B2A479-CAFF-245E-F61F-3D6F3E5C8839}"/>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5" name="Footer Placeholder 4">
            <a:extLst>
              <a:ext uri="{FF2B5EF4-FFF2-40B4-BE49-F238E27FC236}">
                <a16:creationId xmlns:a16="http://schemas.microsoft.com/office/drawing/2014/main" id="{F0324E38-70F9-0CAE-F19E-6DDE60057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E74C88-12BC-0657-008B-8419B1E10F3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891099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02A09-336F-FDC8-F0C1-F84E09726A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E5F6849-08AF-456F-8C3C-E6DE37B3B93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F7E5562-6B4C-F11F-DF48-D254599EAA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69C05-114E-11FE-5C76-D6F191757A56}"/>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6" name="Footer Placeholder 5">
            <a:extLst>
              <a:ext uri="{FF2B5EF4-FFF2-40B4-BE49-F238E27FC236}">
                <a16:creationId xmlns:a16="http://schemas.microsoft.com/office/drawing/2014/main" id="{4E71C5D0-A8D9-EEF2-15E4-CE74A390A8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9944C5-75A0-666E-C3DD-6839AB176F09}"/>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39510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EC19E-080C-F794-EB45-FB4903CDDA3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585744A-FDBE-87AE-7AF1-3AC154DB2C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1970E4-B2B1-0370-3C26-0D1A5A00238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FA4F036-B8A8-878F-A1CB-05DAE58015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8B7F82-EBC0-322A-130D-972F39800F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21A5BB-D71E-872F-6F0E-2279BE484D87}"/>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8" name="Footer Placeholder 7">
            <a:extLst>
              <a:ext uri="{FF2B5EF4-FFF2-40B4-BE49-F238E27FC236}">
                <a16:creationId xmlns:a16="http://schemas.microsoft.com/office/drawing/2014/main" id="{86C56747-8CBE-BF00-C39A-F442E724C4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2C14A-6287-B5B6-C760-7F506FD876DE}"/>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84043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E9713-B0F2-9D1D-23FC-F5900F773F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36FC7EC-16C8-C311-316C-6D99B4F99531}"/>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4" name="Footer Placeholder 3">
            <a:extLst>
              <a:ext uri="{FF2B5EF4-FFF2-40B4-BE49-F238E27FC236}">
                <a16:creationId xmlns:a16="http://schemas.microsoft.com/office/drawing/2014/main" id="{D4FE4DA7-A4C5-460E-592C-CEF23DF381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76F3F89-7820-6BF8-A747-E433ED21AA9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13244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EAD0FD-7A61-970C-10A9-76E2B39DAF02}"/>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3" name="Footer Placeholder 2">
            <a:extLst>
              <a:ext uri="{FF2B5EF4-FFF2-40B4-BE49-F238E27FC236}">
                <a16:creationId xmlns:a16="http://schemas.microsoft.com/office/drawing/2014/main" id="{D9F95651-C89A-3C9B-3D47-F7E5CAF6B2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509228-92F1-54DE-D9B2-4AC018D50B88}"/>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3030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3F474-02F7-A264-4B8D-717F5EB00F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0FA8C9F-750F-7D81-0E80-7FBCDEBEB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0A1C0B-C510-B118-D8FA-12722456A8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94604E-EC60-44AD-4B70-12B2B49AEB6B}"/>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6" name="Footer Placeholder 5">
            <a:extLst>
              <a:ext uri="{FF2B5EF4-FFF2-40B4-BE49-F238E27FC236}">
                <a16:creationId xmlns:a16="http://schemas.microsoft.com/office/drawing/2014/main" id="{2922C4B9-91B9-9E0E-9278-1C0433768A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21E60F-F796-8B15-08E9-61BA30F0DFA0}"/>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93505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E564D-22A0-8A8D-C6FE-D62998433E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713DEA-5246-B946-AFE4-3B305BCDB1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D4208CC-31DD-00AF-BFC4-37F7B4BF3C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77E30D-B05F-B2CA-9A3C-E01E2B6B0DFE}"/>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6" name="Footer Placeholder 5">
            <a:extLst>
              <a:ext uri="{FF2B5EF4-FFF2-40B4-BE49-F238E27FC236}">
                <a16:creationId xmlns:a16="http://schemas.microsoft.com/office/drawing/2014/main" id="{99E08FCE-463A-D1B2-8A60-3B67442025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438537-A621-46D4-781D-4E36BF83620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193242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105C2-17EC-1173-1FC9-8A7FC1018F3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6BBB4A-325C-1F27-06A3-6F4F1A8F5C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9A6F55-A1EF-6AEC-99F0-DBF50F5EBFC3}"/>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5" name="Footer Placeholder 4">
            <a:extLst>
              <a:ext uri="{FF2B5EF4-FFF2-40B4-BE49-F238E27FC236}">
                <a16:creationId xmlns:a16="http://schemas.microsoft.com/office/drawing/2014/main" id="{EDA1FD1D-86F4-EDE3-1CCE-ADED2161B9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DE0593-ABE9-0E50-7A75-9252A5A1F036}"/>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25339657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87FF77-0DAD-7CA9-B02D-208C0204890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9298FA-F111-2C9C-551D-A1F30B23948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F1B556-1ED0-55E4-9235-352E1A162B44}"/>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5" name="Footer Placeholder 4">
            <a:extLst>
              <a:ext uri="{FF2B5EF4-FFF2-40B4-BE49-F238E27FC236}">
                <a16:creationId xmlns:a16="http://schemas.microsoft.com/office/drawing/2014/main" id="{5C44A71E-8AC3-EA68-1DCB-99E68A4657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1CF60-74F8-B2C5-26C3-77536C36C67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333366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18B48B-0371-7ADD-E5C3-345B4D6CBF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2BB5A92-73C5-8CE0-7C84-BE7902E600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35212B-F67A-E417-B1FE-C389458DF2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6882561-BD16-4A95-ACA1-5204E478F2FE}" type="datetimeFigureOut">
              <a:rPr lang="en-US" smtClean="0"/>
              <a:t>8/28/2026</a:t>
            </a:fld>
            <a:endParaRPr lang="en-US"/>
          </a:p>
        </p:txBody>
      </p:sp>
      <p:sp>
        <p:nvSpPr>
          <p:cNvPr id="5" name="Footer Placeholder 4">
            <a:extLst>
              <a:ext uri="{FF2B5EF4-FFF2-40B4-BE49-F238E27FC236}">
                <a16:creationId xmlns:a16="http://schemas.microsoft.com/office/drawing/2014/main" id="{7DC9799A-D006-E28E-8EED-4BE2AFCB8D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6069CB4-3B3A-FD13-F7E0-B4A0F34767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0A81DD-F10A-4B1C-963A-0ABBB4865886}" type="slidenum">
              <a:rPr lang="en-US" smtClean="0"/>
              <a:t>‹#›</a:t>
            </a:fld>
            <a:endParaRPr lang="en-US"/>
          </a:p>
        </p:txBody>
      </p:sp>
    </p:spTree>
    <p:extLst>
      <p:ext uri="{BB962C8B-B14F-4D97-AF65-F5344CB8AC3E}">
        <p14:creationId xmlns:p14="http://schemas.microsoft.com/office/powerpoint/2010/main" val="31450919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7"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openclipart.org/detail/168896/factory-machine" TargetMode="External"/><Relationship Id="rId7" Type="http://schemas.openxmlformats.org/officeDocument/2006/relationships/image" Target="../media/image29.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hyperlink" Target="https://pixabay.com/en/database-data-storage-cylinder-149760/" TargetMode="Externa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hyperlink" Target="https://abcnews.go.com/US/video/archival-video-deepwater-horizon-oil-rig-gulf-mexico-38511218" TargetMode="External"/><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151A-3AFE-974F-DDC4-9B99389C348D}"/>
              </a:ext>
            </a:extLst>
          </p:cNvPr>
          <p:cNvSpPr>
            <a:spLocks noGrp="1"/>
          </p:cNvSpPr>
          <p:nvPr>
            <p:ph type="ctrTitle"/>
          </p:nvPr>
        </p:nvSpPr>
        <p:spPr>
          <a:xfrm>
            <a:off x="1524000" y="1122362"/>
            <a:ext cx="9144000" cy="4105419"/>
          </a:xfrm>
        </p:spPr>
        <p:txBody>
          <a:bodyPr>
            <a:normAutofit/>
          </a:bodyPr>
          <a:lstStyle/>
          <a:p>
            <a:r>
              <a:rPr lang="en-US" dirty="0"/>
              <a:t>Lecture 2</a:t>
            </a:r>
            <a:br>
              <a:rPr lang="en-US" dirty="0"/>
            </a:br>
            <a:r>
              <a:rPr lang="en-US" dirty="0"/>
              <a:t>Describing and Visualizing Distributions</a:t>
            </a:r>
            <a:br>
              <a:rPr lang="en-US" dirty="0"/>
            </a:br>
            <a:endParaRPr lang="en-US" dirty="0"/>
          </a:p>
        </p:txBody>
      </p:sp>
    </p:spTree>
    <p:extLst>
      <p:ext uri="{BB962C8B-B14F-4D97-AF65-F5344CB8AC3E}">
        <p14:creationId xmlns:p14="http://schemas.microsoft.com/office/powerpoint/2010/main" val="25371534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Review: Data, Observations and Variables</a:t>
            </a:r>
          </a:p>
        </p:txBody>
      </p:sp>
      <p:sp>
        <p:nvSpPr>
          <p:cNvPr id="3" name="Content Placeholder 2"/>
          <p:cNvSpPr>
            <a:spLocks noGrp="1"/>
          </p:cNvSpPr>
          <p:nvPr>
            <p:ph idx="1"/>
          </p:nvPr>
        </p:nvSpPr>
        <p:spPr>
          <a:xfrm>
            <a:off x="838200" y="1600200"/>
            <a:ext cx="10515600" cy="4700000"/>
          </a:xfrm>
        </p:spPr>
        <p:txBody>
          <a:bodyPr>
            <a:normAutofit/>
          </a:bodyPr>
          <a:lstStyle/>
          <a:p>
            <a:pPr marL="0" indent="0">
              <a:buNone/>
            </a:pPr>
            <a:r>
              <a:rPr lang="en-US" sz="2200" dirty="0"/>
              <a:t>What are </a:t>
            </a:r>
            <a:r>
              <a:rPr lang="en-US" sz="2200" b="1" dirty="0"/>
              <a:t>data</a:t>
            </a:r>
            <a:r>
              <a:rPr lang="en-US" sz="2200" dirty="0"/>
              <a:t>?</a:t>
            </a:r>
          </a:p>
          <a:p>
            <a:pPr marL="0" indent="0">
              <a:spcBef>
                <a:spcPts val="200"/>
              </a:spcBef>
              <a:buNone/>
            </a:pPr>
            <a:r>
              <a:rPr lang="en-US" sz="2000" dirty="0">
                <a:solidFill>
                  <a:srgbClr val="FF0000"/>
                </a:solidFill>
              </a:rPr>
              <a:t>Data are a collection of observations or measurements – the values recorded on one or more variables. Data may be structured (fixed rows and columns) or unstructured (free text, images, audio).</a:t>
            </a:r>
          </a:p>
          <a:p>
            <a:pPr marL="0" indent="0">
              <a:spcBef>
                <a:spcPts val="1800"/>
              </a:spcBef>
              <a:buNone/>
            </a:pPr>
            <a:r>
              <a:rPr lang="en-US" sz="2200" dirty="0"/>
              <a:t>What is an </a:t>
            </a:r>
            <a:r>
              <a:rPr lang="en-US" sz="2200" b="1" dirty="0"/>
              <a:t>observation</a:t>
            </a:r>
            <a:r>
              <a:rPr lang="en-US" sz="2200" dirty="0"/>
              <a:t>?</a:t>
            </a:r>
          </a:p>
          <a:p>
            <a:pPr marL="0" indent="0">
              <a:spcBef>
                <a:spcPts val="200"/>
              </a:spcBef>
              <a:buNone/>
            </a:pPr>
            <a:r>
              <a:rPr lang="en-US" sz="2000" dirty="0">
                <a:solidFill>
                  <a:srgbClr val="FF0000"/>
                </a:solidFill>
              </a:rPr>
              <a:t>A single unit, individual, or case on which measurements are recorded – one store, one skull, one penguin.</a:t>
            </a:r>
          </a:p>
          <a:p>
            <a:pPr marL="0" indent="0">
              <a:spcBef>
                <a:spcPts val="1800"/>
              </a:spcBef>
              <a:buNone/>
            </a:pPr>
            <a:r>
              <a:rPr lang="en-US" sz="2200" dirty="0"/>
              <a:t>What is a </a:t>
            </a:r>
            <a:r>
              <a:rPr lang="en-US" sz="2200" b="1" dirty="0"/>
              <a:t>variable</a:t>
            </a:r>
            <a:r>
              <a:rPr lang="en-US" sz="2200" dirty="0"/>
              <a:t>?</a:t>
            </a:r>
          </a:p>
          <a:p>
            <a:pPr marL="0" indent="0">
              <a:spcBef>
                <a:spcPts val="200"/>
              </a:spcBef>
              <a:buNone/>
            </a:pPr>
            <a:r>
              <a:rPr lang="en-US" sz="2000" dirty="0">
                <a:solidFill>
                  <a:srgbClr val="FF0000"/>
                </a:solidFill>
              </a:rPr>
              <a:t>A characteristic that is measured or recorded on every observation, and whose value can differ from one observation to the next.</a:t>
            </a:r>
          </a:p>
          <a:p>
            <a:pPr marL="0" indent="0">
              <a:spcBef>
                <a:spcPts val="2400"/>
              </a:spcBef>
              <a:buNone/>
            </a:pPr>
            <a:r>
              <a:rPr lang="en-US" sz="2000" b="1" dirty="0"/>
              <a:t>In a data table: each </a:t>
            </a:r>
            <a:r>
              <a:rPr lang="en-US" sz="2000" b="1" dirty="0">
                <a:solidFill>
                  <a:srgbClr val="C00000"/>
                </a:solidFill>
              </a:rPr>
              <a:t>row</a:t>
            </a:r>
            <a:r>
              <a:rPr lang="en-US" sz="2000" b="1" dirty="0"/>
              <a:t> is an observation and each </a:t>
            </a:r>
            <a:r>
              <a:rPr lang="en-US" sz="2000" b="1" dirty="0">
                <a:solidFill>
                  <a:srgbClr val="C00000"/>
                </a:solidFill>
              </a:rPr>
              <a:t>column</a:t>
            </a:r>
            <a:r>
              <a:rPr lang="en-US" sz="2000" b="1" dirty="0"/>
              <a:t> is a variable.</a:t>
            </a:r>
          </a:p>
        </p:txBody>
      </p:sp>
    </p:spTree>
    <p:extLst>
      <p:ext uri="{BB962C8B-B14F-4D97-AF65-F5344CB8AC3E}">
        <p14:creationId xmlns:p14="http://schemas.microsoft.com/office/powerpoint/2010/main" val="1517483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Review: Types of Variables</a:t>
            </a:r>
          </a:p>
        </p:txBody>
      </p:sp>
      <p:sp>
        <p:nvSpPr>
          <p:cNvPr id="3" name="Instructions"/>
          <p:cNvSpPr txBox="1"/>
          <p:nvPr/>
        </p:nvSpPr>
        <p:spPr>
          <a:xfrm>
            <a:off x="838200" y="1560000"/>
            <a:ext cx="10515600" cy="430000"/>
          </a:xfrm>
          <a:prstGeom prst="rect">
            <a:avLst/>
          </a:prstGeom>
          <a:noFill/>
        </p:spPr>
        <p:txBody>
          <a:bodyPr wrap="square" lIns="0" tIns="0" rIns="0" bIns="0">
            <a:normAutofit/>
          </a:bodyPr>
          <a:lstStyle/>
          <a:p>
            <a:pPr marL="0" indent="0">
              <a:buNone/>
            </a:pPr>
            <a:r>
              <a:rPr lang="en-US" sz="1800" i="1" dirty="0"/>
              <a:t>For each scenario: what is the variable being recorded, and what type of variable is it?</a:t>
            </a:r>
          </a:p>
        </p:txBody>
      </p:sp>
      <p:sp>
        <p:nvSpPr>
          <p:cNvPr id="4" name="Scenario 1"/>
          <p:cNvSpPr/>
          <p:nvPr/>
        </p:nvSpPr>
        <p:spPr>
          <a:xfrm>
            <a:off x="838200" y="2010000"/>
            <a:ext cx="5157600" cy="2050000"/>
          </a:xfrm>
          <a:prstGeom prst="roundRect">
            <a:avLst>
              <a:gd name="adj" fmla="val 4000"/>
            </a:avLst>
          </a:prstGeom>
          <a:solidFill>
            <a:srgbClr val="F2F6FC"/>
          </a:solidFill>
          <a:ln w="19050">
            <a:solidFill>
              <a:schemeClr val="accent1"/>
            </a:solidFill>
          </a:ln>
        </p:spPr>
        <p:txBody>
          <a:bodyPr lIns="180000" tIns="128000" rIns="180000" bIns="128000" anchor="ctr">
            <a:normAutofit/>
          </a:bodyPr>
          <a:lstStyle/>
          <a:p>
            <a:pPr marL="0" indent="0">
              <a:buNone/>
            </a:pPr>
            <a:r>
              <a:rPr lang="en-US" sz="1600" b="1" dirty="0"/>
              <a:t>1.  </a:t>
            </a:r>
            <a:r>
              <a:rPr lang="en-US" sz="1600" dirty="0"/>
              <a:t>A researcher interested in pinniped morphology measures the whisker length of 9 harbor seals to the nearest tenth of a millimeter.</a:t>
            </a:r>
          </a:p>
          <a:p>
            <a:pPr marL="0" indent="0">
              <a:spcBef>
                <a:spcPts val="400"/>
              </a:spcBef>
              <a:buNone/>
            </a:pPr>
            <a:r>
              <a:rPr lang="en-US" sz="1600" b="1" dirty="0">
                <a:solidFill>
                  <a:srgbClr val="FF0000"/>
                </a:solidFill>
              </a:rPr>
              <a:t>Variable: whisker length (mm) – quantitative, continuous</a:t>
            </a:r>
          </a:p>
        </p:txBody>
      </p:sp>
      <p:sp>
        <p:nvSpPr>
          <p:cNvPr id="5" name="Scenario 2"/>
          <p:cNvSpPr/>
          <p:nvPr/>
        </p:nvSpPr>
        <p:spPr>
          <a:xfrm>
            <a:off x="6196200" y="2010000"/>
            <a:ext cx="5157600" cy="2050000"/>
          </a:xfrm>
          <a:prstGeom prst="roundRect">
            <a:avLst>
              <a:gd name="adj" fmla="val 4000"/>
            </a:avLst>
          </a:prstGeom>
          <a:solidFill>
            <a:srgbClr val="F2F6FC"/>
          </a:solidFill>
          <a:ln w="19050">
            <a:solidFill>
              <a:schemeClr val="accent1"/>
            </a:solidFill>
          </a:ln>
        </p:spPr>
        <p:txBody>
          <a:bodyPr lIns="180000" tIns="128000" rIns="180000" bIns="128000" anchor="ctr">
            <a:normAutofit/>
          </a:bodyPr>
          <a:lstStyle/>
          <a:p>
            <a:pPr marL="0" indent="0">
              <a:buNone/>
            </a:pPr>
            <a:r>
              <a:rPr lang="en-US" sz="1600" b="1" dirty="0"/>
              <a:t>2.  </a:t>
            </a:r>
            <a:r>
              <a:rPr lang="en-US" sz="1600" dirty="0"/>
              <a:t>For each of 40 animals admitted to a marine mammal rehabilitation center, the attending veterinarian records the species: harbor seal, California sea lion, or northern elephant seal.</a:t>
            </a:r>
          </a:p>
          <a:p>
            <a:pPr marL="0" indent="0">
              <a:spcBef>
                <a:spcPts val="400"/>
              </a:spcBef>
              <a:buNone/>
            </a:pPr>
            <a:r>
              <a:rPr lang="en-US" sz="1600" b="1" dirty="0">
                <a:solidFill>
                  <a:srgbClr val="FF0000"/>
                </a:solidFill>
              </a:rPr>
              <a:t>Variable: species – qualitative, nominal</a:t>
            </a:r>
          </a:p>
        </p:txBody>
      </p:sp>
      <p:sp>
        <p:nvSpPr>
          <p:cNvPr id="6" name="Scenario 3"/>
          <p:cNvSpPr/>
          <p:nvPr/>
        </p:nvSpPr>
        <p:spPr>
          <a:xfrm>
            <a:off x="838200" y="4300000"/>
            <a:ext cx="5157600" cy="2050000"/>
          </a:xfrm>
          <a:prstGeom prst="roundRect">
            <a:avLst>
              <a:gd name="adj" fmla="val 4000"/>
            </a:avLst>
          </a:prstGeom>
          <a:solidFill>
            <a:srgbClr val="F2F6FC"/>
          </a:solidFill>
          <a:ln w="19050">
            <a:solidFill>
              <a:schemeClr val="accent1"/>
            </a:solidFill>
          </a:ln>
        </p:spPr>
        <p:txBody>
          <a:bodyPr lIns="180000" tIns="128000" rIns="180000" bIns="128000" anchor="ctr">
            <a:normAutofit/>
          </a:bodyPr>
          <a:lstStyle/>
          <a:p>
            <a:pPr marL="0" indent="0">
              <a:buNone/>
            </a:pPr>
            <a:r>
              <a:rPr lang="en-US" sz="1600" b="1" dirty="0"/>
              <a:t>3.  </a:t>
            </a:r>
            <a:r>
              <a:rPr lang="en-US" sz="1600" dirty="0"/>
              <a:t>At each of 15 haul-out sites along the coast, a field team counts the number of pups present.</a:t>
            </a:r>
          </a:p>
          <a:p>
            <a:pPr marL="0" indent="0">
              <a:spcBef>
                <a:spcPts val="400"/>
              </a:spcBef>
              <a:buNone/>
            </a:pPr>
            <a:r>
              <a:rPr lang="en-US" sz="1600" b="1" dirty="0">
                <a:solidFill>
                  <a:srgbClr val="FF0000"/>
                </a:solidFill>
              </a:rPr>
              <a:t>Variable: number of pups at a site – quantitative, discrete</a:t>
            </a:r>
          </a:p>
        </p:txBody>
      </p:sp>
      <p:sp>
        <p:nvSpPr>
          <p:cNvPr id="7" name="Scenario 4"/>
          <p:cNvSpPr/>
          <p:nvPr/>
        </p:nvSpPr>
        <p:spPr>
          <a:xfrm>
            <a:off x="6196200" y="4300000"/>
            <a:ext cx="5157600" cy="2050000"/>
          </a:xfrm>
          <a:prstGeom prst="roundRect">
            <a:avLst>
              <a:gd name="adj" fmla="val 4000"/>
            </a:avLst>
          </a:prstGeom>
          <a:solidFill>
            <a:srgbClr val="F2F6FC"/>
          </a:solidFill>
          <a:ln w="19050">
            <a:solidFill>
              <a:schemeClr val="accent1"/>
            </a:solidFill>
          </a:ln>
        </p:spPr>
        <p:txBody>
          <a:bodyPr lIns="180000" tIns="128000" rIns="180000" bIns="128000" anchor="ctr">
            <a:normAutofit/>
          </a:bodyPr>
          <a:lstStyle/>
          <a:p>
            <a:pPr marL="0" indent="0">
              <a:buNone/>
            </a:pPr>
            <a:r>
              <a:rPr lang="en-US" sz="1600" b="1" dirty="0"/>
              <a:t>4.  </a:t>
            </a:r>
            <a:r>
              <a:rPr lang="en-US" sz="1600" dirty="0"/>
              <a:t>Every admitted animal is also given a body condition score of poor, fair, good, or excellent by the attending veterinarian.</a:t>
            </a:r>
          </a:p>
          <a:p>
            <a:pPr marL="0" indent="0">
              <a:spcBef>
                <a:spcPts val="400"/>
              </a:spcBef>
              <a:buNone/>
            </a:pPr>
            <a:r>
              <a:rPr lang="en-US" sz="1600" b="1" dirty="0">
                <a:solidFill>
                  <a:srgbClr val="FF0000"/>
                </a:solidFill>
              </a:rPr>
              <a:t>Variable: body condition score – qualitative, ordinal</a:t>
            </a:r>
          </a:p>
        </p:txBody>
      </p:sp>
    </p:spTree>
    <p:extLst>
      <p:ext uri="{BB962C8B-B14F-4D97-AF65-F5344CB8AC3E}">
        <p14:creationId xmlns:p14="http://schemas.microsoft.com/office/powerpoint/2010/main" val="1517483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We Left Off</a:t>
            </a:r>
          </a:p>
        </p:txBody>
      </p:sp>
      <p:sp>
        <p:nvSpPr>
          <p:cNvPr id="3" name="Last class"/>
          <p:cNvSpPr/>
          <p:nvPr/>
        </p:nvSpPr>
        <p:spPr>
          <a:xfrm>
            <a:off x="838200" y="1650000"/>
            <a:ext cx="10515600" cy="1560000"/>
          </a:xfrm>
          <a:prstGeom prst="roundRect">
            <a:avLst>
              <a:gd name="adj" fmla="val 5000"/>
            </a:avLst>
          </a:prstGeom>
          <a:solidFill>
            <a:srgbClr val="F2F6FC"/>
          </a:solidFill>
          <a:ln w="19050">
            <a:solidFill>
              <a:schemeClr val="accent1"/>
            </a:solidFill>
          </a:ln>
        </p:spPr>
        <p:txBody>
          <a:bodyPr lIns="220000" tIns="140000" rIns="220000" bIns="140000" anchor="ctr">
            <a:normAutofit/>
          </a:bodyPr>
          <a:lstStyle/>
          <a:p>
            <a:pPr marL="0" indent="0">
              <a:buNone/>
            </a:pPr>
            <a:r>
              <a:rPr lang="en-US" sz="1600" i="1" dirty="0"/>
              <a:t>Last class we said:</a:t>
            </a:r>
          </a:p>
          <a:p>
            <a:pPr marL="0" indent="0">
              <a:spcBef>
                <a:spcPts val="400"/>
              </a:spcBef>
              <a:buNone/>
            </a:pPr>
            <a:r>
              <a:rPr lang="en-US" sz="2000" dirty="0"/>
              <a:t>A </a:t>
            </a:r>
            <a:r>
              <a:rPr lang="en-US" sz="2000" b="1" dirty="0"/>
              <a:t>statistic</a:t>
            </a:r>
            <a:r>
              <a:rPr lang="en-US" sz="2000" dirty="0"/>
              <a:t> is a numerical characteristic of data used to describe a property of a </a:t>
            </a:r>
            <a:r>
              <a:rPr lang="en-US" sz="2000" b="1" dirty="0">
                <a:solidFill>
                  <a:srgbClr val="FF0000"/>
                </a:solidFill>
              </a:rPr>
              <a:t>population</a:t>
            </a:r>
            <a:r>
              <a:rPr lang="en-US" sz="2000" dirty="0"/>
              <a:t>: a collection of persons, objects, or things.</a:t>
            </a:r>
          </a:p>
        </p:txBody>
      </p:sp>
      <p:sp>
        <p:nvSpPr>
          <p:cNvPr id="4" name="Lead-in"/>
          <p:cNvSpPr txBox="1"/>
          <p:nvPr/>
        </p:nvSpPr>
        <p:spPr>
          <a:xfrm>
            <a:off x="838200" y="3480000"/>
            <a:ext cx="10515600" cy="2700000"/>
          </a:xfrm>
          <a:prstGeom prst="rect">
            <a:avLst/>
          </a:prstGeom>
          <a:noFill/>
        </p:spPr>
        <p:txBody>
          <a:bodyPr wrap="square" lIns="0" tIns="0" rIns="0" bIns="0">
            <a:normAutofit/>
          </a:bodyPr>
          <a:lstStyle/>
          <a:p>
            <a:pPr marL="0" indent="0">
              <a:buNone/>
            </a:pPr>
            <a:r>
              <a:rPr lang="en-US" sz="2000" dirty="0"/>
              <a:t>That definition leans on the word </a:t>
            </a:r>
            <a:r>
              <a:rPr lang="en-US" sz="2000" b="1" dirty="0">
                <a:solidFill>
                  <a:srgbClr val="FF0000"/>
                </a:solidFill>
              </a:rPr>
              <a:t>population</a:t>
            </a:r>
            <a:r>
              <a:rPr lang="en-US" sz="2000" dirty="0"/>
              <a:t> – but we never said what one actually is.</a:t>
            </a:r>
          </a:p>
          <a:p>
            <a:pPr marL="0" indent="0">
              <a:spcBef>
                <a:spcPts val="900"/>
              </a:spcBef>
              <a:buNone/>
            </a:pPr>
            <a:r>
              <a:rPr lang="en-US" sz="2000" dirty="0"/>
              <a:t>And we can rarely measure an entire population. So where do the numbers in a statistic actually come from, and what can they tell us about the population we never fully see?</a:t>
            </a:r>
          </a:p>
          <a:p>
            <a:pPr marL="0" indent="0">
              <a:spcBef>
                <a:spcPts val="1400"/>
              </a:spcBef>
              <a:buNone/>
            </a:pPr>
            <a:r>
              <a:rPr lang="en-US" sz="2200" b="1" dirty="0">
                <a:solidFill>
                  <a:srgbClr val="C00000"/>
                </a:solidFill>
              </a:rPr>
              <a:t>Up next: populations, samples, and sampling.</a:t>
            </a:r>
          </a:p>
        </p:txBody>
      </p:sp>
    </p:spTree>
    <p:extLst>
      <p:ext uri="{BB962C8B-B14F-4D97-AF65-F5344CB8AC3E}">
        <p14:creationId xmlns:p14="http://schemas.microsoft.com/office/powerpoint/2010/main" val="151748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80C86-D709-6FB8-5A19-C2314095D583}"/>
              </a:ext>
            </a:extLst>
          </p:cNvPr>
          <p:cNvSpPr>
            <a:spLocks noGrp="1"/>
          </p:cNvSpPr>
          <p:nvPr>
            <p:ph type="title"/>
          </p:nvPr>
        </p:nvSpPr>
        <p:spPr/>
        <p:txBody>
          <a:bodyPr/>
          <a:lstStyle/>
          <a:p>
            <a:r>
              <a:rPr lang="en-US" dirty="0"/>
              <a:t>Sampling and Data</a:t>
            </a:r>
          </a:p>
        </p:txBody>
      </p:sp>
      <p:sp>
        <p:nvSpPr>
          <p:cNvPr id="3" name="TextBox 2">
            <a:extLst>
              <a:ext uri="{FF2B5EF4-FFF2-40B4-BE49-F238E27FC236}">
                <a16:creationId xmlns:a16="http://schemas.microsoft.com/office/drawing/2014/main" id="{0188B80F-E353-D6A4-82DB-12D37AECA5FA}"/>
              </a:ext>
            </a:extLst>
          </p:cNvPr>
          <p:cNvSpPr txBox="1"/>
          <p:nvPr/>
        </p:nvSpPr>
        <p:spPr>
          <a:xfrm>
            <a:off x="306534" y="1362616"/>
            <a:ext cx="6382326" cy="529375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it-IT" sz="2000" dirty="0">
                <a:solidFill>
                  <a:prstClr val="black"/>
                </a:solidFill>
                <a:latin typeface="Calibri" panose="020F0502020204030204"/>
              </a:rPr>
              <a:t>Statistics is generally concerned with studying properties of a </a:t>
            </a:r>
            <a:r>
              <a:rPr lang="it-IT" sz="2000" b="1" dirty="0">
                <a:solidFill>
                  <a:prstClr val="black"/>
                </a:solidFill>
                <a:latin typeface="Calibri" panose="020F0502020204030204"/>
              </a:rPr>
              <a:t>population </a:t>
            </a:r>
            <a:r>
              <a:rPr lang="it-IT" sz="2000" dirty="0">
                <a:solidFill>
                  <a:prstClr val="black"/>
                </a:solidFill>
                <a:latin typeface="Calibri" panose="020F0502020204030204"/>
              </a:rPr>
              <a:t>– the collection of all possible persons, events, or objects of interest </a:t>
            </a:r>
          </a:p>
          <a:p>
            <a:pPr lvl="1">
              <a:lnSpc>
                <a:spcPct val="90000"/>
              </a:lnSpc>
              <a:spcBef>
                <a:spcPts val="1000"/>
              </a:spcBef>
              <a:defRPr/>
            </a:pPr>
            <a:r>
              <a:rPr lang="it-IT" sz="2000" dirty="0">
                <a:solidFill>
                  <a:prstClr val="black"/>
                </a:solidFill>
                <a:latin typeface="Calibri" panose="020F0502020204030204"/>
              </a:rPr>
              <a:t>e.g the set of all possible observations –  observed + unobserved </a:t>
            </a:r>
          </a:p>
          <a:p>
            <a:pPr marL="342900" indent="-342900">
              <a:lnSpc>
                <a:spcPct val="90000"/>
              </a:lnSpc>
              <a:spcBef>
                <a:spcPts val="1000"/>
              </a:spcBef>
              <a:buFont typeface="Arial" panose="020B0604020202020204" pitchFamily="34" charset="0"/>
              <a:buChar char="•"/>
              <a:defRPr/>
            </a:pPr>
            <a:r>
              <a:rPr lang="it-IT" sz="2000" dirty="0">
                <a:solidFill>
                  <a:prstClr val="black"/>
                </a:solidFill>
                <a:latin typeface="Calibri" panose="020F0502020204030204"/>
              </a:rPr>
              <a:t>Populations can be </a:t>
            </a:r>
            <a:r>
              <a:rPr lang="it-IT" sz="2000" i="1" dirty="0">
                <a:solidFill>
                  <a:prstClr val="black"/>
                </a:solidFill>
                <a:latin typeface="Calibri" panose="020F0502020204030204"/>
              </a:rPr>
              <a:t>real</a:t>
            </a:r>
            <a:r>
              <a:rPr lang="it-IT" sz="2000" dirty="0">
                <a:solidFill>
                  <a:prstClr val="black"/>
                </a:solidFill>
                <a:latin typeface="Calibri" panose="020F0502020204030204"/>
              </a:rPr>
              <a:t> and </a:t>
            </a:r>
            <a:r>
              <a:rPr lang="it-IT" sz="2000" i="1" dirty="0">
                <a:solidFill>
                  <a:prstClr val="black"/>
                </a:solidFill>
                <a:latin typeface="Calibri" panose="020F0502020204030204"/>
              </a:rPr>
              <a:t>finite</a:t>
            </a:r>
            <a:r>
              <a:rPr lang="it-IT" sz="2000" dirty="0">
                <a:solidFill>
                  <a:prstClr val="black"/>
                </a:solidFill>
                <a:latin typeface="Calibri" panose="020F0502020204030204"/>
              </a:rPr>
              <a:t> (e.g. all employees at a company) or </a:t>
            </a:r>
            <a:r>
              <a:rPr lang="it-IT" sz="2000" i="1" dirty="0">
                <a:solidFill>
                  <a:prstClr val="black"/>
                </a:solidFill>
                <a:latin typeface="Calibri" panose="020F0502020204030204"/>
              </a:rPr>
              <a:t>hypothetical</a:t>
            </a:r>
            <a:r>
              <a:rPr lang="it-IT" sz="2000" dirty="0">
                <a:solidFill>
                  <a:prstClr val="black"/>
                </a:solidFill>
                <a:latin typeface="Calibri" panose="020F0502020204030204"/>
              </a:rPr>
              <a:t> and </a:t>
            </a:r>
            <a:r>
              <a:rPr lang="it-IT" sz="2000" i="1" dirty="0">
                <a:solidFill>
                  <a:prstClr val="black"/>
                </a:solidFill>
                <a:latin typeface="Calibri" panose="020F0502020204030204"/>
              </a:rPr>
              <a:t>unlimited</a:t>
            </a:r>
            <a:r>
              <a:rPr lang="it-IT" sz="2000" dirty="0">
                <a:solidFill>
                  <a:prstClr val="black"/>
                </a:solidFill>
                <a:latin typeface="Calibri" panose="020F0502020204030204"/>
              </a:rPr>
              <a:t> (e.g. every hand that could ever be dealt in poker – a process we can repeat indefinitely)</a:t>
            </a:r>
          </a:p>
          <a:p>
            <a:pPr marR="0" lvl="0" algn="l" defTabSz="914400" rtl="0" eaLnBrk="1" fontAlgn="auto" latinLnBrk="0" hangingPunct="1">
              <a:lnSpc>
                <a:spcPct val="90000"/>
              </a:lnSpc>
              <a:spcBef>
                <a:spcPts val="1000"/>
              </a:spcBef>
              <a:spcAft>
                <a:spcPts val="0"/>
              </a:spcAft>
              <a:buClrTx/>
              <a:buSzTx/>
              <a:tabLst/>
              <a:defRPr/>
            </a:pPr>
            <a:endParaRPr lang="it-IT"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it-IT" sz="2000" dirty="0">
                <a:solidFill>
                  <a:prstClr val="black"/>
                </a:solidFill>
                <a:latin typeface="Calibri" panose="020F0502020204030204"/>
              </a:rPr>
              <a:t>A </a:t>
            </a:r>
            <a:r>
              <a:rPr lang="it-IT" sz="2000" b="1" dirty="0">
                <a:solidFill>
                  <a:prstClr val="black"/>
                </a:solidFill>
                <a:latin typeface="Calibri" panose="020F0502020204030204"/>
              </a:rPr>
              <a:t>Sample </a:t>
            </a:r>
            <a:r>
              <a:rPr lang="it-IT" sz="2000" dirty="0">
                <a:solidFill>
                  <a:prstClr val="black"/>
                </a:solidFill>
                <a:latin typeface="Calibri" panose="020F0502020204030204"/>
              </a:rPr>
              <a:t>is a subset of the population that we actually observe – the observed observations</a:t>
            </a:r>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it-IT" sz="2000" dirty="0">
                <a:solidFill>
                  <a:prstClr val="black"/>
                </a:solidFill>
                <a:latin typeface="Calibri" panose="020F0502020204030204"/>
              </a:rPr>
              <a:t>The idea of </a:t>
            </a:r>
            <a:r>
              <a:rPr lang="it-IT" sz="2000" b="1" dirty="0">
                <a:solidFill>
                  <a:prstClr val="black"/>
                </a:solidFill>
                <a:latin typeface="Calibri" panose="020F0502020204030204"/>
              </a:rPr>
              <a:t>Sampling </a:t>
            </a:r>
            <a:r>
              <a:rPr lang="it-IT" sz="2000" dirty="0">
                <a:solidFill>
                  <a:prstClr val="black"/>
                </a:solidFill>
                <a:latin typeface="Calibri" panose="020F0502020204030204"/>
              </a:rPr>
              <a:t>is to select a portion or individuals or objects that are </a:t>
            </a:r>
            <a:r>
              <a:rPr lang="it-IT" sz="2000" i="1" dirty="0">
                <a:solidFill>
                  <a:prstClr val="black"/>
                </a:solidFill>
                <a:latin typeface="Calibri" panose="020F0502020204030204"/>
              </a:rPr>
              <a:t>representative</a:t>
            </a:r>
            <a:r>
              <a:rPr lang="it-IT" sz="2000" dirty="0">
                <a:solidFill>
                  <a:prstClr val="black"/>
                </a:solidFill>
                <a:latin typeface="Calibri" panose="020F0502020204030204"/>
              </a:rPr>
              <a:t> of the population </a:t>
            </a:r>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it-IT" sz="2000" dirty="0">
                <a:solidFill>
                  <a:prstClr val="black"/>
                </a:solidFill>
                <a:latin typeface="Calibri" panose="020F0502020204030204"/>
              </a:rPr>
              <a:t>By studying the sample we can gain insights about the population</a:t>
            </a:r>
          </a:p>
        </p:txBody>
      </p:sp>
      <p:grpSp>
        <p:nvGrpSpPr>
          <p:cNvPr id="4" name="Group 3">
            <a:extLst>
              <a:ext uri="{FF2B5EF4-FFF2-40B4-BE49-F238E27FC236}">
                <a16:creationId xmlns:a16="http://schemas.microsoft.com/office/drawing/2014/main" id="{3BD5BC74-A5F6-D81D-31C9-841DF2BDE57D}"/>
              </a:ext>
            </a:extLst>
          </p:cNvPr>
          <p:cNvGrpSpPr/>
          <p:nvPr/>
        </p:nvGrpSpPr>
        <p:grpSpPr>
          <a:xfrm>
            <a:off x="7509164" y="1000495"/>
            <a:ext cx="3281218" cy="4632255"/>
            <a:chOff x="7509164" y="1000495"/>
            <a:chExt cx="3281218" cy="4632255"/>
          </a:xfrm>
        </p:grpSpPr>
        <p:sp>
          <p:nvSpPr>
            <p:cNvPr id="5" name="Oval 4">
              <a:extLst>
                <a:ext uri="{FF2B5EF4-FFF2-40B4-BE49-F238E27FC236}">
                  <a16:creationId xmlns:a16="http://schemas.microsoft.com/office/drawing/2014/main" id="{FE76BFFC-692A-3395-0D59-137EA4C6F72E}"/>
                </a:ext>
              </a:extLst>
            </p:cNvPr>
            <p:cNvSpPr/>
            <p:nvPr/>
          </p:nvSpPr>
          <p:spPr>
            <a:xfrm>
              <a:off x="7509164" y="1000495"/>
              <a:ext cx="3281218" cy="298334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 </a:t>
              </a:r>
            </a:p>
          </p:txBody>
        </p:sp>
        <p:sp>
          <p:nvSpPr>
            <p:cNvPr id="6" name="Oval 5">
              <a:extLst>
                <a:ext uri="{FF2B5EF4-FFF2-40B4-BE49-F238E27FC236}">
                  <a16:creationId xmlns:a16="http://schemas.microsoft.com/office/drawing/2014/main" id="{75C755FB-8455-004A-405B-1295E68507B1}"/>
                </a:ext>
              </a:extLst>
            </p:cNvPr>
            <p:cNvSpPr/>
            <p:nvPr/>
          </p:nvSpPr>
          <p:spPr>
            <a:xfrm>
              <a:off x="8392391" y="2807854"/>
              <a:ext cx="1514764" cy="923637"/>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8055093A-2E5D-6EDB-F52E-26AFAC794EE5}"/>
                </a:ext>
              </a:extLst>
            </p:cNvPr>
            <p:cNvSpPr/>
            <p:nvPr/>
          </p:nvSpPr>
          <p:spPr>
            <a:xfrm>
              <a:off x="8392391" y="4709113"/>
              <a:ext cx="1514764" cy="9236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Sample</a:t>
              </a:r>
            </a:p>
          </p:txBody>
        </p:sp>
        <p:sp>
          <p:nvSpPr>
            <p:cNvPr id="9" name="TextBox 8">
              <a:extLst>
                <a:ext uri="{FF2B5EF4-FFF2-40B4-BE49-F238E27FC236}">
                  <a16:creationId xmlns:a16="http://schemas.microsoft.com/office/drawing/2014/main" id="{9D0664B3-F7D9-BBD3-87A1-5643EE5D92E7}"/>
                </a:ext>
              </a:extLst>
            </p:cNvPr>
            <p:cNvSpPr txBox="1"/>
            <p:nvPr/>
          </p:nvSpPr>
          <p:spPr>
            <a:xfrm>
              <a:off x="8266545" y="1847273"/>
              <a:ext cx="1199046" cy="369332"/>
            </a:xfrm>
            <a:prstGeom prst="rect">
              <a:avLst/>
            </a:prstGeom>
            <a:noFill/>
          </p:spPr>
          <p:txBody>
            <a:bodyPr wrap="none" rtlCol="0">
              <a:spAutoFit/>
            </a:bodyPr>
            <a:lstStyle/>
            <a:p>
              <a:r>
                <a:rPr lang="en-US" dirty="0">
                  <a:solidFill>
                    <a:schemeClr val="bg1"/>
                  </a:solidFill>
                </a:rPr>
                <a:t>Population</a:t>
              </a:r>
            </a:p>
          </p:txBody>
        </p:sp>
        <p:cxnSp>
          <p:nvCxnSpPr>
            <p:cNvPr id="11" name="Straight Arrow Connector 10">
              <a:extLst>
                <a:ext uri="{FF2B5EF4-FFF2-40B4-BE49-F238E27FC236}">
                  <a16:creationId xmlns:a16="http://schemas.microsoft.com/office/drawing/2014/main" id="{186B49F7-EAAC-9B39-3238-0A6CBE507C2B}"/>
                </a:ext>
              </a:extLst>
            </p:cNvPr>
            <p:cNvCxnSpPr/>
            <p:nvPr/>
          </p:nvCxnSpPr>
          <p:spPr>
            <a:xfrm>
              <a:off x="9149773" y="3269672"/>
              <a:ext cx="0" cy="1349539"/>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78471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3348B-7198-058C-2B12-48B57853BE3F}"/>
              </a:ext>
            </a:extLst>
          </p:cNvPr>
          <p:cNvSpPr>
            <a:spLocks noGrp="1"/>
          </p:cNvSpPr>
          <p:nvPr>
            <p:ph type="title"/>
          </p:nvPr>
        </p:nvSpPr>
        <p:spPr/>
        <p:txBody>
          <a:bodyPr/>
          <a:lstStyle/>
          <a:p>
            <a:r>
              <a:rPr lang="en-US" dirty="0"/>
              <a:t>A Note on notation: </a:t>
            </a:r>
          </a:p>
        </p:txBody>
      </p:sp>
      <p:sp>
        <p:nvSpPr>
          <p:cNvPr id="3" name="Content Placeholder 2">
            <a:extLst>
              <a:ext uri="{FF2B5EF4-FFF2-40B4-BE49-F238E27FC236}">
                <a16:creationId xmlns:a16="http://schemas.microsoft.com/office/drawing/2014/main" id="{570616FC-C736-2D1F-8C03-F4FBDAEBF60F}"/>
              </a:ext>
            </a:extLst>
          </p:cNvPr>
          <p:cNvSpPr>
            <a:spLocks noGrp="1"/>
          </p:cNvSpPr>
          <p:nvPr>
            <p:ph idx="1"/>
          </p:nvPr>
        </p:nvSpPr>
        <p:spPr/>
        <p:txBody>
          <a:bodyPr/>
          <a:lstStyle/>
          <a:p>
            <a:r>
              <a:rPr lang="en-US" dirty="0"/>
              <a:t>Since statistical science is a mathematical discipline</a:t>
            </a:r>
            <a:r>
              <a:rPr lang="en-US"/>
              <a:t>, we have a notation </a:t>
            </a:r>
            <a:r>
              <a:rPr lang="en-US" dirty="0"/>
              <a:t>that we commonly </a:t>
            </a:r>
            <a:r>
              <a:rPr lang="en-US"/>
              <a:t>use:</a:t>
            </a:r>
          </a:p>
        </p:txBody>
      </p:sp>
      <p:sp>
        <p:nvSpPr>
          <p:cNvPr id="4" name="Fun fact">
            <a:extLst>
              <a:ext uri="{FF2B5EF4-FFF2-40B4-BE49-F238E27FC236}">
                <a16:creationId xmlns:a16="http://schemas.microsoft.com/office/drawing/2014/main" id="{642CA3BA-68FE-2A51-6CA6-0A4CE735B551}"/>
              </a:ext>
            </a:extLst>
          </p:cNvPr>
          <p:cNvSpPr txBox="1"/>
          <p:nvPr/>
        </p:nvSpPr>
        <p:spPr>
          <a:xfrm>
            <a:off x="838200" y="4724400"/>
            <a:ext cx="10515600" cy="779701"/>
          </a:xfrm>
          <a:prstGeom prst="rect">
            <a:avLst/>
          </a:prstGeom>
          <a:solidFill>
            <a:srgbClr val="FFF7E6"/>
          </a:solidFill>
          <a:ln w="19050">
            <a:solidFill>
              <a:srgbClr val="FFC000"/>
            </a:solidFill>
          </a:ln>
        </p:spPr>
        <p:txBody>
          <a:bodyPr vert="horz" wrap="square" lIns="177800" tIns="127000" rIns="177800" bIns="127000" rtlCol="0">
            <a:spAutoFit/>
          </a:bodyPr>
          <a:lstStyle/>
          <a:p>
            <a:r>
              <a:rPr lang="en-US" sz="1600" b="1">
                <a:latin typeface="Calibri" panose="020F0502020204030204" pitchFamily="34" charset="0"/>
              </a:rPr>
              <a:t>Fun fact:</a:t>
            </a:r>
            <a:r>
              <a:rPr lang="en-US" sz="1600">
                <a:latin typeface="Calibri" panose="020F0502020204030204" pitchFamily="34" charset="0"/>
              </a:rPr>
              <a:t> Leonhard Euler introduced sigma notation in the 18th century. Euler began using the Greek capital letter sigma, </a:t>
            </a:r>
            <a:r>
              <a:rPr lang="en-US" b="1">
                <a:latin typeface="Cambria Math" panose="02040503050406030204" pitchFamily="18" charset="0"/>
              </a:rPr>
              <a:t>Σ</a:t>
            </a:r>
            <a:r>
              <a:rPr lang="en-US" sz="1600">
                <a:latin typeface="Calibri" panose="020F0502020204030204" pitchFamily="34" charset="0"/>
              </a:rPr>
              <a:t>, to denote summation, apparently because S is the first letter of </a:t>
            </a:r>
            <a:r>
              <a:rPr lang="en-US" sz="1600" i="1">
                <a:latin typeface="Calibri" panose="020F0502020204030204" pitchFamily="34" charset="0"/>
              </a:rPr>
              <a:t>summa</a:t>
            </a:r>
            <a:r>
              <a:rPr lang="en-US" sz="1600">
                <a:latin typeface="Calibri" panose="020F0502020204030204" pitchFamily="34" charset="0"/>
              </a:rPr>
              <a:t> (Latin for “sum”).</a:t>
            </a:r>
          </a:p>
        </p:txBody>
      </p:sp>
    </p:spTree>
    <p:extLst>
      <p:ext uri="{BB962C8B-B14F-4D97-AF65-F5344CB8AC3E}">
        <p14:creationId xmlns:p14="http://schemas.microsoft.com/office/powerpoint/2010/main" val="2171153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999980-3A28-4123-6B5F-A6639B54C7DB}"/>
              </a:ext>
            </a:extLst>
          </p:cNvPr>
          <p:cNvSpPr>
            <a:spLocks noGrp="1"/>
          </p:cNvSpPr>
          <p:nvPr>
            <p:ph type="title"/>
          </p:nvPr>
        </p:nvSpPr>
        <p:spPr>
          <a:xfrm>
            <a:off x="123826" y="0"/>
            <a:ext cx="10515600" cy="1325563"/>
          </a:xfrm>
        </p:spPr>
        <p:txBody>
          <a:bodyPr/>
          <a:lstStyle/>
          <a:p>
            <a:r>
              <a:rPr lang="en-US" dirty="0"/>
              <a:t>Example: Penguins at Torgersen Island</a:t>
            </a:r>
          </a:p>
        </p:txBody>
      </p:sp>
      <p:cxnSp>
        <p:nvCxnSpPr>
          <p:cNvPr id="11" name="Straight Connector 10">
            <a:extLst>
              <a:ext uri="{FF2B5EF4-FFF2-40B4-BE49-F238E27FC236}">
                <a16:creationId xmlns:a16="http://schemas.microsoft.com/office/drawing/2014/main" id="{13AED8ED-F3E1-EB93-F48F-DAD47DDD846A}"/>
              </a:ext>
            </a:extLst>
          </p:cNvPr>
          <p:cNvCxnSpPr>
            <a:cxnSpLocks/>
          </p:cNvCxnSpPr>
          <p:nvPr/>
        </p:nvCxnSpPr>
        <p:spPr>
          <a:xfrm>
            <a:off x="6684187" y="2249199"/>
            <a:ext cx="335216" cy="1330036"/>
          </a:xfrm>
          <a:prstGeom prst="line">
            <a:avLst/>
          </a:prstGeom>
          <a:ln w="12700"/>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0845FEF9-6712-393A-9522-615A9EE1AEAB}"/>
              </a:ext>
            </a:extLst>
          </p:cNvPr>
          <p:cNvCxnSpPr>
            <a:cxnSpLocks/>
          </p:cNvCxnSpPr>
          <p:nvPr/>
        </p:nvCxnSpPr>
        <p:spPr>
          <a:xfrm flipV="1">
            <a:off x="6711650" y="4997319"/>
            <a:ext cx="307753" cy="1403651"/>
          </a:xfrm>
          <a:prstGeom prst="line">
            <a:avLst/>
          </a:prstGeom>
          <a:ln w="127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95600A2-64C4-B68E-6C26-D048BDD572EC}"/>
                  </a:ext>
                </a:extLst>
              </p:cNvPr>
              <p:cNvSpPr txBox="1"/>
              <p:nvPr/>
            </p:nvSpPr>
            <p:spPr>
              <a:xfrm>
                <a:off x="2105891" y="1671782"/>
                <a:ext cx="2659190" cy="461665"/>
              </a:xfrm>
              <a:prstGeom prst="rect">
                <a:avLst/>
              </a:prstGeom>
              <a:noFill/>
            </p:spPr>
            <p:txBody>
              <a:bodyPr wrap="none" rtlCol="0">
                <a:spAutoFit/>
              </a:bodyPr>
              <a:lstStyle/>
              <a:p>
                <a:r>
                  <a:rPr lang="en-US" sz="2400" dirty="0"/>
                  <a:t>Population: </a:t>
                </a:r>
                <a14:m>
                  <m:oMath xmlns:m="http://schemas.openxmlformats.org/officeDocument/2006/math">
                    <m:r>
                      <a:rPr lang="en-US" sz="2400" b="0" i="1" smtClean="0">
                        <a:latin typeface="Cambria Math" panose="02040503050406030204" pitchFamily="18" charset="0"/>
                      </a:rPr>
                      <m:t>𝑁</m:t>
                    </m:r>
                    <m:r>
                      <a:rPr lang="en-US" sz="2400" b="0" i="1" smtClean="0">
                        <a:latin typeface="Cambria Math" panose="02040503050406030204" pitchFamily="18" charset="0"/>
                      </a:rPr>
                      <m:t>=20</m:t>
                    </m:r>
                  </m:oMath>
                </a14:m>
                <a:endParaRPr lang="en-US" sz="2400" dirty="0"/>
              </a:p>
            </p:txBody>
          </p:sp>
        </mc:Choice>
        <mc:Fallback xmlns="">
          <p:sp>
            <p:nvSpPr>
              <p:cNvPr id="18" name="TextBox 17">
                <a:extLst>
                  <a:ext uri="{FF2B5EF4-FFF2-40B4-BE49-F238E27FC236}">
                    <a16:creationId xmlns:a16="http://schemas.microsoft.com/office/drawing/2014/main" id="{A95600A2-64C4-B68E-6C26-D048BDD572EC}"/>
                  </a:ext>
                </a:extLst>
              </p:cNvPr>
              <p:cNvSpPr txBox="1">
                <a:spLocks noRot="1" noChangeAspect="1" noMove="1" noResize="1" noEditPoints="1" noAdjustHandles="1" noChangeArrowheads="1" noChangeShapeType="1" noTextEdit="1"/>
              </p:cNvSpPr>
              <p:nvPr/>
            </p:nvSpPr>
            <p:spPr>
              <a:xfrm>
                <a:off x="2105891" y="1671782"/>
                <a:ext cx="2659190" cy="461665"/>
              </a:xfrm>
              <a:prstGeom prst="rect">
                <a:avLst/>
              </a:prstGeom>
              <a:blipFill>
                <a:blip r:embed="rId4"/>
                <a:stretch>
                  <a:fillRect l="-3432" t="-10526" b="-289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3DD774A-2402-4286-7B26-81B6AFA6FFD0}"/>
                  </a:ext>
                </a:extLst>
              </p:cNvPr>
              <p:cNvSpPr txBox="1"/>
              <p:nvPr/>
            </p:nvSpPr>
            <p:spPr>
              <a:xfrm>
                <a:off x="8298873" y="3036252"/>
                <a:ext cx="1997085" cy="461665"/>
              </a:xfrm>
              <a:prstGeom prst="rect">
                <a:avLst/>
              </a:prstGeom>
              <a:noFill/>
            </p:spPr>
            <p:txBody>
              <a:bodyPr wrap="none" rtlCol="0">
                <a:spAutoFit/>
              </a:bodyPr>
              <a:lstStyle/>
              <a:p>
                <a:r>
                  <a:rPr lang="en-US" sz="2400" dirty="0"/>
                  <a:t>Sample: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=5</m:t>
                    </m:r>
                  </m:oMath>
                </a14:m>
                <a:endParaRPr lang="en-US" sz="2400" dirty="0"/>
              </a:p>
            </p:txBody>
          </p:sp>
        </mc:Choice>
        <mc:Fallback xmlns="">
          <p:sp>
            <p:nvSpPr>
              <p:cNvPr id="19" name="TextBox 18">
                <a:extLst>
                  <a:ext uri="{FF2B5EF4-FFF2-40B4-BE49-F238E27FC236}">
                    <a16:creationId xmlns:a16="http://schemas.microsoft.com/office/drawing/2014/main" id="{D3DD774A-2402-4286-7B26-81B6AFA6FFD0}"/>
                  </a:ext>
                </a:extLst>
              </p:cNvPr>
              <p:cNvSpPr txBox="1">
                <a:spLocks noRot="1" noChangeAspect="1" noMove="1" noResize="1" noEditPoints="1" noAdjustHandles="1" noChangeArrowheads="1" noChangeShapeType="1" noTextEdit="1"/>
              </p:cNvSpPr>
              <p:nvPr/>
            </p:nvSpPr>
            <p:spPr>
              <a:xfrm>
                <a:off x="8298873" y="3036252"/>
                <a:ext cx="1997085" cy="461665"/>
              </a:xfrm>
              <a:prstGeom prst="rect">
                <a:avLst/>
              </a:prstGeom>
              <a:blipFill>
                <a:blip r:embed="rId5"/>
                <a:stretch>
                  <a:fillRect l="-4573" t="-10526" r="-305" b="-28947"/>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092ECA5E-F265-CC01-3BD8-E4F3AD723AF6}"/>
              </a:ext>
            </a:extLst>
          </p:cNvPr>
          <p:cNvPicPr>
            <a:picLocks noChangeAspect="1"/>
          </p:cNvPicPr>
          <p:nvPr/>
        </p:nvPicPr>
        <p:blipFill>
          <a:blip r:embed="rId6"/>
          <a:stretch>
            <a:fillRect/>
          </a:stretch>
        </p:blipFill>
        <p:spPr>
          <a:xfrm>
            <a:off x="123826" y="2208705"/>
            <a:ext cx="6560360" cy="4570937"/>
          </a:xfrm>
          <a:prstGeom prst="rect">
            <a:avLst/>
          </a:prstGeom>
        </p:spPr>
      </p:pic>
      <p:pic>
        <p:nvPicPr>
          <p:cNvPr id="10" name="Picture 9">
            <a:extLst>
              <a:ext uri="{FF2B5EF4-FFF2-40B4-BE49-F238E27FC236}">
                <a16:creationId xmlns:a16="http://schemas.microsoft.com/office/drawing/2014/main" id="{DE1CA0A1-E6E8-96B5-56BD-17F23AFB399F}"/>
              </a:ext>
            </a:extLst>
          </p:cNvPr>
          <p:cNvPicPr>
            <a:picLocks noChangeAspect="1"/>
          </p:cNvPicPr>
          <p:nvPr/>
        </p:nvPicPr>
        <p:blipFill>
          <a:blip r:embed="rId7"/>
          <a:stretch>
            <a:fillRect/>
          </a:stretch>
        </p:blipFill>
        <p:spPr>
          <a:xfrm>
            <a:off x="6986575" y="3527209"/>
            <a:ext cx="5205425" cy="144490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D3838FB-D204-9D3B-4AA1-DDCB2ED4578D}"/>
                  </a:ext>
                </a:extLst>
              </p:cNvPr>
              <p:cNvSpPr txBox="1"/>
              <p:nvPr/>
            </p:nvSpPr>
            <p:spPr>
              <a:xfrm>
                <a:off x="7287491" y="923636"/>
                <a:ext cx="4029629" cy="1477328"/>
              </a:xfrm>
              <a:prstGeom prst="rect">
                <a:avLst/>
              </a:prstGeom>
              <a:noFill/>
            </p:spPr>
            <p:txBody>
              <a:bodyPr wrap="none" rtlCol="0">
                <a:spAutoFit/>
              </a:bodyPr>
              <a:lstStyle/>
              <a:p>
                <a:r>
                  <a:rPr lang="en-US" dirty="0"/>
                  <a:t>The population is a set of </a:t>
                </a:r>
                <a14:m>
                  <m:oMath xmlns:m="http://schemas.openxmlformats.org/officeDocument/2006/math">
                    <m:r>
                      <a:rPr lang="en-US" b="0" i="1" smtClean="0">
                        <a:latin typeface="Cambria Math" panose="02040503050406030204" pitchFamily="18" charset="0"/>
                      </a:rPr>
                      <m:t>𝑁</m:t>
                    </m:r>
                  </m:oMath>
                </a14:m>
                <a:r>
                  <a:rPr lang="en-US" dirty="0"/>
                  <a:t> observations</a:t>
                </a:r>
              </a:p>
              <a:p>
                <a:pPr/>
                <a14:m>
                  <m:oMathPara xmlns:m="http://schemas.openxmlformats.org/officeDocument/2006/math">
                    <m:o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𝑁</m:t>
                          </m:r>
                        </m:sub>
                      </m:sSub>
                      <m:r>
                        <a:rPr lang="en-US" b="0" i="1" smtClean="0">
                          <a:latin typeface="Cambria Math" panose="02040503050406030204" pitchFamily="18" charset="0"/>
                        </a:rPr>
                        <m:t>}</m:t>
                      </m:r>
                    </m:oMath>
                  </m:oMathPara>
                </a14:m>
                <a:endParaRPr lang="en-US" dirty="0"/>
              </a:p>
              <a:p>
                <a:endParaRPr lang="en-US" dirty="0"/>
              </a:p>
              <a:p>
                <a:r>
                  <a:rPr lang="en-US" dirty="0"/>
                  <a:t>The sample is a set of </a:t>
                </a:r>
                <a14:m>
                  <m:oMath xmlns:m="http://schemas.openxmlformats.org/officeDocument/2006/math">
                    <m:r>
                      <a:rPr lang="en-US" b="0" i="1" smtClean="0">
                        <a:latin typeface="Cambria Math" panose="02040503050406030204" pitchFamily="18" charset="0"/>
                      </a:rPr>
                      <m:t>𝑛</m:t>
                    </m:r>
                  </m:oMath>
                </a14:m>
                <a:r>
                  <a:rPr lang="en-US" dirty="0"/>
                  <a:t> observations</a:t>
                </a:r>
              </a:p>
              <a:p>
                <a:pPr/>
                <a14:m>
                  <m:oMathPara xmlns:m="http://schemas.openxmlformats.org/officeDocument/2006/math">
                    <m:o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7</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8</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14</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19</m:t>
                              </m:r>
                            </m:sub>
                          </m:sSub>
                        </m:e>
                      </m:d>
                    </m:oMath>
                  </m:oMathPara>
                </a14:m>
                <a:endParaRPr lang="en-US" dirty="0"/>
              </a:p>
            </p:txBody>
          </p:sp>
        </mc:Choice>
        <mc:Fallback xmlns="">
          <p:sp>
            <p:nvSpPr>
              <p:cNvPr id="3" name="TextBox 2">
                <a:extLst>
                  <a:ext uri="{FF2B5EF4-FFF2-40B4-BE49-F238E27FC236}">
                    <a16:creationId xmlns:a16="http://schemas.microsoft.com/office/drawing/2014/main" id="{6D3838FB-D204-9D3B-4AA1-DDCB2ED4578D}"/>
                  </a:ext>
                </a:extLst>
              </p:cNvPr>
              <p:cNvSpPr txBox="1">
                <a:spLocks noRot="1" noChangeAspect="1" noMove="1" noResize="1" noEditPoints="1" noAdjustHandles="1" noChangeArrowheads="1" noChangeShapeType="1" noTextEdit="1"/>
              </p:cNvSpPr>
              <p:nvPr/>
            </p:nvSpPr>
            <p:spPr>
              <a:xfrm>
                <a:off x="7287491" y="923636"/>
                <a:ext cx="4029629" cy="1477328"/>
              </a:xfrm>
              <a:prstGeom prst="rect">
                <a:avLst/>
              </a:prstGeom>
              <a:blipFill>
                <a:blip r:embed="rId8"/>
                <a:stretch>
                  <a:fillRect l="-1210" t="-2479" r="-756"/>
                </a:stretch>
              </a:blipFill>
            </p:spPr>
            <p:txBody>
              <a:bodyPr/>
              <a:lstStyle/>
              <a:p>
                <a:r>
                  <a:rPr lang="en-US">
                    <a:noFill/>
                  </a:rPr>
                  <a:t> </a:t>
                </a:r>
              </a:p>
            </p:txBody>
          </p:sp>
        </mc:Fallback>
      </mc:AlternateContent>
    </p:spTree>
    <p:extLst>
      <p:ext uri="{BB962C8B-B14F-4D97-AF65-F5344CB8AC3E}">
        <p14:creationId xmlns:p14="http://schemas.microsoft.com/office/powerpoint/2010/main" val="1454542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3"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999980-3A28-4123-6B5F-A6639B54C7DB}"/>
              </a:ext>
            </a:extLst>
          </p:cNvPr>
          <p:cNvSpPr>
            <a:spLocks noGrp="1"/>
          </p:cNvSpPr>
          <p:nvPr>
            <p:ph type="title"/>
          </p:nvPr>
        </p:nvSpPr>
        <p:spPr>
          <a:xfrm>
            <a:off x="123826" y="0"/>
            <a:ext cx="10515600" cy="1325563"/>
          </a:xfrm>
        </p:spPr>
        <p:txBody>
          <a:bodyPr/>
          <a:lstStyle/>
          <a:p>
            <a:r>
              <a:rPr lang="en-US" dirty="0"/>
              <a:t>Example 2</a:t>
            </a:r>
          </a:p>
        </p:txBody>
      </p:sp>
      <p:pic>
        <p:nvPicPr>
          <p:cNvPr id="4" name="Picture 3">
            <a:extLst>
              <a:ext uri="{FF2B5EF4-FFF2-40B4-BE49-F238E27FC236}">
                <a16:creationId xmlns:a16="http://schemas.microsoft.com/office/drawing/2014/main" id="{B6184E2F-3F7B-3505-BF47-FE3AF66852C1}"/>
              </a:ext>
            </a:extLst>
          </p:cNvPr>
          <p:cNvPicPr>
            <a:picLocks noChangeAspect="1"/>
          </p:cNvPicPr>
          <p:nvPr/>
        </p:nvPicPr>
        <p:blipFill>
          <a:blip r:embed="rId2"/>
          <a:stretch>
            <a:fillRect/>
          </a:stretch>
        </p:blipFill>
        <p:spPr>
          <a:xfrm>
            <a:off x="5772150" y="361950"/>
            <a:ext cx="6134100" cy="6134100"/>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EAE6825-F2D0-C0F3-DB57-99EC86F375A9}"/>
                  </a:ext>
                </a:extLst>
              </p:cNvPr>
              <p:cNvSpPr txBox="1"/>
              <p:nvPr/>
            </p:nvSpPr>
            <p:spPr>
              <a:xfrm>
                <a:off x="123826" y="1325563"/>
                <a:ext cx="5170341" cy="4057521"/>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Consider a rectangular-shaped piece of land that has been divided into 100 smaller rectangular units, each containing something of interest (e.g., trees, burrows, archaeological artifacts). </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A subset of 10 of those smaller units was selected and the number of objects in each of these units was counted.</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Population Size: </a:t>
                </a:r>
                <a14:m>
                  <m:oMath xmlns:m="http://schemas.openxmlformats.org/officeDocument/2006/math">
                    <m:r>
                      <a:rPr lang="en-US" sz="2000" b="0" i="1" smtClean="0">
                        <a:solidFill>
                          <a:prstClr val="black"/>
                        </a:solidFill>
                        <a:latin typeface="Cambria Math" panose="02040503050406030204" pitchFamily="18" charset="0"/>
                      </a:rPr>
                      <m:t>𝑁</m:t>
                    </m:r>
                    <m:r>
                      <a:rPr lang="en-US" sz="2000" b="0" i="1" smtClean="0">
                        <a:solidFill>
                          <a:prstClr val="black"/>
                        </a:solidFill>
                        <a:latin typeface="Cambria Math" panose="02040503050406030204" pitchFamily="18" charset="0"/>
                      </a:rPr>
                      <m:t>=100</m:t>
                    </m:r>
                  </m:oMath>
                </a14:m>
                <a:endParaRPr lang="it-IT"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it-IT" sz="2000" dirty="0">
                    <a:solidFill>
                      <a:prstClr val="black"/>
                    </a:solidFill>
                    <a:latin typeface="Calibri" panose="020F0502020204030204"/>
                  </a:rPr>
                  <a:t>Sample Size: </a:t>
                </a:r>
                <a14:m>
                  <m:oMath xmlns:m="http://schemas.openxmlformats.org/officeDocument/2006/math">
                    <m:r>
                      <a:rPr lang="en-US" sz="2000" b="0" i="1" smtClean="0">
                        <a:solidFill>
                          <a:prstClr val="black"/>
                        </a:solidFill>
                        <a:latin typeface="Cambria Math" panose="02040503050406030204" pitchFamily="18" charset="0"/>
                      </a:rPr>
                      <m:t>𝑛</m:t>
                    </m:r>
                    <m:r>
                      <a:rPr lang="en-US" sz="2000" b="0" i="1" smtClean="0">
                        <a:solidFill>
                          <a:prstClr val="black"/>
                        </a:solidFill>
                        <a:latin typeface="Cambria Math" panose="02040503050406030204" pitchFamily="18" charset="0"/>
                      </a:rPr>
                      <m:t>=10</m:t>
                    </m:r>
                  </m:oMath>
                </a14:m>
                <a:endParaRPr lang="it-IT" sz="2000" dirty="0">
                  <a:solidFill>
                    <a:prstClr val="black"/>
                  </a:solidFill>
                  <a:latin typeface="Calibri" panose="020F0502020204030204"/>
                </a:endParaRPr>
              </a:p>
            </p:txBody>
          </p:sp>
        </mc:Choice>
        <mc:Fallback xmlns="">
          <p:sp>
            <p:nvSpPr>
              <p:cNvPr id="5" name="TextBox 4">
                <a:extLst>
                  <a:ext uri="{FF2B5EF4-FFF2-40B4-BE49-F238E27FC236}">
                    <a16:creationId xmlns:a16="http://schemas.microsoft.com/office/drawing/2014/main" id="{FEAE6825-F2D0-C0F3-DB57-99EC86F375A9}"/>
                  </a:ext>
                </a:extLst>
              </p:cNvPr>
              <p:cNvSpPr txBox="1">
                <a:spLocks noRot="1" noChangeAspect="1" noMove="1" noResize="1" noEditPoints="1" noAdjustHandles="1" noChangeArrowheads="1" noChangeShapeType="1" noTextEdit="1"/>
              </p:cNvSpPr>
              <p:nvPr/>
            </p:nvSpPr>
            <p:spPr>
              <a:xfrm>
                <a:off x="123826" y="1325563"/>
                <a:ext cx="5170341" cy="4057521"/>
              </a:xfrm>
              <a:prstGeom prst="rect">
                <a:avLst/>
              </a:prstGeom>
              <a:blipFill>
                <a:blip r:embed="rId3"/>
                <a:stretch>
                  <a:fillRect l="-1179" t="-1502" r="-943" b="-1652"/>
                </a:stretch>
              </a:blipFill>
            </p:spPr>
            <p:txBody>
              <a:bodyPr/>
              <a:lstStyle/>
              <a:p>
                <a:r>
                  <a:rPr lang="en-US">
                    <a:noFill/>
                  </a:rPr>
                  <a:t> </a:t>
                </a:r>
              </a:p>
            </p:txBody>
          </p:sp>
        </mc:Fallback>
      </mc:AlternateContent>
    </p:spTree>
    <p:extLst>
      <p:ext uri="{BB962C8B-B14F-4D97-AF65-F5344CB8AC3E}">
        <p14:creationId xmlns:p14="http://schemas.microsoft.com/office/powerpoint/2010/main" val="31422036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202C6-B426-FF39-8BA0-28DB8640F72F}"/>
              </a:ext>
            </a:extLst>
          </p:cNvPr>
          <p:cNvSpPr>
            <a:spLocks noGrp="1"/>
          </p:cNvSpPr>
          <p:nvPr>
            <p:ph type="title"/>
          </p:nvPr>
        </p:nvSpPr>
        <p:spPr/>
        <p:txBody>
          <a:bodyPr>
            <a:normAutofit/>
          </a:bodyPr>
          <a:lstStyle/>
          <a:p>
            <a:r>
              <a:rPr lang="en-US" dirty="0"/>
              <a:t>Why is statistics so valuable?</a:t>
            </a:r>
          </a:p>
        </p:txBody>
      </p:sp>
      <p:sp>
        <p:nvSpPr>
          <p:cNvPr id="3" name="Content Placeholder 2">
            <a:extLst>
              <a:ext uri="{FF2B5EF4-FFF2-40B4-BE49-F238E27FC236}">
                <a16:creationId xmlns:a16="http://schemas.microsoft.com/office/drawing/2014/main" id="{CE8548C3-42AC-8F5F-B1D1-3FB65154EACF}"/>
              </a:ext>
            </a:extLst>
          </p:cNvPr>
          <p:cNvSpPr>
            <a:spLocks noGrp="1"/>
          </p:cNvSpPr>
          <p:nvPr>
            <p:ph idx="1"/>
          </p:nvPr>
        </p:nvSpPr>
        <p:spPr>
          <a:xfrm>
            <a:off x="838200" y="1600200"/>
            <a:ext cx="10515600" cy="4900000"/>
          </a:xfrm>
        </p:spPr>
        <p:txBody>
          <a:bodyPr/>
          <a:lstStyle/>
          <a:p>
            <a:r>
              <a:rPr lang="en-US" dirty="0"/>
              <a:t>As we said at the start: most of the time we can’t measure everyone or every unit in the population, and so we must limit our measurements to a sample.</a:t>
            </a:r>
          </a:p>
          <a:p>
            <a:pPr marL="0" indent="0">
              <a:buNone/>
            </a:pPr>
            <a:endParaRPr lang="en-US" dirty="0"/>
          </a:p>
          <a:p>
            <a:r>
              <a:rPr lang="en-US" dirty="0"/>
              <a:t>A central task in statistics is </a:t>
            </a:r>
            <a:r>
              <a:rPr lang="en-US" b="1" dirty="0"/>
              <a:t>estimation </a:t>
            </a:r>
            <a:r>
              <a:rPr lang="en-US" dirty="0"/>
              <a:t>– the process of inferring an unknown quantity about a population using a set of sample data.</a:t>
            </a:r>
          </a:p>
          <a:p>
            <a:pPr marL="0" indent="0">
              <a:buNone/>
            </a:pPr>
            <a:endParaRPr lang="en-US" dirty="0"/>
          </a:p>
          <a:p>
            <a:r>
              <a:rPr lang="en-US" dirty="0"/>
              <a:t>The tools for estimation let us approximate almost anything about a population </a:t>
            </a:r>
            <a:r>
              <a:rPr lang="en-US" b="1" dirty="0"/>
              <a:t>using only a well-chosen sample</a:t>
            </a:r>
            <a:r>
              <a:rPr lang="en-US" dirty="0"/>
              <a:t>.</a:t>
            </a:r>
          </a:p>
          <a:p>
            <a:pPr marL="0" indent="0">
              <a:spcBef>
                <a:spcPts val="1200"/>
              </a:spcBef>
              <a:buNone/>
            </a:pPr>
            <a:r>
              <a:rPr lang="en-US" sz="2400" b="1" dirty="0">
                <a:solidFill>
                  <a:srgbClr val="C00000"/>
                </a:solidFill>
              </a:rPr>
              <a:t>And they tell us how far off we are likely to be – which is what separates an estimate from a guess.</a:t>
            </a:r>
          </a:p>
        </p:txBody>
      </p:sp>
    </p:spTree>
    <p:extLst>
      <p:ext uri="{BB962C8B-B14F-4D97-AF65-F5344CB8AC3E}">
        <p14:creationId xmlns:p14="http://schemas.microsoft.com/office/powerpoint/2010/main" val="3769764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E852D-5E29-ED3F-20D1-56A2AB6EA303}"/>
              </a:ext>
            </a:extLst>
          </p:cNvPr>
          <p:cNvSpPr>
            <a:spLocks noGrp="1"/>
          </p:cNvSpPr>
          <p:nvPr>
            <p:ph type="title"/>
          </p:nvPr>
        </p:nvSpPr>
        <p:spPr/>
        <p:txBody>
          <a:bodyPr/>
          <a:lstStyle/>
          <a:p>
            <a:r>
              <a:rPr lang="en-US" dirty="0"/>
              <a:t>Where we can go with estimates </a:t>
            </a:r>
          </a:p>
        </p:txBody>
      </p:sp>
      <p:sp>
        <p:nvSpPr>
          <p:cNvPr id="3" name="Content Placeholder 2">
            <a:extLst>
              <a:ext uri="{FF2B5EF4-FFF2-40B4-BE49-F238E27FC236}">
                <a16:creationId xmlns:a16="http://schemas.microsoft.com/office/drawing/2014/main" id="{673CE5DD-7FA6-0BC3-575F-B61120EE33AE}"/>
              </a:ext>
            </a:extLst>
          </p:cNvPr>
          <p:cNvSpPr>
            <a:spLocks noGrp="1"/>
          </p:cNvSpPr>
          <p:nvPr>
            <p:ph idx="1"/>
          </p:nvPr>
        </p:nvSpPr>
        <p:spPr/>
        <p:txBody>
          <a:bodyPr/>
          <a:lstStyle/>
          <a:p>
            <a:r>
              <a:rPr lang="en-US" dirty="0"/>
              <a:t>With </a:t>
            </a:r>
            <a:r>
              <a:rPr lang="en-US" b="1" dirty="0"/>
              <a:t>estimates</a:t>
            </a:r>
            <a:r>
              <a:rPr lang="en-US" dirty="0"/>
              <a:t> we can </a:t>
            </a:r>
          </a:p>
          <a:p>
            <a:pPr lvl="1"/>
            <a:r>
              <a:rPr lang="en-US" dirty="0"/>
              <a:t>Assess differences among groups and relationships between variables.</a:t>
            </a:r>
          </a:p>
          <a:p>
            <a:pPr lvl="1"/>
            <a:endParaRPr lang="en-US" dirty="0"/>
          </a:p>
          <a:p>
            <a:pPr lvl="1"/>
            <a:r>
              <a:rPr lang="en-US" dirty="0"/>
              <a:t>Describe populations. Examples of estimates include averages, proportions, measures of variation, and measures of relationship.</a:t>
            </a:r>
          </a:p>
          <a:p>
            <a:pPr lvl="1"/>
            <a:endParaRPr lang="en-US" dirty="0"/>
          </a:p>
          <a:p>
            <a:pPr lvl="1"/>
            <a:r>
              <a:rPr lang="en-US" dirty="0"/>
              <a:t>Then we can ask and answer questions or formally, test and evaluate hypotheses.</a:t>
            </a:r>
          </a:p>
        </p:txBody>
      </p:sp>
    </p:spTree>
    <p:extLst>
      <p:ext uri="{BB962C8B-B14F-4D97-AF65-F5344CB8AC3E}">
        <p14:creationId xmlns:p14="http://schemas.microsoft.com/office/powerpoint/2010/main" val="19322966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80C86-D709-6FB8-5A19-C2314095D583}"/>
              </a:ext>
            </a:extLst>
          </p:cNvPr>
          <p:cNvSpPr>
            <a:spLocks noGrp="1"/>
          </p:cNvSpPr>
          <p:nvPr>
            <p:ph type="title"/>
          </p:nvPr>
        </p:nvSpPr>
        <p:spPr>
          <a:xfrm>
            <a:off x="713762" y="36014"/>
            <a:ext cx="10515600" cy="1325563"/>
          </a:xfrm>
        </p:spPr>
        <p:txBody>
          <a:bodyPr/>
          <a:lstStyle/>
          <a:p>
            <a:r>
              <a:rPr lang="en-US" dirty="0"/>
              <a:t>Statistics Vs Parameters</a:t>
            </a:r>
          </a:p>
        </p:txBody>
      </p:sp>
      <p:sp>
        <p:nvSpPr>
          <p:cNvPr id="4" name="TextBox 3">
            <a:extLst>
              <a:ext uri="{FF2B5EF4-FFF2-40B4-BE49-F238E27FC236}">
                <a16:creationId xmlns:a16="http://schemas.microsoft.com/office/drawing/2014/main" id="{D2296438-25B8-F629-7C3E-5050397B22AC}"/>
              </a:ext>
            </a:extLst>
          </p:cNvPr>
          <p:cNvSpPr txBox="1"/>
          <p:nvPr/>
        </p:nvSpPr>
        <p:spPr>
          <a:xfrm>
            <a:off x="306534" y="1612616"/>
            <a:ext cx="5724811" cy="3503523"/>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A </a:t>
            </a:r>
            <a:r>
              <a:rPr lang="en-US" sz="2000" b="1" dirty="0">
                <a:solidFill>
                  <a:prstClr val="black"/>
                </a:solidFill>
                <a:latin typeface="Calibri" panose="020F0502020204030204"/>
              </a:rPr>
              <a:t>statistic </a:t>
            </a:r>
            <a:r>
              <a:rPr lang="en-US" sz="2000" dirty="0">
                <a:solidFill>
                  <a:prstClr val="black"/>
                </a:solidFill>
                <a:latin typeface="Calibri" panose="020F0502020204030204"/>
              </a:rPr>
              <a:t>is a numerical characteristic of a </a:t>
            </a:r>
            <a:r>
              <a:rPr lang="en-US" sz="2000" b="1" dirty="0">
                <a:solidFill>
                  <a:prstClr val="black"/>
                </a:solidFill>
                <a:latin typeface="Calibri" panose="020F0502020204030204"/>
              </a:rPr>
              <a:t>sample </a:t>
            </a:r>
            <a:r>
              <a:rPr lang="en-US" sz="2000" dirty="0">
                <a:solidFill>
                  <a:prstClr val="black"/>
                </a:solidFill>
                <a:latin typeface="Calibri" panose="020F0502020204030204"/>
              </a:rPr>
              <a:t>that </a:t>
            </a:r>
            <a:r>
              <a:rPr lang="en-US" sz="2000" u="sng" dirty="0">
                <a:solidFill>
                  <a:prstClr val="black"/>
                </a:solidFill>
                <a:latin typeface="Calibri" panose="020F0502020204030204"/>
              </a:rPr>
              <a:t>estimates</a:t>
            </a:r>
            <a:r>
              <a:rPr lang="en-US" sz="2000" dirty="0">
                <a:solidFill>
                  <a:prstClr val="black"/>
                </a:solidFill>
                <a:latin typeface="Calibri" panose="020F0502020204030204"/>
              </a:rPr>
              <a:t> a population parameter. </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A </a:t>
            </a:r>
            <a:r>
              <a:rPr lang="en-US" sz="2000" b="1" dirty="0">
                <a:solidFill>
                  <a:prstClr val="black"/>
                </a:solidFill>
                <a:latin typeface="Calibri" panose="020F0502020204030204"/>
              </a:rPr>
              <a:t>parameter </a:t>
            </a:r>
            <a:r>
              <a:rPr lang="en-US" sz="2000" dirty="0">
                <a:solidFill>
                  <a:prstClr val="black"/>
                </a:solidFill>
                <a:latin typeface="Calibri" panose="020F0502020204030204"/>
              </a:rPr>
              <a:t>is a numerical characteristic of a </a:t>
            </a:r>
            <a:r>
              <a:rPr lang="en-US" sz="2000" b="1" dirty="0">
                <a:solidFill>
                  <a:prstClr val="black"/>
                </a:solidFill>
                <a:latin typeface="Calibri" panose="020F0502020204030204"/>
              </a:rPr>
              <a:t>population</a:t>
            </a:r>
            <a:r>
              <a:rPr lang="en-US" sz="2000" dirty="0">
                <a:solidFill>
                  <a:prstClr val="black"/>
                </a:solidFill>
                <a:latin typeface="Calibri" panose="020F0502020204030204"/>
              </a:rPr>
              <a:t> that can be estimated by a statistic. </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Put another way…</a:t>
            </a:r>
          </a:p>
          <a:p>
            <a:pPr>
              <a:lnSpc>
                <a:spcPct val="90000"/>
              </a:lnSpc>
              <a:spcBef>
                <a:spcPts val="1000"/>
              </a:spcBef>
              <a:defRPr/>
            </a:pPr>
            <a:r>
              <a:rPr lang="en-US" sz="2000" dirty="0">
                <a:solidFill>
                  <a:prstClr val="black"/>
                </a:solidFill>
                <a:latin typeface="Calibri" panose="020F0502020204030204"/>
              </a:rPr>
              <a:t>A </a:t>
            </a:r>
            <a:r>
              <a:rPr lang="en-US" sz="2000" b="1" dirty="0">
                <a:solidFill>
                  <a:prstClr val="black"/>
                </a:solidFill>
                <a:latin typeface="Calibri" panose="020F0502020204030204"/>
              </a:rPr>
              <a:t>statistic </a:t>
            </a:r>
            <a:r>
              <a:rPr lang="en-US" sz="2000" dirty="0">
                <a:solidFill>
                  <a:prstClr val="black"/>
                </a:solidFill>
                <a:latin typeface="Calibri" panose="020F0502020204030204"/>
              </a:rPr>
              <a:t>is a function of the observations of in a sample</a:t>
            </a:r>
            <a:r>
              <a:rPr lang="en-US" sz="2000" b="1" dirty="0">
                <a:solidFill>
                  <a:prstClr val="black"/>
                </a:solidFill>
                <a:latin typeface="Calibri" panose="020F0502020204030204"/>
              </a:rPr>
              <a:t> </a:t>
            </a:r>
            <a:r>
              <a:rPr lang="en-US" sz="2000" dirty="0">
                <a:solidFill>
                  <a:prstClr val="black"/>
                </a:solidFill>
                <a:latin typeface="Calibri" panose="020F0502020204030204"/>
              </a:rPr>
              <a:t>while a </a:t>
            </a:r>
            <a:r>
              <a:rPr lang="en-US" sz="2000" b="1" dirty="0">
                <a:solidFill>
                  <a:prstClr val="black"/>
                </a:solidFill>
                <a:latin typeface="Calibri" panose="020F0502020204030204"/>
              </a:rPr>
              <a:t>parameter</a:t>
            </a:r>
            <a:r>
              <a:rPr lang="en-US" sz="2000" dirty="0">
                <a:solidFill>
                  <a:prstClr val="black"/>
                </a:solidFill>
                <a:latin typeface="Calibri" panose="020F0502020204030204"/>
              </a:rPr>
              <a:t> is a function </a:t>
            </a:r>
            <a:r>
              <a:rPr lang="en-US" sz="2000" u="sng" dirty="0">
                <a:solidFill>
                  <a:prstClr val="black"/>
                </a:solidFill>
                <a:latin typeface="Calibri" panose="020F0502020204030204"/>
              </a:rPr>
              <a:t>of all </a:t>
            </a:r>
            <a:r>
              <a:rPr lang="en-US" sz="2000" dirty="0">
                <a:solidFill>
                  <a:prstClr val="black"/>
                </a:solidFill>
                <a:latin typeface="Calibri" panose="020F0502020204030204"/>
              </a:rPr>
              <a:t> observations in the population. </a:t>
            </a:r>
          </a:p>
        </p:txBody>
      </p:sp>
      <p:grpSp>
        <p:nvGrpSpPr>
          <p:cNvPr id="17" name="Group 16">
            <a:extLst>
              <a:ext uri="{FF2B5EF4-FFF2-40B4-BE49-F238E27FC236}">
                <a16:creationId xmlns:a16="http://schemas.microsoft.com/office/drawing/2014/main" id="{AC20C494-1B6D-BA41-770E-9E0DE44AF074}"/>
              </a:ext>
            </a:extLst>
          </p:cNvPr>
          <p:cNvGrpSpPr/>
          <p:nvPr/>
        </p:nvGrpSpPr>
        <p:grpSpPr>
          <a:xfrm>
            <a:off x="6080138" y="1988893"/>
            <a:ext cx="5901408" cy="1325563"/>
            <a:chOff x="1468570" y="4512292"/>
            <a:chExt cx="7820443" cy="1980583"/>
          </a:xfrm>
        </p:grpSpPr>
        <p:pic>
          <p:nvPicPr>
            <p:cNvPr id="5" name="Picture 4" descr="A video game screen with a yellow and black striped tape&#10;&#10;Description automatically generated">
              <a:extLst>
                <a:ext uri="{FF2B5EF4-FFF2-40B4-BE49-F238E27FC236}">
                  <a16:creationId xmlns:a16="http://schemas.microsoft.com/office/drawing/2014/main" id="{7B95BDDE-37EC-DD34-A267-54326770025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3721075" y="5167312"/>
              <a:ext cx="3082705" cy="1325563"/>
            </a:xfrm>
            <a:prstGeom prst="rect">
              <a:avLst/>
            </a:prstGeom>
          </p:spPr>
        </p:pic>
        <p:sp>
          <p:nvSpPr>
            <p:cNvPr id="14" name="TextBox 13">
              <a:extLst>
                <a:ext uri="{FF2B5EF4-FFF2-40B4-BE49-F238E27FC236}">
                  <a16:creationId xmlns:a16="http://schemas.microsoft.com/office/drawing/2014/main" id="{1BFF80E6-7311-2B72-F3AB-3B087616E762}"/>
                </a:ext>
              </a:extLst>
            </p:cNvPr>
            <p:cNvSpPr txBox="1"/>
            <p:nvPr/>
          </p:nvSpPr>
          <p:spPr>
            <a:xfrm>
              <a:off x="1468570" y="4556598"/>
              <a:ext cx="1257075" cy="523220"/>
            </a:xfrm>
            <a:prstGeom prst="rect">
              <a:avLst/>
            </a:prstGeom>
            <a:noFill/>
          </p:spPr>
          <p:txBody>
            <a:bodyPr wrap="none" rtlCol="0">
              <a:spAutoFit/>
            </a:bodyPr>
            <a:lstStyle/>
            <a:p>
              <a:r>
                <a:rPr lang="en-US" sz="2800" dirty="0"/>
                <a:t>Sample</a:t>
              </a:r>
            </a:p>
          </p:txBody>
        </p:sp>
        <p:pic>
          <p:nvPicPr>
            <p:cNvPr id="9" name="Picture 8" descr="A blue cylinder with three layers&#10;&#10;Description automatically generated">
              <a:extLst>
                <a:ext uri="{FF2B5EF4-FFF2-40B4-BE49-F238E27FC236}">
                  <a16:creationId xmlns:a16="http://schemas.microsoft.com/office/drawing/2014/main" id="{F3A78266-9762-7A4E-A26E-7743C43437F8}"/>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flipH="1">
              <a:off x="1674812" y="5245384"/>
              <a:ext cx="914612" cy="1104900"/>
            </a:xfrm>
            <a:prstGeom prst="rect">
              <a:avLst/>
            </a:prstGeom>
          </p:spPr>
        </p:pic>
        <p:sp>
          <p:nvSpPr>
            <p:cNvPr id="10" name="TextBox 9">
              <a:extLst>
                <a:ext uri="{FF2B5EF4-FFF2-40B4-BE49-F238E27FC236}">
                  <a16:creationId xmlns:a16="http://schemas.microsoft.com/office/drawing/2014/main" id="{D8C0FC19-9DD1-5A1C-9E96-A5DA070246AB}"/>
                </a:ext>
              </a:extLst>
            </p:cNvPr>
            <p:cNvSpPr txBox="1"/>
            <p:nvPr/>
          </p:nvSpPr>
          <p:spPr>
            <a:xfrm>
              <a:off x="7652905" y="5245384"/>
              <a:ext cx="1011815" cy="769441"/>
            </a:xfrm>
            <a:prstGeom prst="rect">
              <a:avLst/>
            </a:prstGeom>
            <a:noFill/>
          </p:spPr>
          <p:txBody>
            <a:bodyPr wrap="none" rtlCol="0">
              <a:spAutoFit/>
            </a:bodyPr>
            <a:lstStyle/>
            <a:p>
              <a:r>
                <a:rPr lang="en-US" sz="4400" dirty="0">
                  <a:latin typeface="Algerian" panose="04020705040A02060702" pitchFamily="82" charset="0"/>
                </a:rPr>
                <a:t>7.8</a:t>
              </a:r>
            </a:p>
          </p:txBody>
        </p:sp>
        <p:sp>
          <p:nvSpPr>
            <p:cNvPr id="11" name="TextBox 10">
              <a:extLst>
                <a:ext uri="{FF2B5EF4-FFF2-40B4-BE49-F238E27FC236}">
                  <a16:creationId xmlns:a16="http://schemas.microsoft.com/office/drawing/2014/main" id="{8013F433-F62F-72E7-CCCD-6BC478CC428A}"/>
                </a:ext>
              </a:extLst>
            </p:cNvPr>
            <p:cNvSpPr txBox="1"/>
            <p:nvPr/>
          </p:nvSpPr>
          <p:spPr>
            <a:xfrm>
              <a:off x="4598879" y="4538996"/>
              <a:ext cx="1327095" cy="523220"/>
            </a:xfrm>
            <a:prstGeom prst="rect">
              <a:avLst/>
            </a:prstGeom>
            <a:noFill/>
          </p:spPr>
          <p:txBody>
            <a:bodyPr wrap="none" rtlCol="0">
              <a:spAutoFit/>
            </a:bodyPr>
            <a:lstStyle/>
            <a:p>
              <a:r>
                <a:rPr lang="en-US" sz="2800" dirty="0"/>
                <a:t>Statistic</a:t>
              </a:r>
            </a:p>
          </p:txBody>
        </p:sp>
        <p:sp>
          <p:nvSpPr>
            <p:cNvPr id="12" name="Arrow: Right 11">
              <a:extLst>
                <a:ext uri="{FF2B5EF4-FFF2-40B4-BE49-F238E27FC236}">
                  <a16:creationId xmlns:a16="http://schemas.microsoft.com/office/drawing/2014/main" id="{CE648ED7-B244-B76E-25B5-2AEBAE5BDF13}"/>
                </a:ext>
              </a:extLst>
            </p:cNvPr>
            <p:cNvSpPr/>
            <p:nvPr/>
          </p:nvSpPr>
          <p:spPr>
            <a:xfrm>
              <a:off x="3000375" y="5410200"/>
              <a:ext cx="720700" cy="4762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9BCA37C5-5C48-6C8D-E916-E5E009B3B53E}"/>
                </a:ext>
              </a:extLst>
            </p:cNvPr>
            <p:cNvSpPr/>
            <p:nvPr/>
          </p:nvSpPr>
          <p:spPr>
            <a:xfrm>
              <a:off x="6803780" y="5410200"/>
              <a:ext cx="720700" cy="4762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FB810C0-6923-DFD0-5FAC-1B6D041B9ADB}"/>
                </a:ext>
              </a:extLst>
            </p:cNvPr>
            <p:cNvSpPr txBox="1"/>
            <p:nvPr/>
          </p:nvSpPr>
          <p:spPr>
            <a:xfrm>
              <a:off x="7557654" y="4512292"/>
              <a:ext cx="1731359" cy="680103"/>
            </a:xfrm>
            <a:prstGeom prst="rect">
              <a:avLst/>
            </a:prstGeom>
            <a:noFill/>
          </p:spPr>
          <p:txBody>
            <a:bodyPr wrap="none" rtlCol="0">
              <a:spAutoFit/>
            </a:bodyPr>
            <a:lstStyle/>
            <a:p>
              <a:r>
                <a:rPr lang="en-US" sz="2800" dirty="0"/>
                <a:t>estimate</a:t>
              </a:r>
            </a:p>
          </p:txBody>
        </p:sp>
      </p:grpSp>
      <p:grpSp>
        <p:nvGrpSpPr>
          <p:cNvPr id="3" name="Group 2">
            <a:extLst>
              <a:ext uri="{FF2B5EF4-FFF2-40B4-BE49-F238E27FC236}">
                <a16:creationId xmlns:a16="http://schemas.microsoft.com/office/drawing/2014/main" id="{8CBD6E19-51A2-FBB2-9330-09AFC3FBA50C}"/>
              </a:ext>
            </a:extLst>
          </p:cNvPr>
          <p:cNvGrpSpPr/>
          <p:nvPr/>
        </p:nvGrpSpPr>
        <p:grpSpPr>
          <a:xfrm>
            <a:off x="5847359" y="4470665"/>
            <a:ext cx="5999184" cy="1361876"/>
            <a:chOff x="1043730" y="4458035"/>
            <a:chExt cx="7950014" cy="2034840"/>
          </a:xfrm>
        </p:grpSpPr>
        <p:pic>
          <p:nvPicPr>
            <p:cNvPr id="6" name="Picture 5" descr="A video game screen with a yellow and black striped tape&#10;&#10;Description automatically generated">
              <a:extLst>
                <a:ext uri="{FF2B5EF4-FFF2-40B4-BE49-F238E27FC236}">
                  <a16:creationId xmlns:a16="http://schemas.microsoft.com/office/drawing/2014/main" id="{38A716E5-ACAC-2B97-AA07-7BF7A5B25FE0}"/>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3721075" y="5167312"/>
              <a:ext cx="3082705" cy="1325563"/>
            </a:xfrm>
            <a:prstGeom prst="rect">
              <a:avLst/>
            </a:prstGeom>
          </p:spPr>
        </p:pic>
        <p:sp>
          <p:nvSpPr>
            <p:cNvPr id="7" name="TextBox 6">
              <a:extLst>
                <a:ext uri="{FF2B5EF4-FFF2-40B4-BE49-F238E27FC236}">
                  <a16:creationId xmlns:a16="http://schemas.microsoft.com/office/drawing/2014/main" id="{1263FF8F-92B3-D123-FB2C-47BB74D5591E}"/>
                </a:ext>
              </a:extLst>
            </p:cNvPr>
            <p:cNvSpPr txBox="1"/>
            <p:nvPr/>
          </p:nvSpPr>
          <p:spPr>
            <a:xfrm>
              <a:off x="1043730" y="4538995"/>
              <a:ext cx="2333809" cy="781766"/>
            </a:xfrm>
            <a:prstGeom prst="rect">
              <a:avLst/>
            </a:prstGeom>
            <a:noFill/>
          </p:spPr>
          <p:txBody>
            <a:bodyPr wrap="none" rtlCol="0">
              <a:spAutoFit/>
            </a:bodyPr>
            <a:lstStyle/>
            <a:p>
              <a:r>
                <a:rPr lang="en-US" sz="2800" dirty="0"/>
                <a:t>Population</a:t>
              </a:r>
            </a:p>
          </p:txBody>
        </p:sp>
        <p:pic>
          <p:nvPicPr>
            <p:cNvPr id="8" name="Picture 7" descr="A blue cylinder with three layers&#10;&#10;Description automatically generated">
              <a:extLst>
                <a:ext uri="{FF2B5EF4-FFF2-40B4-BE49-F238E27FC236}">
                  <a16:creationId xmlns:a16="http://schemas.microsoft.com/office/drawing/2014/main" id="{4D3D10D1-96A9-D71C-2EC1-D63F4BB9E164}"/>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flipH="1">
              <a:off x="1674812" y="5245384"/>
              <a:ext cx="914612" cy="1104901"/>
            </a:xfrm>
            <a:prstGeom prst="rect">
              <a:avLst/>
            </a:prstGeom>
          </p:spPr>
        </p:pic>
        <p:sp>
          <p:nvSpPr>
            <p:cNvPr id="16" name="TextBox 15">
              <a:extLst>
                <a:ext uri="{FF2B5EF4-FFF2-40B4-BE49-F238E27FC236}">
                  <a16:creationId xmlns:a16="http://schemas.microsoft.com/office/drawing/2014/main" id="{2BF0E88E-80E8-CE5A-07EA-9E53111EC853}"/>
                </a:ext>
              </a:extLst>
            </p:cNvPr>
            <p:cNvSpPr txBox="1"/>
            <p:nvPr/>
          </p:nvSpPr>
          <p:spPr>
            <a:xfrm>
              <a:off x="7652904" y="5245384"/>
              <a:ext cx="1340840" cy="1149656"/>
            </a:xfrm>
            <a:prstGeom prst="rect">
              <a:avLst/>
            </a:prstGeom>
            <a:noFill/>
          </p:spPr>
          <p:txBody>
            <a:bodyPr wrap="none" rtlCol="0">
              <a:spAutoFit/>
            </a:bodyPr>
            <a:lstStyle/>
            <a:p>
              <a:r>
                <a:rPr lang="en-US" sz="4400" dirty="0">
                  <a:latin typeface="Algerian" panose="04020705040A02060702" pitchFamily="82" charset="0"/>
                </a:rPr>
                <a:t>8.2</a:t>
              </a:r>
            </a:p>
          </p:txBody>
        </p:sp>
        <p:sp>
          <p:nvSpPr>
            <p:cNvPr id="18" name="TextBox 17">
              <a:extLst>
                <a:ext uri="{FF2B5EF4-FFF2-40B4-BE49-F238E27FC236}">
                  <a16:creationId xmlns:a16="http://schemas.microsoft.com/office/drawing/2014/main" id="{AD720B74-3587-8C00-2FD2-DA391F3047A7}"/>
                </a:ext>
              </a:extLst>
            </p:cNvPr>
            <p:cNvSpPr txBox="1"/>
            <p:nvPr/>
          </p:nvSpPr>
          <p:spPr>
            <a:xfrm>
              <a:off x="4315437" y="4458035"/>
              <a:ext cx="2260650" cy="781767"/>
            </a:xfrm>
            <a:prstGeom prst="rect">
              <a:avLst/>
            </a:prstGeom>
            <a:noFill/>
          </p:spPr>
          <p:txBody>
            <a:bodyPr wrap="none" rtlCol="0">
              <a:spAutoFit/>
            </a:bodyPr>
            <a:lstStyle/>
            <a:p>
              <a:r>
                <a:rPr lang="en-US" sz="2800" dirty="0"/>
                <a:t>Parameter</a:t>
              </a:r>
            </a:p>
          </p:txBody>
        </p:sp>
        <p:sp>
          <p:nvSpPr>
            <p:cNvPr id="19" name="Arrow: Right 18">
              <a:extLst>
                <a:ext uri="{FF2B5EF4-FFF2-40B4-BE49-F238E27FC236}">
                  <a16:creationId xmlns:a16="http://schemas.microsoft.com/office/drawing/2014/main" id="{DC1F96E2-1B02-8ACC-F6F0-4005BB576575}"/>
                </a:ext>
              </a:extLst>
            </p:cNvPr>
            <p:cNvSpPr/>
            <p:nvPr/>
          </p:nvSpPr>
          <p:spPr>
            <a:xfrm>
              <a:off x="3000375" y="5410200"/>
              <a:ext cx="720700" cy="4762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Right 19">
              <a:extLst>
                <a:ext uri="{FF2B5EF4-FFF2-40B4-BE49-F238E27FC236}">
                  <a16:creationId xmlns:a16="http://schemas.microsoft.com/office/drawing/2014/main" id="{1C3D577E-54EE-C4FE-C703-4A8C6EFE9C9E}"/>
                </a:ext>
              </a:extLst>
            </p:cNvPr>
            <p:cNvSpPr/>
            <p:nvPr/>
          </p:nvSpPr>
          <p:spPr>
            <a:xfrm>
              <a:off x="6803780" y="5410200"/>
              <a:ext cx="720700" cy="4762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F481E2F-F5A1-517B-0585-5AC0439AD5CE}"/>
                </a:ext>
              </a:extLst>
            </p:cNvPr>
            <p:cNvSpPr txBox="1"/>
            <p:nvPr/>
          </p:nvSpPr>
          <p:spPr>
            <a:xfrm>
              <a:off x="7557654" y="4512292"/>
              <a:ext cx="1310081" cy="781766"/>
            </a:xfrm>
            <a:prstGeom prst="rect">
              <a:avLst/>
            </a:prstGeom>
            <a:noFill/>
          </p:spPr>
          <p:txBody>
            <a:bodyPr wrap="none" rtlCol="0">
              <a:spAutoFit/>
            </a:bodyPr>
            <a:lstStyle/>
            <a:p>
              <a:r>
                <a:rPr lang="en-US" sz="2800" dirty="0"/>
                <a:t>Value</a:t>
              </a:r>
            </a:p>
          </p:txBody>
        </p:sp>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4D2E981-3963-6DDF-6554-98473E5A09D2}"/>
                  </a:ext>
                </a:extLst>
              </p:cNvPr>
              <p:cNvSpPr txBox="1"/>
              <p:nvPr/>
            </p:nvSpPr>
            <p:spPr>
              <a:xfrm>
                <a:off x="6411455" y="3224276"/>
                <a:ext cx="335605" cy="492443"/>
              </a:xfrm>
              <a:prstGeom prst="rect">
                <a:avLst/>
              </a:prstGeom>
              <a:noFill/>
            </p:spPr>
            <p:txBody>
              <a:bodyPr wrap="none" lIns="0" tIns="0" rIns="0" bIns="0" rtlCol="0">
                <a:spAutoFit/>
              </a:bodyPr>
              <a:lstStyle/>
              <a:p>
                <a:pPr/>
                <a14:m>
                  <m:oMathPara xmlns:m="http://schemas.openxmlformats.org/officeDocument/2006/math">
                    <m:oMath>
                      <m:r>
                        <a:rPr lang="en-US" sz="3200" b="0" i="1" smtClean="0">
                          <a:latin typeface="Cambria Math" panose="02040503050406030204" pitchFamily="18" charset="0"/>
                        </a:rPr>
                        <m:t>𝑛</m:t>
                      </m:r>
                    </m:oMath>
                  </m:oMathPara>
                </a14:m>
                <a:endParaRPr lang="en-US" sz="3200" dirty="0"/>
              </a:p>
            </p:txBody>
          </p:sp>
        </mc:Choice>
        <mc:Fallback xmlns="">
          <p:sp>
            <p:nvSpPr>
              <p:cNvPr id="22" name="TextBox 21">
                <a:extLst>
                  <a:ext uri="{FF2B5EF4-FFF2-40B4-BE49-F238E27FC236}">
                    <a16:creationId xmlns:a16="http://schemas.microsoft.com/office/drawing/2014/main" id="{94D2E981-3963-6DDF-6554-98473E5A09D2}"/>
                  </a:ext>
                </a:extLst>
              </p:cNvPr>
              <p:cNvSpPr txBox="1">
                <a:spLocks noRot="1" noChangeAspect="1" noMove="1" noResize="1" noEditPoints="1" noAdjustHandles="1" noChangeArrowheads="1" noChangeShapeType="1" noTextEdit="1"/>
              </p:cNvSpPr>
              <p:nvPr/>
            </p:nvSpPr>
            <p:spPr>
              <a:xfrm>
                <a:off x="6411455" y="3224276"/>
                <a:ext cx="335605" cy="4924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A8A5DF8-FAD4-CE59-0BCB-8033D194CD80}"/>
                  </a:ext>
                </a:extLst>
              </p:cNvPr>
              <p:cNvSpPr txBox="1"/>
              <p:nvPr/>
            </p:nvSpPr>
            <p:spPr>
              <a:xfrm>
                <a:off x="6525448" y="5702664"/>
                <a:ext cx="404341" cy="492443"/>
              </a:xfrm>
              <a:prstGeom prst="rect">
                <a:avLst/>
              </a:prstGeom>
              <a:noFill/>
            </p:spPr>
            <p:txBody>
              <a:bodyPr wrap="none" lIns="0" tIns="0" rIns="0" bIns="0" rtlCol="0">
                <a:spAutoFit/>
              </a:bodyPr>
              <a:lstStyle/>
              <a:p>
                <a:pPr/>
                <a14:m>
                  <m:oMathPara xmlns:m="http://schemas.openxmlformats.org/officeDocument/2006/math">
                    <m:oMath>
                      <m:r>
                        <a:rPr lang="en-US" sz="3200" b="0" i="1" smtClean="0">
                          <a:latin typeface="Cambria Math" panose="02040503050406030204" pitchFamily="18" charset="0"/>
                        </a:rPr>
                        <m:t>𝑁</m:t>
                      </m:r>
                    </m:oMath>
                  </m:oMathPara>
                </a14:m>
                <a:endParaRPr lang="en-US" sz="3200" dirty="0"/>
              </a:p>
            </p:txBody>
          </p:sp>
        </mc:Choice>
        <mc:Fallback xmlns="">
          <p:sp>
            <p:nvSpPr>
              <p:cNvPr id="23" name="TextBox 22">
                <a:extLst>
                  <a:ext uri="{FF2B5EF4-FFF2-40B4-BE49-F238E27FC236}">
                    <a16:creationId xmlns:a16="http://schemas.microsoft.com/office/drawing/2014/main" id="{4A8A5DF8-FAD4-CE59-0BCB-8033D194CD80}"/>
                  </a:ext>
                </a:extLst>
              </p:cNvPr>
              <p:cNvSpPr txBox="1">
                <a:spLocks noRot="1" noChangeAspect="1" noMove="1" noResize="1" noEditPoints="1" noAdjustHandles="1" noChangeArrowheads="1" noChangeShapeType="1" noTextEdit="1"/>
              </p:cNvSpPr>
              <p:nvPr/>
            </p:nvSpPr>
            <p:spPr>
              <a:xfrm>
                <a:off x="6525448" y="5702664"/>
                <a:ext cx="404341" cy="492443"/>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386216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80C86-D709-6FB8-5A19-C2314095D583}"/>
              </a:ext>
            </a:extLst>
          </p:cNvPr>
          <p:cNvSpPr>
            <a:spLocks noGrp="1"/>
          </p:cNvSpPr>
          <p:nvPr>
            <p:ph type="title"/>
          </p:nvPr>
        </p:nvSpPr>
        <p:spPr>
          <a:xfrm>
            <a:off x="713762" y="36014"/>
            <a:ext cx="10515600" cy="1325563"/>
          </a:xfrm>
        </p:spPr>
        <p:txBody>
          <a:bodyPr/>
          <a:lstStyle/>
          <a:p>
            <a:r>
              <a:rPr lang="en-US" dirty="0"/>
              <a:t>Mean and Proportion </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2296438-25B8-F629-7C3E-5050397B22AC}"/>
                  </a:ext>
                </a:extLst>
              </p:cNvPr>
              <p:cNvSpPr txBox="1"/>
              <p:nvPr/>
            </p:nvSpPr>
            <p:spPr>
              <a:xfrm>
                <a:off x="306534" y="1612616"/>
                <a:ext cx="7359648" cy="4446858"/>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A </a:t>
                </a:r>
                <a:r>
                  <a:rPr lang="en-US" sz="2000" b="1" dirty="0">
                    <a:solidFill>
                      <a:prstClr val="black"/>
                    </a:solidFill>
                    <a:latin typeface="Calibri" panose="020F0502020204030204"/>
                  </a:rPr>
                  <a:t>proportion </a:t>
                </a:r>
                <a:r>
                  <a:rPr lang="en-US" sz="2000" dirty="0">
                    <a:solidFill>
                      <a:prstClr val="black"/>
                    </a:solidFill>
                    <a:latin typeface="Calibri" panose="020F0502020204030204"/>
                  </a:rPr>
                  <a:t>describes the fraction of a whole that represent some property or category. Usually, it is expressed a percentage. </a:t>
                </a:r>
              </a:p>
              <a:p>
                <a:pPr marR="0" lvl="0" algn="l" defTabSz="914400" rtl="0" eaLnBrk="1" fontAlgn="auto" latinLnBrk="0" hangingPunct="1">
                  <a:lnSpc>
                    <a:spcPct val="90000"/>
                  </a:lnSpc>
                  <a:spcBef>
                    <a:spcPts val="1000"/>
                  </a:spcBef>
                  <a:spcAft>
                    <a:spcPts val="0"/>
                  </a:spcAft>
                  <a:buClrTx/>
                  <a:buSzTx/>
                  <a:tabLst/>
                  <a:defRPr/>
                </a:pPr>
                <a:r>
                  <a:rPr lang="en-US" dirty="0">
                    <a:solidFill>
                      <a:prstClr val="black"/>
                    </a:solidFill>
                    <a:latin typeface="Calibri" panose="020F0502020204030204"/>
                  </a:rPr>
                  <a:t>Notation: </a:t>
                </a:r>
              </a:p>
              <a:p>
                <a:pPr marR="0" lvl="0" algn="l" defTabSz="914400" rtl="0" eaLnBrk="1" fontAlgn="auto" latinLnBrk="0" hangingPunct="1">
                  <a:lnSpc>
                    <a:spcPct val="90000"/>
                  </a:lnSpc>
                  <a:spcBef>
                    <a:spcPts val="1000"/>
                  </a:spcBef>
                  <a:spcAft>
                    <a:spcPts val="0"/>
                  </a:spcAft>
                  <a:buClrTx/>
                  <a:buSzTx/>
                  <a:tabLst/>
                  <a:defRPr/>
                </a:pPr>
                <a14:m>
                  <m:oMath xmlns:m="http://schemas.openxmlformats.org/officeDocument/2006/math">
                    <m:acc>
                      <m:accPr>
                        <m:chr m:val="̂"/>
                        <m:ctrlPr>
                          <a:rPr lang="en-US" b="0" i="1" smtClean="0">
                            <a:solidFill>
                              <a:prstClr val="black"/>
                            </a:solidFill>
                            <a:latin typeface="Cambria Math" panose="02040503050406030204" pitchFamily="18" charset="0"/>
                          </a:rPr>
                        </m:ctrlPr>
                      </m:accPr>
                      <m:e>
                        <m:r>
                          <a:rPr lang="en-US" b="0" i="1" smtClean="0">
                            <a:solidFill>
                              <a:prstClr val="black"/>
                            </a:solidFill>
                            <a:latin typeface="Cambria Math" panose="02040503050406030204" pitchFamily="18" charset="0"/>
                          </a:rPr>
                          <m:t>𝑝</m:t>
                        </m:r>
                      </m:e>
                    </m:acc>
                  </m:oMath>
                </a14:m>
                <a:r>
                  <a:rPr lang="en-US" dirty="0">
                    <a:solidFill>
                      <a:prstClr val="black"/>
                    </a:solidFill>
                    <a:latin typeface="Calibri" panose="020F0502020204030204"/>
                  </a:rPr>
                  <a:t> - denotes the sample proportion </a:t>
                </a:r>
              </a:p>
              <a:p>
                <a:pPr marR="0" lvl="0" algn="l" defTabSz="914400" rtl="0" eaLnBrk="1" fontAlgn="auto" latinLnBrk="0" hangingPunct="1">
                  <a:lnSpc>
                    <a:spcPct val="90000"/>
                  </a:lnSpc>
                  <a:spcBef>
                    <a:spcPts val="1000"/>
                  </a:spcBef>
                  <a:spcAft>
                    <a:spcPts val="0"/>
                  </a:spcAft>
                  <a:buClrTx/>
                  <a:buSzTx/>
                  <a:tabLst/>
                  <a:defRPr/>
                </a:pPr>
                <a14:m>
                  <m:oMath xmlns:m="http://schemas.openxmlformats.org/officeDocument/2006/math">
                    <m:r>
                      <a:rPr lang="en-US" b="0" i="1" smtClean="0">
                        <a:solidFill>
                          <a:prstClr val="black"/>
                        </a:solidFill>
                        <a:latin typeface="Cambria Math" panose="02040503050406030204" pitchFamily="18" charset="0"/>
                      </a:rPr>
                      <m:t>𝑝</m:t>
                    </m:r>
                  </m:oMath>
                </a14:m>
                <a:r>
                  <a:rPr lang="en-US" dirty="0">
                    <a:solidFill>
                      <a:prstClr val="black"/>
                    </a:solidFill>
                    <a:latin typeface="Calibri" panose="020F0502020204030204"/>
                  </a:rPr>
                  <a:t> - denotes the population proportion </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The </a:t>
                </a:r>
                <a:r>
                  <a:rPr lang="en-US" sz="2000" u="sng" dirty="0">
                    <a:solidFill>
                      <a:prstClr val="black"/>
                    </a:solidFill>
                    <a:latin typeface="Calibri" panose="020F0502020204030204"/>
                  </a:rPr>
                  <a:t>arithmetic</a:t>
                </a:r>
                <a:r>
                  <a:rPr lang="en-US" sz="2000" dirty="0">
                    <a:solidFill>
                      <a:prstClr val="black"/>
                    </a:solidFill>
                    <a:latin typeface="Calibri" panose="020F0502020204030204"/>
                  </a:rPr>
                  <a:t> </a:t>
                </a:r>
                <a:r>
                  <a:rPr lang="en-US" sz="2000" b="1" dirty="0">
                    <a:solidFill>
                      <a:prstClr val="black"/>
                    </a:solidFill>
                    <a:latin typeface="Calibri" panose="020F0502020204030204"/>
                  </a:rPr>
                  <a:t>mean </a:t>
                </a:r>
                <a:r>
                  <a:rPr lang="en-US" sz="2000" dirty="0">
                    <a:solidFill>
                      <a:prstClr val="black"/>
                    </a:solidFill>
                    <a:latin typeface="Calibri" panose="020F0502020204030204"/>
                  </a:rPr>
                  <a:t>is the center of a set of data (we often use the words mean and average interchangeably)</a:t>
                </a:r>
              </a:p>
              <a:p>
                <a:pPr marR="0" lvl="0" algn="l" defTabSz="914400" rtl="0" eaLnBrk="1" fontAlgn="auto" latinLnBrk="0" hangingPunct="1">
                  <a:lnSpc>
                    <a:spcPct val="90000"/>
                  </a:lnSpc>
                  <a:spcBef>
                    <a:spcPts val="1000"/>
                  </a:spcBef>
                  <a:spcAft>
                    <a:spcPts val="0"/>
                  </a:spcAft>
                  <a:buClrTx/>
                  <a:buSzTx/>
                  <a:tabLst/>
                  <a:defRPr/>
                </a:pPr>
                <a:r>
                  <a:rPr lang="en-US" dirty="0">
                    <a:solidFill>
                      <a:prstClr val="black"/>
                    </a:solidFill>
                    <a:latin typeface="Calibri" panose="020F0502020204030204"/>
                  </a:rPr>
                  <a:t>Notation:</a:t>
                </a:r>
              </a:p>
              <a:p>
                <a:pPr marR="0" lvl="0" algn="l" defTabSz="914400" rtl="0" eaLnBrk="1" fontAlgn="auto" latinLnBrk="0" hangingPunct="1">
                  <a:lnSpc>
                    <a:spcPct val="90000"/>
                  </a:lnSpc>
                  <a:spcBef>
                    <a:spcPts val="1000"/>
                  </a:spcBef>
                  <a:spcAft>
                    <a:spcPts val="0"/>
                  </a:spcAft>
                  <a:buClrTx/>
                  <a:buSzTx/>
                  <a:tabLst/>
                  <a:defRPr/>
                </a:pPr>
                <a14:m>
                  <m:oMath xmlns:m="http://schemas.openxmlformats.org/officeDocument/2006/math">
                    <m:acc>
                      <m:accPr>
                        <m:chr m:val="̅"/>
                        <m:ctrlPr>
                          <a:rPr lang="en-US" sz="2000" b="0" i="1" smtClean="0">
                            <a:solidFill>
                              <a:prstClr val="black"/>
                            </a:solidFill>
                            <a:latin typeface="Cambria Math" panose="02040503050406030204" pitchFamily="18" charset="0"/>
                          </a:rPr>
                        </m:ctrlPr>
                      </m:accPr>
                      <m:e>
                        <m:r>
                          <a:rPr lang="en-US" sz="2000" b="0" i="1" smtClean="0">
                            <a:solidFill>
                              <a:prstClr val="black"/>
                            </a:solidFill>
                            <a:latin typeface="Cambria Math" panose="02040503050406030204" pitchFamily="18" charset="0"/>
                          </a:rPr>
                          <m:t>𝑥</m:t>
                        </m:r>
                      </m:e>
                    </m:acc>
                    <m:r>
                      <a:rPr lang="en-US" sz="2000" b="0" i="1" smtClean="0">
                        <a:solidFill>
                          <a:prstClr val="black"/>
                        </a:solidFill>
                        <a:latin typeface="Cambria Math" panose="02040503050406030204" pitchFamily="18" charset="0"/>
                      </a:rPr>
                      <m:t> </m:t>
                    </m:r>
                  </m:oMath>
                </a14:m>
                <a:r>
                  <a:rPr lang="en-US" dirty="0">
                    <a:solidFill>
                      <a:prstClr val="black"/>
                    </a:solidFill>
                    <a:latin typeface="Calibri" panose="020F0502020204030204"/>
                  </a:rPr>
                  <a:t> - denotes the mean of a sample</a:t>
                </a:r>
              </a:p>
              <a:p>
                <a:pPr marR="0" lvl="0" algn="l" defTabSz="914400" rtl="0" eaLnBrk="1" fontAlgn="auto" latinLnBrk="0" hangingPunct="1">
                  <a:lnSpc>
                    <a:spcPct val="90000"/>
                  </a:lnSpc>
                  <a:spcBef>
                    <a:spcPts val="1000"/>
                  </a:spcBef>
                  <a:spcAft>
                    <a:spcPts val="0"/>
                  </a:spcAft>
                  <a:buClrTx/>
                  <a:buSzTx/>
                  <a:tabLst/>
                  <a:defRPr/>
                </a:pPr>
                <a14:m>
                  <m:oMath xmlns:m="http://schemas.openxmlformats.org/officeDocument/2006/math">
                    <m:r>
                      <a:rPr lang="en-US" sz="2000" i="1" smtClean="0">
                        <a:solidFill>
                          <a:prstClr val="black"/>
                        </a:solidFill>
                        <a:latin typeface="Cambria Math" panose="02040503050406030204" pitchFamily="18" charset="0"/>
                        <a:ea typeface="Cambria Math" panose="02040503050406030204" pitchFamily="18" charset="0"/>
                      </a:rPr>
                      <m:t>𝜇</m:t>
                    </m:r>
                  </m:oMath>
                </a14:m>
                <a:r>
                  <a:rPr lang="en-US" dirty="0">
                    <a:solidFill>
                      <a:prstClr val="black"/>
                    </a:solidFill>
                    <a:latin typeface="Calibri" panose="020F0502020204030204"/>
                  </a:rPr>
                  <a:t> – denotes the mean of a population (</a:t>
                </a:r>
                <a:r>
                  <a:rPr lang="en-US" dirty="0" err="1">
                    <a:solidFill>
                      <a:prstClr val="black"/>
                    </a:solidFill>
                    <a:latin typeface="Calibri" panose="020F0502020204030204"/>
                  </a:rPr>
                  <a:t>i.e</a:t>
                </a:r>
                <a:r>
                  <a:rPr lang="en-US" dirty="0">
                    <a:solidFill>
                      <a:prstClr val="black"/>
                    </a:solidFill>
                    <a:latin typeface="Calibri" panose="020F0502020204030204"/>
                  </a:rPr>
                  <a:t> the population parameter)</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p:txBody>
          </p:sp>
        </mc:Choice>
        <mc:Fallback xmlns="">
          <p:sp>
            <p:nvSpPr>
              <p:cNvPr id="4" name="TextBox 3">
                <a:extLst>
                  <a:ext uri="{FF2B5EF4-FFF2-40B4-BE49-F238E27FC236}">
                    <a16:creationId xmlns:a16="http://schemas.microsoft.com/office/drawing/2014/main" id="{D2296438-25B8-F629-7C3E-5050397B22AC}"/>
                  </a:ext>
                </a:extLst>
              </p:cNvPr>
              <p:cNvSpPr txBox="1">
                <a:spLocks noRot="1" noChangeAspect="1" noMove="1" noResize="1" noEditPoints="1" noAdjustHandles="1" noChangeArrowheads="1" noChangeShapeType="1" noTextEdit="1"/>
              </p:cNvSpPr>
              <p:nvPr/>
            </p:nvSpPr>
            <p:spPr>
              <a:xfrm>
                <a:off x="306534" y="1612616"/>
                <a:ext cx="7359648" cy="4446858"/>
              </a:xfrm>
              <a:prstGeom prst="rect">
                <a:avLst/>
              </a:prstGeom>
              <a:blipFill>
                <a:blip r:embed="rId2"/>
                <a:stretch>
                  <a:fillRect l="-828" t="-1509"/>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9966B947-10CA-1974-768E-4FC5ACDF8AED}"/>
              </a:ext>
            </a:extLst>
          </p:cNvPr>
          <p:cNvSpPr txBox="1"/>
          <p:nvPr/>
        </p:nvSpPr>
        <p:spPr>
          <a:xfrm>
            <a:off x="6894345" y="2786441"/>
            <a:ext cx="4089245" cy="677108"/>
          </a:xfrm>
          <a:prstGeom prst="rect">
            <a:avLst/>
          </a:prstGeom>
          <a:noFill/>
        </p:spPr>
        <p:txBody>
          <a:bodyPr wrap="square" lIns="0" tIns="0" rIns="0" bIns="0" rtlCol="0">
            <a:spAutoFit/>
          </a:bodyPr>
          <a:lstStyle/>
          <a:p>
            <a:endParaRPr lang="en-US" sz="1600" b="0" i="1" dirty="0">
              <a:latin typeface="Cambria Math" panose="02040503050406030204" pitchFamily="18" charset="0"/>
            </a:endParaRPr>
          </a:p>
          <a:p>
            <a:endParaRPr lang="en-US" sz="28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5FEBCC2-104E-6C7B-C843-FA5D73CAE221}"/>
                  </a:ext>
                </a:extLst>
              </p:cNvPr>
              <p:cNvSpPr txBox="1"/>
              <p:nvPr/>
            </p:nvSpPr>
            <p:spPr>
              <a:xfrm>
                <a:off x="8244147" y="4293093"/>
                <a:ext cx="3092706" cy="1554656"/>
              </a:xfrm>
              <a:prstGeom prst="rect">
                <a:avLst/>
              </a:prstGeom>
              <a:noFill/>
            </p:spPr>
            <p:txBody>
              <a:bodyPr wrap="none" lIns="0" tIns="0" rIns="0" bIns="0" rtlCol="0">
                <a:spAutoFit/>
              </a:bodyPr>
              <a:lstStyle/>
              <a:p>
                <a:pPr/>
                <a14:m>
                  <m:oMathPara xmlns:m="http://schemas.openxmlformats.org/officeDocument/2006/math">
                    <m:o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𝑥</m:t>
                          </m:r>
                        </m:e>
                      </m:acc>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𝑛</m:t>
                          </m:r>
                        </m:den>
                      </m:f>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a:rPr lang="en-US" sz="2000" b="0" i="1" smtClean="0">
                              <a:latin typeface="Cambria Math" panose="02040503050406030204" pitchFamily="18" charset="0"/>
                            </a:rPr>
                            <m:t>=1</m:t>
                          </m:r>
                        </m:sub>
                        <m:sup>
                          <m:r>
                            <a:rPr lang="en-US" sz="2000" b="0" i="1" smtClean="0">
                              <a:latin typeface="Cambria Math" panose="02040503050406030204" pitchFamily="18" charset="0"/>
                            </a:rPr>
                            <m:t>𝑛</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𝑖</m:t>
                              </m:r>
                            </m:sub>
                          </m:sSub>
                        </m:e>
                      </m:nary>
                    </m:oMath>
                  </m:oMathPara>
                </a14:m>
                <a:endParaRPr lang="en-US" sz="2000" b="0" dirty="0"/>
              </a:p>
              <a:p>
                <a:endParaRPr lang="en-US" sz="1600" i="1" dirty="0">
                  <a:latin typeface="Cambria Math" panose="02040503050406030204" pitchFamily="18" charset="0"/>
                </a:endParaRPr>
              </a:p>
              <a:p>
                <a:pPr/>
                <a14:m>
                  <m:oMathPara xmlns:m="http://schemas.openxmlformats.org/officeDocument/2006/math">
                    <m:oMath>
                      <m:acc>
                        <m:accPr>
                          <m:chr m:val="̂"/>
                          <m:ctrlPr>
                            <a:rPr lang="en-US" sz="1600" b="0" i="1" smtClean="0">
                              <a:latin typeface="Cambria Math" panose="02040503050406030204" pitchFamily="18" charset="0"/>
                            </a:rPr>
                          </m:ctrlPr>
                        </m:accPr>
                        <m:e>
                          <m:r>
                            <a:rPr lang="en-US" sz="1600" b="0" i="1" smtClean="0">
                              <a:latin typeface="Cambria Math" panose="02040503050406030204" pitchFamily="18" charset="0"/>
                            </a:rPr>
                            <m:t>𝑝</m:t>
                          </m:r>
                        </m:e>
                      </m:acc>
                      <m:r>
                        <a:rPr lang="en-US" sz="1600" b="0" i="1" smtClean="0">
                          <a:latin typeface="Cambria Math" panose="02040503050406030204" pitchFamily="18" charset="0"/>
                        </a:rPr>
                        <m:t>=</m:t>
                      </m:r>
                      <m:f>
                        <m:fPr>
                          <m:ctrlPr>
                            <a:rPr lang="en-US" sz="1600" b="0" i="0" smtClean="0">
                              <a:latin typeface="Cambria Math" panose="02040503050406030204" pitchFamily="18" charset="0"/>
                            </a:rPr>
                          </m:ctrlPr>
                        </m:fPr>
                        <m:num>
                          <m:r>
                            <m:rPr>
                              <m:sty m:val="p"/>
                            </m:rPr>
                            <a:rPr lang="en-US" sz="1600" b="0" i="0" smtClean="0">
                              <a:latin typeface="Cambria Math" panose="02040503050406030204" pitchFamily="18" charset="0"/>
                            </a:rPr>
                            <m:t>Number</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of</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objects</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in</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category</m:t>
                          </m:r>
                        </m:num>
                        <m:den>
                          <m:r>
                            <a:rPr lang="en-US" sz="1600" b="0" i="1" smtClean="0">
                              <a:latin typeface="Cambria Math" panose="02040503050406030204" pitchFamily="18" charset="0"/>
                            </a:rPr>
                            <m:t>𝑛</m:t>
                          </m:r>
                        </m:den>
                      </m:f>
                    </m:oMath>
                  </m:oMathPara>
                </a14:m>
                <a:endParaRPr lang="en-US" sz="2800" dirty="0"/>
              </a:p>
            </p:txBody>
          </p:sp>
        </mc:Choice>
        <mc:Fallback xmlns="">
          <p:sp>
            <p:nvSpPr>
              <p:cNvPr id="8" name="TextBox 7">
                <a:extLst>
                  <a:ext uri="{FF2B5EF4-FFF2-40B4-BE49-F238E27FC236}">
                    <a16:creationId xmlns:a16="http://schemas.microsoft.com/office/drawing/2014/main" id="{05FEBCC2-104E-6C7B-C843-FA5D73CAE221}"/>
                  </a:ext>
                </a:extLst>
              </p:cNvPr>
              <p:cNvSpPr txBox="1">
                <a:spLocks noRot="1" noChangeAspect="1" noMove="1" noResize="1" noEditPoints="1" noAdjustHandles="1" noChangeArrowheads="1" noChangeShapeType="1" noTextEdit="1"/>
              </p:cNvSpPr>
              <p:nvPr/>
            </p:nvSpPr>
            <p:spPr>
              <a:xfrm>
                <a:off x="8244147" y="4293093"/>
                <a:ext cx="3092706" cy="155465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733D296-CE0C-8B9E-040E-8C52B2653FEC}"/>
                  </a:ext>
                </a:extLst>
              </p:cNvPr>
              <p:cNvSpPr txBox="1"/>
              <p:nvPr/>
            </p:nvSpPr>
            <p:spPr>
              <a:xfrm>
                <a:off x="7955493" y="1034969"/>
                <a:ext cx="3092706" cy="1579856"/>
              </a:xfrm>
              <a:prstGeom prst="rect">
                <a:avLst/>
              </a:prstGeom>
              <a:noFill/>
            </p:spPr>
            <p:txBody>
              <a:bodyPr wrap="none" lIns="0" tIns="0" rIns="0" bIns="0" rtlCol="0">
                <a:spAutoFit/>
              </a:bodyPr>
              <a:lstStyle/>
              <a:p>
                <a:pPr/>
                <a14:m>
                  <m:oMathPara xmlns:m="http://schemas.openxmlformats.org/officeDocument/2006/math">
                    <m:oMath>
                      <m:r>
                        <a:rPr lang="en-US" sz="2000" b="0" i="1" smtClean="0">
                          <a:latin typeface="Cambria Math" panose="02040503050406030204" pitchFamily="18" charset="0"/>
                          <a:ea typeface="Cambria Math" panose="02040503050406030204" pitchFamily="18" charset="0"/>
                        </a:rPr>
                        <m:t>𝜇</m:t>
                      </m:r>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𝑁</m:t>
                          </m:r>
                        </m:den>
                      </m:f>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a:rPr lang="en-US" sz="2000" b="0" i="1" smtClean="0">
                              <a:latin typeface="Cambria Math" panose="02040503050406030204" pitchFamily="18" charset="0"/>
                            </a:rPr>
                            <m:t>=1</m:t>
                          </m:r>
                        </m:sub>
                        <m:sup>
                          <m:r>
                            <a:rPr lang="en-US" sz="2000" b="0" i="1" smtClean="0">
                              <a:latin typeface="Cambria Math" panose="02040503050406030204" pitchFamily="18" charset="0"/>
                            </a:rPr>
                            <m:t>𝑁</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𝑖</m:t>
                              </m:r>
                            </m:sub>
                          </m:sSub>
                        </m:e>
                      </m:nary>
                    </m:oMath>
                  </m:oMathPara>
                </a14:m>
                <a:endParaRPr lang="en-US" sz="2000" b="0" dirty="0"/>
              </a:p>
              <a:p>
                <a:endParaRPr lang="en-US" sz="1600" b="0" i="1" dirty="0">
                  <a:latin typeface="Cambria Math" panose="02040503050406030204" pitchFamily="18" charset="0"/>
                </a:endParaRPr>
              </a:p>
              <a:p>
                <a:pPr/>
                <a14:m>
                  <m:oMathPara xmlns:m="http://schemas.openxmlformats.org/officeDocument/2006/math">
                    <m:oMath>
                      <m:r>
                        <a:rPr lang="en-US" sz="1600" b="0" i="1" smtClean="0">
                          <a:latin typeface="Cambria Math" panose="02040503050406030204" pitchFamily="18" charset="0"/>
                        </a:rPr>
                        <m:t>𝑝</m:t>
                      </m:r>
                      <m:r>
                        <a:rPr lang="en-US" sz="1600" i="1">
                          <a:latin typeface="Cambria Math" panose="02040503050406030204" pitchFamily="18" charset="0"/>
                        </a:rPr>
                        <m:t>=</m:t>
                      </m:r>
                      <m:f>
                        <m:fPr>
                          <m:ctrlPr>
                            <a:rPr lang="en-US" sz="1600">
                              <a:latin typeface="Cambria Math" panose="02040503050406030204" pitchFamily="18" charset="0"/>
                            </a:rPr>
                          </m:ctrlPr>
                        </m:fPr>
                        <m:num>
                          <m:r>
                            <m:rPr>
                              <m:sty m:val="p"/>
                            </m:rPr>
                            <a:rPr lang="en-US" sz="1600">
                              <a:latin typeface="Cambria Math" panose="02040503050406030204" pitchFamily="18" charset="0"/>
                            </a:rPr>
                            <m:t>Number</m:t>
                          </m:r>
                          <m:r>
                            <a:rPr lang="en-US" sz="1600">
                              <a:latin typeface="Cambria Math" panose="02040503050406030204" pitchFamily="18" charset="0"/>
                            </a:rPr>
                            <m:t> </m:t>
                          </m:r>
                          <m:r>
                            <m:rPr>
                              <m:sty m:val="p"/>
                            </m:rPr>
                            <a:rPr lang="en-US" sz="1600">
                              <a:latin typeface="Cambria Math" panose="02040503050406030204" pitchFamily="18" charset="0"/>
                            </a:rPr>
                            <m:t>of</m:t>
                          </m:r>
                          <m:r>
                            <a:rPr lang="en-US" sz="1600">
                              <a:latin typeface="Cambria Math" panose="02040503050406030204" pitchFamily="18" charset="0"/>
                            </a:rPr>
                            <m:t> </m:t>
                          </m:r>
                          <m:r>
                            <m:rPr>
                              <m:sty m:val="p"/>
                            </m:rPr>
                            <a:rPr lang="en-US" sz="1600">
                              <a:latin typeface="Cambria Math" panose="02040503050406030204" pitchFamily="18" charset="0"/>
                            </a:rPr>
                            <m:t>objects</m:t>
                          </m:r>
                          <m:r>
                            <a:rPr lang="en-US" sz="1600">
                              <a:latin typeface="Cambria Math" panose="02040503050406030204" pitchFamily="18" charset="0"/>
                            </a:rPr>
                            <m:t> </m:t>
                          </m:r>
                          <m:r>
                            <m:rPr>
                              <m:sty m:val="p"/>
                            </m:rPr>
                            <a:rPr lang="en-US" sz="1600">
                              <a:latin typeface="Cambria Math" panose="02040503050406030204" pitchFamily="18" charset="0"/>
                            </a:rPr>
                            <m:t>in</m:t>
                          </m:r>
                          <m:r>
                            <a:rPr lang="en-US" sz="1600">
                              <a:latin typeface="Cambria Math" panose="02040503050406030204" pitchFamily="18" charset="0"/>
                            </a:rPr>
                            <m:t> </m:t>
                          </m:r>
                          <m:r>
                            <m:rPr>
                              <m:sty m:val="p"/>
                            </m:rPr>
                            <a:rPr lang="en-US" sz="1600">
                              <a:latin typeface="Cambria Math" panose="02040503050406030204" pitchFamily="18" charset="0"/>
                            </a:rPr>
                            <m:t>category</m:t>
                          </m:r>
                        </m:num>
                        <m:den>
                          <m:r>
                            <a:rPr lang="en-US" sz="1600" b="0" i="1" smtClean="0">
                              <a:latin typeface="Cambria Math" panose="02040503050406030204" pitchFamily="18" charset="0"/>
                            </a:rPr>
                            <m:t>𝑁</m:t>
                          </m:r>
                        </m:den>
                      </m:f>
                    </m:oMath>
                  </m:oMathPara>
                </a14:m>
                <a:endParaRPr lang="en-US" sz="2800" dirty="0"/>
              </a:p>
            </p:txBody>
          </p:sp>
        </mc:Choice>
        <mc:Fallback xmlns="">
          <p:sp>
            <p:nvSpPr>
              <p:cNvPr id="9" name="TextBox 8">
                <a:extLst>
                  <a:ext uri="{FF2B5EF4-FFF2-40B4-BE49-F238E27FC236}">
                    <a16:creationId xmlns:a16="http://schemas.microsoft.com/office/drawing/2014/main" id="{B733D296-CE0C-8B9E-040E-8C52B2653FEC}"/>
                  </a:ext>
                </a:extLst>
              </p:cNvPr>
              <p:cNvSpPr txBox="1">
                <a:spLocks noRot="1" noChangeAspect="1" noMove="1" noResize="1" noEditPoints="1" noAdjustHandles="1" noChangeArrowheads="1" noChangeShapeType="1" noTextEdit="1"/>
              </p:cNvSpPr>
              <p:nvPr/>
            </p:nvSpPr>
            <p:spPr>
              <a:xfrm>
                <a:off x="7955493" y="1034969"/>
                <a:ext cx="3092706" cy="1579856"/>
              </a:xfrm>
              <a:prstGeom prst="rect">
                <a:avLst/>
              </a:prstGeom>
              <a:blipFill>
                <a:blip r:embed="rId4"/>
                <a:stretch>
                  <a:fillRect/>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BDBBFD04-48B7-49DB-CB8D-875BD6D1005B}"/>
              </a:ext>
            </a:extLst>
          </p:cNvPr>
          <p:cNvSpPr txBox="1"/>
          <p:nvPr/>
        </p:nvSpPr>
        <p:spPr>
          <a:xfrm>
            <a:off x="9208738" y="544179"/>
            <a:ext cx="1163524" cy="369332"/>
          </a:xfrm>
          <a:prstGeom prst="rect">
            <a:avLst/>
          </a:prstGeom>
          <a:noFill/>
        </p:spPr>
        <p:txBody>
          <a:bodyPr wrap="none" rtlCol="0">
            <a:spAutoFit/>
          </a:bodyPr>
          <a:lstStyle/>
          <a:p>
            <a:r>
              <a:rPr lang="en-US" dirty="0"/>
              <a:t>Parameter</a:t>
            </a:r>
          </a:p>
        </p:txBody>
      </p:sp>
      <p:sp>
        <p:nvSpPr>
          <p:cNvPr id="11" name="TextBox 10">
            <a:extLst>
              <a:ext uri="{FF2B5EF4-FFF2-40B4-BE49-F238E27FC236}">
                <a16:creationId xmlns:a16="http://schemas.microsoft.com/office/drawing/2014/main" id="{E2F259E1-1347-CBCF-28DF-A34EDFD10CC8}"/>
              </a:ext>
            </a:extLst>
          </p:cNvPr>
          <p:cNvSpPr txBox="1"/>
          <p:nvPr/>
        </p:nvSpPr>
        <p:spPr>
          <a:xfrm>
            <a:off x="9331624" y="3866527"/>
            <a:ext cx="917752" cy="369332"/>
          </a:xfrm>
          <a:prstGeom prst="rect">
            <a:avLst/>
          </a:prstGeom>
          <a:noFill/>
        </p:spPr>
        <p:txBody>
          <a:bodyPr wrap="none" rtlCol="0">
            <a:spAutoFit/>
          </a:bodyPr>
          <a:lstStyle/>
          <a:p>
            <a:r>
              <a:rPr lang="en-US" dirty="0"/>
              <a:t>Statistic</a:t>
            </a:r>
          </a:p>
        </p:txBody>
      </p:sp>
    </p:spTree>
    <p:extLst>
      <p:ext uri="{BB962C8B-B14F-4D97-AF65-F5344CB8AC3E}">
        <p14:creationId xmlns:p14="http://schemas.microsoft.com/office/powerpoint/2010/main" val="6676147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9A765-E82A-A046-FB51-3BB63AADC3FD}"/>
              </a:ext>
            </a:extLst>
          </p:cNvPr>
          <p:cNvSpPr>
            <a:spLocks noGrp="1"/>
          </p:cNvSpPr>
          <p:nvPr>
            <p:ph type="title"/>
          </p:nvPr>
        </p:nvSpPr>
        <p:spPr>
          <a:xfrm>
            <a:off x="572493" y="238539"/>
            <a:ext cx="11018520" cy="1434415"/>
          </a:xfrm>
        </p:spPr>
        <p:txBody>
          <a:bodyPr anchor="b">
            <a:normAutofit/>
          </a:bodyPr>
          <a:lstStyle/>
          <a:p>
            <a:r>
              <a:rPr lang="en-US" sz="5400"/>
              <a:t>Example: Gallup Poll</a:t>
            </a:r>
          </a:p>
        </p:txBody>
      </p:sp>
      <p:sp>
        <p:nvSpPr>
          <p:cNvPr id="3" name="Content Placeholder 2">
            <a:extLst>
              <a:ext uri="{FF2B5EF4-FFF2-40B4-BE49-F238E27FC236}">
                <a16:creationId xmlns:a16="http://schemas.microsoft.com/office/drawing/2014/main" id="{98F68FD7-59F0-F2AD-9F4E-8CCEE48246DD}"/>
              </a:ext>
            </a:extLst>
          </p:cNvPr>
          <p:cNvSpPr>
            <a:spLocks noGrp="1"/>
          </p:cNvSpPr>
          <p:nvPr>
            <p:ph idx="1"/>
          </p:nvPr>
        </p:nvSpPr>
        <p:spPr>
          <a:xfrm>
            <a:off x="572493" y="1905000"/>
            <a:ext cx="6713552" cy="4572000"/>
          </a:xfrm>
        </p:spPr>
        <p:txBody>
          <a:bodyPr anchor="t">
            <a:normAutofit fontScale="92500" lnSpcReduction="10000"/>
          </a:bodyPr>
          <a:lstStyle/>
          <a:p>
            <a:r>
              <a:rPr lang="en-US" sz="1900" dirty="0"/>
              <a:t>On April 20, 2010, one of the worst environmental disasters took place in the Gulf of Mexico when the Deepwater Horizon offshore oil rig exploded. </a:t>
            </a:r>
          </a:p>
          <a:p>
            <a:r>
              <a:rPr lang="en-US" sz="1900" dirty="0"/>
              <a:t>In response to the spill, many activists called for an end to offshore drilling. Almost nine months later, turbulence in the Middle East pushed the price of oil to an all-time high.</a:t>
            </a:r>
          </a:p>
          <a:p>
            <a:r>
              <a:rPr lang="en-US" sz="1900" dirty="0"/>
              <a:t>In March 2011, Gallup conducted a survey and found that 60% of Americans favored offshore drilling as a means to reduce U.S. dependence on foreign oil.</a:t>
            </a:r>
          </a:p>
          <a:p>
            <a:r>
              <a:rPr lang="en-US" sz="1900" dirty="0"/>
              <a:t>The poll interviewed 1,021 adults aged 18 and older in the continental U.S., selected by random digit dialing.</a:t>
            </a:r>
          </a:p>
          <a:p>
            <a:r>
              <a:rPr lang="en-US" sz="1900" b="1" dirty="0"/>
              <a:t>What is the population, and what parameter is being estimated?</a:t>
            </a:r>
          </a:p>
          <a:p>
            <a:pPr marL="342900" indent="0">
              <a:buNone/>
            </a:pPr>
            <a:r>
              <a:rPr lang="en-US" sz="1900" dirty="0">
                <a:solidFill>
                  <a:srgbClr val="FF0000"/>
                </a:solidFill>
              </a:rPr>
              <a:t>All adults 18 and older in the continental U.S.; the parameter is p, the true proportion of them who favor offshore drilling.</a:t>
            </a:r>
          </a:p>
          <a:p>
            <a:pPr marL="342900" indent="-342900"/>
            <a:r>
              <a:rPr lang="en-US" sz="1900" b="1" dirty="0"/>
              <a:t>What is the sample, and what is the statistic?</a:t>
            </a:r>
          </a:p>
          <a:p>
            <a:pPr marL="342900" indent="0">
              <a:buNone/>
            </a:pPr>
            <a:r>
              <a:rPr lang="en-US" sz="1900" dirty="0">
                <a:solidFill>
                  <a:srgbClr val="FF0000"/>
                </a:solidFill>
              </a:rPr>
              <a:t>The 1,021 adults interviewed (n = 1,021); the statistic is p̂ = 0.60.</a:t>
            </a:r>
          </a:p>
        </p:txBody>
      </p:sp>
      <p:pic>
        <p:nvPicPr>
          <p:cNvPr id="5" name="Picture 4" descr="A fire on the water&#10;&#10;Description automatically generated">
            <a:extLst>
              <a:ext uri="{FF2B5EF4-FFF2-40B4-BE49-F238E27FC236}">
                <a16:creationId xmlns:a16="http://schemas.microsoft.com/office/drawing/2014/main" id="{5ECC1A06-0FDF-AF1C-F302-54F0D101450F}"/>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6004" r="29882" b="2"/>
          <a:stretch/>
        </p:blipFill>
        <p:spPr>
          <a:xfrm>
            <a:off x="7675658" y="2093976"/>
            <a:ext cx="3941064" cy="4096512"/>
          </a:xfrm>
          <a:prstGeom prst="rect">
            <a:avLst/>
          </a:prstGeom>
        </p:spPr>
      </p:pic>
    </p:spTree>
    <p:extLst>
      <p:ext uri="{BB962C8B-B14F-4D97-AF65-F5344CB8AC3E}">
        <p14:creationId xmlns:p14="http://schemas.microsoft.com/office/powerpoint/2010/main" val="766630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86237-4243-8211-7D8B-060A4905D97A}"/>
              </a:ext>
            </a:extLst>
          </p:cNvPr>
          <p:cNvSpPr>
            <a:spLocks noGrp="1"/>
          </p:cNvSpPr>
          <p:nvPr>
            <p:ph type="title"/>
          </p:nvPr>
        </p:nvSpPr>
        <p:spPr/>
        <p:txBody>
          <a:bodyPr/>
          <a:lstStyle/>
          <a:p>
            <a:r>
              <a:rPr lang="en-US" dirty="0"/>
              <a:t>Descriptive Vs. Inferential Statistics</a:t>
            </a:r>
          </a:p>
        </p:txBody>
      </p:sp>
      <p:sp>
        <p:nvSpPr>
          <p:cNvPr id="3" name="Content Placeholder 2">
            <a:extLst>
              <a:ext uri="{FF2B5EF4-FFF2-40B4-BE49-F238E27FC236}">
                <a16:creationId xmlns:a16="http://schemas.microsoft.com/office/drawing/2014/main" id="{FCF9A727-72B2-F2D5-7FAD-7C45ED71A2D8}"/>
              </a:ext>
            </a:extLst>
          </p:cNvPr>
          <p:cNvSpPr>
            <a:spLocks noGrp="1"/>
          </p:cNvSpPr>
          <p:nvPr>
            <p:ph idx="1"/>
          </p:nvPr>
        </p:nvSpPr>
        <p:spPr>
          <a:xfrm>
            <a:off x="838200" y="1825625"/>
            <a:ext cx="10448636" cy="4351338"/>
          </a:xfrm>
        </p:spPr>
        <p:txBody>
          <a:bodyPr>
            <a:normAutofit/>
          </a:bodyPr>
          <a:lstStyle/>
          <a:p>
            <a:pPr marL="457200" indent="-457200">
              <a:buFont typeface="+mj-lt"/>
              <a:buAutoNum type="arabicPeriod"/>
            </a:pPr>
            <a:r>
              <a:rPr lang="en-US" sz="2400" b="1" dirty="0"/>
              <a:t>Design </a:t>
            </a:r>
            <a:r>
              <a:rPr lang="en-US" sz="2400" dirty="0"/>
              <a:t>– The process/method in which we plan to collect data to answer our statistical question</a:t>
            </a:r>
            <a:endParaRPr lang="en-US" sz="2400" b="1" dirty="0"/>
          </a:p>
          <a:p>
            <a:pPr marL="457200" indent="-457200">
              <a:buFont typeface="+mj-lt"/>
              <a:buAutoNum type="arabicPeriod"/>
            </a:pPr>
            <a:endParaRPr lang="en-US" sz="2400" b="1" dirty="0"/>
          </a:p>
          <a:p>
            <a:pPr marL="457200" indent="-457200">
              <a:buFont typeface="+mj-lt"/>
              <a:buAutoNum type="arabicPeriod"/>
            </a:pPr>
            <a:r>
              <a:rPr lang="en-US" sz="2400" b="1" dirty="0"/>
              <a:t>Descriptive Statistics – </a:t>
            </a:r>
            <a:r>
              <a:rPr lang="en-US" sz="2400" dirty="0"/>
              <a:t>refers to describing the observations in a sample using statistics or a population using parameters</a:t>
            </a:r>
          </a:p>
          <a:p>
            <a:pPr marL="914400" lvl="1" indent="-457200">
              <a:buFont typeface="+mj-lt"/>
              <a:buAutoNum type="arabicPeriod"/>
            </a:pPr>
            <a:r>
              <a:rPr lang="en-US" sz="2000" dirty="0"/>
              <a:t>- collection, organization, summarization and visualization of data</a:t>
            </a:r>
          </a:p>
          <a:p>
            <a:pPr marL="914400" lvl="1" indent="-457200">
              <a:buFont typeface="+mj-lt"/>
              <a:buAutoNum type="arabicPeriod"/>
            </a:pPr>
            <a:endParaRPr lang="en-US" sz="2000" b="1" dirty="0"/>
          </a:p>
          <a:p>
            <a:pPr marL="457200" indent="-457200">
              <a:buFont typeface="+mj-lt"/>
              <a:buAutoNum type="arabicPeriod"/>
            </a:pPr>
            <a:r>
              <a:rPr lang="en-US" sz="2400" b="1" dirty="0"/>
              <a:t>Inferential Statistics </a:t>
            </a:r>
            <a:r>
              <a:rPr lang="en-US" sz="2400" dirty="0"/>
              <a:t>(or statistical inference) – refers to using a sample (usually a statistic) to answer a question about a population (such as estimating the value of a parameter)</a:t>
            </a:r>
          </a:p>
          <a:p>
            <a:pPr marL="457200" lvl="1" indent="0">
              <a:buNone/>
            </a:pPr>
            <a:r>
              <a:rPr lang="en-US" sz="2000" dirty="0"/>
              <a:t>- estimation, hypothesis testing, determining relationships among variables, prediction</a:t>
            </a:r>
            <a:endParaRPr lang="en-US" sz="2000" b="1" dirty="0"/>
          </a:p>
        </p:txBody>
      </p:sp>
    </p:spTree>
    <p:extLst>
      <p:ext uri="{BB962C8B-B14F-4D97-AF65-F5344CB8AC3E}">
        <p14:creationId xmlns:p14="http://schemas.microsoft.com/office/powerpoint/2010/main" val="39654586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8EA67-A8E4-C324-904F-73383B5DAA1E}"/>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dirty="0">
                <a:solidFill>
                  <a:srgbClr val="FFFFFF"/>
                </a:solidFill>
                <a:latin typeface="+mj-lt"/>
                <a:ea typeface="+mj-ea"/>
                <a:cs typeface="+mj-cs"/>
              </a:rPr>
              <a:t>The Big Picture</a:t>
            </a:r>
          </a:p>
        </p:txBody>
      </p:sp>
      <p:pic>
        <p:nvPicPr>
          <p:cNvPr id="7" name="Picture 6">
            <a:extLst>
              <a:ext uri="{FF2B5EF4-FFF2-40B4-BE49-F238E27FC236}">
                <a16:creationId xmlns:a16="http://schemas.microsoft.com/office/drawing/2014/main" id="{391ACF48-62FF-638F-4559-954D25EA1C34}"/>
              </a:ext>
            </a:extLst>
          </p:cNvPr>
          <p:cNvPicPr>
            <a:picLocks noChangeAspect="1"/>
          </p:cNvPicPr>
          <p:nvPr/>
        </p:nvPicPr>
        <p:blipFill>
          <a:blip r:embed="rId2"/>
          <a:stretch>
            <a:fillRect/>
          </a:stretch>
        </p:blipFill>
        <p:spPr>
          <a:xfrm>
            <a:off x="4216526" y="784578"/>
            <a:ext cx="7900416" cy="5826555"/>
          </a:xfrm>
          <a:prstGeom prst="rect">
            <a:avLst/>
          </a:prstGeom>
        </p:spPr>
      </p:pic>
    </p:spTree>
    <p:extLst>
      <p:ext uri="{BB962C8B-B14F-4D97-AF65-F5344CB8AC3E}">
        <p14:creationId xmlns:p14="http://schemas.microsoft.com/office/powerpoint/2010/main" val="38343955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D8EE32-8369-D913-E222-D308D3C45BD7}"/>
              </a:ext>
            </a:extLst>
          </p:cNvPr>
          <p:cNvSpPr>
            <a:spLocks noGrp="1"/>
          </p:cNvSpPr>
          <p:nvPr>
            <p:ph type="title"/>
          </p:nvPr>
        </p:nvSpPr>
        <p:spPr/>
        <p:txBody>
          <a:bodyPr/>
          <a:lstStyle/>
          <a:p>
            <a:r>
              <a:rPr lang="en-US" dirty="0"/>
              <a:t>Warm Up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FD8E410-344B-4ADC-AA31-499114AA9344}"/>
                  </a:ext>
                </a:extLst>
              </p:cNvPr>
              <p:cNvSpPr>
                <a:spLocks noGrp="1"/>
              </p:cNvSpPr>
              <p:nvPr>
                <p:ph idx="1"/>
              </p:nvPr>
            </p:nvSpPr>
            <p:spPr>
              <a:xfrm>
                <a:off x="838200" y="1825624"/>
                <a:ext cx="10515600" cy="4787611"/>
              </a:xfrm>
            </p:spPr>
            <p:txBody>
              <a:bodyPr>
                <a:normAutofit lnSpcReduction="10000"/>
              </a:bodyPr>
              <a:lstStyle/>
              <a:p>
                <a:pPr marL="0" indent="0">
                  <a:buNone/>
                </a:pPr>
                <a:r>
                  <a:rPr lang="en-US" sz="2000" dirty="0"/>
                  <a:t>In elections, television networks use exit polling (interviewing voters after they leave the voting booth) to declare the winner well before all votes are counted. In the 2010 California gubernatorial election between candidates Jerry Brown (D) and Meg Whitman (R), an exit poll projected Brown to be the winner early into election night. Specifically, the network responsible for the poll interviewed 3,889 voters at the booth and determined that 53.1% favored the democratic candidate. </a:t>
                </a:r>
              </a:p>
              <a:p>
                <a:pPr marL="0" indent="0">
                  <a:buNone/>
                </a:pPr>
                <a:endParaRPr lang="en-US" sz="2000" dirty="0"/>
              </a:p>
              <a:p>
                <a:pPr marL="0" indent="0">
                  <a:buNone/>
                </a:pPr>
                <a:r>
                  <a:rPr lang="en-US" sz="2000" dirty="0"/>
                  <a:t>What is the statistical question?</a:t>
                </a:r>
              </a:p>
              <a:p>
                <a:pPr marL="0" indent="0">
                  <a:buNone/>
                </a:pPr>
                <a:r>
                  <a:rPr lang="en-US" sz="2000" dirty="0">
                    <a:solidFill>
                      <a:srgbClr val="FF0000"/>
                    </a:solidFill>
                  </a:rPr>
                  <a:t>Who will win the California race for governor?</a:t>
                </a:r>
              </a:p>
              <a:p>
                <a:pPr marL="0" indent="0">
                  <a:buNone/>
                </a:pPr>
                <a:r>
                  <a:rPr lang="en-US" sz="2000" dirty="0"/>
                  <a:t>What is the population? What is the population size </a:t>
                </a:r>
                <a14:m>
                  <m:oMath xmlns:m="http://schemas.openxmlformats.org/officeDocument/2006/math">
                    <m:r>
                      <a:rPr lang="en-US" sz="2000" b="0" i="1" smtClean="0">
                        <a:latin typeface="Cambria Math" panose="02040503050406030204" pitchFamily="18" charset="0"/>
                      </a:rPr>
                      <m:t>𝑁</m:t>
                    </m:r>
                  </m:oMath>
                </a14:m>
                <a:r>
                  <a:rPr lang="en-US" sz="2000" dirty="0"/>
                  <a:t>?</a:t>
                </a:r>
              </a:p>
              <a:p>
                <a:pPr marL="0" indent="0">
                  <a:buNone/>
                </a:pPr>
                <a:r>
                  <a:rPr lang="en-US" sz="2000" dirty="0">
                    <a:solidFill>
                      <a:srgbClr val="FF0000"/>
                    </a:solidFill>
                  </a:rPr>
                  <a:t>All Californians who actually voted – not everyone eligible. N is unknown that night.</a:t>
                </a:r>
              </a:p>
              <a:p>
                <a:pPr marL="0" indent="0">
                  <a:buNone/>
                </a:pPr>
                <a:r>
                  <a:rPr lang="en-US" sz="2000" dirty="0"/>
                  <a:t>What is the sample? What is the sample size </a:t>
                </a:r>
                <a14:m>
                  <m:oMath xmlns:m="http://schemas.openxmlformats.org/officeDocument/2006/math">
                    <m:r>
                      <a:rPr lang="en-US" sz="2000" b="0" i="1" smtClean="0">
                        <a:latin typeface="Cambria Math" panose="02040503050406030204" pitchFamily="18" charset="0"/>
                      </a:rPr>
                      <m:t>𝑛</m:t>
                    </m:r>
                  </m:oMath>
                </a14:m>
                <a:r>
                  <a:rPr lang="en-US" sz="2000" dirty="0"/>
                  <a:t>?</a:t>
                </a:r>
              </a:p>
              <a:p>
                <a:pPr marL="0" indent="0">
                  <a:buNone/>
                </a:pPr>
                <a:r>
                  <a:rPr lang="en-US" sz="2000" dirty="0">
                    <a:solidFill>
                      <a:srgbClr val="FF0000"/>
                    </a:solidFill>
                  </a:rPr>
                  <a:t>The 3,889 voters interviewed as they left the booth; n = 3,889.</a:t>
                </a:r>
              </a:p>
              <a:p>
                <a:pPr marL="0" indent="0">
                  <a:buNone/>
                </a:pPr>
                <a:r>
                  <a:rPr lang="en-US" sz="2000" dirty="0"/>
                  <a:t>What is the statistic being calculated?</a:t>
                </a:r>
              </a:p>
              <a:p>
                <a:pPr marL="0" indent="0">
                  <a:buNone/>
                </a:pPr>
                <a:r>
                  <a:rPr lang="en-US" sz="2000" dirty="0">
                    <a:solidFill>
                      <a:srgbClr val="FF0000"/>
                    </a:solidFill>
                  </a:rPr>
                  <a:t>p̂ = 0.531, the proportion of those 3,889 who chose Brown.</a:t>
                </a:r>
              </a:p>
            </p:txBody>
          </p:sp>
        </mc:Choice>
        <mc:Fallback xmlns="">
          <p:sp>
            <p:nvSpPr>
              <p:cNvPr id="3" name="Content Placeholder 2">
                <a:extLst>
                  <a:ext uri="{FF2B5EF4-FFF2-40B4-BE49-F238E27FC236}">
                    <a16:creationId xmlns:a16="http://schemas.microsoft.com/office/drawing/2014/main" id="{8FD8E410-344B-4ADC-AA31-499114AA9344}"/>
                  </a:ext>
                </a:extLst>
              </p:cNvPr>
              <p:cNvSpPr>
                <a:spLocks noGrp="1" noRot="1" noChangeAspect="1" noMove="1" noResize="1" noEditPoints="1" noAdjustHandles="1" noChangeArrowheads="1" noChangeShapeType="1" noTextEdit="1"/>
              </p:cNvSpPr>
              <p:nvPr>
                <p:ph idx="1"/>
              </p:nvPr>
            </p:nvSpPr>
            <p:spPr>
              <a:xfrm>
                <a:off x="838200" y="1825624"/>
                <a:ext cx="10515600" cy="4787611"/>
              </a:xfrm>
              <a:blipFill>
                <a:blip r:embed="rId2"/>
                <a:stretch>
                  <a:fillRect l="-638" t="-1781" r="-870"/>
                </a:stretch>
              </a:blipFill>
            </p:spPr>
            <p:txBody>
              <a:bodyPr/>
              <a:lstStyle/>
              <a:p>
                <a:r>
                  <a:rPr lang="en-US">
                    <a:noFill/>
                  </a:rPr>
                  <a:t> </a:t>
                </a:r>
              </a:p>
            </p:txBody>
          </p:sp>
        </mc:Fallback>
      </mc:AlternateContent>
    </p:spTree>
    <p:extLst>
      <p:ext uri="{BB962C8B-B14F-4D97-AF65-F5344CB8AC3E}">
        <p14:creationId xmlns:p14="http://schemas.microsoft.com/office/powerpoint/2010/main" val="322427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00A90-9B37-A9A2-A1CC-0F39F4279B4F}"/>
              </a:ext>
            </a:extLst>
          </p:cNvPr>
          <p:cNvSpPr>
            <a:spLocks noGrp="1"/>
          </p:cNvSpPr>
          <p:nvPr>
            <p:ph type="title"/>
          </p:nvPr>
        </p:nvSpPr>
        <p:spPr/>
        <p:txBody>
          <a:bodyPr/>
          <a:lstStyle/>
          <a:p>
            <a:r>
              <a:rPr lang="en-US" dirty="0"/>
              <a:t>Recap:</a:t>
            </a:r>
          </a:p>
        </p:txBody>
      </p:sp>
      <p:sp>
        <p:nvSpPr>
          <p:cNvPr id="3" name="Content Placeholder 2">
            <a:extLst>
              <a:ext uri="{FF2B5EF4-FFF2-40B4-BE49-F238E27FC236}">
                <a16:creationId xmlns:a16="http://schemas.microsoft.com/office/drawing/2014/main" id="{8200857C-EDD8-0660-867A-FC5C1A6EA003}"/>
              </a:ext>
            </a:extLst>
          </p:cNvPr>
          <p:cNvSpPr>
            <a:spLocks noGrp="1"/>
          </p:cNvSpPr>
          <p:nvPr>
            <p:ph idx="1"/>
          </p:nvPr>
        </p:nvSpPr>
        <p:spPr>
          <a:xfrm>
            <a:off x="838200" y="1825625"/>
            <a:ext cx="3946236" cy="4351338"/>
          </a:xfrm>
        </p:spPr>
        <p:txBody>
          <a:bodyPr>
            <a:normAutofit/>
          </a:bodyPr>
          <a:lstStyle/>
          <a:p>
            <a:pPr marL="514350" indent="-514350">
              <a:buFont typeface="+mj-lt"/>
              <a:buAutoNum type="arabicPeriod"/>
            </a:pPr>
            <a:r>
              <a:rPr lang="en-US" sz="2000" b="1" dirty="0"/>
              <a:t>Design</a:t>
            </a:r>
            <a:r>
              <a:rPr lang="en-US" sz="2000" dirty="0"/>
              <a:t> – the goal/statistical question we want to answer and how we plan to obtain our data</a:t>
            </a:r>
          </a:p>
          <a:p>
            <a:pPr marL="514350" indent="-514350">
              <a:buFont typeface="+mj-lt"/>
              <a:buAutoNum type="arabicPeriod"/>
            </a:pPr>
            <a:endParaRPr lang="en-US" sz="2000" dirty="0"/>
          </a:p>
          <a:p>
            <a:pPr marL="514350" indent="-514350">
              <a:buFont typeface="+mj-lt"/>
              <a:buAutoNum type="arabicPeriod"/>
            </a:pPr>
            <a:r>
              <a:rPr lang="en-US" sz="2000" b="1" dirty="0"/>
              <a:t>Description</a:t>
            </a:r>
            <a:r>
              <a:rPr lang="en-US" sz="2000" dirty="0"/>
              <a:t> – a preliminary exploration and summary of the data</a:t>
            </a:r>
          </a:p>
          <a:p>
            <a:pPr marL="514350" indent="-514350">
              <a:buFont typeface="+mj-lt"/>
              <a:buAutoNum type="arabicPeriod"/>
            </a:pPr>
            <a:endParaRPr lang="en-US" sz="2000" dirty="0"/>
          </a:p>
          <a:p>
            <a:pPr marL="514350" indent="-514350">
              <a:buFont typeface="+mj-lt"/>
              <a:buAutoNum type="arabicPeriod"/>
            </a:pPr>
            <a:r>
              <a:rPr lang="en-US" sz="2000" b="1" dirty="0"/>
              <a:t>Inference</a:t>
            </a:r>
            <a:r>
              <a:rPr lang="en-US" sz="2000" dirty="0"/>
              <a:t> – using statistics to make decisions or predictions about the data </a:t>
            </a:r>
          </a:p>
        </p:txBody>
      </p:sp>
      <p:pic>
        <p:nvPicPr>
          <p:cNvPr id="4" name="Picture 3">
            <a:extLst>
              <a:ext uri="{FF2B5EF4-FFF2-40B4-BE49-F238E27FC236}">
                <a16:creationId xmlns:a16="http://schemas.microsoft.com/office/drawing/2014/main" id="{82DAFA61-731C-206A-BADD-22786BFDCCE2}"/>
              </a:ext>
            </a:extLst>
          </p:cNvPr>
          <p:cNvPicPr>
            <a:picLocks noChangeAspect="1"/>
          </p:cNvPicPr>
          <p:nvPr/>
        </p:nvPicPr>
        <p:blipFill>
          <a:blip r:embed="rId2"/>
          <a:stretch>
            <a:fillRect/>
          </a:stretch>
        </p:blipFill>
        <p:spPr>
          <a:xfrm>
            <a:off x="5197500" y="1121581"/>
            <a:ext cx="6671792" cy="4920445"/>
          </a:xfrm>
          <a:prstGeom prst="rect">
            <a:avLst/>
          </a:prstGeom>
        </p:spPr>
      </p:pic>
      <p:sp>
        <p:nvSpPr>
          <p:cNvPr id="5" name="Oval 4">
            <a:extLst>
              <a:ext uri="{FF2B5EF4-FFF2-40B4-BE49-F238E27FC236}">
                <a16:creationId xmlns:a16="http://schemas.microsoft.com/office/drawing/2014/main" id="{E15B193B-BC86-1FA0-8BB2-84AE8A44C558}"/>
              </a:ext>
            </a:extLst>
          </p:cNvPr>
          <p:cNvSpPr/>
          <p:nvPr/>
        </p:nvSpPr>
        <p:spPr>
          <a:xfrm>
            <a:off x="535709" y="3214255"/>
            <a:ext cx="4322618" cy="1325563"/>
          </a:xfrm>
          <a:prstGeom prst="ellipse">
            <a:avLst/>
          </a:prstGeom>
          <a:noFill/>
          <a:ln w="5715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0070046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64B93-2CB1-C5B8-097E-84BD7B725912}"/>
              </a:ext>
            </a:extLst>
          </p:cNvPr>
          <p:cNvSpPr>
            <a:spLocks noGrp="1"/>
          </p:cNvSpPr>
          <p:nvPr>
            <p:ph type="title"/>
          </p:nvPr>
        </p:nvSpPr>
        <p:spPr>
          <a:xfrm>
            <a:off x="876693" y="741391"/>
            <a:ext cx="3455821" cy="1616203"/>
          </a:xfrm>
        </p:spPr>
        <p:txBody>
          <a:bodyPr anchor="b">
            <a:normAutofit/>
          </a:bodyPr>
          <a:lstStyle/>
          <a:p>
            <a:r>
              <a:rPr lang="en-US" sz="3200" dirty="0"/>
              <a:t>Descriptive statistics</a:t>
            </a:r>
          </a:p>
        </p:txBody>
      </p:sp>
      <p:sp>
        <p:nvSpPr>
          <p:cNvPr id="3" name="Content Placeholder 2">
            <a:extLst>
              <a:ext uri="{FF2B5EF4-FFF2-40B4-BE49-F238E27FC236}">
                <a16:creationId xmlns:a16="http://schemas.microsoft.com/office/drawing/2014/main" id="{E1E2A7C3-751B-DAAE-467B-05DBA4158CE1}"/>
              </a:ext>
            </a:extLst>
          </p:cNvPr>
          <p:cNvSpPr>
            <a:spLocks noGrp="1"/>
          </p:cNvSpPr>
          <p:nvPr>
            <p:ph idx="1"/>
          </p:nvPr>
        </p:nvSpPr>
        <p:spPr>
          <a:xfrm>
            <a:off x="200026" y="2533475"/>
            <a:ext cx="6276974" cy="3857799"/>
          </a:xfrm>
        </p:spPr>
        <p:txBody>
          <a:bodyPr anchor="t">
            <a:normAutofit/>
          </a:bodyPr>
          <a:lstStyle/>
          <a:p>
            <a:r>
              <a:rPr lang="en-US" sz="2000" dirty="0"/>
              <a:t>Methods for summarizing, visualizing and characterizing data</a:t>
            </a:r>
          </a:p>
          <a:p>
            <a:endParaRPr lang="en-US" sz="2000" dirty="0"/>
          </a:p>
          <a:p>
            <a:r>
              <a:rPr lang="en-US" sz="2000" u="sng" dirty="0"/>
              <a:t>The data can be from samples OR populations</a:t>
            </a:r>
          </a:p>
          <a:p>
            <a:endParaRPr lang="en-US" sz="2000" u="sng" dirty="0"/>
          </a:p>
          <a:p>
            <a:r>
              <a:rPr lang="en-US" sz="2000" dirty="0"/>
              <a:t>Goal: simplify the data without distorting or losing information </a:t>
            </a:r>
          </a:p>
          <a:p>
            <a:endParaRPr lang="en-US" sz="2000" dirty="0"/>
          </a:p>
          <a:p>
            <a:r>
              <a:rPr lang="en-US" sz="2000" dirty="0"/>
              <a:t>Summaries are easier to understand</a:t>
            </a:r>
          </a:p>
        </p:txBody>
      </p:sp>
      <p:grpSp>
        <p:nvGrpSpPr>
          <p:cNvPr id="16" name="Group 9">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7" name="Rectangle 10">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1">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TextBox 5">
            <a:extLst>
              <a:ext uri="{FF2B5EF4-FFF2-40B4-BE49-F238E27FC236}">
                <a16:creationId xmlns:a16="http://schemas.microsoft.com/office/drawing/2014/main" id="{344F9886-1436-878C-15E2-5274E881EA2B}"/>
              </a:ext>
            </a:extLst>
          </p:cNvPr>
          <p:cNvSpPr txBox="1"/>
          <p:nvPr/>
        </p:nvSpPr>
        <p:spPr>
          <a:xfrm>
            <a:off x="7175377" y="648103"/>
            <a:ext cx="4636539" cy="2031325"/>
          </a:xfrm>
          <a:prstGeom prst="rect">
            <a:avLst/>
          </a:prstGeom>
          <a:noFill/>
        </p:spPr>
        <p:txBody>
          <a:bodyPr wrap="square" rtlCol="0">
            <a:spAutoFit/>
          </a:bodyPr>
          <a:lstStyle/>
          <a:p>
            <a:r>
              <a:rPr lang="en-US" dirty="0"/>
              <a:t>Ex. Are teens distracted by their cell phones? A study conducted by the Pew Research center surveyed 743 U.S teenagers ages 13-17 to understand how cell phones in class impacted their ability to concentrate. Each student was asked to rate the impact of cell phone use on their concentration based on a Likert scale </a:t>
            </a:r>
          </a:p>
        </p:txBody>
      </p:sp>
      <p:pic>
        <p:nvPicPr>
          <p:cNvPr id="7" name="Picture 6">
            <a:extLst>
              <a:ext uri="{FF2B5EF4-FFF2-40B4-BE49-F238E27FC236}">
                <a16:creationId xmlns:a16="http://schemas.microsoft.com/office/drawing/2014/main" id="{87E31334-766C-3E43-CCD4-9906B862547B}"/>
              </a:ext>
            </a:extLst>
          </p:cNvPr>
          <p:cNvPicPr>
            <a:picLocks noChangeAspect="1"/>
          </p:cNvPicPr>
          <p:nvPr/>
        </p:nvPicPr>
        <p:blipFill>
          <a:blip r:embed="rId2"/>
          <a:stretch>
            <a:fillRect/>
          </a:stretch>
        </p:blipFill>
        <p:spPr>
          <a:xfrm>
            <a:off x="7489905" y="2679428"/>
            <a:ext cx="3820425" cy="3097812"/>
          </a:xfrm>
          <a:prstGeom prst="rect">
            <a:avLst/>
          </a:prstGeom>
        </p:spPr>
      </p:pic>
      <p:sp>
        <p:nvSpPr>
          <p:cNvPr id="8" name="TextBox 7">
            <a:extLst>
              <a:ext uri="{FF2B5EF4-FFF2-40B4-BE49-F238E27FC236}">
                <a16:creationId xmlns:a16="http://schemas.microsoft.com/office/drawing/2014/main" id="{853EE9BF-29BB-893D-1686-013DFA5796C2}"/>
              </a:ext>
            </a:extLst>
          </p:cNvPr>
          <p:cNvSpPr txBox="1"/>
          <p:nvPr/>
        </p:nvSpPr>
        <p:spPr>
          <a:xfrm>
            <a:off x="6477000" y="6025231"/>
            <a:ext cx="5119735" cy="369332"/>
          </a:xfrm>
          <a:prstGeom prst="rect">
            <a:avLst/>
          </a:prstGeom>
          <a:noFill/>
        </p:spPr>
        <p:txBody>
          <a:bodyPr wrap="none" rtlCol="0">
            <a:spAutoFit/>
          </a:bodyPr>
          <a:lstStyle/>
          <a:p>
            <a:r>
              <a:rPr lang="en-US" dirty="0"/>
              <a:t>Possible Responses: Never, Rarely, Sometimes, Often</a:t>
            </a:r>
          </a:p>
        </p:txBody>
      </p:sp>
    </p:spTree>
    <p:extLst>
      <p:ext uri="{BB962C8B-B14F-4D97-AF65-F5344CB8AC3E}">
        <p14:creationId xmlns:p14="http://schemas.microsoft.com/office/powerpoint/2010/main" val="2099539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1327843-2234-FD4B-8B1B-E62A4EDD2B5A}"/>
              </a:ext>
            </a:extLst>
          </p:cNvPr>
          <p:cNvPicPr>
            <a:picLocks noChangeAspect="1"/>
          </p:cNvPicPr>
          <p:nvPr/>
        </p:nvPicPr>
        <p:blipFill>
          <a:blip r:embed="rId2"/>
          <a:stretch>
            <a:fillRect/>
          </a:stretch>
        </p:blipFill>
        <p:spPr>
          <a:xfrm>
            <a:off x="1938487" y="643466"/>
            <a:ext cx="8315026" cy="5571067"/>
          </a:xfrm>
          <a:prstGeom prst="rect">
            <a:avLst/>
          </a:prstGeom>
        </p:spPr>
      </p:pic>
    </p:spTree>
    <p:extLst>
      <p:ext uri="{BB962C8B-B14F-4D97-AF65-F5344CB8AC3E}">
        <p14:creationId xmlns:p14="http://schemas.microsoft.com/office/powerpoint/2010/main" val="32316819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2150</TotalTime>
  <Words>1861</Words>
  <Application>Microsoft Office PowerPoint</Application>
  <PresentationFormat>Widescreen</PresentationFormat>
  <Paragraphs>172</Paragraphs>
  <Slides>19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Algerian</vt:lpstr>
      <vt:lpstr>Arial</vt:lpstr>
      <vt:lpstr>Calibri</vt:lpstr>
      <vt:lpstr>Calibri Light</vt:lpstr>
      <vt:lpstr>Cambria Math</vt:lpstr>
      <vt:lpstr>Office Theme</vt:lpstr>
      <vt:lpstr>Lecture 2 Describing and Visualizing Distributions </vt:lpstr>
      <vt:lpstr>Review: Data, Observations and Variables</vt:lpstr>
      <vt:lpstr>Review: Types of Variables</vt:lpstr>
      <vt:lpstr>Where We Left Off</vt:lpstr>
      <vt:lpstr>Sampling and Data</vt:lpstr>
      <vt:lpstr>A Note on notation: </vt:lpstr>
      <vt:lpstr>Example: Penguins at Torgersen Island</vt:lpstr>
      <vt:lpstr>Example 2</vt:lpstr>
      <vt:lpstr>Why is statistics so valuable?</vt:lpstr>
      <vt:lpstr>Where we can go with estimates </vt:lpstr>
      <vt:lpstr>Statistics Vs Parameters</vt:lpstr>
      <vt:lpstr>Mean and Proportion </vt:lpstr>
      <vt:lpstr>Example: Gallup Poll</vt:lpstr>
      <vt:lpstr>Descriptive Vs. Inferential Statistics</vt:lpstr>
      <vt:lpstr>The Big Picture</vt:lpstr>
      <vt:lpstr>Warm Up</vt:lpstr>
      <vt:lpstr>Recap:</vt:lpstr>
      <vt:lpstr>Descriptive statistics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Jarred Kvamme</dc:creator>
  <cp:lastModifiedBy>Jarred Kvamme</cp:lastModifiedBy>
  <cp:revision>330</cp:revision>
  <dcterms:created xsi:type="dcterms:W3CDTF">2023-08-05T23:57:41Z</dcterms:created>
  <dcterms:modified xsi:type="dcterms:W3CDTF">2026-08-28T19:02:33Z</dcterms:modified>
</cp:coreProperties>
</file>