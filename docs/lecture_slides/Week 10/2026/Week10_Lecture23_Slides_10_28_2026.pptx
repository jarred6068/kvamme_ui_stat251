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0" r:id="rId2"/>
    <p:sldId id="436" r:id="rId3"/>
    <p:sldId id="457" r:id="rId4"/>
    <p:sldId id="467" r:id="rId5"/>
    <p:sldId id="458" r:id="rId6"/>
    <p:sldId id="459" r:id="rId7"/>
    <p:sldId id="460" r:id="rId8"/>
    <p:sldId id="466" r:id="rId9"/>
    <p:sldId id="461" r:id="rId10"/>
    <p:sldId id="462" r:id="rId11"/>
    <p:sldId id="463" r:id="rId12"/>
    <p:sldId id="468" r:id="rId13"/>
    <p:sldId id="465" r:id="rId14"/>
    <p:sldId id="470" r:id="rId15"/>
    <p:sldId id="454" r:id="rId16"/>
    <p:sldId id="4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821C1-92D8-0827-CE2B-80FEA840C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EA748-2C8E-5D78-5734-D9BCC16EC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15553-DE39-3C41-4AFF-70F29A86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2837C-8079-1B7F-0DCF-61C39ED3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5E205-162F-206E-F4C6-EB23D9DC1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874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13490-30A7-12A6-2775-77578A346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7B95F-B119-D057-5670-8EC21A84E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D001D-CEFB-FD30-FB40-0BEA5B52D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3377D-E7F3-D264-FB03-A4AF3E336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48992-A907-9503-F005-BAA8A33CE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803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6B320-EDC1-EDD2-5F4C-2A675BD0C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8A940-1637-AC6F-0247-A5E578765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2A479-CAFF-245E-F61F-3D6F3E5C8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24E38-70F9-0CAE-F19E-6DDE60057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74C88-12BC-0657-008B-8419B1E10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099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02A09-336F-FDC8-F0C1-F84E09726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F6849-08AF-456F-8C3C-E6DE37B3B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7E5562-6B4C-F11F-DF48-D254599EA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69C05-114E-11FE-5C76-D6F191757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1C5D0-A8D9-EEF2-15E4-CE74A390A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944C5-75A0-666E-C3DD-6839AB17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0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EC19E-080C-F794-EB45-FB4903CDD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5744A-FDBE-87AE-7AF1-3AC154DB2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970E4-B2B1-0370-3C26-0D1A5A002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A4F036-B8A8-878F-A1CB-05DAE58015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8B7F82-EBC0-322A-130D-972F39800F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21A5BB-D71E-872F-6F0E-2279BE484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C56747-8CBE-BF00-C39A-F442E724C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E2C14A-6287-B5B6-C760-7F506FD87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36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E9713-B0F2-9D1D-23FC-F5900F773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6FC7EC-16C8-C311-316C-6D99B4F99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FE4DA7-A4C5-460E-592C-CEF23DF38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6F3F89-7820-6BF8-A747-E433ED21A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44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EAD0FD-7A61-970C-10A9-76E2B39DA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F95651-C89A-3C9B-3D47-F7E5CAF6B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09228-92F1-54DE-D9B2-4AC018D50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03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3F474-02F7-A264-4B8D-717F5EB00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A8C9F-750F-7D81-0E80-7FBCDEBEB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0A1C0B-C510-B118-D8FA-12722456A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4604E-EC60-44AD-4B70-12B2B49AE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2C4B9-91B9-9E0E-9278-1C0433768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1E60F-F796-8B15-08E9-61BA30F0D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05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E564D-22A0-8A8D-C6FE-D62998433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13DEA-5246-B946-AFE4-3B305BCDB1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208CC-31DD-00AF-BFC4-37F7B4BF3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7E30D-B05F-B2CA-9A3C-E01E2B6B0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08FCE-463A-D1B2-8A60-3B6744202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38537-A621-46D4-781D-4E36BF836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242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105C2-17EC-1173-1FC9-8A7FC1018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BBB4A-325C-1F27-06A3-6F4F1A8F5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A6F55-A1EF-6AEC-99F0-DBF50F5EB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1FD1D-86F4-EDE3-1CCE-ADED2161B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E0593-ABE9-0E50-7A75-9252A5A1F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6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87FF77-0DAD-7CA9-B02D-208C020489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9298FA-F111-2C9C-551D-A1F30B239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1B556-1ED0-55E4-9235-352E1A162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4A71E-8AC3-EA68-1DCB-99E68A465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1CF60-74F8-B2C5-26C3-77536C36C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366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18B48B-0371-7ADD-E5C3-345B4D6CB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B5A92-73C5-8CE0-7C84-BE7902E60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5212B-F67A-E417-B1FE-C389458DF2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82561-BD16-4A95-ACA1-5204E478F2F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9799A-D006-E28E-8EED-4BE2AFCB8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69CB4-3B3A-FD13-F7E0-B4A0F34767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91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F151A-3AFE-974F-DDC4-9B99389C3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105419"/>
          </a:xfrm>
        </p:spPr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Lecture 23</a:t>
            </a:r>
            <a:br>
              <a:rPr lang="en-US">
                <a:solidFill>
                  <a:srgbClr val="1F3864"/>
                </a:solidFill>
              </a:rPr>
            </a:br>
            <a:r>
              <a:rPr lang="en-US">
                <a:solidFill>
                  <a:srgbClr val="1F3864"/>
                </a:solidFill>
              </a:rPr>
              <a:t>Significance Tests</a:t>
            </a:r>
            <a:endParaRPr lang="en-US" dirty="0">
              <a:solidFill>
                <a:srgbClr val="1F38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479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5104"/>
          </a:xfrm>
        </p:spPr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Review</a:t>
            </a:r>
            <a:endParaRPr lang="en-US" dirty="0">
              <a:solidFill>
                <a:srgbClr val="1F3864"/>
              </a:solidFill>
            </a:endParaRPr>
          </a:p>
        </p:txBody>
      </p:sp>
      <p:sp>
        <p:nvSpPr>
          <p:cNvPr id="3" name="Question 1"/>
          <p:cNvSpPr/>
          <p:nvPr/>
        </p:nvSpPr>
        <p:spPr>
          <a:xfrm>
            <a:off x="838200" y="107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1   </a:t>
            </a:r>
            <a:r>
              <a:rPr lang="en-US" b="1"/>
              <a:t>What p* do we use to plan n when there is no earlier guess?</a:t>
            </a:r>
            <a:endParaRPr lang="en-US" b="1" dirty="0"/>
          </a:p>
        </p:txBody>
      </p:sp>
      <p:sp>
        <p:nvSpPr>
          <p:cNvPr id="4" name="Answer 1"/>
          <p:cNvSpPr txBox="1"/>
          <p:nvPr/>
        </p:nvSpPr>
        <p:spPr>
          <a:xfrm>
            <a:off x="1066800" y="1655688"/>
            <a:ext cx="10058400" cy="6502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p* = 0.5:  it makes p*(1 − p*) largest, so n is big enough whatever p is.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5" name="Question 2"/>
          <p:cNvSpPr/>
          <p:nvPr/>
        </p:nvSpPr>
        <p:spPr>
          <a:xfrm>
            <a:off x="838200" y="238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2   </a:t>
            </a:r>
            <a:r>
              <a:rPr lang="en-US" b="1"/>
              <a:t>What is the null hypothesis H</a:t>
            </a:r>
            <a:r>
              <a:rPr lang="en-US" b="1" baseline="-25000"/>
              <a:t>0</a:t>
            </a:r>
            <a:r>
              <a:rPr lang="en-US" b="1"/>
              <a:t>?</a:t>
            </a:r>
            <a:endParaRPr lang="en-US" b="1" dirty="0"/>
          </a:p>
        </p:txBody>
      </p:sp>
      <p:sp>
        <p:nvSpPr>
          <p:cNvPr id="6" name="Answer 2"/>
          <p:cNvSpPr txBox="1"/>
          <p:nvPr/>
        </p:nvSpPr>
        <p:spPr>
          <a:xfrm>
            <a:off x="1066800" y="2965688"/>
            <a:ext cx="10058400" cy="5892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“No effect”:  nothing interesting is happening, e.g. they are just guessing.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7" name="Question 3"/>
          <p:cNvSpPr/>
          <p:nvPr/>
        </p:nvSpPr>
        <p:spPr>
          <a:xfrm>
            <a:off x="838200" y="369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3   </a:t>
            </a:r>
            <a:r>
              <a:rPr lang="en-US" b="1"/>
              <a:t>What is the alternative hypothesis H</a:t>
            </a:r>
            <a:r>
              <a:rPr lang="en-US" b="1" baseline="-25000"/>
              <a:t>A</a:t>
            </a:r>
            <a:r>
              <a:rPr lang="en-US" b="1"/>
              <a:t>?</a:t>
            </a:r>
            <a:endParaRPr lang="en-US" b="1" dirty="0"/>
          </a:p>
        </p:txBody>
      </p:sp>
      <p:sp>
        <p:nvSpPr>
          <p:cNvPr id="8" name="Answer 3"/>
          <p:cNvSpPr txBox="1"/>
          <p:nvPr/>
        </p:nvSpPr>
        <p:spPr>
          <a:xfrm>
            <a:off x="1066800" y="4275688"/>
            <a:ext cx="10058400" cy="5585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“An effect”:  what we suspect is true, e.g. they can taste the difference.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66091C9-B7EB-6BBE-A602-1479CDF97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</a:t>
            </a:fld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528979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Can you taste the difference?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3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Your roommate claims they can tell Coke from Pepsi.  In a blind test, you pour one of the two at random, 8 times, and they name each cup.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551331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8 of 8 cups named correctly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976841"/>
            <a:ext cx="10668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(1)  Can they really tell, or were they just lucky?  How could we decide?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(2)  If they were only guessing, how likely is 8 for 8?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(3)  What are the two ways to explain such a small probability?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4103867"/>
            <a:ext cx="10668000" cy="10922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(2)  (1/2)⁸ = 1/256 ≈ 0.004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(3)  Either something rare happened by chance, or “just guessing” is wrong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      How rare is rare enough is our choice;  by convention, below 0.05</a:t>
            </a:r>
          </a:p>
        </p:txBody>
      </p:sp>
    </p:spTree>
    <p:extLst>
      <p:ext uri="{BB962C8B-B14F-4D97-AF65-F5344CB8AC3E}">
        <p14:creationId xmlns:p14="http://schemas.microsoft.com/office/powerpoint/2010/main" val="2805455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Why test a hypothesis?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4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hypothesis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a claim about a population parameter (p or μ),  e.g. p = 0.5:  “they are just guessing”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purpose of a significance 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to decide whether the data give convincing evidence against a hypothesis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the logic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assume the null hypothesis is true, then ask how unlikely our data would be under that hypothesis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000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Significance tests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5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statistically significant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decidedly not due to ordinary variation:  not chance, not a coincidence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significance 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uses data to decide whether a result is statistically significant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null hypothesis H</a:t>
            </a:r>
            <a:r>
              <a:rPr lang="en-US" sz="1600" baseline="-2500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“no effect”:  nothing interesting is happening, e.g. they are just guessing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252B31-0A80-8297-9AB5-9AED735ACDE2}"/>
              </a:ext>
            </a:extLst>
          </p:cNvPr>
          <p:cNvSpPr txBox="1"/>
          <p:nvPr/>
        </p:nvSpPr>
        <p:spPr>
          <a:xfrm>
            <a:off x="762000" y="4464982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alternative hypothesis H</a:t>
            </a:r>
            <a:r>
              <a:rPr lang="en-US" sz="1600" baseline="-25000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980B2D-2D53-A814-88AF-46C2FDF3E298}"/>
              </a:ext>
            </a:extLst>
          </p:cNvPr>
          <p:cNvSpPr txBox="1"/>
          <p:nvPr/>
        </p:nvSpPr>
        <p:spPr>
          <a:xfrm>
            <a:off x="1117600" y="4810422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“an effect”:  what we suspect, e.g. they can taste the difference</a:t>
            </a:r>
          </a:p>
        </p:txBody>
      </p:sp>
    </p:spTree>
    <p:extLst>
      <p:ext uri="{BB962C8B-B14F-4D97-AF65-F5344CB8AC3E}">
        <p14:creationId xmlns:p14="http://schemas.microsoft.com/office/powerpoint/2010/main" val="3884269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Writing the hypotheses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6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θ  and  θ</a:t>
            </a:r>
            <a:r>
              <a:rPr lang="en-US" sz="1600" baseline="-25000">
                <a:solidFill>
                  <a:srgbClr val="000000"/>
                </a:solidFill>
              </a:rPr>
              <a:t>0</a:t>
            </a:r>
            <a:r>
              <a:rPr lang="en-US" sz="1600">
                <a:solidFill>
                  <a:srgbClr val="000000"/>
                </a:solidFill>
              </a:rPr>
              <a:t>  (“theta” and “theta-naught”)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θ is the parameter (p or μ);  θ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 is the value H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 claims, e.g. p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 = 0.5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H</a:t>
            </a:r>
            <a:r>
              <a:rPr lang="en-US" sz="1600" baseline="-25000">
                <a:solidFill>
                  <a:srgbClr val="000000"/>
                </a:solidFill>
              </a:rPr>
              <a:t>0</a:t>
            </a:r>
            <a:r>
              <a:rPr lang="en-US" sz="1600">
                <a:solidFill>
                  <a:srgbClr val="000000"/>
                </a:solidFill>
              </a:rPr>
              <a:t>: </a:t>
            </a:r>
            <a:r>
              <a:rPr lang="el-GR" sz="1600">
                <a:solidFill>
                  <a:srgbClr val="000000"/>
                </a:solidFill>
              </a:rPr>
              <a:t>θ = θ</a:t>
            </a:r>
            <a:r>
              <a:rPr lang="el-GR" sz="1600" baseline="-25000">
                <a:solidFill>
                  <a:srgbClr val="000000"/>
                </a:solidFill>
              </a:rPr>
              <a:t>0</a:t>
            </a:r>
            <a:endParaRPr lang="en-US" sz="1600" baseline="-25000">
              <a:solidFill>
                <a:srgbClr val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H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 always has the = sign, and is about a parameter, never p̂ or x̄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H</a:t>
            </a:r>
            <a:r>
              <a:rPr lang="en-US" sz="1600" baseline="-25000">
                <a:solidFill>
                  <a:srgbClr val="000000"/>
                </a:solidFill>
              </a:rPr>
              <a:t>A</a:t>
            </a:r>
            <a:r>
              <a:rPr lang="en-US" sz="1600">
                <a:solidFill>
                  <a:srgbClr val="000000"/>
                </a:solidFill>
              </a:rPr>
              <a:t>: </a:t>
            </a:r>
            <a:r>
              <a:rPr lang="el-GR" sz="1600">
                <a:solidFill>
                  <a:srgbClr val="000000"/>
                </a:solidFill>
              </a:rPr>
              <a:t>θ &gt; θ</a:t>
            </a:r>
            <a:r>
              <a:rPr lang="el-GR" sz="1600" baseline="-25000">
                <a:solidFill>
                  <a:srgbClr val="000000"/>
                </a:solidFill>
              </a:rPr>
              <a:t>0</a:t>
            </a:r>
            <a:r>
              <a:rPr lang="el-GR" sz="1600">
                <a:solidFill>
                  <a:srgbClr val="000000"/>
                </a:solidFill>
              </a:rPr>
              <a:t>,  θ &lt; θ</a:t>
            </a:r>
            <a:r>
              <a:rPr lang="el-GR" sz="1600" baseline="-25000">
                <a:solidFill>
                  <a:srgbClr val="000000"/>
                </a:solidFill>
              </a:rPr>
              <a:t>0</a:t>
            </a:r>
            <a:r>
              <a:rPr lang="el-GR" sz="1600">
                <a:solidFill>
                  <a:srgbClr val="000000"/>
                </a:solidFill>
              </a:rPr>
              <a:t>  </a:t>
            </a:r>
            <a:r>
              <a:rPr lang="en-US" sz="1600">
                <a:solidFill>
                  <a:srgbClr val="000000"/>
                </a:solidFill>
              </a:rPr>
              <a:t>or  </a:t>
            </a:r>
            <a:r>
              <a:rPr lang="el-GR" sz="1600">
                <a:solidFill>
                  <a:srgbClr val="000000"/>
                </a:solidFill>
              </a:rPr>
              <a:t>θ ≠ θ</a:t>
            </a:r>
            <a:r>
              <a:rPr lang="el-GR" sz="1600" baseline="-25000">
                <a:solidFill>
                  <a:srgbClr val="000000"/>
                </a:solidFill>
              </a:rPr>
              <a:t>0</a:t>
            </a:r>
            <a:endParaRPr lang="en-US" sz="1600" baseline="-25000">
              <a:solidFill>
                <a:srgbClr val="0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upper-tailed, lower-tailed (one-sided)  or  two-sided;  set before seeing data</a:t>
            </a:r>
            <a:endParaRPr lang="en-US" sz="1600" b="1" dirty="0">
              <a:solidFill>
                <a:srgbClr val="C00000"/>
              </a:solidFill>
            </a:endParaRP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036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stating hypotheses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7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For each question, write H</a:t>
            </a:r>
            <a:r>
              <a:rPr lang="en-US" baseline="-25000">
                <a:solidFill>
                  <a:srgbClr val="000000"/>
                </a:solidFill>
                <a:latin typeface="Calibri" panose="020F0502020204030204" pitchFamily="34" charset="0"/>
              </a:rPr>
              <a:t>A</a:t>
            </a: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 first (the suspicion), then H</a:t>
            </a:r>
            <a:r>
              <a:rPr lang="en-US" baseline="-25000">
                <a:solidFill>
                  <a:srgbClr val="000000"/>
                </a:solidFill>
                <a:latin typeface="Calibri" panose="020F0502020204030204" pitchFamily="34" charset="0"/>
              </a:rPr>
              <a:t>0</a:t>
            </a: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 (no effect).  Give θ</a:t>
            </a:r>
            <a:r>
              <a:rPr lang="en-US" baseline="-25000">
                <a:solidFill>
                  <a:srgbClr val="000000"/>
                </a:solidFill>
                <a:latin typeface="Calibri" panose="020F0502020204030204" pitchFamily="34" charset="0"/>
              </a:rPr>
              <a:t>0</a:t>
            </a: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 and say which tail.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pt-BR" sz="2000" b="1">
                <a:solidFill>
                  <a:srgbClr val="000000"/>
                </a:solidFill>
                <a:latin typeface="Calibri" panose="020F0502020204030204" pitchFamily="34" charset="0"/>
              </a:rPr>
              <a:t>p = a population proportion;      </a:t>
            </a:r>
            <a:r>
              <a:rPr lang="el-GR" sz="2000" b="1">
                <a:solidFill>
                  <a:srgbClr val="000000"/>
                </a:solidFill>
                <a:latin typeface="Calibri" panose="020F0502020204030204" pitchFamily="34" charset="0"/>
              </a:rPr>
              <a:t>μ = </a:t>
            </a:r>
            <a:r>
              <a:rPr lang="pt-BR" sz="2000" b="1">
                <a:solidFill>
                  <a:srgbClr val="000000"/>
                </a:solidFill>
                <a:latin typeface="Calibri" panose="020F0502020204030204" pitchFamily="34" charset="0"/>
              </a:rPr>
              <a:t>a population mean</a:t>
            </a:r>
            <a:endParaRPr lang="en-US" sz="2000" b="1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Your roommate names Coke or Pepsi.  Do they do better than guessing?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A coin is spun on a table.  Does it favor heads or tails?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A chip bag says 28 g.  Do the bags hold less than that on average?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838536"/>
            <a:ext cx="10668000" cy="10922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A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: p &gt; 0.5    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: p = 0.5     p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= 0.5,  upper-tailed   (p = chance of a right cup)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A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: p ≠ 0.5    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: p = 0.5     p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= 0.5,  two-sided   (p = chance of heads)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A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: μ &lt; 28 g   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: μ = 28 g    μ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= 28 g,  lower-tailed</a:t>
            </a:r>
          </a:p>
        </p:txBody>
      </p:sp>
    </p:spTree>
    <p:extLst>
      <p:ext uri="{BB962C8B-B14F-4D97-AF65-F5344CB8AC3E}">
        <p14:creationId xmlns:p14="http://schemas.microsoft.com/office/powerpoint/2010/main" val="3007873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Conditional probability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8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conditional probability  P(A | B)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probability that A happens, given that B is true;  the bar | is read “given”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3704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in a significance 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7994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every probability is worked out given H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 is true:  P(8 of 8 | H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 true) = 0.5⁸ ≈ 0.004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74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Test statistics and P-values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9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test statistic  z</a:t>
            </a:r>
            <a:r>
              <a:rPr lang="en-US" sz="1600" baseline="-25000">
                <a:solidFill>
                  <a:srgbClr val="000000"/>
                </a:solidFill>
              </a:rPr>
              <a:t>obs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z</a:t>
            </a:r>
            <a:r>
              <a:rPr lang="en-US" sz="1600" b="1" baseline="-25000">
                <a:solidFill>
                  <a:srgbClr val="C00000"/>
                </a:solidFill>
              </a:rPr>
              <a:t>obs</a:t>
            </a:r>
            <a:r>
              <a:rPr lang="en-US" sz="1600" b="1">
                <a:solidFill>
                  <a:srgbClr val="C00000"/>
                </a:solidFill>
              </a:rPr>
              <a:t> = (estimate − θ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) / SE:  how many SEs the estimate is from θ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P-value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probability of observing a value as or more extreme than the test statistic, when H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 is true</a:t>
            </a:r>
          </a:p>
          <a:p>
            <a:r>
              <a:rPr lang="en-US" sz="1600" b="1">
                <a:solidFill>
                  <a:srgbClr val="C00000"/>
                </a:solidFill>
              </a:rPr>
              <a:t>upper-tailed:  P(Z ≥ z</a:t>
            </a:r>
            <a:r>
              <a:rPr lang="en-US" sz="1600" b="1" baseline="-25000">
                <a:solidFill>
                  <a:srgbClr val="C00000"/>
                </a:solidFill>
              </a:rPr>
              <a:t>obs</a:t>
            </a:r>
            <a:r>
              <a:rPr lang="en-US" sz="1600" b="1">
                <a:solidFill>
                  <a:srgbClr val="C00000"/>
                </a:solidFill>
              </a:rPr>
              <a:t> | H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 true)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849409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significance level </a:t>
            </a:r>
            <a:r>
              <a:rPr lang="el-GR" sz="1600">
                <a:solidFill>
                  <a:srgbClr val="000000"/>
                </a:solidFill>
              </a:rPr>
              <a:t>α</a:t>
            </a: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4194849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cutoff, chosen before collecting data;  usually α = 0.05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252B31-0A80-8297-9AB5-9AED735ACDE2}"/>
              </a:ext>
            </a:extLst>
          </p:cNvPr>
          <p:cNvSpPr txBox="1"/>
          <p:nvPr/>
        </p:nvSpPr>
        <p:spPr>
          <a:xfrm>
            <a:off x="762000" y="4711203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the decision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980B2D-2D53-A814-88AF-46C2FDF3E298}"/>
              </a:ext>
            </a:extLst>
          </p:cNvPr>
          <p:cNvSpPr txBox="1"/>
          <p:nvPr/>
        </p:nvSpPr>
        <p:spPr>
          <a:xfrm>
            <a:off x="1117600" y="5056643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P-value &lt; α:  reject H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 (significant);    P-value ≥ α:  do not reject H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372870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taste-test P-values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10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A second friend makes the same claim and takes a 6-cup test.  Test H</a:t>
            </a:r>
            <a:r>
              <a:rPr lang="en-US" baseline="-25000">
                <a:solidFill>
                  <a:srgbClr val="000000"/>
                </a:solidFill>
                <a:latin typeface="Calibri" panose="020F0502020204030204" pitchFamily="34" charset="0"/>
              </a:rPr>
              <a:t>0</a:t>
            </a: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: p = 0.5 against H</a:t>
            </a:r>
            <a:r>
              <a:rPr lang="en-US" baseline="-25000">
                <a:solidFill>
                  <a:srgbClr val="000000"/>
                </a:solidFill>
                <a:latin typeface="Calibri" panose="020F0502020204030204" pitchFamily="34" charset="0"/>
              </a:rPr>
              <a:t>A</a:t>
            </a: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: p &gt; 0.5 at α = 0.05.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roommate:  8 of 8 correct;      friend:  4 of 6 correct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If H</a:t>
            </a:r>
            <a:r>
              <a:rPr lang="en-US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 is true, what is the P-value for each?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is the decision for each?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If 256 people took the 8-cup test by pure guessing, how many would go 8 for 8?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838536"/>
            <a:ext cx="10668000" cy="14097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roommate:  P(8 of 8 |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true) = 0.5⁸ ≈ 0.004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      friend:  P(4 or more of 6 |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true) = 22/64 ≈ 0.34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roommate:  0.004 &lt; 0.05, reject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;     friend:  0.34 ≥ 0.05, do not reject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About 1:  a small P-value means rare luck or a false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, and we can’t be sure which</a:t>
            </a:r>
          </a:p>
        </p:txBody>
      </p:sp>
    </p:spTree>
    <p:extLst>
      <p:ext uri="{BB962C8B-B14F-4D97-AF65-F5344CB8AC3E}">
        <p14:creationId xmlns:p14="http://schemas.microsoft.com/office/powerpoint/2010/main" val="94102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Which tail is the P-value?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11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Polls put Candidate X at 52%.  Our poll of 1,000 likely voters finds 49.0%, so testing H</a:t>
            </a:r>
            <a:r>
              <a:rPr lang="en-US" baseline="-25000">
                <a:solidFill>
                  <a:srgbClr val="000000"/>
                </a:solidFill>
                <a:latin typeface="Calibri" panose="020F0502020204030204" pitchFamily="34" charset="0"/>
              </a:rPr>
              <a:t>0</a:t>
            </a: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: p = 0.52 gives z</a:t>
            </a:r>
            <a:r>
              <a:rPr lang="en-US" baseline="-25000">
                <a:solidFill>
                  <a:srgbClr val="000000"/>
                </a:solidFill>
                <a:latin typeface="Calibri" panose="020F0502020204030204" pitchFamily="34" charset="0"/>
              </a:rPr>
              <a:t>obs</a:t>
            </a: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 = −1.90.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274332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What is the P-value under each H</a:t>
            </a:r>
            <a:r>
              <a:rPr lang="en-US" b="1" baseline="-25000">
                <a:solidFill>
                  <a:srgbClr val="C00000"/>
                </a:solidFill>
                <a:latin typeface="Calibri" panose="020F0502020204030204" pitchFamily="34" charset="0"/>
              </a:rPr>
              <a:t>A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?  Which ones reject H</a:t>
            </a:r>
            <a:r>
              <a:rPr lang="en-US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 at α = 0.05?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5285264"/>
            <a:ext cx="10668000" cy="7747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upper:  P(Z ≥ −1.90) = 0.971      lower:  P(Z ≤ −1.90) = 0.029      two:  2 × 0.029 = 0.057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Only the lower-tailed test rejects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: 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A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must be set before seeing the data</a:t>
            </a:r>
          </a:p>
        </p:txBody>
      </p:sp>
      <p:pic>
        <p:nvPicPr>
          <p:cNvPr id="6" name="l22_tails.png" descr="Three standard normal curves, each with the poll z observed of -1.90 marked. Left, for the alternative p greater than 0.52: everything above -1.90 is shaded, almost the whole curve. Middle, p less than 0.52: the small lower tail below -1.90 is shaded. Right, p not equal to 0.52: both tails beyond -1.90 and 1.90 are shaded.">
            <a:extLst>
              <a:ext uri="{FF2B5EF4-FFF2-40B4-BE49-F238E27FC236}">
                <a16:creationId xmlns:a16="http://schemas.microsoft.com/office/drawing/2014/main" id="{86ACFF03-76A9-D68A-F87A-420449EBAC2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694464"/>
            <a:ext cx="10668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648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Testing a population proportion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12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when to use 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a categorical variable, and a claim H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: p = p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 about the proportion of successes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assumptions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a random sample,  and np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 ≥ 15  and  n(1 − p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) ≥ 15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test statistic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z</a:t>
            </a:r>
            <a:r>
              <a:rPr lang="en-US" sz="1600" b="1" baseline="-25000">
                <a:solidFill>
                  <a:srgbClr val="C00000"/>
                </a:solidFill>
              </a:rPr>
              <a:t>obs</a:t>
            </a:r>
            <a:r>
              <a:rPr lang="en-US" sz="1600" b="1">
                <a:solidFill>
                  <a:srgbClr val="C00000"/>
                </a:solidFill>
              </a:rPr>
              <a:t> = (p̂ − p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) / √(p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(1 − p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) / n):  the SE uses p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, because we assume H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 is true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252B31-0A80-8297-9AB5-9AED735ACDE2}"/>
              </a:ext>
            </a:extLst>
          </p:cNvPr>
          <p:cNvSpPr txBox="1"/>
          <p:nvPr/>
        </p:nvSpPr>
        <p:spPr>
          <a:xfrm>
            <a:off x="762000" y="4464982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P-value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980B2D-2D53-A814-88AF-46C2FDF3E298}"/>
              </a:ext>
            </a:extLst>
          </p:cNvPr>
          <p:cNvSpPr txBox="1"/>
          <p:nvPr/>
        </p:nvSpPr>
        <p:spPr>
          <a:xfrm>
            <a:off x="1117600" y="4810422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upper:  P(Z ≥ z</a:t>
            </a:r>
            <a:r>
              <a:rPr lang="en-US" sz="1600" b="1" baseline="-25000">
                <a:solidFill>
                  <a:srgbClr val="C00000"/>
                </a:solidFill>
              </a:rPr>
              <a:t>obs</a:t>
            </a:r>
            <a:r>
              <a:rPr lang="en-US" sz="1600" b="1">
                <a:solidFill>
                  <a:srgbClr val="C00000"/>
                </a:solidFill>
              </a:rPr>
              <a:t> | H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 true);   lower:  P(Z ≤ z</a:t>
            </a:r>
            <a:r>
              <a:rPr lang="en-US" sz="1600" b="1" baseline="-25000">
                <a:solidFill>
                  <a:srgbClr val="C00000"/>
                </a:solidFill>
              </a:rPr>
              <a:t>obs</a:t>
            </a:r>
            <a:r>
              <a:rPr lang="en-US" sz="1600" b="1">
                <a:solidFill>
                  <a:srgbClr val="C00000"/>
                </a:solidFill>
              </a:rPr>
              <a:t> | H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 true);   two-sided:  double the tail</a:t>
            </a:r>
          </a:p>
        </p:txBody>
      </p:sp>
    </p:spTree>
    <p:extLst>
      <p:ext uri="{BB962C8B-B14F-4D97-AF65-F5344CB8AC3E}">
        <p14:creationId xmlns:p14="http://schemas.microsoft.com/office/powerpoint/2010/main" val="1500905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cell phones and brain cancer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13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In a study of 420,019 cell phone users, 172 developed brain cancer.  For people who do not use cell phones, the rate is 0.034%.  Do cell phone users get brain cancer at a higher rate?  (OpenStax, Example 9.21)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551331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pt-BR" sz="2000" b="1">
                <a:solidFill>
                  <a:srgbClr val="000000"/>
                </a:solidFill>
                <a:latin typeface="Calibri" panose="020F0502020204030204" pitchFamily="34" charset="0"/>
              </a:rPr>
              <a:t>x = 172;     n = 420,019;     p</a:t>
            </a:r>
            <a:r>
              <a:rPr lang="pt-BR" sz="2000" b="1" baseline="-25000">
                <a:solidFill>
                  <a:srgbClr val="000000"/>
                </a:solidFill>
                <a:latin typeface="Calibri" panose="020F0502020204030204" pitchFamily="34" charset="0"/>
              </a:rPr>
              <a:t>0</a:t>
            </a:r>
            <a:r>
              <a:rPr lang="pt-BR" sz="2000" b="1">
                <a:solidFill>
                  <a:srgbClr val="000000"/>
                </a:solidFill>
                <a:latin typeface="Calibri" panose="020F0502020204030204" pitchFamily="34" charset="0"/>
              </a:rPr>
              <a:t> = 0.00034;     α = 0.005</a:t>
            </a:r>
            <a:endParaRPr lang="en-US" sz="2000" b="1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976841"/>
            <a:ext cx="10668000" cy="127727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are H</a:t>
            </a:r>
            <a:r>
              <a:rPr lang="en-US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 and H</a:t>
            </a:r>
            <a:r>
              <a:rPr lang="en-US" b="1" baseline="-25000">
                <a:solidFill>
                  <a:srgbClr val="C00000"/>
                </a:solidFill>
                <a:latin typeface="Calibri" panose="020F0502020204030204" pitchFamily="34" charset="0"/>
              </a:rPr>
              <a:t>A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?  Which tail?  Are the assumptions met?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are p̂, the standard error and z</a:t>
            </a:r>
            <a:r>
              <a:rPr lang="en-US" b="1" baseline="-25000">
                <a:solidFill>
                  <a:srgbClr val="C00000"/>
                </a:solidFill>
                <a:latin typeface="Calibri" panose="020F0502020204030204" pitchFamily="34" charset="0"/>
              </a:rPr>
              <a:t>obs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What is the P-value?  What is the decision at α = 0.005?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(d)  Why would we choose such a small α here?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4406514"/>
            <a:ext cx="10668000" cy="17272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: p = 0.00034   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A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: p &gt; 0.00034,  upper-tailed;    np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= 142.8 ≥ 15,  n(1 − p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) ≥ 15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p̂ = 172 / 420,019 ≈ 0.0004095;    SE = √(p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(1 − p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) / n) ≈ 0.00002845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      z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obs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= (0.0004095 − 0.00034) / 0.00002845 ≈ 2.44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P(Z ≥ 2.44 |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true) = 1 − 0.9927 = 0.0073 ≥ 0.005:   do not reject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(d)  Rejecting a true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would wrongly blame phones for cancer, so we ask for strong evidence</a:t>
            </a:r>
          </a:p>
        </p:txBody>
      </p:sp>
    </p:spTree>
    <p:extLst>
      <p:ext uri="{BB962C8B-B14F-4D97-AF65-F5344CB8AC3E}">
        <p14:creationId xmlns:p14="http://schemas.microsoft.com/office/powerpoint/2010/main" val="126512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Assumptions for a population proportion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14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both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a random sample;  each individual is a success or a failure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confidence interval for 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np̂ &gt; 5  and  n(1 − p̂) &gt; 5:  checked with p̂, because p is unknown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significance test for 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np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 ≥ 15  and  n(1 − p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) ≥ 15:  checked with p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, because we assume H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 is true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252B31-0A80-8297-9AB5-9AED735ACDE2}"/>
              </a:ext>
            </a:extLst>
          </p:cNvPr>
          <p:cNvSpPr txBox="1"/>
          <p:nvPr/>
        </p:nvSpPr>
        <p:spPr>
          <a:xfrm>
            <a:off x="762000" y="4464982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why they matter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980B2D-2D53-A814-88AF-46C2FDF3E298}"/>
              </a:ext>
            </a:extLst>
          </p:cNvPr>
          <p:cNvSpPr txBox="1"/>
          <p:nvPr/>
        </p:nvSpPr>
        <p:spPr>
          <a:xfrm>
            <a:off x="1117600" y="4810422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they make the sampling distribution of p̂ close to normal, so z-table areas are right</a:t>
            </a:r>
          </a:p>
        </p:txBody>
      </p:sp>
    </p:spTree>
    <p:extLst>
      <p:ext uri="{BB962C8B-B14F-4D97-AF65-F5344CB8AC3E}">
        <p14:creationId xmlns:p14="http://schemas.microsoft.com/office/powerpoint/2010/main" val="2039875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The five steps of a significance test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15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1. assumptions,  2. hypotheses</a:t>
            </a:r>
            <a:endParaRPr lang="en-US" sz="1600" baseline="-25000">
              <a:solidFill>
                <a:srgbClr val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a random sample (plus size or shape checks);   H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: θ = θ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  and  H</a:t>
            </a:r>
            <a:r>
              <a:rPr lang="en-US" sz="1600" b="1" baseline="-25000">
                <a:solidFill>
                  <a:srgbClr val="C00000"/>
                </a:solidFill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3. test statistic</a:t>
            </a:r>
            <a:endParaRPr lang="en-US" sz="1600" baseline="-25000">
              <a:solidFill>
                <a:srgbClr val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z</a:t>
            </a:r>
            <a:r>
              <a:rPr lang="en-US" sz="1600" b="1" baseline="-25000">
                <a:solidFill>
                  <a:srgbClr val="C00000"/>
                </a:solidFill>
              </a:rPr>
              <a:t>obs</a:t>
            </a:r>
            <a:r>
              <a:rPr lang="en-US" sz="1600" b="1">
                <a:solidFill>
                  <a:srgbClr val="C00000"/>
                </a:solidFill>
              </a:rPr>
              <a:t> = (estimate − θ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) / SE,  computed as if H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 were true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4. P-value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area beyond z</a:t>
            </a:r>
            <a:r>
              <a:rPr lang="en-US" sz="1600" b="1" baseline="-25000">
                <a:solidFill>
                  <a:srgbClr val="C00000"/>
                </a:solidFill>
              </a:rPr>
              <a:t>obs</a:t>
            </a:r>
            <a:r>
              <a:rPr lang="en-US" sz="1600" b="1">
                <a:solidFill>
                  <a:srgbClr val="C00000"/>
                </a:solidFill>
              </a:rPr>
              <a:t> in the tail or tails H</a:t>
            </a:r>
            <a:r>
              <a:rPr lang="en-US" sz="1600" b="1" baseline="-25000">
                <a:solidFill>
                  <a:srgbClr val="C00000"/>
                </a:solidFill>
              </a:rPr>
              <a:t>A</a:t>
            </a:r>
            <a:r>
              <a:rPr lang="en-US" sz="1600" b="1">
                <a:solidFill>
                  <a:srgbClr val="C00000"/>
                </a:solidFill>
              </a:rPr>
              <a:t> points to, if H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 were true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252B31-0A80-8297-9AB5-9AED735ACDE2}"/>
              </a:ext>
            </a:extLst>
          </p:cNvPr>
          <p:cNvSpPr txBox="1"/>
          <p:nvPr/>
        </p:nvSpPr>
        <p:spPr>
          <a:xfrm>
            <a:off x="762000" y="4464982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5. decision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980B2D-2D53-A814-88AF-46C2FDF3E298}"/>
              </a:ext>
            </a:extLst>
          </p:cNvPr>
          <p:cNvSpPr txBox="1"/>
          <p:nvPr/>
        </p:nvSpPr>
        <p:spPr>
          <a:xfrm>
            <a:off x="1117600" y="4810422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P-value &lt; α:  reject H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;  otherwise do not reject;  significant ≠ important</a:t>
            </a:r>
          </a:p>
        </p:txBody>
      </p:sp>
    </p:spTree>
    <p:extLst>
      <p:ext uri="{BB962C8B-B14F-4D97-AF65-F5344CB8AC3E}">
        <p14:creationId xmlns:p14="http://schemas.microsoft.com/office/powerpoint/2010/main" val="412465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Practice: is breakfast-skipping up?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16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Last year 30% of students skipped breakfast.  This fall, campus dining asks a random sample of 400 students, and 136 say they skip it.  Has the proportion gone up?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551331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n = 400;     136 skip breakfast;     p</a:t>
            </a:r>
            <a:r>
              <a:rPr lang="en-US" sz="2000" b="1" baseline="-25000">
                <a:solidFill>
                  <a:srgbClr val="0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 = 0.30;     </a:t>
            </a:r>
            <a:r>
              <a:rPr lang="el-GR" sz="2000" b="1">
                <a:solidFill>
                  <a:srgbClr val="000000"/>
                </a:solidFill>
                <a:latin typeface="Calibri" panose="020F0502020204030204" pitchFamily="34" charset="0"/>
              </a:rPr>
              <a:t>α = 0.05</a:t>
            </a:r>
            <a:endParaRPr lang="en-US" sz="2000" b="1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976841"/>
            <a:ext cx="10668000" cy="127727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Are the assumptions met?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are H</a:t>
            </a:r>
            <a:r>
              <a:rPr lang="en-US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 and H</a:t>
            </a:r>
            <a:r>
              <a:rPr lang="en-US" b="1" baseline="-25000">
                <a:solidFill>
                  <a:srgbClr val="C00000"/>
                </a:solidFill>
                <a:latin typeface="Calibri" panose="020F0502020204030204" pitchFamily="34" charset="0"/>
              </a:rPr>
              <a:t>A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?  Which tail?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What are p̂, the standard error and z</a:t>
            </a:r>
            <a:r>
              <a:rPr lang="en-US" b="1" baseline="-25000">
                <a:solidFill>
                  <a:srgbClr val="C00000"/>
                </a:solidFill>
                <a:latin typeface="Calibri" panose="020F0502020204030204" pitchFamily="34" charset="0"/>
              </a:rPr>
              <a:t>obs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(d)  What is the P-value?  What is the decision?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4406514"/>
            <a:ext cx="10668000" cy="14097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a random sample;   np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= 400(0.30) = 120 ≥ 15   and   n(1 − p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) = 280 ≥ 15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: p = 0.30    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A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: p &gt; 0.30;     upper-tailed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p̂ = 136 / 400 = 0.34;    SE = √(0.30 × 0.70 / 400) ≈ 0.0229;    z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obs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= 0.04 / 0.0229 ≈ 1.75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(d)  P(Z ≥ 1.75 |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true) = 1 − 0.9599 = 0.0401 &lt; 0.05:   reject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765335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4232</TotalTime>
  <Words>1787</Words>
  <Application>Microsoft Office PowerPoint</Application>
  <PresentationFormat>Widescreen</PresentationFormat>
  <Paragraphs>144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Lecture 23 Significance Tests</vt:lpstr>
      <vt:lpstr>Review</vt:lpstr>
      <vt:lpstr>Can you taste the difference?</vt:lpstr>
      <vt:lpstr>Why test a hypothesis?</vt:lpstr>
      <vt:lpstr>Significance tests</vt:lpstr>
      <vt:lpstr>Writing the hypotheses</vt:lpstr>
      <vt:lpstr>Example: stating hypotheses</vt:lpstr>
      <vt:lpstr>Conditional probability</vt:lpstr>
      <vt:lpstr>Test statistics and P-values</vt:lpstr>
      <vt:lpstr>Example: taste-test P-values</vt:lpstr>
      <vt:lpstr>Which tail is the P-value?</vt:lpstr>
      <vt:lpstr>Testing a population proportion</vt:lpstr>
      <vt:lpstr>Example: cell phones and brain cancer</vt:lpstr>
      <vt:lpstr>Assumptions for a population proportion</vt:lpstr>
      <vt:lpstr>The five steps of a significance test</vt:lpstr>
      <vt:lpstr>Practice: is breakfast-skipping up?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Jarred Kvamme</dc:creator>
  <cp:lastModifiedBy>Jarred Kvamme</cp:lastModifiedBy>
  <cp:revision>449</cp:revision>
  <dcterms:created xsi:type="dcterms:W3CDTF">2023-08-05T23:57:41Z</dcterms:created>
  <dcterms:modified xsi:type="dcterms:W3CDTF">2026-10-28T19:20:56Z</dcterms:modified>
</cp:coreProperties>
</file>