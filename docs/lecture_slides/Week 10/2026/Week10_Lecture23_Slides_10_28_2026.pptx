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36" r:id="rId3"/>
    <p:sldId id="457" r:id="rId4"/>
    <p:sldId id="467" r:id="rId5"/>
    <p:sldId id="458" r:id="rId6"/>
    <p:sldId id="459" r:id="rId7"/>
    <p:sldId id="460" r:id="rId8"/>
    <p:sldId id="466" r:id="rId9"/>
    <p:sldId id="4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23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Significance Tests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p* do we use to plan n when there is no earlier guess?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p* = 0.5:  it makes p*(1 − p*) largest, so n is big enough whatever p is.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null hypothesis H</a:t>
            </a:r>
            <a:r>
              <a:rPr lang="en-US" b="1" baseline="-25000"/>
              <a:t>0</a:t>
            </a:r>
            <a:r>
              <a:rPr lang="en-US" b="1"/>
              <a:t>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“No effect”:  nothing interesting is happening, e.g. they are just guessing.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the alternative hypothesis H</a:t>
            </a:r>
            <a:r>
              <a:rPr lang="en-US" b="1" baseline="-25000"/>
              <a:t>A</a:t>
            </a:r>
            <a:r>
              <a:rPr lang="en-US" b="1"/>
              <a:t>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“An effect”:  what we suspect is true, e.g. they can taste the difference.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8979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you taste the difference?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Your roommate claims they can tell Coke from Pepsi.  In a blind test, you pour one of the two at random, 8 times, and they name each cup.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8 of 8 cups named correctly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(1)  Can they really tell, or were they just lucky?  How could we decide?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(2)  If they were only guessing, how likely is 8 for 8?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(3)  What are the two ways to explain such a small probability?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(2)  (1/2)⁸ = 1/256 ≈ 0.004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(3)  Either something rare happened by chance, or “just guessing” is wrong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How rare is rare enough is our choice;  by convention, below 0.05</a:t>
            </a:r>
          </a:p>
        </p:txBody>
      </p:sp>
    </p:spTree>
    <p:extLst>
      <p:ext uri="{BB962C8B-B14F-4D97-AF65-F5344CB8AC3E}">
        <p14:creationId xmlns:p14="http://schemas.microsoft.com/office/powerpoint/2010/main" val="2805455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test a hypothesis?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hypothesis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claim about a population parameter (p or μ),  e.g. p = 0.5:  “they are just guessing”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purpose of a significance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to decide whether the data give convincing evidence against a hypothesis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assume the null hypothesis is true, then ask how unlikely our data would be under that hypothesis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0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Significance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statistically significant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decidedly not due to ordinary variation:  not chance, not a coincidence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significance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uses data to decide whether a result is statistically significant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null hypothesis H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“no effect”:  nothing interesting is happening, e.g. they are just guessing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alternative hypothesis H</a:t>
            </a:r>
            <a:r>
              <a:rPr lang="en-US" sz="1600" baseline="-2500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“an effect”:  what we suspect, e.g. they can taste the difference</a:t>
            </a:r>
          </a:p>
        </p:txBody>
      </p:sp>
    </p:spTree>
    <p:extLst>
      <p:ext uri="{BB962C8B-B14F-4D97-AF65-F5344CB8AC3E}">
        <p14:creationId xmlns:p14="http://schemas.microsoft.com/office/powerpoint/2010/main" val="3884269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Writing the hypotheses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θ  and  θ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  <a:r>
              <a:rPr lang="en-US" sz="1600">
                <a:solidFill>
                  <a:srgbClr val="000000"/>
                </a:solidFill>
              </a:rPr>
              <a:t>  (“theta” and “theta-naught”)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θ is the parameter (p or μ); 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the value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claims, e.g.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= 0.5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  <a:r>
              <a:rPr lang="en-US" sz="1600">
                <a:solidFill>
                  <a:srgbClr val="000000"/>
                </a:solidFill>
              </a:rPr>
              <a:t>: </a:t>
            </a:r>
            <a:r>
              <a:rPr lang="el-GR" sz="1600">
                <a:solidFill>
                  <a:srgbClr val="000000"/>
                </a:solidFill>
              </a:rPr>
              <a:t>θ =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always has the = sign, and is about a parameter, never p̂ or x̄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</a:t>
            </a:r>
            <a:r>
              <a:rPr lang="en-US" sz="1600" baseline="-25000">
                <a:solidFill>
                  <a:srgbClr val="000000"/>
                </a:solidFill>
              </a:rPr>
              <a:t>A</a:t>
            </a:r>
            <a:r>
              <a:rPr lang="en-US" sz="1600">
                <a:solidFill>
                  <a:srgbClr val="000000"/>
                </a:solidFill>
              </a:rPr>
              <a:t>: </a:t>
            </a:r>
            <a:r>
              <a:rPr lang="el-GR" sz="1600">
                <a:solidFill>
                  <a:srgbClr val="000000"/>
                </a:solidFill>
              </a:rPr>
              <a:t>θ &gt;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r>
              <a:rPr lang="el-GR" sz="1600">
                <a:solidFill>
                  <a:srgbClr val="000000"/>
                </a:solidFill>
              </a:rPr>
              <a:t>,  θ &lt;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r>
              <a:rPr lang="el-GR" sz="1600">
                <a:solidFill>
                  <a:srgbClr val="000000"/>
                </a:solidFill>
              </a:rPr>
              <a:t>  </a:t>
            </a:r>
            <a:r>
              <a:rPr lang="en-US" sz="1600">
                <a:solidFill>
                  <a:srgbClr val="000000"/>
                </a:solidFill>
              </a:rPr>
              <a:t>or  </a:t>
            </a:r>
            <a:r>
              <a:rPr lang="el-GR" sz="1600">
                <a:solidFill>
                  <a:srgbClr val="000000"/>
                </a:solidFill>
              </a:rPr>
              <a:t>θ ≠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upper-tailed, lower-tailed (one-sided)  or  two-sided;  set before seeing data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3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stating hypotheses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For each question, write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A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first (the suspicion), then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(no effect).  Give θ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and say which tail.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p = a population proportion;      </a:t>
            </a: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μ = 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a population mean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Your roommate names Coke or Pepsi.  Do they do better than guessing?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A coin is spun on a table.  Does it favor heads or tails?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A chip bag says 28 g.  Do the bags hold less than that on average?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&gt; 0.5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    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0.5,  upper-tailed   (p = chance of a right cup)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≠ 0.5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    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0.5,  two-sided   (p = chance of heads)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&lt; 28 g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= 28 g    μ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28 g,  lower-tailed</a:t>
            </a:r>
          </a:p>
        </p:txBody>
      </p:sp>
    </p:spTree>
    <p:extLst>
      <p:ext uri="{BB962C8B-B14F-4D97-AF65-F5344CB8AC3E}">
        <p14:creationId xmlns:p14="http://schemas.microsoft.com/office/powerpoint/2010/main" val="3007873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Conditional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conditional probability  P(A | B)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probability that A happens, given that B is true;  the bar | is read “given”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3704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in a significance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7994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every probability is worked out given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true:  P(8 of 8 |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true) = 0.5⁸ ≈ 0.004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7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Test statistics and P-values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test statistic  z</a:t>
            </a:r>
            <a:r>
              <a:rPr lang="en-US" sz="1600" baseline="-25000">
                <a:solidFill>
                  <a:srgbClr val="000000"/>
                </a:solidFill>
              </a:rPr>
              <a:t>obs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(estimate −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SE:  how many SEs the estimate is from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probability of observing a value as or more extreme than the test statistic, when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true</a:t>
            </a:r>
          </a:p>
          <a:p>
            <a:r>
              <a:rPr lang="en-US" sz="1600" b="1">
                <a:solidFill>
                  <a:srgbClr val="C00000"/>
                </a:solidFill>
              </a:rPr>
              <a:t>upper-tailed:  P(Z ≥ 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|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true)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849409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significance level </a:t>
            </a:r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194849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cutoff, chosen before collecting data;  usually α = 0.05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711203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decision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5056643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P-value &lt; α: 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(significant);    P-value ≥ α:  do not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372870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4232</TotalTime>
  <Words>784</Words>
  <Application>Microsoft Office PowerPoint</Application>
  <PresentationFormat>Widescreen</PresentationFormat>
  <Paragraphs>72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Lecture 23 Significance Tests</vt:lpstr>
      <vt:lpstr>Review</vt:lpstr>
      <vt:lpstr>Can you taste the difference?</vt:lpstr>
      <vt:lpstr>Why test a hypothesis?</vt:lpstr>
      <vt:lpstr>Significance tests</vt:lpstr>
      <vt:lpstr>Writing the hypotheses</vt:lpstr>
      <vt:lpstr>Example: stating hypotheses</vt:lpstr>
      <vt:lpstr>Conditional probability</vt:lpstr>
      <vt:lpstr>Test statistics and P-values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450</cp:revision>
  <dcterms:created xsi:type="dcterms:W3CDTF">2023-08-05T23:57:41Z</dcterms:created>
  <dcterms:modified xsi:type="dcterms:W3CDTF">2026-10-30T18:48:06Z</dcterms:modified>
</cp:coreProperties>
</file>