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30" r:id="rId2"/>
    <p:sldId id="449" r:id="rId3"/>
    <p:sldId id="450" r:id="rId4"/>
    <p:sldId id="451" r:id="rId5"/>
    <p:sldId id="455" r:id="rId6"/>
    <p:sldId id="456" r:id="rId7"/>
    <p:sldId id="466" r:id="rId8"/>
    <p:sldId id="457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821C1-92D8-0827-CE2B-80FEA840C2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4EA748-2C8E-5D78-5734-D9BCC16ECD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15553-DE39-3C41-4AFF-70F29A86E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2837C-8079-1B7F-0DCF-61C39ED30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95E205-162F-206E-F4C6-EB23D9DC1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8746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13490-30A7-12A6-2775-77578A346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7B95F-B119-D057-5670-8EC21A84E5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D001D-CEFB-FD30-FB40-0BEA5B52D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3377D-E7F3-D264-FB03-A4AF3E336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F48992-A907-9503-F005-BAA8A33CE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803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6B320-EDC1-EDD2-5F4C-2A675BD0C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8A940-1637-AC6F-0247-A5E578765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2A479-CAFF-245E-F61F-3D6F3E5C8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24E38-70F9-0CAE-F19E-6DDE60057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74C88-12BC-0657-008B-8419B1E10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099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02A09-336F-FDC8-F0C1-F84E09726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F6849-08AF-456F-8C3C-E6DE37B3B9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7E5562-6B4C-F11F-DF48-D254599EAA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A69C05-114E-11FE-5C76-D6F19175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71C5D0-A8D9-EEF2-15E4-CE74A390A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944C5-75A0-666E-C3DD-6839AB176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10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EC19E-080C-F794-EB45-FB4903CDD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85744A-FDBE-87AE-7AF1-3AC154DB2C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1970E4-B2B1-0370-3C26-0D1A5A0023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A4F036-B8A8-878F-A1CB-05DAE58015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8B7F82-EBC0-322A-130D-972F39800F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21A5BB-D71E-872F-6F0E-2279BE484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C56747-8CBE-BF00-C39A-F442E724C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2C14A-6287-B5B6-C760-7F506FD87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3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E9713-B0F2-9D1D-23FC-F5900F773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6FC7EC-16C8-C311-316C-6D99B4F99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FE4DA7-A4C5-460E-592C-CEF23DF38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3F89-7820-6BF8-A747-E433ED21A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44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EAD0FD-7A61-970C-10A9-76E2B39DA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F95651-C89A-3C9B-3D47-F7E5CAF6B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509228-92F1-54DE-D9B2-4AC018D50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303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3F474-02F7-A264-4B8D-717F5EB00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FA8C9F-750F-7D81-0E80-7FBCDEBEB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0A1C0B-C510-B118-D8FA-12722456A8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94604E-EC60-44AD-4B70-12B2B49AE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22C4B9-91B9-9E0E-9278-1C0433768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21E60F-F796-8B15-08E9-61BA30F0D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505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E564D-22A0-8A8D-C6FE-D62998433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713DEA-5246-B946-AFE4-3B305BCDB1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4208CC-31DD-00AF-BFC4-37F7B4BF3C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77E30D-B05F-B2CA-9A3C-E01E2B6B0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E08FCE-463A-D1B2-8A60-3B6744202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438537-A621-46D4-781D-4E36BF836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242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105C2-17EC-1173-1FC9-8A7FC1018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6BBB4A-325C-1F27-06A3-6F4F1A8F5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9A6F55-A1EF-6AEC-99F0-DBF50F5EB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A1FD1D-86F4-EDE3-1CCE-ADED2161B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E0593-ABE9-0E50-7A75-9252A5A1F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965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87FF77-0DAD-7CA9-B02D-208C020489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9298FA-F111-2C9C-551D-A1F30B239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F1B556-1ED0-55E4-9235-352E1A162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4A71E-8AC3-EA68-1DCB-99E68A465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B1CF60-74F8-B2C5-26C3-77536C36C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36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18B48B-0371-7ADD-E5C3-345B4D6CB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BB5A92-73C5-8CE0-7C84-BE7902E60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5212B-F67A-E417-B1FE-C389458DF2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882561-BD16-4A95-ACA1-5204E478F2FE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9799A-D006-E28E-8EED-4BE2AFCB8D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69CB4-3B3A-FD13-F7E0-B4A0F34767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91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F151A-3AFE-974F-DDC4-9B99389C3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4105419"/>
          </a:xfrm>
        </p:spPr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Lecture 22</a:t>
            </a:r>
            <a:br>
              <a:rPr lang="en-US">
                <a:solidFill>
                  <a:srgbClr val="1F3864"/>
                </a:solidFill>
              </a:rPr>
            </a:br>
            <a:r>
              <a:rPr lang="en-US">
                <a:solidFill>
                  <a:srgbClr val="1F3864"/>
                </a:solidFill>
              </a:rPr>
              <a:t>Sample Size and Chance</a:t>
            </a:r>
            <a:endParaRPr lang="en-US" dirty="0">
              <a:solidFill>
                <a:srgbClr val="1F386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564792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Review: which interval?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a proportion 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p̂ ± z √(p̂(1 − p̂) / n),   when np̂ &gt; 5 and n(1 − p̂) &gt; 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413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a mean μ, σ known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0868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x̄ ± z </a:t>
            </a:r>
            <a:r>
              <a:rPr lang="el-GR" sz="1600" b="1">
                <a:solidFill>
                  <a:srgbClr val="C00000"/>
                </a:solidFill>
              </a:rPr>
              <a:t>σ / √</a:t>
            </a:r>
            <a:r>
              <a:rPr lang="en-US" sz="1600" b="1">
                <a:solidFill>
                  <a:srgbClr val="C00000"/>
                </a:solidFill>
              </a:rPr>
              <a:t>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031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a mean μ, σ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486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x̄ ± t s / √n,   with df = n − 1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252B31-0A80-8297-9AB5-9AED735ACDE2}"/>
              </a:ext>
            </a:extLst>
          </p:cNvPr>
          <p:cNvSpPr txBox="1"/>
          <p:nvPr/>
        </p:nvSpPr>
        <p:spPr>
          <a:xfrm>
            <a:off x="762000" y="4464982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when the t interval works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980B2D-2D53-A814-88AF-46C2FDF3E298}"/>
              </a:ext>
            </a:extLst>
          </p:cNvPr>
          <p:cNvSpPr txBox="1"/>
          <p:nvPr/>
        </p:nvSpPr>
        <p:spPr>
          <a:xfrm>
            <a:off x="1117600" y="4810422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population is roughly normal, or n ≥ 30</a:t>
            </a:r>
          </a:p>
        </p:txBody>
      </p:sp>
    </p:spTree>
    <p:extLst>
      <p:ext uri="{BB962C8B-B14F-4D97-AF65-F5344CB8AC3E}">
        <p14:creationId xmlns:p14="http://schemas.microsoft.com/office/powerpoint/2010/main" val="3339251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  <p:bldP spid="12" grpId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Data: seal whiskers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Ginter et al. (2012) measured the longest undamaged whisker of 92 seals and sea lions from 11 species, to study how whisker shape evolved.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551331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X = the total length of a seal’s longest whisker, in mm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5288241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One whisker per seal;  only each species’ n, mean and SD were published</a:t>
            </a:r>
          </a:p>
        </p:txBody>
      </p:sp>
      <p:graphicFrame>
        <p:nvGraphicFramePr>
          <p:cNvPr id="5" name="Data table">
            <a:extLst>
              <a:ext uri="{FF2B5EF4-FFF2-40B4-BE49-F238E27FC236}">
                <a16:creationId xmlns:a16="http://schemas.microsoft.com/office/drawing/2014/main" id="{107D57CA-D659-5E39-E6B7-B1821FDE19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8637757"/>
              </p:ext>
            </p:extLst>
          </p:nvPr>
        </p:nvGraphicFramePr>
        <p:xfrm>
          <a:off x="762000" y="3053041"/>
          <a:ext cx="8001000" cy="2133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330255408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3431246229"/>
                    </a:ext>
                  </a:extLst>
                </a:gridCol>
                <a:gridCol w="2921000">
                  <a:extLst>
                    <a:ext uri="{9D8B030D-6E8A-4147-A177-3AD203B41FA5}">
                      <a16:colId xmlns:a16="http://schemas.microsoft.com/office/drawing/2014/main" val="1739093344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235299281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SPECIES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SEALS (n)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MEAN LENGTH (mm)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SD (mm)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73597910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Harp seal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16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80.6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10.8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8848343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Harbor seal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15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86.5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10.5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21469226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Ringed seal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16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79.6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10.9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289354513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Spotted seal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9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91.2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7.9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52587576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Gray seal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73.8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12.5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44972088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3812871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42641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spotted seal whiskers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4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Estimate μ, the mean whisker length of all spotted seals, from the 9 that were measured.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pt-BR" sz="2000" b="1">
                <a:solidFill>
                  <a:srgbClr val="000000"/>
                </a:solidFill>
                <a:latin typeface="Calibri" panose="020F0502020204030204" pitchFamily="34" charset="0"/>
              </a:rPr>
              <a:t>n = 9;     x̄ = 91.2 mm;     s = 7.9 mm</a:t>
            </a:r>
            <a:endParaRPr lang="en-US" sz="2000" b="1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711510"/>
            <a:ext cx="10668000" cy="9746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z or t?  How many degrees of freedom?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What is the standard error?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(c)  What is the 95% confidence interval for μ?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3838536"/>
            <a:ext cx="10668000" cy="109805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t, because σ is unknown;   df = 9 − 1 = 8,   t = 2.306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(b)  7.9 / √9 ≈ 2.63 mm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(c)  91.2 ± 2.306(2.63) = 91.2 ± 6.06:   85.1 to 97.3 mm</a:t>
            </a:r>
          </a:p>
        </p:txBody>
      </p:sp>
    </p:spTree>
    <p:extLst>
      <p:ext uri="{BB962C8B-B14F-4D97-AF65-F5344CB8AC3E}">
        <p14:creationId xmlns:p14="http://schemas.microsoft.com/office/powerpoint/2010/main" val="22801798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Choosing a sample size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5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margin of error 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± part of an interval:  m = z × SE,  so a larger n gives a smaller 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413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n for a proportion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0868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 = z² p*(1 − p*) / m²,  with p* = 0.5 if there is no earlier guess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031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n for a mean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486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 = (z σ / m)²,  with σ from an earlier study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252B31-0A80-8297-9AB5-9AED735ACDE2}"/>
              </a:ext>
            </a:extLst>
          </p:cNvPr>
          <p:cNvSpPr txBox="1"/>
          <p:nvPr/>
        </p:nvSpPr>
        <p:spPr>
          <a:xfrm>
            <a:off x="762000" y="4464982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always round up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980B2D-2D53-A814-88AF-46C2FDF3E298}"/>
              </a:ext>
            </a:extLst>
          </p:cNvPr>
          <p:cNvSpPr txBox="1"/>
          <p:nvPr/>
        </p:nvSpPr>
        <p:spPr>
          <a:xfrm>
            <a:off x="1117600" y="4810422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 = 59.1 means 60:  rounding down misses the target m</a:t>
            </a:r>
          </a:p>
        </p:txBody>
      </p:sp>
    </p:spTree>
    <p:extLst>
      <p:ext uri="{BB962C8B-B14F-4D97-AF65-F5344CB8AC3E}">
        <p14:creationId xmlns:p14="http://schemas.microsoft.com/office/powerpoint/2010/main" val="1569739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  <p:bldP spid="12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planning the next study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6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Before collecting data, decide how many to measure so the 95% interval is as narrow as you need.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carriers:  m = 0.03,  p* = 0.5;      whiskers:  m = 2 mm,  σ ≈ 7.9 mm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711510"/>
            <a:ext cx="10668000" cy="9746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How many people for the proportion of *2 carriers?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How many spotted seals for the mean whisker length?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(c)  What happens to n if we want half the margin of error?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3838536"/>
            <a:ext cx="10668000" cy="109805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1.96² (0.5)(0.5) / 0.03² = 1067.1   →   1,068 people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(b)  (1.96 × 7.9 / 2)² = 59.9   →   60 seals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(c)  4 times as large:  m is squared on the bottom</a:t>
            </a:r>
          </a:p>
        </p:txBody>
      </p:sp>
    </p:spTree>
    <p:extLst>
      <p:ext uri="{BB962C8B-B14F-4D97-AF65-F5344CB8AC3E}">
        <p14:creationId xmlns:p14="http://schemas.microsoft.com/office/powerpoint/2010/main" val="85355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Practice: how many students?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7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Campus dining wants to estimate p, the proportion of students who skip breakfast, to within 4 percentage points with 90% confidence.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551331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m = 0.04;     90% confidence;     last year’s survey:  30% skip breakfast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976841"/>
            <a:ext cx="10668000" cy="9746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How many students should they survey, using last year’s 30%?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How many if there were no earlier survey?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(c)  Why is (b) larger?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4103867"/>
            <a:ext cx="10668000" cy="10922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1.645² (0.3)(0.7) / 0.04² = 355.2   →   356 students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(b)  1.645² (0.5)(0.5) / 0.04² = 422.8   →   423 students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(c)  p*(1 − p*) is largest at p* = 0.5, so 0.5 is the safe guess</a:t>
            </a:r>
          </a:p>
        </p:txBody>
      </p:sp>
    </p:spTree>
    <p:extLst>
      <p:ext uri="{BB962C8B-B14F-4D97-AF65-F5344CB8AC3E}">
        <p14:creationId xmlns:p14="http://schemas.microsoft.com/office/powerpoint/2010/main" val="17269211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Can you taste the difference?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8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Your roommate claims they can tell Coke from Pepsi.  In a blind test, you pour one of the two at random, 8 times, and they name each cup.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551331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8 of 8 cups named correctly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976841"/>
            <a:ext cx="10668000" cy="9746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(1)  Can they really tell, or were they just lucky?  How could we decide?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(2)  If they were only guessing, how likely is 8 for 8?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(3)  What are the two ways to explain such a small probability?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4103867"/>
            <a:ext cx="10668000" cy="10922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(2)  (1/2)⁸ = 1/256 ≈ 0.004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(3)  Either something rare happened by chance, or “just guessing” is wrong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       How rare is rare enough is our choice;  by convention, below 0.05</a:t>
            </a:r>
          </a:p>
        </p:txBody>
      </p:sp>
    </p:spTree>
    <p:extLst>
      <p:ext uri="{BB962C8B-B14F-4D97-AF65-F5344CB8AC3E}">
        <p14:creationId xmlns:p14="http://schemas.microsoft.com/office/powerpoint/2010/main" val="42644439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4232</TotalTime>
  <Words>833</Words>
  <Application>Microsoft Office PowerPoint</Application>
  <PresentationFormat>Widescreen</PresentationFormat>
  <Paragraphs>94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Lecture 22 Sample Size and Chance</vt:lpstr>
      <vt:lpstr>Review: which interval?</vt:lpstr>
      <vt:lpstr>Data: seal whiskers</vt:lpstr>
      <vt:lpstr>Example: spotted seal whiskers</vt:lpstr>
      <vt:lpstr>Choosing a sample size</vt:lpstr>
      <vt:lpstr>Example: planning the next study</vt:lpstr>
      <vt:lpstr>Practice: how many students?</vt:lpstr>
      <vt:lpstr>Can you taste the difference?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Jarred Kvamme</dc:creator>
  <cp:lastModifiedBy>Jarred Kvamme</cp:lastModifiedBy>
  <cp:revision>436</cp:revision>
  <dcterms:created xsi:type="dcterms:W3CDTF">2023-08-05T23:57:41Z</dcterms:created>
  <dcterms:modified xsi:type="dcterms:W3CDTF">2026-10-28T16:53:15Z</dcterms:modified>
</cp:coreProperties>
</file>