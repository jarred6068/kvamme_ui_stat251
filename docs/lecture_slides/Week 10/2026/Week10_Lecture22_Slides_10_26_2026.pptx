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449" r:id="rId3"/>
    <p:sldId id="450" r:id="rId4"/>
    <p:sldId id="451" r:id="rId5"/>
    <p:sldId id="455" r:id="rId6"/>
    <p:sldId id="456" r:id="rId7"/>
    <p:sldId id="466" r:id="rId8"/>
    <p:sldId id="457" r:id="rId9"/>
    <p:sldId id="458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5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22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Significance and P-values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Review: which interval?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proportion 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p̂ ± z √(p̂(1 − p̂) / n),   when np̂ &gt; 5 and n(1 − p̂) &gt;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mean μ, σ known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z </a:t>
            </a:r>
            <a:r>
              <a:rPr lang="el-GR" sz="1600" b="1">
                <a:solidFill>
                  <a:srgbClr val="C00000"/>
                </a:solidFill>
              </a:rPr>
              <a:t>σ / √</a:t>
            </a:r>
            <a:r>
              <a:rPr lang="en-US" sz="1600" b="1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mean μ, σ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t s / √n,   with df = n − 1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the t interval 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population is roughly normal, or n ≥ 30</a:t>
            </a:r>
          </a:p>
        </p:txBody>
      </p:sp>
    </p:spTree>
    <p:extLst>
      <p:ext uri="{BB962C8B-B14F-4D97-AF65-F5344CB8AC3E}">
        <p14:creationId xmlns:p14="http://schemas.microsoft.com/office/powerpoint/2010/main" val="333925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seal whiskers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Ginter et al. (2012) measured the longest undamaged whisker of 92 seals and sea lions from 11 species, to study how whisker shape evolved.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total length of a seal’s longest whisker, in mm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2882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One whisker per seal;  only each species’ n, mean and SD were published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637757"/>
              </p:ext>
            </p:extLst>
          </p:nvPr>
        </p:nvGraphicFramePr>
        <p:xfrm>
          <a:off x="762000" y="3053041"/>
          <a:ext cx="8001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7390933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3529928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SPECIES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SEALS (n)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MEAN LENGTH (mm)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SD (mm)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Harp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80.6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Harbor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86.5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Ringed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79.6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Spotted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91.2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Gray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73.8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12.5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381287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26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spotted seal whiskers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Estimate μ, the mean whisker length of all spotted seals, from the 9 that were measured.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n = 9;     x̄ = 91.2 mm;     s = 7.9 mm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z or t?  How many degrees of freedom?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standard error?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95% confidence interval for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t, because σ is unknown;   df = 9 − 1 = 8,   t = 2.306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7.9 / √9 ≈ 2.63 mm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91.2 ± 2.306(2.63) = 91.2 ± 6.06:   85.1 to 97.3 mm</a:t>
            </a:r>
          </a:p>
        </p:txBody>
      </p:sp>
    </p:spTree>
    <p:extLst>
      <p:ext uri="{BB962C8B-B14F-4D97-AF65-F5344CB8AC3E}">
        <p14:creationId xmlns:p14="http://schemas.microsoft.com/office/powerpoint/2010/main" val="228017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Choosing a sample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margin of error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± part of an interval:  m = z × SE,  so a larger n gives a smaller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 for a proportion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z² p*(1 − p*) / m²,  with p* = 0.5 if there is no earlier guess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 for a mean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(z σ / m)²,  with σ from an earlier study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always round 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59.1 means 60:  rounding down misses the target m</a:t>
            </a:r>
          </a:p>
        </p:txBody>
      </p:sp>
    </p:spTree>
    <p:extLst>
      <p:ext uri="{BB962C8B-B14F-4D97-AF65-F5344CB8AC3E}">
        <p14:creationId xmlns:p14="http://schemas.microsoft.com/office/powerpoint/2010/main" val="156973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planning the next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Before collecting data, decide how many to measure so the 95% interval is as narrow as you need.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carriers:  m = 0.03,  p* = 0.5;      whiskers:  m = 2 mm,  σ ≈ 7.9 mm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How many people for the proportion of *2 carriers?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spotted seals for the mean whisker length?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happens to n if we want half the margin of error?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1.96² (0.5)(0.5) / 0.03² = 1067.1   →   1,068 people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(1.96 × 7.9 / 2)² = 59.9   →   60 seals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4 times as large:  m is squared on the bottom</a:t>
            </a:r>
          </a:p>
        </p:txBody>
      </p:sp>
    </p:spTree>
    <p:extLst>
      <p:ext uri="{BB962C8B-B14F-4D97-AF65-F5344CB8AC3E}">
        <p14:creationId xmlns:p14="http://schemas.microsoft.com/office/powerpoint/2010/main" val="853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how many students?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Campus dining wants to estimate p, the proportion of students who skip breakfast, to within 4 percentage points with 90% confidence.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m = 0.04;     90% confidence;     last year’s survey:  30% skip breakfast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How many students should they survey, using last year’s 30%?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if there were no earlier survey?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Why is (b) larger?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3867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1.645² (0.3)(0.7) / 0.04² = 355.2   →   356 students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1.645² (0.5)(0.5) / 0.04² = 422.8   →   423 students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p*(1 − p*) is largest at p* = 0.5, so 0.5 is the safe guess</a:t>
            </a:r>
          </a:p>
        </p:txBody>
      </p:sp>
    </p:spTree>
    <p:extLst>
      <p:ext uri="{BB962C8B-B14F-4D97-AF65-F5344CB8AC3E}">
        <p14:creationId xmlns:p14="http://schemas.microsoft.com/office/powerpoint/2010/main" val="172692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Can you taste the difference?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Your roommate claims they can tell Coke from Pepsi.  In a blind test, you pour one of the two at random, 8 times, and they name each cup.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8 of 8 cups named correctly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(1)  Can they really tell, or were they just lucky?  How could we decide?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(2)  If they were only guessing, how likely is 8 for 8?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(3)  What are the two ways to explain such a small probability?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3867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(2)  (1/2)⁸ = 1/256 ≈ 0.004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(3)  Either something rare happened by chance, or “just guessing” is wrong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How rare is rare enough is our choice;  by convention, below 0.05</a:t>
            </a:r>
          </a:p>
        </p:txBody>
      </p:sp>
    </p:spTree>
    <p:extLst>
      <p:ext uri="{BB962C8B-B14F-4D97-AF65-F5344CB8AC3E}">
        <p14:creationId xmlns:p14="http://schemas.microsoft.com/office/powerpoint/2010/main" val="426444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Significance 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statistically significant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decidedly not due to ordinary variation:  not chance, not a coincidence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uses data to decide whether a result is statistically significant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null hypothesis H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“no effect”:  nothing interesting is happening, e.g. they are just guessing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alternative hypothesis H</a:t>
            </a:r>
            <a:r>
              <a:rPr lang="en-US" sz="1600" baseline="-250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“an effect”:  what we suspect, e.g. they can taste the difference</a:t>
            </a:r>
          </a:p>
        </p:txBody>
      </p:sp>
    </p:spTree>
    <p:extLst>
      <p:ext uri="{BB962C8B-B14F-4D97-AF65-F5344CB8AC3E}">
        <p14:creationId xmlns:p14="http://schemas.microsoft.com/office/powerpoint/2010/main" val="388426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Writing the hypotheses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θ  and  θ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  <a:r>
              <a:rPr lang="en-US" sz="1600">
                <a:solidFill>
                  <a:srgbClr val="000000"/>
                </a:solidFill>
              </a:rPr>
              <a:t>  (“theta” and “theta-naught”)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θ is the parameter (p or μ); 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the value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claims, e.g.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= 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  <a:r>
              <a:rPr lang="en-US" sz="1600">
                <a:solidFill>
                  <a:srgbClr val="000000"/>
                </a:solidFill>
              </a:rPr>
              <a:t>: </a:t>
            </a:r>
            <a:r>
              <a:rPr lang="el-GR" sz="1600">
                <a:solidFill>
                  <a:srgbClr val="000000"/>
                </a:solidFill>
              </a:rPr>
              <a:t>θ =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always has the = sign, and is about a parameter, never p̂ or x̄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</a:t>
            </a:r>
            <a:r>
              <a:rPr lang="en-US" sz="1600" baseline="-25000">
                <a:solidFill>
                  <a:srgbClr val="000000"/>
                </a:solidFill>
              </a:rPr>
              <a:t>A</a:t>
            </a:r>
            <a:r>
              <a:rPr lang="en-US" sz="1600">
                <a:solidFill>
                  <a:srgbClr val="000000"/>
                </a:solidFill>
              </a:rPr>
              <a:t>: </a:t>
            </a:r>
            <a:r>
              <a:rPr lang="el-GR" sz="1600">
                <a:solidFill>
                  <a:srgbClr val="000000"/>
                </a:solidFill>
              </a:rPr>
              <a:t>θ &gt;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r>
              <a:rPr lang="el-GR" sz="1600">
                <a:solidFill>
                  <a:srgbClr val="000000"/>
                </a:solidFill>
              </a:rPr>
              <a:t>,  θ &lt;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r>
              <a:rPr lang="el-GR" sz="1600">
                <a:solidFill>
                  <a:srgbClr val="000000"/>
                </a:solidFill>
              </a:rPr>
              <a:t>  </a:t>
            </a:r>
            <a:r>
              <a:rPr lang="en-US" sz="1600">
                <a:solidFill>
                  <a:srgbClr val="000000"/>
                </a:solidFill>
              </a:rPr>
              <a:t>or  </a:t>
            </a:r>
            <a:r>
              <a:rPr lang="el-GR" sz="1600">
                <a:solidFill>
                  <a:srgbClr val="000000"/>
                </a:solidFill>
              </a:rPr>
              <a:t>θ ≠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upper-tailed, lower-tailed (one-sided)  or  two-sided;  set before seeing data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3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stating hypotheses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question, write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first (the suspicion), then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(no effect).  Give θ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and say which tail.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p = a population proportion;     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μ = 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a population mean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Your roommate names Coke or Pepsi.  Do they do better than guessing?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 coin is spun on a table.  Does it favor heads or tails?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A chip bag says 28 g.  Do the bags hold less than that on average?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    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0.5,  upper-tailed   (p = chance of a right cup)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≠ 0.5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    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0.5,  two-sided   (p = chance of heads)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&lt; 28 g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= 28 g    μ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28 g,  lower-tailed</a:t>
            </a:r>
          </a:p>
        </p:txBody>
      </p:sp>
    </p:spTree>
    <p:extLst>
      <p:ext uri="{BB962C8B-B14F-4D97-AF65-F5344CB8AC3E}">
        <p14:creationId xmlns:p14="http://schemas.microsoft.com/office/powerpoint/2010/main" val="300787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Test statistics and P-values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test statistic  z</a:t>
            </a:r>
            <a:r>
              <a:rPr lang="en-US" sz="1600" baseline="-25000">
                <a:solidFill>
                  <a:srgbClr val="000000"/>
                </a:solidFill>
              </a:rPr>
              <a:t>obs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(estimate −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SE:  how many SEs the estimate is from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result as extreme as ours, or more, if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true;  upper-tailed:  P(Z ≥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level </a:t>
            </a:r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cutoff, chosen before collecting data;  usually α = 0.05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decision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P-value &lt; α: 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(significant);    P-value ≥ α:  do not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28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taste-test P-values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second friend makes the same claim and takes a 6-cup test.  Test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= 0.5 against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&gt; 0.5 at α = 0.05.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roommate:  8 of 8 correct;      friend:  4 of 6 correct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If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is true, what is the P-value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decision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If 256 people took the 8-cup test by pure guessing, how many would go 8 for 8?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409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roommate:  P(8 of 8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0.5⁸ ≈ 0.004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friend:  P(4 or more of 6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22/64 ≈ 0.34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roommate:  0.004 &lt; 0.05,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;     friend:  0.34 ≥ 0.05,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About 1:  a small P-value means rare luck or a false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, and we can’t be sure which</a:t>
            </a:r>
          </a:p>
        </p:txBody>
      </p:sp>
    </p:spTree>
    <p:extLst>
      <p:ext uri="{BB962C8B-B14F-4D97-AF65-F5344CB8AC3E}">
        <p14:creationId xmlns:p14="http://schemas.microsoft.com/office/powerpoint/2010/main" val="9410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Which tail is the P-value?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Polls put Candidate X at 52%.  Our poll of 1,000 likely voters finds 49.0%, so testing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= 0.52 gives z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obs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= −1.90.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74332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is the P-value under each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ones reject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at α = 0.05?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285264"/>
            <a:ext cx="10668000" cy="774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upper:  P(Z ≥ −1.90) = 0.971      lower:  P(Z ≤ −1.90) = 0.029      two:  2 × 0.029 = 0.057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Only the lower-tailed test rejects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must be set before seeing the data</a:t>
            </a:r>
          </a:p>
        </p:txBody>
      </p:sp>
      <p:pic>
        <p:nvPicPr>
          <p:cNvPr id="6" name="l22_tails.png" descr="Three standard normal curves, each with the poll z observed of -1.90 marked. Left, for the alternative p greater than 0.52: everything above -1.90 is shaded, almost the whole curve. Middle, p less than 0.52: the small lower tail below -1.90 is shaded. Right, p not equal to 0.52: both tails beyond -1.90 and 1.90 are shaded.">
            <a:extLst>
              <a:ext uri="{FF2B5EF4-FFF2-40B4-BE49-F238E27FC236}">
                <a16:creationId xmlns:a16="http://schemas.microsoft.com/office/drawing/2014/main" id="{86ACFF03-76A9-D68A-F87A-420449EBAC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94464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4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350,757 coin flips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physics model predicts a flipped coin lands on the side it started on about 51% of the time.  Bartoš et al. (2025) had 48 people flip coins to test it.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a flip lands on the side it started on, and 0 otherwise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46786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Each person recorded the side facing up before and after every flip, and filmed it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285308"/>
              </p:ext>
            </p:extLst>
          </p:nvPr>
        </p:nvGraphicFramePr>
        <p:xfrm>
          <a:off x="762000" y="3053041"/>
          <a:ext cx="8001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969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Calibri" panose="020F0502020204030204" pitchFamily="34" charset="0"/>
                        </a:rPr>
                        <a:t>who flipped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latin typeface="Calibri" panose="020F0502020204030204" pitchFamily="34" charset="0"/>
                        </a:rPr>
                        <a:t>flips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latin typeface="Calibri" panose="020F0502020204030204" pitchFamily="34" charset="0"/>
                        </a:rPr>
                        <a:t>students, for a thesis project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>
                          <a:latin typeface="Calibri" panose="020F0502020204030204" pitchFamily="34" charset="0"/>
                        </a:rPr>
                        <a:t>75,036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latin typeface="Calibri" panose="020F0502020204030204" pitchFamily="34" charset="0"/>
                        </a:rPr>
                        <a:t>coin-flipping marathons (up to 12 hours)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>
                          <a:latin typeface="Calibri" panose="020F0502020204030204" pitchFamily="34" charset="0"/>
                        </a:rPr>
                        <a:t>203,440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latin typeface="Calibri" panose="020F0502020204030204" pitchFamily="34" charset="0"/>
                        </a:rPr>
                        <a:t>volunteers recruited online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>
                          <a:latin typeface="Calibri" panose="020F0502020204030204" pitchFamily="34" charset="0"/>
                        </a:rPr>
                        <a:t>72,281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latin typeface="Calibri" panose="020F0502020204030204" pitchFamily="34" charset="0"/>
                        </a:rPr>
                        <a:t>350,757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451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do coins land the way they started?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Test whether flips land on their starting side more than half the time, at α = 0.05.  The model predicted the direction before any flips were made.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178,079 of n = 350,757 flips landed on the side they started on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p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,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p̂, the standard error and 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P-value?  What is the decision?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(d)  50.8% versus 50%:  is that a big difference?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406514"/>
            <a:ext cx="10668000" cy="1727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0.5;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0.5;     upper-tailed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p̂ = 178,079 / 350,757 ≈ 0.5077;     SE = √(0.5 × 0.5 / 350,757) ≈ 0.000844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(0.5077 − 0.5) / 0.000844 ≈ 9.1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P(Z ≥ 9.1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≈ 0, off the z-table:  less than 0.05, so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(d)  No:  about 1 extra in 130 flips.  Significant means “not chance”, not “big”</a:t>
            </a:r>
          </a:p>
        </p:txBody>
      </p:sp>
    </p:spTree>
    <p:extLst>
      <p:ext uri="{BB962C8B-B14F-4D97-AF65-F5344CB8AC3E}">
        <p14:creationId xmlns:p14="http://schemas.microsoft.com/office/powerpoint/2010/main" val="12651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five steps of a significance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1. assumptions,  2. hypotheses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random sample (plus size or shape checks);  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θ =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 and 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3. test statistic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(estimate −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SE,  computed as if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were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4. P-value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area beyond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in the tail or tails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  <a:r>
              <a:rPr lang="en-US" sz="1600" b="1">
                <a:solidFill>
                  <a:srgbClr val="C00000"/>
                </a:solidFill>
              </a:rPr>
              <a:t> points to, if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were true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5. decision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P-value &lt; α: 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;  otherwise do not reject;  significant ≠ important</a:t>
            </a:r>
          </a:p>
        </p:txBody>
      </p:sp>
    </p:spTree>
    <p:extLst>
      <p:ext uri="{BB962C8B-B14F-4D97-AF65-F5344CB8AC3E}">
        <p14:creationId xmlns:p14="http://schemas.microsoft.com/office/powerpoint/2010/main" val="4124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4232</TotalTime>
  <Words>1921</Words>
  <Application>Microsoft Office PowerPoint</Application>
  <PresentationFormat>Widescreen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Lecture 22 Significance and P-values</vt:lpstr>
      <vt:lpstr>Review: which interval?</vt:lpstr>
      <vt:lpstr>Data: seal whiskers</vt:lpstr>
      <vt:lpstr>Example: spotted seal whiskers</vt:lpstr>
      <vt:lpstr>Choosing a sample size</vt:lpstr>
      <vt:lpstr>Example: planning the next study</vt:lpstr>
      <vt:lpstr>Practice: how many students?</vt:lpstr>
      <vt:lpstr>Can you taste the difference?</vt:lpstr>
      <vt:lpstr>Significance tests</vt:lpstr>
      <vt:lpstr>Writing the hypotheses</vt:lpstr>
      <vt:lpstr>Example: stating hypotheses</vt:lpstr>
      <vt:lpstr>Test statistics and P-values</vt:lpstr>
      <vt:lpstr>Example: taste-test P-values</vt:lpstr>
      <vt:lpstr>Which tail is the P-value?</vt:lpstr>
      <vt:lpstr>Data: 350,757 coin flips</vt:lpstr>
      <vt:lpstr>Example: do coins land the way they started?</vt:lpstr>
      <vt:lpstr>The five steps of a significance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435</cp:revision>
  <dcterms:created xsi:type="dcterms:W3CDTF">2023-08-05T23:57:41Z</dcterms:created>
  <dcterms:modified xsi:type="dcterms:W3CDTF">2026-10-26T18:54:53Z</dcterms:modified>
</cp:coreProperties>
</file>