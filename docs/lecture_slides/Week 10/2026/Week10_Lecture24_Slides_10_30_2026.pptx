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436" r:id="rId3"/>
    <p:sldId id="471" r:id="rId4"/>
    <p:sldId id="476" r:id="rId5"/>
    <p:sldId id="468" r:id="rId6"/>
    <p:sldId id="465" r:id="rId7"/>
    <p:sldId id="472" r:id="rId8"/>
    <p:sldId id="473" r:id="rId9"/>
    <p:sldId id="474" r:id="rId10"/>
    <p:sldId id="47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10/30/2026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24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Tests for p and μ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6479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   </a:t>
            </a:r>
            <a:r>
              <a:rPr lang="en-US" b="1"/>
              <a:t>A drug maker says 80% of patients improve.  A doctor suspects fewer do.  State H</a:t>
            </a:r>
            <a:r>
              <a:rPr lang="en-US" b="1" baseline="-25000"/>
              <a:t>0</a:t>
            </a:r>
            <a:r>
              <a:rPr lang="en-US" b="1"/>
              <a:t> and H</a:t>
            </a:r>
            <a:r>
              <a:rPr lang="en-US" b="1" baseline="-25000"/>
              <a:t>A</a:t>
            </a:r>
            <a:r>
              <a:rPr lang="en-US" b="1"/>
              <a:t>.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H</a:t>
            </a:r>
            <a:r>
              <a:rPr lang="en-US" sz="1600" baseline="-25000">
                <a:solidFill>
                  <a:srgbClr val="C00000"/>
                </a:solidFill>
              </a:rPr>
              <a:t>0</a:t>
            </a:r>
            <a:r>
              <a:rPr lang="en-US" sz="1600">
                <a:solidFill>
                  <a:srgbClr val="C00000"/>
                </a:solidFill>
              </a:rPr>
              <a:t>: p = 0.80     H</a:t>
            </a:r>
            <a:r>
              <a:rPr lang="en-US" sz="1600" baseline="-25000">
                <a:solidFill>
                  <a:srgbClr val="C00000"/>
                </a:solidFill>
              </a:rPr>
              <a:t>A</a:t>
            </a:r>
            <a:r>
              <a:rPr lang="en-US" sz="1600">
                <a:solidFill>
                  <a:srgbClr val="C00000"/>
                </a:solidFill>
              </a:rPr>
              <a:t>: p &lt; 0.80     (p</a:t>
            </a:r>
            <a:r>
              <a:rPr lang="en-US" sz="1600" baseline="-25000">
                <a:solidFill>
                  <a:srgbClr val="C00000"/>
                </a:solidFill>
              </a:rPr>
              <a:t>0</a:t>
            </a:r>
            <a:r>
              <a:rPr lang="en-US" sz="1600">
                <a:solidFill>
                  <a:srgbClr val="C00000"/>
                </a:solidFill>
              </a:rPr>
              <a:t> = 0.80,  lower-tailed)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   </a:t>
            </a:r>
            <a:r>
              <a:rPr lang="en-US" b="1"/>
              <a:t>What is the test statistic z</a:t>
            </a:r>
            <a:r>
              <a:rPr lang="en-US" b="1" baseline="-25000"/>
              <a:t>obs</a:t>
            </a:r>
            <a:r>
              <a:rPr lang="en-US" b="1"/>
              <a:t>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How many SEs the estimate is from θ</a:t>
            </a:r>
            <a:r>
              <a:rPr lang="en-US" sz="1600" baseline="-25000">
                <a:solidFill>
                  <a:srgbClr val="C00000"/>
                </a:solidFill>
              </a:rPr>
              <a:t>0</a:t>
            </a:r>
            <a:r>
              <a:rPr lang="en-US" sz="1600">
                <a:solidFill>
                  <a:srgbClr val="C00000"/>
                </a:solidFill>
              </a:rPr>
              <a:t>:  z</a:t>
            </a:r>
            <a:r>
              <a:rPr lang="en-US" sz="1600" baseline="-25000">
                <a:solidFill>
                  <a:srgbClr val="C00000"/>
                </a:solidFill>
              </a:rPr>
              <a:t>obs</a:t>
            </a:r>
            <a:r>
              <a:rPr lang="en-US" sz="1600">
                <a:solidFill>
                  <a:srgbClr val="C00000"/>
                </a:solidFill>
              </a:rPr>
              <a:t> = (estimate − θ</a:t>
            </a:r>
            <a:r>
              <a:rPr lang="en-US" sz="1600" baseline="-25000">
                <a:solidFill>
                  <a:srgbClr val="C00000"/>
                </a:solidFill>
              </a:rPr>
              <a:t>0</a:t>
            </a:r>
            <a:r>
              <a:rPr lang="en-US" sz="1600">
                <a:solidFill>
                  <a:srgbClr val="C00000"/>
                </a:solidFill>
              </a:rPr>
              <a:t>) / SE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   </a:t>
            </a:r>
            <a:r>
              <a:rPr lang="en-US" b="1"/>
              <a:t>What is the P-value?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probability of a result as or more extreme than z</a:t>
            </a:r>
            <a:r>
              <a:rPr lang="en-US" sz="1600" baseline="-25000">
                <a:solidFill>
                  <a:srgbClr val="C00000"/>
                </a:solidFill>
              </a:rPr>
              <a:t>obs</a:t>
            </a:r>
            <a:r>
              <a:rPr lang="en-US" sz="1600">
                <a:solidFill>
                  <a:srgbClr val="C00000"/>
                </a:solidFill>
              </a:rPr>
              <a:t>, if H</a:t>
            </a:r>
            <a:r>
              <a:rPr lang="en-US" sz="1600" baseline="-25000">
                <a:solidFill>
                  <a:srgbClr val="C00000"/>
                </a:solidFill>
              </a:rPr>
              <a:t>0</a:t>
            </a:r>
            <a:r>
              <a:rPr lang="en-US" sz="1600">
                <a:solidFill>
                  <a:srgbClr val="C00000"/>
                </a:solidFill>
              </a:rPr>
              <a:t> is true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3528979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Making a decision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significance level </a:t>
            </a:r>
            <a:r>
              <a:rPr lang="el-GR" sz="1600">
                <a:solidFill>
                  <a:srgbClr val="000000"/>
                </a:solidFill>
              </a:rPr>
              <a:t>α</a:t>
            </a:r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cutoff for “rare enough”, chosen before collecting data;  usually α = 0.05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P-value &lt; </a:t>
            </a:r>
            <a:r>
              <a:rPr lang="el-GR" sz="1600">
                <a:solidFill>
                  <a:srgbClr val="000000"/>
                </a:solidFill>
              </a:rPr>
              <a:t>α</a:t>
            </a:r>
            <a:endParaRPr lang="en-US" sz="1600">
              <a:solidFill>
                <a:srgbClr val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reject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:  the result is statistically significant, evidence for H</a:t>
            </a:r>
            <a:r>
              <a:rPr lang="en-US" sz="1600" b="1" baseline="-25000">
                <a:solidFill>
                  <a:srgbClr val="C00000"/>
                </a:solidFill>
              </a:rPr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P-value ≥ </a:t>
            </a:r>
            <a:r>
              <a:rPr lang="el-GR" sz="1600">
                <a:solidFill>
                  <a:srgbClr val="000000"/>
                </a:solidFill>
              </a:rPr>
              <a:t>α</a:t>
            </a:r>
            <a:endParaRPr lang="en-US" sz="1600" baseline="-25000">
              <a:solidFill>
                <a:srgbClr val="00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do not reject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:  the data are not convincing evidence for H</a:t>
            </a:r>
            <a:r>
              <a:rPr lang="en-US" sz="1600" b="1" baseline="-25000">
                <a:solidFill>
                  <a:srgbClr val="C00000"/>
                </a:solidFill>
              </a:rPr>
              <a:t>A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252B31-0A80-8297-9AB5-9AED735ACDE2}"/>
              </a:ext>
            </a:extLst>
          </p:cNvPr>
          <p:cNvSpPr txBox="1"/>
          <p:nvPr/>
        </p:nvSpPr>
        <p:spPr>
          <a:xfrm>
            <a:off x="762000" y="4464982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“do not reject” is not “accept”</a:t>
            </a:r>
            <a:endParaRPr lang="en-US" sz="1600" baseline="-25000">
              <a:solidFill>
                <a:srgbClr val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980B2D-2D53-A814-88AF-46C2FDF3E298}"/>
              </a:ext>
            </a:extLst>
          </p:cNvPr>
          <p:cNvSpPr txBox="1"/>
          <p:nvPr/>
        </p:nvSpPr>
        <p:spPr>
          <a:xfrm>
            <a:off x="1117600" y="4810422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not rejecting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does not prove it true;  the evidence just isn’t strong enough</a:t>
            </a:r>
          </a:p>
        </p:txBody>
      </p:sp>
    </p:spTree>
    <p:extLst>
      <p:ext uri="{BB962C8B-B14F-4D97-AF65-F5344CB8AC3E}">
        <p14:creationId xmlns:p14="http://schemas.microsoft.com/office/powerpoint/2010/main" val="1285104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P-values and decisions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For each test, write the P-value as a probability given H</a:t>
            </a:r>
            <a:r>
              <a:rPr lang="en-US" baseline="-25000">
                <a:solidFill>
                  <a:srgbClr val="000000"/>
                </a:solidFill>
                <a:latin typeface="Calibri" panose="020F0502020204030204" pitchFamily="34" charset="0"/>
              </a:rPr>
              <a:t>0</a:t>
            </a: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 is true.  Then use its value to make a decision.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74332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pt-BR" sz="2000" b="1">
                <a:solidFill>
                  <a:srgbClr val="000000"/>
                </a:solidFill>
                <a:latin typeface="Calibri" panose="020F0502020204030204" pitchFamily="34" charset="0"/>
              </a:rPr>
              <a:t>P-value = P(  ?  | H</a:t>
            </a:r>
            <a:r>
              <a:rPr lang="pt-BR" sz="2000" b="1" baseline="-25000">
                <a:solidFill>
                  <a:srgbClr val="000000"/>
                </a:solidFill>
                <a:latin typeface="Calibri" panose="020F0502020204030204" pitchFamily="34" charset="0"/>
              </a:rPr>
              <a:t>0</a:t>
            </a:r>
            <a:r>
              <a:rPr lang="pt-BR" sz="2000" b="1">
                <a:solidFill>
                  <a:srgbClr val="000000"/>
                </a:solidFill>
                <a:latin typeface="Calibri" panose="020F0502020204030204" pitchFamily="34" charset="0"/>
              </a:rPr>
              <a:t> true)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699842"/>
            <a:ext cx="10668000" cy="9779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  <a:tabLst>
                <a:tab pos="2159000" algn="l"/>
                <a:tab pos="4191000" algn="l"/>
                <a:tab pos="7112000" algn="l"/>
                <a:tab pos="8636000" algn="l"/>
              </a:tabLs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H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: p = 0.40	H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A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: p &gt; 0.40	z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obs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 = 1.52	</a:t>
            </a:r>
            <a:r>
              <a:rPr lang="el-GR" b="1">
                <a:solidFill>
                  <a:srgbClr val="C00000"/>
                </a:solidFill>
                <a:latin typeface="Calibri" panose="020F0502020204030204" pitchFamily="34" charset="0"/>
              </a:rPr>
              <a:t>α = 0.05	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P-value = 0.0643</a:t>
            </a:r>
          </a:p>
          <a:p>
            <a:pPr>
              <a:spcAft>
                <a:spcPts val="200"/>
              </a:spcAft>
              <a:tabLst>
                <a:tab pos="2159000" algn="l"/>
                <a:tab pos="4191000" algn="l"/>
                <a:tab pos="7112000" algn="l"/>
                <a:tab pos="8636000" algn="l"/>
              </a:tabLs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H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: </a:t>
            </a:r>
            <a:r>
              <a:rPr lang="el-GR" b="1">
                <a:solidFill>
                  <a:srgbClr val="C00000"/>
                </a:solidFill>
                <a:latin typeface="Calibri" panose="020F0502020204030204" pitchFamily="34" charset="0"/>
              </a:rPr>
              <a:t>μ = 12	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H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A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: </a:t>
            </a:r>
            <a:r>
              <a:rPr lang="el-GR" b="1">
                <a:solidFill>
                  <a:srgbClr val="C00000"/>
                </a:solidFill>
                <a:latin typeface="Calibri" panose="020F0502020204030204" pitchFamily="34" charset="0"/>
              </a:rPr>
              <a:t>μ &lt; 12	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t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obs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 = −2.30,  df = 15	</a:t>
            </a:r>
            <a:r>
              <a:rPr lang="el-GR" b="1">
                <a:solidFill>
                  <a:srgbClr val="C00000"/>
                </a:solidFill>
                <a:latin typeface="Calibri" panose="020F0502020204030204" pitchFamily="34" charset="0"/>
              </a:rPr>
              <a:t>α = 0.01	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P-value = 0.0181</a:t>
            </a:r>
          </a:p>
          <a:p>
            <a:pPr>
              <a:spcAft>
                <a:spcPts val="200"/>
              </a:spcAft>
              <a:tabLst>
                <a:tab pos="2159000" algn="l"/>
                <a:tab pos="4191000" algn="l"/>
                <a:tab pos="7112000" algn="l"/>
                <a:tab pos="8636000" algn="l"/>
              </a:tabLs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H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: </a:t>
            </a:r>
            <a:r>
              <a:rPr lang="el-GR" b="1">
                <a:solidFill>
                  <a:srgbClr val="C00000"/>
                </a:solidFill>
                <a:latin typeface="Calibri" panose="020F0502020204030204" pitchFamily="34" charset="0"/>
              </a:rPr>
              <a:t>μ = 50	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H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A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: </a:t>
            </a:r>
            <a:r>
              <a:rPr lang="el-GR" b="1">
                <a:solidFill>
                  <a:srgbClr val="C00000"/>
                </a:solidFill>
                <a:latin typeface="Calibri" panose="020F0502020204030204" pitchFamily="34" charset="0"/>
              </a:rPr>
              <a:t>μ ≠ 50	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z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obs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 = −2.10	</a:t>
            </a:r>
            <a:r>
              <a:rPr lang="el-GR" b="1">
                <a:solidFill>
                  <a:srgbClr val="C00000"/>
                </a:solidFill>
                <a:latin typeface="Calibri" panose="020F0502020204030204" pitchFamily="34" charset="0"/>
              </a:rPr>
              <a:t>α = 0.05	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P-value = 0.0358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830142"/>
            <a:ext cx="10668000" cy="10922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P(Z ≥ 1.52 |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true) = 0.0643 ≥ 0.05:    do not reject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P(T ≤ −2.30 |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true) = 0.0181 ≥ 0.01:    do not reject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P(Z ≤ −2.10 or Z ≥ 2.10 |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true) = 2(0.0179) = 0.0358 &lt; 0.05:    reject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406681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Testing a population proportion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when to use 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categorical variable, and a claim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: p = p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about the proportion of successes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assumptions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random sample,  and np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≥ 15  and  n(1 − p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) ≥ 15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test statistic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z</a:t>
            </a:r>
            <a:r>
              <a:rPr lang="en-US" sz="1600" b="1" baseline="-25000">
                <a:solidFill>
                  <a:srgbClr val="C00000"/>
                </a:solidFill>
              </a:rPr>
              <a:t>obs</a:t>
            </a:r>
            <a:r>
              <a:rPr lang="en-US" sz="1600" b="1">
                <a:solidFill>
                  <a:srgbClr val="C00000"/>
                </a:solidFill>
              </a:rPr>
              <a:t> = (p̂ − p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) / √(p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(1 − p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) / n):  the SE uses p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, because we assume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is true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252B31-0A80-8297-9AB5-9AED735ACDE2}"/>
              </a:ext>
            </a:extLst>
          </p:cNvPr>
          <p:cNvSpPr txBox="1"/>
          <p:nvPr/>
        </p:nvSpPr>
        <p:spPr>
          <a:xfrm>
            <a:off x="762000" y="4464982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P-value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980B2D-2D53-A814-88AF-46C2FDF3E298}"/>
              </a:ext>
            </a:extLst>
          </p:cNvPr>
          <p:cNvSpPr txBox="1"/>
          <p:nvPr/>
        </p:nvSpPr>
        <p:spPr>
          <a:xfrm>
            <a:off x="1117600" y="4810422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upper:  P(Z ≥ z</a:t>
            </a:r>
            <a:r>
              <a:rPr lang="en-US" sz="1600" b="1" baseline="-25000">
                <a:solidFill>
                  <a:srgbClr val="C00000"/>
                </a:solidFill>
              </a:rPr>
              <a:t>obs</a:t>
            </a:r>
            <a:r>
              <a:rPr lang="en-US" sz="1600" b="1">
                <a:solidFill>
                  <a:srgbClr val="C00000"/>
                </a:solidFill>
              </a:rPr>
              <a:t> |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true);   lower:  P(Z ≤ z</a:t>
            </a:r>
            <a:r>
              <a:rPr lang="en-US" sz="1600" b="1" baseline="-25000">
                <a:solidFill>
                  <a:srgbClr val="C00000"/>
                </a:solidFill>
              </a:rPr>
              <a:t>obs</a:t>
            </a:r>
            <a:r>
              <a:rPr lang="en-US" sz="1600" b="1">
                <a:solidFill>
                  <a:srgbClr val="C00000"/>
                </a:solidFill>
              </a:rPr>
              <a:t> |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 true);   two-sided:  double the tail</a:t>
            </a:r>
          </a:p>
        </p:txBody>
      </p:sp>
    </p:spTree>
    <p:extLst>
      <p:ext uri="{BB962C8B-B14F-4D97-AF65-F5344CB8AC3E}">
        <p14:creationId xmlns:p14="http://schemas.microsoft.com/office/powerpoint/2010/main" val="1500905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cell phones and brain cancer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In a study of 420,019 cell phone users, 172 developed brain cancer.  For people who do not use cell phones, the rate is 0.034%.  Do cell phone users get brain cancer at a higher rate?  (OpenStax, Example 9.21)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513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pt-BR" sz="2000" b="1">
                <a:solidFill>
                  <a:srgbClr val="000000"/>
                </a:solidFill>
                <a:latin typeface="Calibri" panose="020F0502020204030204" pitchFamily="34" charset="0"/>
              </a:rPr>
              <a:t>x = 172;     n = 420,019;     p</a:t>
            </a:r>
            <a:r>
              <a:rPr lang="pt-BR" sz="2000" b="1" baseline="-25000">
                <a:solidFill>
                  <a:srgbClr val="000000"/>
                </a:solidFill>
                <a:latin typeface="Calibri" panose="020F0502020204030204" pitchFamily="34" charset="0"/>
              </a:rPr>
              <a:t>0</a:t>
            </a:r>
            <a:r>
              <a:rPr lang="pt-BR" sz="2000" b="1">
                <a:solidFill>
                  <a:srgbClr val="000000"/>
                </a:solidFill>
                <a:latin typeface="Calibri" panose="020F0502020204030204" pitchFamily="34" charset="0"/>
              </a:rPr>
              <a:t> = 0.00034;     α = 0.005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976841"/>
            <a:ext cx="10668000" cy="127727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are H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 and H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A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?  Which tail?  Are the assumptions met?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are p̂, the standard error and z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obs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What is the P-value?  What is the decision at α = 0.005?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(d)  Why would we choose such a small α here?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4406514"/>
            <a:ext cx="10668000" cy="17272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: p = 0.00034   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A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: p &gt; 0.00034,  upper-tailed;    np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= 142.8 ≥ 15,  n(1 − p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) ≥ 15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p̂ = 172 / 420,019 ≈ 0.0004095;    SE = √(p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(1 − p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) / n) ≈ 0.00002845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      z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obs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= (0.0004095 − 0.00034) / 0.00002845 ≈ 2.44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P(Z ≥ 2.44 |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true) = 1 − 0.9927 = 0.0073 ≥ 0.005:   do not reject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(d)  Rejecting a true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would wrongly blame phones for cancer, so we ask for strong evidence</a:t>
            </a:r>
          </a:p>
        </p:txBody>
      </p:sp>
    </p:spTree>
    <p:extLst>
      <p:ext uri="{BB962C8B-B14F-4D97-AF65-F5344CB8AC3E}">
        <p14:creationId xmlns:p14="http://schemas.microsoft.com/office/powerpoint/2010/main" val="12651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Testing a population mean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when to use 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claim H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: </a:t>
            </a:r>
            <a:r>
              <a:rPr lang="el-GR" sz="1600" b="1">
                <a:solidFill>
                  <a:srgbClr val="C00000"/>
                </a:solidFill>
              </a:rPr>
              <a:t>μ = μ</a:t>
            </a:r>
            <a:r>
              <a:rPr lang="el-GR" sz="1600" b="1" baseline="-25000">
                <a:solidFill>
                  <a:srgbClr val="C00000"/>
                </a:solidFill>
              </a:rPr>
              <a:t>0</a:t>
            </a:r>
            <a:r>
              <a:rPr lang="el-GR" sz="1600" b="1">
                <a:solidFill>
                  <a:srgbClr val="C00000"/>
                </a:solidFill>
              </a:rPr>
              <a:t>;  </a:t>
            </a:r>
            <a:r>
              <a:rPr lang="en-US" sz="1600" b="1">
                <a:solidFill>
                  <a:srgbClr val="C00000"/>
                </a:solidFill>
              </a:rPr>
              <a:t>a random sample from a normal population, or n ≥ 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413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l-GR" sz="1600">
                <a:solidFill>
                  <a:srgbClr val="000000"/>
                </a:solidFill>
              </a:rPr>
              <a:t>σ </a:t>
            </a:r>
            <a:r>
              <a:rPr lang="en-US" sz="1600">
                <a:solidFill>
                  <a:srgbClr val="000000"/>
                </a:solidFill>
              </a:rPr>
              <a:t>known:  z-test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0868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z</a:t>
            </a:r>
            <a:r>
              <a:rPr lang="en-US" sz="1600" b="1" baseline="-25000">
                <a:solidFill>
                  <a:srgbClr val="C00000"/>
                </a:solidFill>
              </a:rPr>
              <a:t>obs</a:t>
            </a:r>
            <a:r>
              <a:rPr lang="en-US" sz="1600" b="1">
                <a:solidFill>
                  <a:srgbClr val="C00000"/>
                </a:solidFill>
              </a:rPr>
              <a:t> = (x̄ − μ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) / (σ/√n),  P-value from the z-table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031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l-GR" sz="1600">
                <a:solidFill>
                  <a:srgbClr val="000000"/>
                </a:solidFill>
              </a:rPr>
              <a:t>σ </a:t>
            </a:r>
            <a:r>
              <a:rPr lang="en-US" sz="1600">
                <a:solidFill>
                  <a:srgbClr val="000000"/>
                </a:solidFill>
              </a:rPr>
              <a:t>unknown:  t-test</a:t>
            </a:r>
            <a:endParaRPr lang="en-US" sz="1600" baseline="-25000">
              <a:solidFill>
                <a:srgbClr val="00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486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</a:t>
            </a:r>
            <a:r>
              <a:rPr lang="en-US" sz="1600" b="1" baseline="-25000">
                <a:solidFill>
                  <a:srgbClr val="C00000"/>
                </a:solidFill>
              </a:rPr>
              <a:t>obs</a:t>
            </a:r>
            <a:r>
              <a:rPr lang="en-US" sz="1600" b="1">
                <a:solidFill>
                  <a:srgbClr val="C00000"/>
                </a:solidFill>
              </a:rPr>
              <a:t> = (x̄ − μ</a:t>
            </a:r>
            <a:r>
              <a:rPr lang="en-US" sz="1600" b="1" baseline="-25000">
                <a:solidFill>
                  <a:srgbClr val="C00000"/>
                </a:solidFill>
              </a:rPr>
              <a:t>0</a:t>
            </a:r>
            <a:r>
              <a:rPr lang="en-US" sz="1600" b="1">
                <a:solidFill>
                  <a:srgbClr val="C00000"/>
                </a:solidFill>
              </a:rPr>
              <a:t>) / (s/√n),  df = n − 1,  P-value from the t-table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252B31-0A80-8297-9AB5-9AED735ACDE2}"/>
              </a:ext>
            </a:extLst>
          </p:cNvPr>
          <p:cNvSpPr txBox="1"/>
          <p:nvPr/>
        </p:nvSpPr>
        <p:spPr>
          <a:xfrm>
            <a:off x="762000" y="4464982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P-value from the t-table</a:t>
            </a:r>
            <a:endParaRPr lang="en-US" sz="1600" baseline="-25000">
              <a:solidFill>
                <a:srgbClr val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980B2D-2D53-A814-88AF-46C2FDF3E298}"/>
              </a:ext>
            </a:extLst>
          </p:cNvPr>
          <p:cNvSpPr txBox="1"/>
          <p:nvPr/>
        </p:nvSpPr>
        <p:spPr>
          <a:xfrm>
            <a:off x="1117600" y="4810422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find t</a:t>
            </a:r>
            <a:r>
              <a:rPr lang="en-US" sz="1600" b="1" baseline="-25000">
                <a:solidFill>
                  <a:srgbClr val="C00000"/>
                </a:solidFill>
              </a:rPr>
              <a:t>obs</a:t>
            </a:r>
            <a:r>
              <a:rPr lang="en-US" sz="1600" b="1">
                <a:solidFill>
                  <a:srgbClr val="C00000"/>
                </a:solidFill>
              </a:rPr>
              <a:t> between two values in row df;  the P-value is between their tail areas</a:t>
            </a:r>
          </a:p>
        </p:txBody>
      </p:sp>
    </p:spTree>
    <p:extLst>
      <p:ext uri="{BB962C8B-B14F-4D97-AF65-F5344CB8AC3E}">
        <p14:creationId xmlns:p14="http://schemas.microsoft.com/office/powerpoint/2010/main" val="4289908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the first statistics test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Students believe the mean score on the first statistics test is 65.  An instructor thinks it is higher and samples 10 students’ scores, which are normal.  (OpenStax, Example 9.16)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513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pt-BR" sz="2000" b="1">
                <a:solidFill>
                  <a:srgbClr val="000000"/>
                </a:solidFill>
                <a:latin typeface="Calibri" panose="020F0502020204030204" pitchFamily="34" charset="0"/>
              </a:rPr>
              <a:t>n = 10;     x̄ = 67;     s = 3.197;     μ</a:t>
            </a:r>
            <a:r>
              <a:rPr lang="pt-BR" sz="2000" b="1" baseline="-25000">
                <a:solidFill>
                  <a:srgbClr val="000000"/>
                </a:solidFill>
                <a:latin typeface="Calibri" panose="020F0502020204030204" pitchFamily="34" charset="0"/>
              </a:rPr>
              <a:t>0</a:t>
            </a:r>
            <a:r>
              <a:rPr lang="pt-BR" sz="2000" b="1">
                <a:solidFill>
                  <a:srgbClr val="000000"/>
                </a:solidFill>
                <a:latin typeface="Calibri" panose="020F0502020204030204" pitchFamily="34" charset="0"/>
              </a:rPr>
              <a:t> = 65;     α = 0.05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976841"/>
            <a:ext cx="10668000" cy="9779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are H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 and H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A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?  Which tail?  Are the assumptions met?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z or t?  What are the standard error and the test statistic?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What is the P-value (use the t-table)?  What is the decision?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4107141"/>
            <a:ext cx="10668000" cy="10922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: μ = 65    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A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: μ &gt; 65,  upper-tailed;    n &lt; 30, but the scores are normal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σ unknown, so t;    SE = 3.197 / √10 ≈ 1.011;    t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obs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= (67 − 65) / 1.011 ≈ 1.98,  df = 9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row 9:  1.833 &lt; 1.98 &lt; 2.262,  so  0.025 &lt; P-value &lt; 0.05:    reject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264867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younger than the groom?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Joon believes 50% of first-time brides in the U.S. are younger than their grooms.  She tests whether the percentage is different from 50%.  (OpenStax, Example 9.17)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513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n = 100 brides;     53 younger than their grooms;     p</a:t>
            </a:r>
            <a:r>
              <a:rPr lang="en-US" sz="2000" b="1" baseline="-25000">
                <a:solidFill>
                  <a:srgbClr val="0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 = 0.50;     α = 0.01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976841"/>
            <a:ext cx="10668000" cy="12954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Are the assumptions met?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are H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 and H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A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?  Which tail?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What are p̂, the standard error and z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obs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(d)  What is the P-value?  What is the decision?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4424641"/>
            <a:ext cx="10668000" cy="14097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a random sample;    np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= 100(0.50) = 50 ≥ 15   and   n(1 − p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) = 50 ≥ 15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: p = 0.50    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A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: p ≠ 0.50;     two-sided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p̂ = 53 / 100 = 0.53;    SE = √(0.50 × 0.50 / 100) = 0.05;    z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obs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= 0.03 / 0.05 = 0.60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(d)  2 × P(Z ≥ 0.60 |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true) = 2(1 − 0.7257) = 0.5486 ≥ 0.01:    do not reject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598224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faster with goggles?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Jeffrey swims the 25-yard freestyle in a mean of 16.43 s, with σ = 0.8 s.  In new goggles, he swims it 15 times.  Do the goggles make him faster?  Times are normal.  (OpenStax, Example 9.14)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551331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pt-BR" sz="2000" b="1">
                <a:solidFill>
                  <a:srgbClr val="000000"/>
                </a:solidFill>
                <a:latin typeface="Calibri" panose="020F0502020204030204" pitchFamily="34" charset="0"/>
              </a:rPr>
              <a:t>n = 15;     x̄ = 16 s;     σ = 0.8 s;     μ</a:t>
            </a:r>
            <a:r>
              <a:rPr lang="pt-BR" sz="2000" b="1" baseline="-25000">
                <a:solidFill>
                  <a:srgbClr val="000000"/>
                </a:solidFill>
                <a:latin typeface="Calibri" panose="020F0502020204030204" pitchFamily="34" charset="0"/>
              </a:rPr>
              <a:t>0</a:t>
            </a:r>
            <a:r>
              <a:rPr lang="pt-BR" sz="2000" b="1">
                <a:solidFill>
                  <a:srgbClr val="000000"/>
                </a:solidFill>
                <a:latin typeface="Calibri" panose="020F0502020204030204" pitchFamily="34" charset="0"/>
              </a:rPr>
              <a:t> = 16.43 s;     α = 0.05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976841"/>
            <a:ext cx="10668000" cy="9779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are H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 and H</a:t>
            </a:r>
            <a:r>
              <a:rPr lang="en-US" b="1" baseline="-25000">
                <a:solidFill>
                  <a:srgbClr val="C00000"/>
                </a:solidFill>
                <a:latin typeface="Calibri" panose="020F0502020204030204" pitchFamily="34" charset="0"/>
              </a:rPr>
              <a:t>A</a:t>
            </a: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?  Which tail?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z or t?  What are the standard error and the test statistic?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(c)  What is the P-value?  What is the decision?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4107141"/>
            <a:ext cx="10668000" cy="10922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: </a:t>
            </a:r>
            <a:r>
              <a:rPr lang="el-GR" sz="2000" b="1">
                <a:solidFill>
                  <a:srgbClr val="C00000"/>
                </a:solidFill>
                <a:latin typeface="Calibri" panose="020F0502020204030204" pitchFamily="34" charset="0"/>
              </a:rPr>
              <a:t>μ = 16.43     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A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: </a:t>
            </a:r>
            <a:r>
              <a:rPr lang="el-GR" sz="2000" b="1">
                <a:solidFill>
                  <a:srgbClr val="C00000"/>
                </a:solidFill>
                <a:latin typeface="Calibri" panose="020F0502020204030204" pitchFamily="34" charset="0"/>
              </a:rPr>
              <a:t>μ &lt; 16.43,  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lower-tailed:  faster means less time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</a:t>
            </a:r>
            <a:r>
              <a:rPr lang="el-GR" sz="2000" b="1">
                <a:solidFill>
                  <a:srgbClr val="C00000"/>
                </a:solidFill>
                <a:latin typeface="Calibri" panose="020F0502020204030204" pitchFamily="34" charset="0"/>
              </a:rPr>
              <a:t>σ 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known, so z;    SE = 0.8 / √15 ≈ 0.2066;    z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obs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= (16 − 16.43) / 0.2066 ≈ −2.08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(c)  P(Z ≤ −2.08 |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 true) = 0.0188 &lt; 0.05:    reject H</a:t>
            </a:r>
            <a:r>
              <a:rPr lang="en-US" sz="2000" b="1" baseline="-25000">
                <a:solidFill>
                  <a:srgbClr val="C00000"/>
                </a:solidFill>
                <a:latin typeface="Calibri" panose="020F0502020204030204" pitchFamily="34" charset="0"/>
              </a:rPr>
              <a:t>0</a:t>
            </a:r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;  the goggles help</a:t>
            </a:r>
          </a:p>
        </p:txBody>
      </p:sp>
    </p:spTree>
    <p:extLst>
      <p:ext uri="{BB962C8B-B14F-4D97-AF65-F5344CB8AC3E}">
        <p14:creationId xmlns:p14="http://schemas.microsoft.com/office/powerpoint/2010/main" val="960349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4232</TotalTime>
  <Words>1408</Words>
  <Application>Microsoft Office PowerPoint</Application>
  <PresentationFormat>Widescreen</PresentationFormat>
  <Paragraphs>94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Lecture 24 Tests for p and μ</vt:lpstr>
      <vt:lpstr>Review</vt:lpstr>
      <vt:lpstr>Making a decision</vt:lpstr>
      <vt:lpstr>Practice: P-values and decisions</vt:lpstr>
      <vt:lpstr>Testing a population proportion</vt:lpstr>
      <vt:lpstr>Example: cell phones and brain cancer</vt:lpstr>
      <vt:lpstr>Testing a population mean</vt:lpstr>
      <vt:lpstr>Example: the first statistics test</vt:lpstr>
      <vt:lpstr>Practice: younger than the groom?</vt:lpstr>
      <vt:lpstr>Practice: faster with goggles?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453</cp:revision>
  <dcterms:created xsi:type="dcterms:W3CDTF">2023-08-05T23:57:41Z</dcterms:created>
  <dcterms:modified xsi:type="dcterms:W3CDTF">2026-10-30T18:57:54Z</dcterms:modified>
</cp:coreProperties>
</file>