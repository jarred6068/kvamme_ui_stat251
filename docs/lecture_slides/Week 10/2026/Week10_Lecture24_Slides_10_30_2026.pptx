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0" r:id="rId2"/>
    <p:sldId id="436" r:id="rId3"/>
    <p:sldId id="471" r:id="rId4"/>
    <p:sldId id="476" r:id="rId5"/>
    <p:sldId id="468" r:id="rId6"/>
    <p:sldId id="465" r:id="rId7"/>
    <p:sldId id="472" r:id="rId8"/>
    <p:sldId id="473" r:id="rId9"/>
    <p:sldId id="474" r:id="rId10"/>
    <p:sldId id="47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821C1-92D8-0827-CE2B-80FEA840C2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EA748-2C8E-5D78-5734-D9BCC16ECD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15553-DE39-3C41-4AFF-70F29A86E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2837C-8079-1B7F-0DCF-61C39ED30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5E205-162F-206E-F4C6-EB23D9DC1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874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13490-30A7-12A6-2775-77578A346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7B95F-B119-D057-5670-8EC21A84E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D001D-CEFB-FD30-FB40-0BEA5B52D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3377D-E7F3-D264-FB03-A4AF3E336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48992-A907-9503-F005-BAA8A33CE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803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6B320-EDC1-EDD2-5F4C-2A675BD0C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58A940-1637-AC6F-0247-A5E578765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2A479-CAFF-245E-F61F-3D6F3E5C8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24E38-70F9-0CAE-F19E-6DDE60057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74C88-12BC-0657-008B-8419B1E10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099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02A09-336F-FDC8-F0C1-F84E09726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F6849-08AF-456F-8C3C-E6DE37B3B9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7E5562-6B4C-F11F-DF48-D254599EAA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A69C05-114E-11FE-5C76-D6F191757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71C5D0-A8D9-EEF2-15E4-CE74A390A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9944C5-75A0-666E-C3DD-6839AB176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10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EC19E-080C-F794-EB45-FB4903CDD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85744A-FDBE-87AE-7AF1-3AC154DB2C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1970E4-B2B1-0370-3C26-0D1A5A0023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A4F036-B8A8-878F-A1CB-05DAE58015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8B7F82-EBC0-322A-130D-972F39800F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21A5BB-D71E-872F-6F0E-2279BE484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C56747-8CBE-BF00-C39A-F442E724C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E2C14A-6287-B5B6-C760-7F506FD87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436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E9713-B0F2-9D1D-23FC-F5900F773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6FC7EC-16C8-C311-316C-6D99B4F99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FE4DA7-A4C5-460E-592C-CEF23DF38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6F3F89-7820-6BF8-A747-E433ED21A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244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EAD0FD-7A61-970C-10A9-76E2B39DA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F95651-C89A-3C9B-3D47-F7E5CAF6B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509228-92F1-54DE-D9B2-4AC018D50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303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3F474-02F7-A264-4B8D-717F5EB00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A8C9F-750F-7D81-0E80-7FBCDEBEB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0A1C0B-C510-B118-D8FA-12722456A8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94604E-EC60-44AD-4B70-12B2B49AE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22C4B9-91B9-9E0E-9278-1C0433768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21E60F-F796-8B15-08E9-61BA30F0D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505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E564D-22A0-8A8D-C6FE-D62998433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713DEA-5246-B946-AFE4-3B305BCDB1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4208CC-31DD-00AF-BFC4-37F7B4BF3C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77E30D-B05F-B2CA-9A3C-E01E2B6B0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E08FCE-463A-D1B2-8A60-3B6744202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438537-A621-46D4-781D-4E36BF836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242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105C2-17EC-1173-1FC9-8A7FC1018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BBB4A-325C-1F27-06A3-6F4F1A8F5C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A6F55-A1EF-6AEC-99F0-DBF50F5EB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1FD1D-86F4-EDE3-1CCE-ADED2161B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E0593-ABE9-0E50-7A75-9252A5A1F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965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87FF77-0DAD-7CA9-B02D-208C020489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9298FA-F111-2C9C-551D-A1F30B239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1B556-1ED0-55E4-9235-352E1A162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4A71E-8AC3-EA68-1DCB-99E68A465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B1CF60-74F8-B2C5-26C3-77536C36C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366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18B48B-0371-7ADD-E5C3-345B4D6CB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B5A92-73C5-8CE0-7C84-BE7902E60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5212B-F67A-E417-B1FE-C389458DF2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882561-BD16-4A95-ACA1-5204E478F2FE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9799A-D006-E28E-8EED-4BE2AFCB8D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69CB4-3B3A-FD13-F7E0-B4A0F34767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091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F151A-3AFE-974F-DDC4-9B99389C34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4105419"/>
          </a:xfrm>
        </p:spPr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Lecture 24</a:t>
            </a:r>
            <a:br>
              <a:rPr lang="en-US">
                <a:solidFill>
                  <a:srgbClr val="1F3864"/>
                </a:solidFill>
              </a:rPr>
            </a:br>
            <a:r>
              <a:rPr lang="en-US">
                <a:solidFill>
                  <a:srgbClr val="1F3864"/>
                </a:solidFill>
              </a:rPr>
              <a:t>Tests for p and μ</a:t>
            </a:r>
            <a:endParaRPr lang="en-US" dirty="0">
              <a:solidFill>
                <a:srgbClr val="1F386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6479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5104"/>
          </a:xfrm>
        </p:spPr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Review</a:t>
            </a:r>
            <a:endParaRPr lang="en-US" dirty="0">
              <a:solidFill>
                <a:srgbClr val="1F3864"/>
              </a:solidFill>
            </a:endParaRPr>
          </a:p>
        </p:txBody>
      </p:sp>
      <p:sp>
        <p:nvSpPr>
          <p:cNvPr id="3" name="Question 1"/>
          <p:cNvSpPr/>
          <p:nvPr/>
        </p:nvSpPr>
        <p:spPr>
          <a:xfrm>
            <a:off x="838200" y="1075688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</a:rPr>
              <a:t>1   </a:t>
            </a:r>
            <a:r>
              <a:rPr lang="en-US" b="1"/>
              <a:t>A drug maker says 80% of patients improve.  A doctor suspects fewer do.  State H</a:t>
            </a:r>
            <a:r>
              <a:rPr lang="en-US" b="1" baseline="-25000"/>
              <a:t>0</a:t>
            </a:r>
            <a:r>
              <a:rPr lang="en-US" b="1"/>
              <a:t> and H</a:t>
            </a:r>
            <a:r>
              <a:rPr lang="en-US" b="1" baseline="-25000"/>
              <a:t>A</a:t>
            </a:r>
            <a:r>
              <a:rPr lang="en-US" b="1"/>
              <a:t>.</a:t>
            </a:r>
            <a:endParaRPr lang="en-US" b="1" dirty="0"/>
          </a:p>
        </p:txBody>
      </p:sp>
      <p:sp>
        <p:nvSpPr>
          <p:cNvPr id="4" name="Answer 1"/>
          <p:cNvSpPr txBox="1"/>
          <p:nvPr/>
        </p:nvSpPr>
        <p:spPr>
          <a:xfrm>
            <a:off x="1066800" y="1655688"/>
            <a:ext cx="10058400" cy="6502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C00000"/>
                </a:solidFill>
              </a:rPr>
              <a:t>H</a:t>
            </a:r>
            <a:r>
              <a:rPr lang="en-US" sz="1600" baseline="-25000">
                <a:solidFill>
                  <a:srgbClr val="C00000"/>
                </a:solidFill>
              </a:rPr>
              <a:t>0</a:t>
            </a:r>
            <a:r>
              <a:rPr lang="en-US" sz="1600">
                <a:solidFill>
                  <a:srgbClr val="C00000"/>
                </a:solidFill>
              </a:rPr>
              <a:t>: p = 0.80     H</a:t>
            </a:r>
            <a:r>
              <a:rPr lang="en-US" sz="1600" baseline="-25000">
                <a:solidFill>
                  <a:srgbClr val="C00000"/>
                </a:solidFill>
              </a:rPr>
              <a:t>A</a:t>
            </a:r>
            <a:r>
              <a:rPr lang="en-US" sz="1600">
                <a:solidFill>
                  <a:srgbClr val="C00000"/>
                </a:solidFill>
              </a:rPr>
              <a:t>: p &lt; 0.80     (p</a:t>
            </a:r>
            <a:r>
              <a:rPr lang="en-US" sz="1600" baseline="-25000">
                <a:solidFill>
                  <a:srgbClr val="C00000"/>
                </a:solidFill>
              </a:rPr>
              <a:t>0</a:t>
            </a:r>
            <a:r>
              <a:rPr lang="en-US" sz="1600">
                <a:solidFill>
                  <a:srgbClr val="C00000"/>
                </a:solidFill>
              </a:rPr>
              <a:t> = 0.80,  lower-tailed)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5" name="Question 2"/>
          <p:cNvSpPr/>
          <p:nvPr/>
        </p:nvSpPr>
        <p:spPr>
          <a:xfrm>
            <a:off x="838200" y="2385688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</a:rPr>
              <a:t>2   </a:t>
            </a:r>
            <a:r>
              <a:rPr lang="en-US" b="1"/>
              <a:t>What is the test statistic z</a:t>
            </a:r>
            <a:r>
              <a:rPr lang="en-US" b="1" baseline="-25000"/>
              <a:t>obs</a:t>
            </a:r>
            <a:r>
              <a:rPr lang="en-US" b="1"/>
              <a:t>?</a:t>
            </a:r>
            <a:endParaRPr lang="en-US" b="1" dirty="0"/>
          </a:p>
        </p:txBody>
      </p:sp>
      <p:sp>
        <p:nvSpPr>
          <p:cNvPr id="6" name="Answer 2"/>
          <p:cNvSpPr txBox="1"/>
          <p:nvPr/>
        </p:nvSpPr>
        <p:spPr>
          <a:xfrm>
            <a:off x="1066800" y="2965688"/>
            <a:ext cx="10058400" cy="5892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C00000"/>
                </a:solidFill>
              </a:rPr>
              <a:t>How many SEs the estimate is from θ</a:t>
            </a:r>
            <a:r>
              <a:rPr lang="en-US" sz="1600" baseline="-25000">
                <a:solidFill>
                  <a:srgbClr val="C00000"/>
                </a:solidFill>
              </a:rPr>
              <a:t>0</a:t>
            </a:r>
            <a:r>
              <a:rPr lang="en-US" sz="1600">
                <a:solidFill>
                  <a:srgbClr val="C00000"/>
                </a:solidFill>
              </a:rPr>
              <a:t>:  z</a:t>
            </a:r>
            <a:r>
              <a:rPr lang="en-US" sz="1600" baseline="-25000">
                <a:solidFill>
                  <a:srgbClr val="C00000"/>
                </a:solidFill>
              </a:rPr>
              <a:t>obs</a:t>
            </a:r>
            <a:r>
              <a:rPr lang="en-US" sz="1600">
                <a:solidFill>
                  <a:srgbClr val="C00000"/>
                </a:solidFill>
              </a:rPr>
              <a:t> = (estimate − θ</a:t>
            </a:r>
            <a:r>
              <a:rPr lang="en-US" sz="1600" baseline="-25000">
                <a:solidFill>
                  <a:srgbClr val="C00000"/>
                </a:solidFill>
              </a:rPr>
              <a:t>0</a:t>
            </a:r>
            <a:r>
              <a:rPr lang="en-US" sz="1600">
                <a:solidFill>
                  <a:srgbClr val="C00000"/>
                </a:solidFill>
              </a:rPr>
              <a:t>) / SE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7" name="Question 3"/>
          <p:cNvSpPr/>
          <p:nvPr/>
        </p:nvSpPr>
        <p:spPr>
          <a:xfrm>
            <a:off x="838200" y="3695688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</a:rPr>
              <a:t>3   </a:t>
            </a:r>
            <a:r>
              <a:rPr lang="en-US" b="1"/>
              <a:t>What is the P-value?</a:t>
            </a:r>
            <a:endParaRPr lang="en-US" b="1" dirty="0"/>
          </a:p>
        </p:txBody>
      </p:sp>
      <p:sp>
        <p:nvSpPr>
          <p:cNvPr id="8" name="Answer 3"/>
          <p:cNvSpPr txBox="1"/>
          <p:nvPr/>
        </p:nvSpPr>
        <p:spPr>
          <a:xfrm>
            <a:off x="1066800" y="4275688"/>
            <a:ext cx="10058400" cy="5585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C00000"/>
                </a:solidFill>
              </a:rPr>
              <a:t>The probability of a result as or more extreme than z</a:t>
            </a:r>
            <a:r>
              <a:rPr lang="en-US" sz="1600" baseline="-25000">
                <a:solidFill>
                  <a:srgbClr val="C00000"/>
                </a:solidFill>
              </a:rPr>
              <a:t>obs</a:t>
            </a:r>
            <a:r>
              <a:rPr lang="en-US" sz="1600">
                <a:solidFill>
                  <a:srgbClr val="C00000"/>
                </a:solidFill>
              </a:rPr>
              <a:t>, if H</a:t>
            </a:r>
            <a:r>
              <a:rPr lang="en-US" sz="1600" baseline="-25000">
                <a:solidFill>
                  <a:srgbClr val="C00000"/>
                </a:solidFill>
              </a:rPr>
              <a:t>0</a:t>
            </a:r>
            <a:r>
              <a:rPr lang="en-US" sz="1600">
                <a:solidFill>
                  <a:srgbClr val="C00000"/>
                </a:solidFill>
              </a:rPr>
              <a:t> is true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66091C9-B7EB-6BBE-A602-1479CDF97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2</a:t>
            </a:fld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528979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AB41-6AD1-9EF2-7F95-46A90439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Making a decision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4AE5-98B5-B840-6B8A-D345C7C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3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AAE17-27CE-D7A3-C663-11BB48ACBF5B}"/>
              </a:ext>
            </a:extLst>
          </p:cNvPr>
          <p:cNvSpPr txBox="1"/>
          <p:nvPr/>
        </p:nvSpPr>
        <p:spPr>
          <a:xfrm>
            <a:off x="762000" y="18796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significance level </a:t>
            </a:r>
            <a:r>
              <a:rPr lang="el-GR" sz="1600">
                <a:solidFill>
                  <a:srgbClr val="000000"/>
                </a:solidFill>
              </a:rPr>
              <a:t>α</a:t>
            </a: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0A0F8-5E1E-9A1D-B64C-50827EE6C9B2}"/>
              </a:ext>
            </a:extLst>
          </p:cNvPr>
          <p:cNvSpPr txBox="1"/>
          <p:nvPr/>
        </p:nvSpPr>
        <p:spPr>
          <a:xfrm>
            <a:off x="1117600" y="2225040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the cutoff for “rare enough”, chosen before collecting data;  usually α = 0.05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3CD95-D52E-5227-B663-7C0A72677B6E}"/>
              </a:ext>
            </a:extLst>
          </p:cNvPr>
          <p:cNvSpPr txBox="1"/>
          <p:nvPr/>
        </p:nvSpPr>
        <p:spPr>
          <a:xfrm>
            <a:off x="762000" y="2741394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P-value &lt; </a:t>
            </a:r>
            <a:r>
              <a:rPr lang="el-GR" sz="1600">
                <a:solidFill>
                  <a:srgbClr val="000000"/>
                </a:solidFill>
              </a:rPr>
              <a:t>α</a:t>
            </a: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3E601-601D-C6B1-8265-C079CB8C9269}"/>
              </a:ext>
            </a:extLst>
          </p:cNvPr>
          <p:cNvSpPr txBox="1"/>
          <p:nvPr/>
        </p:nvSpPr>
        <p:spPr>
          <a:xfrm>
            <a:off x="1117600" y="3086834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reject H</a:t>
            </a:r>
            <a:r>
              <a:rPr lang="en-US" sz="1600" b="1" baseline="-25000">
                <a:solidFill>
                  <a:srgbClr val="C00000"/>
                </a:solidFill>
              </a:rPr>
              <a:t>0</a:t>
            </a:r>
            <a:r>
              <a:rPr lang="en-US" sz="1600" b="1">
                <a:solidFill>
                  <a:srgbClr val="C00000"/>
                </a:solidFill>
              </a:rPr>
              <a:t>:  the result is statistically significant, evidence for H</a:t>
            </a:r>
            <a:r>
              <a:rPr lang="en-US" sz="1600" b="1" baseline="-25000">
                <a:solidFill>
                  <a:srgbClr val="C00000"/>
                </a:solidFill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02BF4-8037-2F73-E27A-7A453477E389}"/>
              </a:ext>
            </a:extLst>
          </p:cNvPr>
          <p:cNvSpPr txBox="1"/>
          <p:nvPr/>
        </p:nvSpPr>
        <p:spPr>
          <a:xfrm>
            <a:off x="762000" y="3603188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P-value ≥ </a:t>
            </a:r>
            <a:r>
              <a:rPr lang="el-GR" sz="1600">
                <a:solidFill>
                  <a:srgbClr val="000000"/>
                </a:solidFill>
              </a:rPr>
              <a:t>α</a:t>
            </a:r>
            <a:endParaRPr lang="en-US" sz="1600" baseline="-25000">
              <a:solidFill>
                <a:srgbClr val="0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3B3E3-D27C-E008-C93E-ED70BD2A4754}"/>
              </a:ext>
            </a:extLst>
          </p:cNvPr>
          <p:cNvSpPr txBox="1"/>
          <p:nvPr/>
        </p:nvSpPr>
        <p:spPr>
          <a:xfrm>
            <a:off x="1117600" y="3948628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do not reject H</a:t>
            </a:r>
            <a:r>
              <a:rPr lang="en-US" sz="1600" b="1" baseline="-25000">
                <a:solidFill>
                  <a:srgbClr val="C00000"/>
                </a:solidFill>
              </a:rPr>
              <a:t>0</a:t>
            </a:r>
            <a:r>
              <a:rPr lang="en-US" sz="1600" b="1">
                <a:solidFill>
                  <a:srgbClr val="C00000"/>
                </a:solidFill>
              </a:rPr>
              <a:t>:  the data are not convincing evidence for H</a:t>
            </a:r>
            <a:r>
              <a:rPr lang="en-US" sz="1600" b="1" baseline="-25000">
                <a:solidFill>
                  <a:srgbClr val="C00000"/>
                </a:solidFill>
              </a:rPr>
              <a:t>A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469CAAB-2B69-6863-7C28-0C5959E5734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252B31-0A80-8297-9AB5-9AED735ACDE2}"/>
              </a:ext>
            </a:extLst>
          </p:cNvPr>
          <p:cNvSpPr txBox="1"/>
          <p:nvPr/>
        </p:nvSpPr>
        <p:spPr>
          <a:xfrm>
            <a:off x="762000" y="4464982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“do not reject” is not “accept”</a:t>
            </a:r>
            <a:endParaRPr lang="en-US" sz="1600" baseline="-25000">
              <a:solidFill>
                <a:srgbClr val="0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980B2D-2D53-A814-88AF-46C2FDF3E298}"/>
              </a:ext>
            </a:extLst>
          </p:cNvPr>
          <p:cNvSpPr txBox="1"/>
          <p:nvPr/>
        </p:nvSpPr>
        <p:spPr>
          <a:xfrm>
            <a:off x="1117600" y="4810422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not rejecting H</a:t>
            </a:r>
            <a:r>
              <a:rPr lang="en-US" sz="1600" b="1" baseline="-25000">
                <a:solidFill>
                  <a:srgbClr val="C00000"/>
                </a:solidFill>
              </a:rPr>
              <a:t>0</a:t>
            </a:r>
            <a:r>
              <a:rPr lang="en-US" sz="1600" b="1">
                <a:solidFill>
                  <a:srgbClr val="C00000"/>
                </a:solidFill>
              </a:rPr>
              <a:t> does not prove it true;  the evidence just isn’t strong enough</a:t>
            </a:r>
          </a:p>
        </p:txBody>
      </p:sp>
    </p:spTree>
    <p:extLst>
      <p:ext uri="{BB962C8B-B14F-4D97-AF65-F5344CB8AC3E}">
        <p14:creationId xmlns:p14="http://schemas.microsoft.com/office/powerpoint/2010/main" val="1285104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4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2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Practice: P-values and decisions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4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For each test, write the P-value as a probability given H</a:t>
            </a:r>
            <a:r>
              <a:rPr lang="en-US" baseline="-25000">
                <a:solidFill>
                  <a:srgbClr val="000000"/>
                </a:solidFill>
                <a:latin typeface="Calibri" panose="020F0502020204030204" pitchFamily="34" charset="0"/>
              </a:rPr>
              <a:t>0</a:t>
            </a: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 is true.  Then use its value to make a decision.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274332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pt-BR" sz="2000" b="1">
                <a:solidFill>
                  <a:srgbClr val="000000"/>
                </a:solidFill>
                <a:latin typeface="Calibri" panose="020F0502020204030204" pitchFamily="34" charset="0"/>
              </a:rPr>
              <a:t>P-value = P(  ?  | H</a:t>
            </a:r>
            <a:r>
              <a:rPr lang="pt-BR" sz="2000" b="1" baseline="-25000">
                <a:solidFill>
                  <a:srgbClr val="000000"/>
                </a:solidFill>
                <a:latin typeface="Calibri" panose="020F0502020204030204" pitchFamily="34" charset="0"/>
              </a:rPr>
              <a:t>0</a:t>
            </a:r>
            <a:r>
              <a:rPr lang="pt-BR" sz="2000" b="1">
                <a:solidFill>
                  <a:srgbClr val="000000"/>
                </a:solidFill>
                <a:latin typeface="Calibri" panose="020F0502020204030204" pitchFamily="34" charset="0"/>
              </a:rPr>
              <a:t> true)</a:t>
            </a:r>
            <a:endParaRPr lang="en-US" sz="2000" b="1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699842"/>
            <a:ext cx="10668000" cy="9779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  <a:tabLst>
                <a:tab pos="2159000" algn="l"/>
                <a:tab pos="4191000" algn="l"/>
                <a:tab pos="7112000" algn="l"/>
                <a:tab pos="8636000" algn="l"/>
              </a:tabLs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H</a:t>
            </a:r>
            <a:r>
              <a:rPr lang="en-US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: p = 0.40	H</a:t>
            </a:r>
            <a:r>
              <a:rPr lang="en-US" b="1" baseline="-25000">
                <a:solidFill>
                  <a:srgbClr val="C00000"/>
                </a:solidFill>
                <a:latin typeface="Calibri" panose="020F0502020204030204" pitchFamily="34" charset="0"/>
              </a:rPr>
              <a:t>A</a:t>
            </a: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: p &gt; 0.40	z</a:t>
            </a:r>
            <a:r>
              <a:rPr lang="en-US" b="1" baseline="-25000">
                <a:solidFill>
                  <a:srgbClr val="C00000"/>
                </a:solidFill>
                <a:latin typeface="Calibri" panose="020F0502020204030204" pitchFamily="34" charset="0"/>
              </a:rPr>
              <a:t>obs</a:t>
            </a: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 = 1.52	</a:t>
            </a:r>
            <a:r>
              <a:rPr lang="el-GR" b="1">
                <a:solidFill>
                  <a:srgbClr val="C00000"/>
                </a:solidFill>
                <a:latin typeface="Calibri" panose="020F0502020204030204" pitchFamily="34" charset="0"/>
              </a:rPr>
              <a:t>α = 0.05	</a:t>
            </a: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P-value = 0.0643</a:t>
            </a:r>
          </a:p>
          <a:p>
            <a:pPr>
              <a:spcAft>
                <a:spcPts val="200"/>
              </a:spcAft>
              <a:tabLst>
                <a:tab pos="2159000" algn="l"/>
                <a:tab pos="4191000" algn="l"/>
                <a:tab pos="7112000" algn="l"/>
                <a:tab pos="8636000" algn="l"/>
              </a:tabLs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H</a:t>
            </a:r>
            <a:r>
              <a:rPr lang="en-US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: </a:t>
            </a:r>
            <a:r>
              <a:rPr lang="el-GR" b="1">
                <a:solidFill>
                  <a:srgbClr val="C00000"/>
                </a:solidFill>
                <a:latin typeface="Calibri" panose="020F0502020204030204" pitchFamily="34" charset="0"/>
              </a:rPr>
              <a:t>μ = 12	</a:t>
            </a: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H</a:t>
            </a:r>
            <a:r>
              <a:rPr lang="en-US" b="1" baseline="-25000">
                <a:solidFill>
                  <a:srgbClr val="C00000"/>
                </a:solidFill>
                <a:latin typeface="Calibri" panose="020F0502020204030204" pitchFamily="34" charset="0"/>
              </a:rPr>
              <a:t>A</a:t>
            </a: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: </a:t>
            </a:r>
            <a:r>
              <a:rPr lang="el-GR" b="1">
                <a:solidFill>
                  <a:srgbClr val="C00000"/>
                </a:solidFill>
                <a:latin typeface="Calibri" panose="020F0502020204030204" pitchFamily="34" charset="0"/>
              </a:rPr>
              <a:t>μ &lt; 12	</a:t>
            </a: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t</a:t>
            </a:r>
            <a:r>
              <a:rPr lang="en-US" b="1" baseline="-25000">
                <a:solidFill>
                  <a:srgbClr val="C00000"/>
                </a:solidFill>
                <a:latin typeface="Calibri" panose="020F0502020204030204" pitchFamily="34" charset="0"/>
              </a:rPr>
              <a:t>obs</a:t>
            </a: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 = −2.30,  df = 15	</a:t>
            </a:r>
            <a:r>
              <a:rPr lang="el-GR" b="1">
                <a:solidFill>
                  <a:srgbClr val="C00000"/>
                </a:solidFill>
                <a:latin typeface="Calibri" panose="020F0502020204030204" pitchFamily="34" charset="0"/>
              </a:rPr>
              <a:t>α = 0.01	</a:t>
            </a: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P-value = 0.0181</a:t>
            </a:r>
          </a:p>
          <a:p>
            <a:pPr>
              <a:spcAft>
                <a:spcPts val="200"/>
              </a:spcAft>
              <a:tabLst>
                <a:tab pos="2159000" algn="l"/>
                <a:tab pos="4191000" algn="l"/>
                <a:tab pos="7112000" algn="l"/>
                <a:tab pos="8636000" algn="l"/>
              </a:tabLs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(c)  H</a:t>
            </a:r>
            <a:r>
              <a:rPr lang="en-US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: </a:t>
            </a:r>
            <a:r>
              <a:rPr lang="el-GR" b="1">
                <a:solidFill>
                  <a:srgbClr val="C00000"/>
                </a:solidFill>
                <a:latin typeface="Calibri" panose="020F0502020204030204" pitchFamily="34" charset="0"/>
              </a:rPr>
              <a:t>μ = 50	</a:t>
            </a: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H</a:t>
            </a:r>
            <a:r>
              <a:rPr lang="en-US" b="1" baseline="-25000">
                <a:solidFill>
                  <a:srgbClr val="C00000"/>
                </a:solidFill>
                <a:latin typeface="Calibri" panose="020F0502020204030204" pitchFamily="34" charset="0"/>
              </a:rPr>
              <a:t>A</a:t>
            </a: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: </a:t>
            </a:r>
            <a:r>
              <a:rPr lang="el-GR" b="1">
                <a:solidFill>
                  <a:srgbClr val="C00000"/>
                </a:solidFill>
                <a:latin typeface="Calibri" panose="020F0502020204030204" pitchFamily="34" charset="0"/>
              </a:rPr>
              <a:t>μ ≠ 50	</a:t>
            </a: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z</a:t>
            </a:r>
            <a:r>
              <a:rPr lang="en-US" b="1" baseline="-25000">
                <a:solidFill>
                  <a:srgbClr val="C00000"/>
                </a:solidFill>
                <a:latin typeface="Calibri" panose="020F0502020204030204" pitchFamily="34" charset="0"/>
              </a:rPr>
              <a:t>obs</a:t>
            </a: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 = −2.10	</a:t>
            </a:r>
            <a:r>
              <a:rPr lang="el-GR" b="1">
                <a:solidFill>
                  <a:srgbClr val="C00000"/>
                </a:solidFill>
                <a:latin typeface="Calibri" panose="020F0502020204030204" pitchFamily="34" charset="0"/>
              </a:rPr>
              <a:t>α = 0.05	</a:t>
            </a: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P-value = 0.0358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3830142"/>
            <a:ext cx="10668000" cy="10922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(a)  P(Z ≥ 1.52 | H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 true) = 0.0643 ≥ 0.05:    do not reject H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(b)  P(T ≤ −2.30 | H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 true) = 0.0181 ≥ 0.01:    do not reject H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(c)  P(Z ≤ −2.10 or Z ≥ 2.10 | H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 true) = 2(0.0179) = 0.0358 &lt; 0.05:    reject H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406681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AB41-6AD1-9EF2-7F95-46A90439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Testing a population proportion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4AE5-98B5-B840-6B8A-D345C7C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5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AAE17-27CE-D7A3-C663-11BB48ACBF5B}"/>
              </a:ext>
            </a:extLst>
          </p:cNvPr>
          <p:cNvSpPr txBox="1"/>
          <p:nvPr/>
        </p:nvSpPr>
        <p:spPr>
          <a:xfrm>
            <a:off x="762000" y="18796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when to use 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0A0F8-5E1E-9A1D-B64C-50827EE6C9B2}"/>
              </a:ext>
            </a:extLst>
          </p:cNvPr>
          <p:cNvSpPr txBox="1"/>
          <p:nvPr/>
        </p:nvSpPr>
        <p:spPr>
          <a:xfrm>
            <a:off x="1117600" y="2225040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a categorical variable, and a claim H</a:t>
            </a:r>
            <a:r>
              <a:rPr lang="en-US" sz="1600" b="1" baseline="-25000">
                <a:solidFill>
                  <a:srgbClr val="C00000"/>
                </a:solidFill>
              </a:rPr>
              <a:t>0</a:t>
            </a:r>
            <a:r>
              <a:rPr lang="en-US" sz="1600" b="1">
                <a:solidFill>
                  <a:srgbClr val="C00000"/>
                </a:solidFill>
              </a:rPr>
              <a:t>: p = p</a:t>
            </a:r>
            <a:r>
              <a:rPr lang="en-US" sz="1600" b="1" baseline="-25000">
                <a:solidFill>
                  <a:srgbClr val="C00000"/>
                </a:solidFill>
              </a:rPr>
              <a:t>0</a:t>
            </a:r>
            <a:r>
              <a:rPr lang="en-US" sz="1600" b="1">
                <a:solidFill>
                  <a:srgbClr val="C00000"/>
                </a:solidFill>
              </a:rPr>
              <a:t> about the proportion of successes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3CD95-D52E-5227-B663-7C0A72677B6E}"/>
              </a:ext>
            </a:extLst>
          </p:cNvPr>
          <p:cNvSpPr txBox="1"/>
          <p:nvPr/>
        </p:nvSpPr>
        <p:spPr>
          <a:xfrm>
            <a:off x="762000" y="2741394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assumptions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3E601-601D-C6B1-8265-C079CB8C9269}"/>
              </a:ext>
            </a:extLst>
          </p:cNvPr>
          <p:cNvSpPr txBox="1"/>
          <p:nvPr/>
        </p:nvSpPr>
        <p:spPr>
          <a:xfrm>
            <a:off x="1117600" y="3086834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a random sample,  and np</a:t>
            </a:r>
            <a:r>
              <a:rPr lang="en-US" sz="1600" b="1" baseline="-25000">
                <a:solidFill>
                  <a:srgbClr val="C00000"/>
                </a:solidFill>
              </a:rPr>
              <a:t>0</a:t>
            </a:r>
            <a:r>
              <a:rPr lang="en-US" sz="1600" b="1">
                <a:solidFill>
                  <a:srgbClr val="C00000"/>
                </a:solidFill>
              </a:rPr>
              <a:t> ≥ 15  and  n(1 − p</a:t>
            </a:r>
            <a:r>
              <a:rPr lang="en-US" sz="1600" b="1" baseline="-25000">
                <a:solidFill>
                  <a:srgbClr val="C00000"/>
                </a:solidFill>
              </a:rPr>
              <a:t>0</a:t>
            </a:r>
            <a:r>
              <a:rPr lang="en-US" sz="1600" b="1">
                <a:solidFill>
                  <a:srgbClr val="C00000"/>
                </a:solidFill>
              </a:rPr>
              <a:t>) ≥ 15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02BF4-8037-2F73-E27A-7A453477E389}"/>
              </a:ext>
            </a:extLst>
          </p:cNvPr>
          <p:cNvSpPr txBox="1"/>
          <p:nvPr/>
        </p:nvSpPr>
        <p:spPr>
          <a:xfrm>
            <a:off x="762000" y="3603188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test statistic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3B3E3-D27C-E008-C93E-ED70BD2A4754}"/>
              </a:ext>
            </a:extLst>
          </p:cNvPr>
          <p:cNvSpPr txBox="1"/>
          <p:nvPr/>
        </p:nvSpPr>
        <p:spPr>
          <a:xfrm>
            <a:off x="1117600" y="3948628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z</a:t>
            </a:r>
            <a:r>
              <a:rPr lang="en-US" sz="1600" b="1" baseline="-25000">
                <a:solidFill>
                  <a:srgbClr val="C00000"/>
                </a:solidFill>
              </a:rPr>
              <a:t>obs</a:t>
            </a:r>
            <a:r>
              <a:rPr lang="en-US" sz="1600" b="1">
                <a:solidFill>
                  <a:srgbClr val="C00000"/>
                </a:solidFill>
              </a:rPr>
              <a:t> = (p̂ − p</a:t>
            </a:r>
            <a:r>
              <a:rPr lang="en-US" sz="1600" b="1" baseline="-25000">
                <a:solidFill>
                  <a:srgbClr val="C00000"/>
                </a:solidFill>
              </a:rPr>
              <a:t>0</a:t>
            </a:r>
            <a:r>
              <a:rPr lang="en-US" sz="1600" b="1">
                <a:solidFill>
                  <a:srgbClr val="C00000"/>
                </a:solidFill>
              </a:rPr>
              <a:t>) / √(p</a:t>
            </a:r>
            <a:r>
              <a:rPr lang="en-US" sz="1600" b="1" baseline="-25000">
                <a:solidFill>
                  <a:srgbClr val="C00000"/>
                </a:solidFill>
              </a:rPr>
              <a:t>0</a:t>
            </a:r>
            <a:r>
              <a:rPr lang="en-US" sz="1600" b="1">
                <a:solidFill>
                  <a:srgbClr val="C00000"/>
                </a:solidFill>
              </a:rPr>
              <a:t>(1 − p</a:t>
            </a:r>
            <a:r>
              <a:rPr lang="en-US" sz="1600" b="1" baseline="-25000">
                <a:solidFill>
                  <a:srgbClr val="C00000"/>
                </a:solidFill>
              </a:rPr>
              <a:t>0</a:t>
            </a:r>
            <a:r>
              <a:rPr lang="en-US" sz="1600" b="1">
                <a:solidFill>
                  <a:srgbClr val="C00000"/>
                </a:solidFill>
              </a:rPr>
              <a:t>) / n):  the SE uses p</a:t>
            </a:r>
            <a:r>
              <a:rPr lang="en-US" sz="1600" b="1" baseline="-25000">
                <a:solidFill>
                  <a:srgbClr val="C00000"/>
                </a:solidFill>
              </a:rPr>
              <a:t>0</a:t>
            </a:r>
            <a:r>
              <a:rPr lang="en-US" sz="1600" b="1">
                <a:solidFill>
                  <a:srgbClr val="C00000"/>
                </a:solidFill>
              </a:rPr>
              <a:t>, because we assume H</a:t>
            </a:r>
            <a:r>
              <a:rPr lang="en-US" sz="1600" b="1" baseline="-25000">
                <a:solidFill>
                  <a:srgbClr val="C00000"/>
                </a:solidFill>
              </a:rPr>
              <a:t>0</a:t>
            </a:r>
            <a:r>
              <a:rPr lang="en-US" sz="1600" b="1">
                <a:solidFill>
                  <a:srgbClr val="C00000"/>
                </a:solidFill>
              </a:rPr>
              <a:t> is true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469CAAB-2B69-6863-7C28-0C5959E5734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252B31-0A80-8297-9AB5-9AED735ACDE2}"/>
              </a:ext>
            </a:extLst>
          </p:cNvPr>
          <p:cNvSpPr txBox="1"/>
          <p:nvPr/>
        </p:nvSpPr>
        <p:spPr>
          <a:xfrm>
            <a:off x="762000" y="4464982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P-value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980B2D-2D53-A814-88AF-46C2FDF3E298}"/>
              </a:ext>
            </a:extLst>
          </p:cNvPr>
          <p:cNvSpPr txBox="1"/>
          <p:nvPr/>
        </p:nvSpPr>
        <p:spPr>
          <a:xfrm>
            <a:off x="1117600" y="4810422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upper:  P(Z ≥ z</a:t>
            </a:r>
            <a:r>
              <a:rPr lang="en-US" sz="1600" b="1" baseline="-25000">
                <a:solidFill>
                  <a:srgbClr val="C00000"/>
                </a:solidFill>
              </a:rPr>
              <a:t>obs</a:t>
            </a:r>
            <a:r>
              <a:rPr lang="en-US" sz="1600" b="1">
                <a:solidFill>
                  <a:srgbClr val="C00000"/>
                </a:solidFill>
              </a:rPr>
              <a:t> | H</a:t>
            </a:r>
            <a:r>
              <a:rPr lang="en-US" sz="1600" b="1" baseline="-25000">
                <a:solidFill>
                  <a:srgbClr val="C00000"/>
                </a:solidFill>
              </a:rPr>
              <a:t>0</a:t>
            </a:r>
            <a:r>
              <a:rPr lang="en-US" sz="1600" b="1">
                <a:solidFill>
                  <a:srgbClr val="C00000"/>
                </a:solidFill>
              </a:rPr>
              <a:t> true);   lower:  P(Z ≤ z</a:t>
            </a:r>
            <a:r>
              <a:rPr lang="en-US" sz="1600" b="1" baseline="-25000">
                <a:solidFill>
                  <a:srgbClr val="C00000"/>
                </a:solidFill>
              </a:rPr>
              <a:t>obs</a:t>
            </a:r>
            <a:r>
              <a:rPr lang="en-US" sz="1600" b="1">
                <a:solidFill>
                  <a:srgbClr val="C00000"/>
                </a:solidFill>
              </a:rPr>
              <a:t> | H</a:t>
            </a:r>
            <a:r>
              <a:rPr lang="en-US" sz="1600" b="1" baseline="-25000">
                <a:solidFill>
                  <a:srgbClr val="C00000"/>
                </a:solidFill>
              </a:rPr>
              <a:t>0</a:t>
            </a:r>
            <a:r>
              <a:rPr lang="en-US" sz="1600" b="1">
                <a:solidFill>
                  <a:srgbClr val="C00000"/>
                </a:solidFill>
              </a:rPr>
              <a:t> true);   two-sided:  double the tail</a:t>
            </a:r>
          </a:p>
        </p:txBody>
      </p:sp>
    </p:spTree>
    <p:extLst>
      <p:ext uri="{BB962C8B-B14F-4D97-AF65-F5344CB8AC3E}">
        <p14:creationId xmlns:p14="http://schemas.microsoft.com/office/powerpoint/2010/main" val="1500905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4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2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Example: cell phones and brain cancer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6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In a study of 420,019 cell phone users, 172 developed brain cancer.  For people who do not use cell phones, the rate is 0.034%.  Do cell phone users get brain cancer at a higher rate?  (OpenStax, Example 9.21)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551331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pt-BR" sz="2000" b="1">
                <a:solidFill>
                  <a:srgbClr val="000000"/>
                </a:solidFill>
                <a:latin typeface="Calibri" panose="020F0502020204030204" pitchFamily="34" charset="0"/>
              </a:rPr>
              <a:t>x = 172;     n = 420,019;     p</a:t>
            </a:r>
            <a:r>
              <a:rPr lang="pt-BR" sz="2000" b="1" baseline="-25000">
                <a:solidFill>
                  <a:srgbClr val="000000"/>
                </a:solidFill>
                <a:latin typeface="Calibri" panose="020F0502020204030204" pitchFamily="34" charset="0"/>
              </a:rPr>
              <a:t>0</a:t>
            </a:r>
            <a:r>
              <a:rPr lang="pt-BR" sz="2000" b="1">
                <a:solidFill>
                  <a:srgbClr val="000000"/>
                </a:solidFill>
                <a:latin typeface="Calibri" panose="020F0502020204030204" pitchFamily="34" charset="0"/>
              </a:rPr>
              <a:t> = 0.00034;     </a:t>
            </a:r>
            <a:r>
              <a:rPr lang="el-GR" sz="2000" b="1">
                <a:solidFill>
                  <a:srgbClr val="000000"/>
                </a:solidFill>
                <a:latin typeface="Calibri" panose="020F0502020204030204" pitchFamily="34" charset="0"/>
              </a:rPr>
              <a:t>α = 0.05</a:t>
            </a:r>
            <a:endParaRPr lang="en-US" sz="2000" b="1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976841"/>
            <a:ext cx="10668000" cy="127727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What are H</a:t>
            </a:r>
            <a:r>
              <a:rPr lang="en-US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 and H</a:t>
            </a:r>
            <a:r>
              <a:rPr lang="en-US" b="1" baseline="-25000">
                <a:solidFill>
                  <a:srgbClr val="C00000"/>
                </a:solidFill>
                <a:latin typeface="Calibri" panose="020F0502020204030204" pitchFamily="34" charset="0"/>
              </a:rPr>
              <a:t>A</a:t>
            </a: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?  Which tail?  Are the assumptions met?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What are p̂, the standard error and z</a:t>
            </a:r>
            <a:r>
              <a:rPr lang="en-US" b="1" baseline="-25000">
                <a:solidFill>
                  <a:srgbClr val="C00000"/>
                </a:solidFill>
                <a:latin typeface="Calibri" panose="020F0502020204030204" pitchFamily="34" charset="0"/>
              </a:rPr>
              <a:t>obs</a:t>
            </a: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(c)  What is the P-value?  What is the decision at </a:t>
            </a:r>
            <a:r>
              <a:rPr lang="el-GR" b="1">
                <a:solidFill>
                  <a:srgbClr val="C00000"/>
                </a:solidFill>
                <a:latin typeface="Calibri" panose="020F0502020204030204" pitchFamily="34" charset="0"/>
              </a:rPr>
              <a:t>α = 0.05?</a:t>
            </a:r>
            <a:endParaRPr lang="en-US" b="1">
              <a:solidFill>
                <a:srgbClr val="C00000"/>
              </a:solidFill>
              <a:latin typeface="Calibri" panose="020F0502020204030204" pitchFamily="34" charset="0"/>
            </a:endParaRP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(d)  The book uses α = 0.005.  Would the decision change?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4406514"/>
            <a:ext cx="10668000" cy="17272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(a)  H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: p = 0.00034    H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A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: p &gt; 0.00034,  upper-tailed;    np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 = 142.8 ≥ 15,  n(1 − p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) ≥ 15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(b)  p̂ = 172 / 420,019 ≈ 0.0004095;    SE = √(p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(1 − p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) / n) ≈ 0.00002845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       z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obs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 = (0.0004095 − 0.00034) / 0.00002845 ≈ 2.44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(c)  P(Z ≥ 2.44 | H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 true) = 1 − 0.9927 = 0.0073 &lt; 0.05:   reject H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(d)  Yes:  0.0073 ≥ 0.005,  do not reject H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.  Same data, opposite decision:  choose α first</a:t>
            </a:r>
          </a:p>
        </p:txBody>
      </p:sp>
    </p:spTree>
    <p:extLst>
      <p:ext uri="{BB962C8B-B14F-4D97-AF65-F5344CB8AC3E}">
        <p14:creationId xmlns:p14="http://schemas.microsoft.com/office/powerpoint/2010/main" val="126512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AB41-6AD1-9EF2-7F95-46A90439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Testing a population mean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4AE5-98B5-B840-6B8A-D345C7C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7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AAE17-27CE-D7A3-C663-11BB48ACBF5B}"/>
              </a:ext>
            </a:extLst>
          </p:cNvPr>
          <p:cNvSpPr txBox="1"/>
          <p:nvPr/>
        </p:nvSpPr>
        <p:spPr>
          <a:xfrm>
            <a:off x="762000" y="18796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when to use 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0A0F8-5E1E-9A1D-B64C-50827EE6C9B2}"/>
              </a:ext>
            </a:extLst>
          </p:cNvPr>
          <p:cNvSpPr txBox="1"/>
          <p:nvPr/>
        </p:nvSpPr>
        <p:spPr>
          <a:xfrm>
            <a:off x="1117600" y="2225040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a claim H</a:t>
            </a:r>
            <a:r>
              <a:rPr lang="en-US" sz="1600" b="1" baseline="-25000">
                <a:solidFill>
                  <a:srgbClr val="C00000"/>
                </a:solidFill>
              </a:rPr>
              <a:t>0</a:t>
            </a:r>
            <a:r>
              <a:rPr lang="en-US" sz="1600" b="1">
                <a:solidFill>
                  <a:srgbClr val="C00000"/>
                </a:solidFill>
              </a:rPr>
              <a:t>: </a:t>
            </a:r>
            <a:r>
              <a:rPr lang="el-GR" sz="1600" b="1">
                <a:solidFill>
                  <a:srgbClr val="C00000"/>
                </a:solidFill>
              </a:rPr>
              <a:t>μ = μ</a:t>
            </a:r>
            <a:r>
              <a:rPr lang="el-GR" sz="1600" b="1" baseline="-25000">
                <a:solidFill>
                  <a:srgbClr val="C00000"/>
                </a:solidFill>
              </a:rPr>
              <a:t>0</a:t>
            </a:r>
            <a:r>
              <a:rPr lang="el-GR" sz="1600" b="1">
                <a:solidFill>
                  <a:srgbClr val="C00000"/>
                </a:solidFill>
              </a:rPr>
              <a:t>;  </a:t>
            </a:r>
            <a:r>
              <a:rPr lang="en-US" sz="1600" b="1">
                <a:solidFill>
                  <a:srgbClr val="C00000"/>
                </a:solidFill>
              </a:rPr>
              <a:t>a random sample from a normal population, or n ≥ 30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3CD95-D52E-5227-B663-7C0A72677B6E}"/>
              </a:ext>
            </a:extLst>
          </p:cNvPr>
          <p:cNvSpPr txBox="1"/>
          <p:nvPr/>
        </p:nvSpPr>
        <p:spPr>
          <a:xfrm>
            <a:off x="762000" y="2741394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l-GR" sz="1600">
                <a:solidFill>
                  <a:srgbClr val="000000"/>
                </a:solidFill>
              </a:rPr>
              <a:t>σ </a:t>
            </a:r>
            <a:r>
              <a:rPr lang="en-US" sz="1600">
                <a:solidFill>
                  <a:srgbClr val="000000"/>
                </a:solidFill>
              </a:rPr>
              <a:t>known:  z-test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3E601-601D-C6B1-8265-C079CB8C9269}"/>
              </a:ext>
            </a:extLst>
          </p:cNvPr>
          <p:cNvSpPr txBox="1"/>
          <p:nvPr/>
        </p:nvSpPr>
        <p:spPr>
          <a:xfrm>
            <a:off x="1117600" y="3086834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z</a:t>
            </a:r>
            <a:r>
              <a:rPr lang="en-US" sz="1600" b="1" baseline="-25000">
                <a:solidFill>
                  <a:srgbClr val="C00000"/>
                </a:solidFill>
              </a:rPr>
              <a:t>obs</a:t>
            </a:r>
            <a:r>
              <a:rPr lang="en-US" sz="1600" b="1">
                <a:solidFill>
                  <a:srgbClr val="C00000"/>
                </a:solidFill>
              </a:rPr>
              <a:t> = (x̄ − μ</a:t>
            </a:r>
            <a:r>
              <a:rPr lang="en-US" sz="1600" b="1" baseline="-25000">
                <a:solidFill>
                  <a:srgbClr val="C00000"/>
                </a:solidFill>
              </a:rPr>
              <a:t>0</a:t>
            </a:r>
            <a:r>
              <a:rPr lang="en-US" sz="1600" b="1">
                <a:solidFill>
                  <a:srgbClr val="C00000"/>
                </a:solidFill>
              </a:rPr>
              <a:t>) / (σ/√n),  P-value from the z-table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02BF4-8037-2F73-E27A-7A453477E389}"/>
              </a:ext>
            </a:extLst>
          </p:cNvPr>
          <p:cNvSpPr txBox="1"/>
          <p:nvPr/>
        </p:nvSpPr>
        <p:spPr>
          <a:xfrm>
            <a:off x="762000" y="3603188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l-GR" sz="1600">
                <a:solidFill>
                  <a:srgbClr val="000000"/>
                </a:solidFill>
              </a:rPr>
              <a:t>σ </a:t>
            </a:r>
            <a:r>
              <a:rPr lang="en-US" sz="1600">
                <a:solidFill>
                  <a:srgbClr val="000000"/>
                </a:solidFill>
              </a:rPr>
              <a:t>unknown:  t-test</a:t>
            </a:r>
            <a:endParaRPr lang="en-US" sz="1600" baseline="-25000">
              <a:solidFill>
                <a:srgbClr val="0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3B3E3-D27C-E008-C93E-ED70BD2A4754}"/>
              </a:ext>
            </a:extLst>
          </p:cNvPr>
          <p:cNvSpPr txBox="1"/>
          <p:nvPr/>
        </p:nvSpPr>
        <p:spPr>
          <a:xfrm>
            <a:off x="1117600" y="3948628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t</a:t>
            </a:r>
            <a:r>
              <a:rPr lang="en-US" sz="1600" b="1" baseline="-25000">
                <a:solidFill>
                  <a:srgbClr val="C00000"/>
                </a:solidFill>
              </a:rPr>
              <a:t>obs</a:t>
            </a:r>
            <a:r>
              <a:rPr lang="en-US" sz="1600" b="1">
                <a:solidFill>
                  <a:srgbClr val="C00000"/>
                </a:solidFill>
              </a:rPr>
              <a:t> = (x̄ − μ</a:t>
            </a:r>
            <a:r>
              <a:rPr lang="en-US" sz="1600" b="1" baseline="-25000">
                <a:solidFill>
                  <a:srgbClr val="C00000"/>
                </a:solidFill>
              </a:rPr>
              <a:t>0</a:t>
            </a:r>
            <a:r>
              <a:rPr lang="en-US" sz="1600" b="1">
                <a:solidFill>
                  <a:srgbClr val="C00000"/>
                </a:solidFill>
              </a:rPr>
              <a:t>) / (s/√n),  df = n − 1,  P-value from the t-table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469CAAB-2B69-6863-7C28-0C5959E5734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252B31-0A80-8297-9AB5-9AED735ACDE2}"/>
              </a:ext>
            </a:extLst>
          </p:cNvPr>
          <p:cNvSpPr txBox="1"/>
          <p:nvPr/>
        </p:nvSpPr>
        <p:spPr>
          <a:xfrm>
            <a:off x="762000" y="4464982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P-value from the t-table</a:t>
            </a:r>
            <a:endParaRPr lang="en-US" sz="1600" baseline="-25000">
              <a:solidFill>
                <a:srgbClr val="0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980B2D-2D53-A814-88AF-46C2FDF3E298}"/>
              </a:ext>
            </a:extLst>
          </p:cNvPr>
          <p:cNvSpPr txBox="1"/>
          <p:nvPr/>
        </p:nvSpPr>
        <p:spPr>
          <a:xfrm>
            <a:off x="1117600" y="4810422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find t</a:t>
            </a:r>
            <a:r>
              <a:rPr lang="en-US" sz="1600" b="1" baseline="-25000">
                <a:solidFill>
                  <a:srgbClr val="C00000"/>
                </a:solidFill>
              </a:rPr>
              <a:t>obs</a:t>
            </a:r>
            <a:r>
              <a:rPr lang="en-US" sz="1600" b="1">
                <a:solidFill>
                  <a:srgbClr val="C00000"/>
                </a:solidFill>
              </a:rPr>
              <a:t> between two values in row df;  the P-value is between their tail areas</a:t>
            </a:r>
          </a:p>
        </p:txBody>
      </p:sp>
    </p:spTree>
    <p:extLst>
      <p:ext uri="{BB962C8B-B14F-4D97-AF65-F5344CB8AC3E}">
        <p14:creationId xmlns:p14="http://schemas.microsoft.com/office/powerpoint/2010/main" val="4289908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4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2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Example: the first statistics test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8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Students believe the mean score on the first statistics test is 65.  An instructor thinks it is higher and samples 10 students’ scores, which are normal.  (OpenStax, Example 9.16)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551331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pt-BR" sz="2000" b="1">
                <a:solidFill>
                  <a:srgbClr val="000000"/>
                </a:solidFill>
                <a:latin typeface="Calibri" panose="020F0502020204030204" pitchFamily="34" charset="0"/>
              </a:rPr>
              <a:t>n = 10;     x̄ = 67;     s = 3.197;     μ</a:t>
            </a:r>
            <a:r>
              <a:rPr lang="pt-BR" sz="2000" b="1" baseline="-25000">
                <a:solidFill>
                  <a:srgbClr val="000000"/>
                </a:solidFill>
                <a:latin typeface="Calibri" panose="020F0502020204030204" pitchFamily="34" charset="0"/>
              </a:rPr>
              <a:t>0</a:t>
            </a:r>
            <a:r>
              <a:rPr lang="pt-BR" sz="2000" b="1">
                <a:solidFill>
                  <a:srgbClr val="000000"/>
                </a:solidFill>
                <a:latin typeface="Calibri" panose="020F0502020204030204" pitchFamily="34" charset="0"/>
              </a:rPr>
              <a:t> = 65;     α = 0.05</a:t>
            </a:r>
            <a:endParaRPr lang="en-US" sz="2000" b="1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976841"/>
            <a:ext cx="10668000" cy="9779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What are H</a:t>
            </a:r>
            <a:r>
              <a:rPr lang="en-US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 and H</a:t>
            </a:r>
            <a:r>
              <a:rPr lang="en-US" b="1" baseline="-25000">
                <a:solidFill>
                  <a:srgbClr val="C00000"/>
                </a:solidFill>
                <a:latin typeface="Calibri" panose="020F0502020204030204" pitchFamily="34" charset="0"/>
              </a:rPr>
              <a:t>A</a:t>
            </a: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?  Which tail?  Are the assumptions met?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z or t?  What are the standard error and the test statistic?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(c)  What is the P-value (use the t-table)?  What is the decision?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4107141"/>
            <a:ext cx="10668000" cy="10922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(a)  H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: μ = 65     H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A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: μ &gt; 65,  upper-tailed;    n &lt; 30, but the scores are normal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(b)  σ unknown, so t;    SE = 3.197 / √10 ≈ 1.011;    t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obs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 = (67 − 65) / 1.011 ≈ 1.98,  df = 9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(c)  row 9:  1.833 &lt; 1.98 &lt; 2.262,  so  0.025 &lt; P-value &lt; 0.05:    reject H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264867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Practice: younger than the groom?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9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Joon believes 50% of first-time brides in the U.S. are younger than their grooms.  She tests whether the percentage is different from 50%.  (OpenStax, Example 9.17)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551331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n = 100 brides;     53 younger than their grooms;     p</a:t>
            </a:r>
            <a:r>
              <a:rPr lang="en-US" sz="2000" b="1" baseline="-25000">
                <a:solidFill>
                  <a:srgbClr val="000000"/>
                </a:solidFill>
                <a:latin typeface="Calibri" panose="020F0502020204030204" pitchFamily="34" charset="0"/>
              </a:rPr>
              <a:t>0</a:t>
            </a: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 = 0.50;     α = 0.01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976841"/>
            <a:ext cx="10668000" cy="12954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Are the assumptions met?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What are H</a:t>
            </a:r>
            <a:r>
              <a:rPr lang="en-US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 and H</a:t>
            </a:r>
            <a:r>
              <a:rPr lang="en-US" b="1" baseline="-25000">
                <a:solidFill>
                  <a:srgbClr val="C00000"/>
                </a:solidFill>
                <a:latin typeface="Calibri" panose="020F0502020204030204" pitchFamily="34" charset="0"/>
              </a:rPr>
              <a:t>A</a:t>
            </a: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?  Which tail?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(c)  What are p̂, the standard error and z</a:t>
            </a:r>
            <a:r>
              <a:rPr lang="en-US" b="1" baseline="-25000">
                <a:solidFill>
                  <a:srgbClr val="C00000"/>
                </a:solidFill>
                <a:latin typeface="Calibri" panose="020F0502020204030204" pitchFamily="34" charset="0"/>
              </a:rPr>
              <a:t>obs</a:t>
            </a: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(d)  What is the P-value?  What is the decision?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4424641"/>
            <a:ext cx="10668000" cy="14097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(a)  a random sample;    np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 = 100(0.50) = 50 ≥ 15   and   n(1 − p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) = 50 ≥ 15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(b)  H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: p = 0.50     H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A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: p ≠ 0.50;     two-sided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(c)  p̂ = 53 / 100 = 0.53;    SE = √(0.50 × 0.50 / 100) = 0.05;    z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obs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 = 0.03 / 0.05 = 0.60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(d)  2 × P(Z ≥ 0.60 | H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 true) = 2(1 − 0.7257) = 0.5486 ≥ 0.01:    do not reject H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598224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Practice: faster with goggles?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10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Jeffrey swims the 25-yard freestyle in a mean of 16.43 s, with σ = 0.8 s.  In new goggles, he swims it 15 times.  Do the goggles make him faster?  Times are normal.  (OpenStax, Example 9.14)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551331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pt-BR" sz="2000" b="1">
                <a:solidFill>
                  <a:srgbClr val="000000"/>
                </a:solidFill>
                <a:latin typeface="Calibri" panose="020F0502020204030204" pitchFamily="34" charset="0"/>
              </a:rPr>
              <a:t>n = 15;     x̄ = 16 s;     σ = 0.8 s;     μ</a:t>
            </a:r>
            <a:r>
              <a:rPr lang="pt-BR" sz="2000" b="1" baseline="-25000">
                <a:solidFill>
                  <a:srgbClr val="000000"/>
                </a:solidFill>
                <a:latin typeface="Calibri" panose="020F0502020204030204" pitchFamily="34" charset="0"/>
              </a:rPr>
              <a:t>0</a:t>
            </a:r>
            <a:r>
              <a:rPr lang="pt-BR" sz="2000" b="1">
                <a:solidFill>
                  <a:srgbClr val="000000"/>
                </a:solidFill>
                <a:latin typeface="Calibri" panose="020F0502020204030204" pitchFamily="34" charset="0"/>
              </a:rPr>
              <a:t> = 16.43 s;     α = 0.05</a:t>
            </a:r>
            <a:endParaRPr lang="en-US" sz="2000" b="1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976841"/>
            <a:ext cx="10668000" cy="9779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What are H</a:t>
            </a:r>
            <a:r>
              <a:rPr lang="en-US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 and H</a:t>
            </a:r>
            <a:r>
              <a:rPr lang="en-US" b="1" baseline="-25000">
                <a:solidFill>
                  <a:srgbClr val="C00000"/>
                </a:solidFill>
                <a:latin typeface="Calibri" panose="020F0502020204030204" pitchFamily="34" charset="0"/>
              </a:rPr>
              <a:t>A</a:t>
            </a: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?  Which tail?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z or t?  What are the standard error and the test statistic?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(c)  What is the P-value?  What is the decision?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4107141"/>
            <a:ext cx="10668000" cy="10922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(a)  H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: </a:t>
            </a:r>
            <a:r>
              <a:rPr lang="el-GR" sz="2000" b="1">
                <a:solidFill>
                  <a:srgbClr val="C00000"/>
                </a:solidFill>
                <a:latin typeface="Calibri" panose="020F0502020204030204" pitchFamily="34" charset="0"/>
              </a:rPr>
              <a:t>μ = 16.43     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H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A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: </a:t>
            </a:r>
            <a:r>
              <a:rPr lang="el-GR" sz="2000" b="1">
                <a:solidFill>
                  <a:srgbClr val="C00000"/>
                </a:solidFill>
                <a:latin typeface="Calibri" panose="020F0502020204030204" pitchFamily="34" charset="0"/>
              </a:rPr>
              <a:t>μ &lt; 16.43,  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lower-tailed:  faster means less time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(b)  </a:t>
            </a:r>
            <a:r>
              <a:rPr lang="el-GR" sz="2000" b="1">
                <a:solidFill>
                  <a:srgbClr val="C00000"/>
                </a:solidFill>
                <a:latin typeface="Calibri" panose="020F0502020204030204" pitchFamily="34" charset="0"/>
              </a:rPr>
              <a:t>σ 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known, so z;    SE = 0.8 / √15 ≈ 0.2066;    z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obs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 = (16 − 16.43) / 0.2066 ≈ −2.08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(c)  P(Z ≤ −2.08 | H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 true) = 0.0188 &lt; 0.05:    reject H</a:t>
            </a:r>
            <a:r>
              <a:rPr lang="en-US" sz="2000" b="1" baseline="-25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;  the goggles help</a:t>
            </a:r>
          </a:p>
        </p:txBody>
      </p:sp>
    </p:spTree>
    <p:extLst>
      <p:ext uri="{BB962C8B-B14F-4D97-AF65-F5344CB8AC3E}">
        <p14:creationId xmlns:p14="http://schemas.microsoft.com/office/powerpoint/2010/main" val="960349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4232</TotalTime>
  <Words>1411</Words>
  <Application>Microsoft Office PowerPoint</Application>
  <PresentationFormat>Widescreen</PresentationFormat>
  <Paragraphs>94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Lecture 24 Tests for p and μ</vt:lpstr>
      <vt:lpstr>Review</vt:lpstr>
      <vt:lpstr>Making a decision</vt:lpstr>
      <vt:lpstr>Practice: P-values and decisions</vt:lpstr>
      <vt:lpstr>Testing a population proportion</vt:lpstr>
      <vt:lpstr>Example: cell phones and brain cancer</vt:lpstr>
      <vt:lpstr>Testing a population mean</vt:lpstr>
      <vt:lpstr>Example: the first statistics test</vt:lpstr>
      <vt:lpstr>Practice: younger than the groom?</vt:lpstr>
      <vt:lpstr>Practice: faster with goggles?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Jarred Kvamme</dc:creator>
  <cp:lastModifiedBy>Jarred Kvamme</cp:lastModifiedBy>
  <cp:revision>455</cp:revision>
  <dcterms:created xsi:type="dcterms:W3CDTF">2023-08-05T23:57:41Z</dcterms:created>
  <dcterms:modified xsi:type="dcterms:W3CDTF">2026-10-30T21:33:07Z</dcterms:modified>
</cp:coreProperties>
</file>