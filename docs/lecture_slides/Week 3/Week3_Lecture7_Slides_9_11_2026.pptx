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3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7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Cumulative Distributions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13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Why do we square the deviations before averaging them?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C00000"/>
                </a:solidFill>
              </a:rPr>
              <a:t>Because the deviations always sum to zero – the positives cancel the negatives, so their average is 0 for every dataset.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The variance came out in squared units. What fixes that?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Taking the square root. The standard deviation is back on the scale of the data.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Why divide the sum of squares by n - 1 rather than n?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deviations must sum to zero, so once you know n - 1 of them the last is forced. Only n - 1 are free to vary.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Where do the two fences sit, and what do they decide?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At Q1 - 1.5(IQR) and Q3 + 1.5(IQR). Anything outside them is an outlier, and the whiskers stop before them.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4F4C-FB53-4118-F743-331A0F2B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The data: sugar in twenty breakfast cereals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68E70-1EE1-D19D-D8E5-097C6C60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8000"/>
            <a:ext cx="10668000" cy="762000"/>
          </a:xfrm>
        </p:spPr>
        <p:txBody>
          <a:bodyPr>
            <a:normAutofit/>
          </a:bodyPr>
          <a:lstStyle/>
          <a:p>
            <a:r>
              <a:rPr lang="en-US" sz="1600"/>
              <a:t>X = grams of sugar per serving, for twenty cereals on a US supermarket shelf</a:t>
            </a:r>
          </a:p>
          <a:p>
            <a:r>
              <a:rPr lang="en-US" sz="1600"/>
              <a:t>n = 20, so n is even - keep that in mind, it changes how we read one thing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8B7B7-A29D-1936-239B-AA7C0D61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37F9E-257B-2A40-9DD4-6B3705C2F97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717800"/>
            <a:ext cx="9906000" cy="4043265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62513807-7016-F666-1AD1-C87ACA26BD3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7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5768F-DA0B-F50C-0F6F-2B3E507F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Cumulative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82E18-22C5-ABBD-150C-603575AB9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79600"/>
            <a:ext cx="5080000" cy="4191000"/>
          </a:xfrm>
        </p:spPr>
        <p:txBody>
          <a:bodyPr>
            <a:normAutofit/>
          </a:bodyPr>
          <a:lstStyle/>
          <a:p>
            <a:r>
              <a:rPr lang="en-US" sz="1500"/>
              <a:t>A </a:t>
            </a:r>
            <a:r>
              <a:rPr lang="en-US" sz="1500" b="1">
                <a:solidFill>
                  <a:srgbClr val="C00000"/>
                </a:solidFill>
              </a:rPr>
              <a:t>cumulative distribution</a:t>
            </a:r>
            <a:r>
              <a:rPr lang="en-US" sz="1500"/>
              <a:t> shows the relationship between the value of a variable and the cumulative relative frequency</a:t>
            </a:r>
          </a:p>
          <a:p>
            <a:r>
              <a:rPr lang="en-US" sz="1500"/>
              <a:t>crf(x) answers one question: what fraction of the data falls at or below x?</a:t>
            </a:r>
          </a:p>
          <a:p>
            <a:pPr lvl="1"/>
            <a:r>
              <a:rPr lang="en-US" sz="1500"/>
              <a:t>It only ever climbs - it can never come back down</a:t>
            </a:r>
          </a:p>
          <a:p>
            <a:pPr lvl="1"/>
            <a:r>
              <a:rPr lang="en-US" sz="1500"/>
              <a:t>It starts at 0 and finishes at 1</a:t>
            </a:r>
          </a:p>
          <a:p>
            <a:r>
              <a:rPr lang="en-US" sz="1500"/>
              <a:t>For discrete data we draw it as a </a:t>
            </a:r>
            <a:r>
              <a:rPr lang="en-US" sz="1500" b="1">
                <a:solidFill>
                  <a:srgbClr val="C00000"/>
                </a:solidFill>
              </a:rPr>
              <a:t>step function</a:t>
            </a:r>
            <a:r>
              <a:rPr lang="en-US" sz="1500"/>
              <a:t>: flat between observed values, jumping at each one</a:t>
            </a:r>
          </a:p>
          <a:p>
            <a:pPr lvl="1"/>
            <a:r>
              <a:rPr lang="en-US" sz="1500"/>
              <a:t>The height of a jump is that value’s relative 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A1DEC-B80C-DEA8-9E4B-F470100E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D31FB-0E25-762C-2703-2BFEC3AE36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905000"/>
            <a:ext cx="4826000" cy="3937000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8B3F6397-317A-4CC5-66F2-2F6D145E6EB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7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A2E3-CBA1-8469-AB37-A799F7CE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From the table to the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62A7-6CF2-1E6D-C4C5-3B8459F54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79600"/>
            <a:ext cx="4572000" cy="3810000"/>
          </a:xfrm>
        </p:spPr>
        <p:txBody>
          <a:bodyPr>
            <a:normAutofit/>
          </a:bodyPr>
          <a:lstStyle/>
          <a:p>
            <a:r>
              <a:rPr lang="en-US" sz="1600"/>
              <a:t>Put the values of the variable on the x-axis and crf(x) on the y-axis</a:t>
            </a:r>
          </a:p>
          <a:p>
            <a:r>
              <a:rPr lang="en-US" sz="1600"/>
              <a:t>Plot a point at each observed value</a:t>
            </a:r>
          </a:p>
          <a:p>
            <a:r>
              <a:rPr lang="en-US" sz="1600"/>
              <a:t>Hold that height flat until the next observed value, then jump</a:t>
            </a:r>
          </a:p>
          <a:p>
            <a:r>
              <a:rPr lang="en-US" sz="1600"/>
              <a:t>The flat runs are not decoration - they are what we read a percentile off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F3C2-7969-1D7D-4A17-00004E81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CA98AD-F3A6-A2F7-C786-828587EDD0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778000"/>
            <a:ext cx="6223000" cy="3889375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F2D46C65-6ED7-7E33-ABF7-AA00F83C9767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03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490E-ED9D-847A-7A5B-4AE3845D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Reading a percentile off the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40150-2EF1-43BA-3710-BAF7C0202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79600"/>
            <a:ext cx="4572000" cy="3810000"/>
          </a:xfrm>
        </p:spPr>
        <p:txBody>
          <a:bodyPr>
            <a:normAutofit/>
          </a:bodyPr>
          <a:lstStyle/>
          <a:p>
            <a:r>
              <a:rPr lang="en-US" sz="1600"/>
              <a:t>To find the pth percentile:</a:t>
            </a:r>
          </a:p>
          <a:p>
            <a:pPr lvl="1"/>
            <a:r>
              <a:rPr lang="en-US" sz="1600"/>
              <a:t>go up the y-axis to p/100</a:t>
            </a:r>
          </a:p>
          <a:p>
            <a:pPr lvl="1"/>
            <a:r>
              <a:rPr lang="en-US" sz="1600"/>
              <a:t>read across to the curve</a:t>
            </a:r>
          </a:p>
          <a:p>
            <a:pPr lvl="1"/>
            <a:r>
              <a:rPr lang="en-US" sz="1600"/>
              <a:t>drop down to the x-axis</a:t>
            </a:r>
          </a:p>
          <a:p>
            <a:r>
              <a:rPr lang="en-US" sz="1600"/>
              <a:t>Q1, Q2 and Q3 are just the percentiles at 0.25, 0.50 and 0.75</a:t>
            </a:r>
          </a:p>
          <a:p>
            <a:pPr lvl="1"/>
            <a:r>
              <a:rPr lang="en-US" sz="1600" b="1">
                <a:latin typeface="Consolas" panose="020B0609020204030204" pitchFamily="49" charset="0"/>
              </a:rPr>
              <a:t>Q1 = 4      Q2 = 9.5      Q3 = 13</a:t>
            </a:r>
          </a:p>
          <a:p>
            <a:pPr lvl="1"/>
            <a:r>
              <a:rPr lang="en-US" sz="1600" b="1">
                <a:latin typeface="Consolas" panose="020B0609020204030204" pitchFamily="49" charset="0"/>
              </a:rPr>
              <a:t>IQR = 13 - 4 =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84FF2-74D9-2A02-089C-D5A80C26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1F01EC-1C3D-ACBE-A3CA-B1415EDAD8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778000"/>
            <a:ext cx="6223000" cy="3889375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1A9CC3A2-82FF-DBCE-EFAF-63620EB9A6C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9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3FAD-4022-51C6-8B3C-13EF2F59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When the bar sits exactly on the percentile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36C9-F94E-A4E8-CC26-B583DA4CE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79600"/>
            <a:ext cx="4572000" cy="4064000"/>
          </a:xfrm>
        </p:spPr>
        <p:txBody>
          <a:bodyPr>
            <a:normAutofit/>
          </a:bodyPr>
          <a:lstStyle/>
          <a:p>
            <a:r>
              <a:rPr lang="en-US" sz="1500"/>
              <a:t>Reading across at p usually crosses a jump, and the answer is that value</a:t>
            </a:r>
          </a:p>
          <a:p>
            <a:r>
              <a:rPr lang="en-US" sz="1500"/>
              <a:t>But sometimes the line lands ON a flat run instead</a:t>
            </a:r>
          </a:p>
          <a:p>
            <a:pPr lvl="1"/>
            <a:r>
              <a:rPr lang="en-US" sz="1500"/>
              <a:t>then the pth percentile is the </a:t>
            </a:r>
            <a:r>
              <a:rPr lang="en-US" sz="1500" b="1">
                <a:solidFill>
                  <a:srgbClr val="C00000"/>
                </a:solidFill>
              </a:rPr>
              <a:t>midpoint</a:t>
            </a:r>
            <a:r>
              <a:rPr lang="en-US" sz="1500"/>
              <a:t> of that bar</a:t>
            </a:r>
          </a:p>
          <a:p>
            <a:r>
              <a:rPr lang="en-US" sz="1500"/>
              <a:t>This happens when n is even, which is why n = 20 mattered</a:t>
            </a:r>
          </a:p>
          <a:p>
            <a:pPr lvl="1"/>
            <a:r>
              <a:rPr lang="en-US" sz="1500"/>
              <a:t>crf reaches 0.90 exactly at x = 15, and the next value is 16</a:t>
            </a:r>
          </a:p>
          <a:p>
            <a:pPr lvl="1"/>
            <a:r>
              <a:rPr lang="en-US" sz="1500"/>
              <a:t>so the 90th percentile is (15 + 16)/2 = 15.5, not 15</a:t>
            </a:r>
          </a:p>
          <a:p>
            <a:r>
              <a:rPr lang="en-US" sz="1500"/>
              <a:t>Same story at 0.50 and 0.75, which is why Q2 = 9.5 and Q3 = 13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70901-E462-0EA1-6B4E-D9A73368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C5B87-E3DC-6252-C0B5-CC099CA835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778000"/>
            <a:ext cx="6223000" cy="3889375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EF98FD5D-AA34-0E29-3B90-708EF024C17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8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8C3A-0186-BE09-5612-4AB99573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Going the other way: what percentile is this value 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EAD3-A82E-19CD-04B7-3E7A965CB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79600"/>
            <a:ext cx="4572000" cy="3810000"/>
          </a:xfrm>
        </p:spPr>
        <p:txBody>
          <a:bodyPr>
            <a:normAutofit/>
          </a:bodyPr>
          <a:lstStyle/>
          <a:p>
            <a:r>
              <a:rPr lang="en-US" sz="1600"/>
              <a:t>The same plot answers the reverse question. Start on the x-axis instead:</a:t>
            </a:r>
          </a:p>
          <a:p>
            <a:pPr lvl="1"/>
            <a:r>
              <a:rPr lang="en-US" sz="1600"/>
              <a:t>go along to the value</a:t>
            </a:r>
          </a:p>
          <a:p>
            <a:pPr lvl="1"/>
            <a:r>
              <a:rPr lang="en-US" sz="1600"/>
              <a:t>up to the curve</a:t>
            </a:r>
          </a:p>
          <a:p>
            <a:pPr lvl="1"/>
            <a:r>
              <a:rPr lang="en-US" sz="1600"/>
              <a:t>across to the y-axis, and read crf</a:t>
            </a:r>
          </a:p>
          <a:p>
            <a:r>
              <a:rPr lang="en-US" sz="1600"/>
              <a:t>Your turn: Honeycomb has 11 g of sugar. What percentile is it at?</a:t>
            </a:r>
          </a:p>
          <a:p>
            <a:r>
              <a:rPr lang="en-US" sz="1600"/>
              <a:t>And what about All Bran, at 5 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62BF-757C-093B-9441-D7D18391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3F9243-27C0-D14D-1039-B8CF8102D2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778000"/>
            <a:ext cx="6223000" cy="388937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AB14AB-E1B6-BAE2-8571-BCBEEFF13731}"/>
              </a:ext>
            </a:extLst>
          </p:cNvPr>
          <p:cNvSpPr/>
          <p:nvPr/>
        </p:nvSpPr>
        <p:spPr>
          <a:xfrm>
            <a:off x="698500" y="4419600"/>
            <a:ext cx="4699000" cy="1219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63500" rIns="127000" bIns="63500" rtlCol="0" anchor="ctr"/>
          <a:lstStyle/>
          <a:p>
            <a:r>
              <a:rPr lang="en-US" sz="1300" b="1">
                <a:solidFill>
                  <a:srgbClr val="000000"/>
                </a:solidFill>
              </a:rPr>
              <a:t>Working:</a:t>
            </a:r>
          </a:p>
          <a:p>
            <a:r>
              <a:rPr lang="en-US" sz="1300">
                <a:solidFill>
                  <a:srgbClr val="000000"/>
                </a:solidFill>
              </a:rPr>
              <a:t>  11 g  -&gt;  crf = 0.65  -&gt;  65th percentile</a:t>
            </a:r>
          </a:p>
          <a:p>
            <a:r>
              <a:rPr lang="en-US" sz="1300">
                <a:solidFill>
                  <a:srgbClr val="000000"/>
                </a:solidFill>
              </a:rPr>
              <a:t>  5 g   -&gt;  crf = 0.35  -&gt;  35th percentile</a:t>
            </a:r>
          </a:p>
          <a:p>
            <a:r>
              <a:rPr lang="en-US" sz="1300">
                <a:solidFill>
                  <a:srgbClr val="000000"/>
                </a:solidFill>
              </a:rPr>
              <a:t>65% of these cereals have at most as much sugar as Honeycomb.</a:t>
            </a:r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9620AD36-DF8F-D110-C073-8CF9BA990649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5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D1D9-348F-4446-7BD4-FD16C714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Practice: quartiles from a cumulative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BE317-586B-726B-C9C8-C7E773AA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879600"/>
            <a:ext cx="4572000" cy="3810000"/>
          </a:xfrm>
        </p:spPr>
        <p:txBody>
          <a:bodyPr>
            <a:normAutofit/>
          </a:bodyPr>
          <a:lstStyle/>
          <a:p>
            <a:r>
              <a:rPr lang="en-US" sz="1600"/>
              <a:t>This is the cumulative distribution of the 15 exam scores from Wednesday</a:t>
            </a:r>
          </a:p>
          <a:p>
            <a:r>
              <a:rPr lang="en-US" sz="1600"/>
              <a:t>Read Q1, Q2 and Q3 off the plot</a:t>
            </a:r>
          </a:p>
          <a:p>
            <a:r>
              <a:rPr lang="en-US" sz="1600"/>
              <a:t>n = 15 is odd this time. Does the midpoint rule come into it?</a:t>
            </a:r>
          </a:p>
          <a:p>
            <a:r>
              <a:rPr lang="en-US" sz="1600"/>
              <a:t>Then check your answers against the ones you got by halving the ordered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14768-F4A2-B208-47D1-992605A6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71396-6B9B-01C1-DEB9-FAFFB35499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778000"/>
            <a:ext cx="6223000" cy="388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13B6DA-68D3-641B-9BDD-AC5E7EAB55B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778000"/>
            <a:ext cx="6223000" cy="3889375"/>
          </a:xfrm>
          <a:prstGeom prst="rect">
            <a:avLst/>
          </a:prstGeom>
        </p:spPr>
      </p:pic>
      <p:sp>
        <p:nvSpPr>
          <p:cNvPr id="5" name="Title rule">
            <a:extLst>
              <a:ext uri="{FF2B5EF4-FFF2-40B4-BE49-F238E27FC236}">
                <a16:creationId xmlns:a16="http://schemas.microsoft.com/office/drawing/2014/main" id="{7DFD4820-74A0-3CDD-06E9-D3C8AE406898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8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0362DCF9-901C-289F-E389-5A84958D349B}"/>
              </a:ext>
            </a:extLst>
          </p:cNvPr>
          <p:cNvSpPr/>
          <p:nvPr/>
        </p:nvSpPr>
        <p:spPr>
          <a:xfrm>
            <a:off x="635000" y="1689100"/>
            <a:ext cx="10922000" cy="24130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93E66-CC51-4BAD-E816-C3A7576F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Two pictures of the same five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1DA3-196F-3B0A-5BE7-EB20D46D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4064000"/>
          </a:xfrm>
        </p:spPr>
        <p:txBody>
          <a:bodyPr>
            <a:normAutofit/>
          </a:bodyPr>
          <a:lstStyle/>
          <a:p>
            <a:r>
              <a:rPr lang="en-US" sz="1700"/>
              <a:t>The step plot and the boxplot are not competing summaries - the boxplot is five readings off the step plot</a:t>
            </a:r>
          </a:p>
          <a:p>
            <a:pPr lvl="1"/>
            <a:r>
              <a:rPr lang="en-US" sz="1700"/>
              <a:t>the minimum is where the curve leaves 0, the maximum is where it reaches 1</a:t>
            </a:r>
          </a:p>
          <a:p>
            <a:pPr lvl="1"/>
            <a:r>
              <a:rPr lang="en-US" sz="1700"/>
              <a:t>Q1, Q2 and Q3 are the readings at 0.25, 0.50 and 0.75</a:t>
            </a:r>
          </a:p>
          <a:p>
            <a:r>
              <a:rPr lang="en-US" sz="1700"/>
              <a:t>What each one is good for:</a:t>
            </a:r>
          </a:p>
          <a:p>
            <a:pPr lvl="1"/>
            <a:r>
              <a:rPr lang="en-US" sz="1700"/>
              <a:t>the step plot gives you ANY percentile, not just the quartiles</a:t>
            </a:r>
          </a:p>
          <a:p>
            <a:pPr lvl="1"/>
            <a:r>
              <a:rPr lang="en-US" sz="1700"/>
              <a:t>the boxplot is far easier to compare across groups, and it flags outliers</a:t>
            </a:r>
          </a:p>
          <a:p>
            <a:pPr lvl="1"/>
            <a:r>
              <a:rPr lang="en-US" sz="1700"/>
              <a:t>the histogram is still the only one of the three that shows peaks and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D32C-BCF2-DAD4-3F90-598F448F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D1E5D563-924A-AD76-85A0-4A8C481EA7E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96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46DC24E3-E11D-F69A-05FD-439A678BEC29}"/>
              </a:ext>
            </a:extLst>
          </p:cNvPr>
          <p:cNvSpPr/>
          <p:nvPr/>
        </p:nvSpPr>
        <p:spPr>
          <a:xfrm>
            <a:off x="635000" y="1689100"/>
            <a:ext cx="10922000" cy="27178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BD1007-3C16-2775-8745-BFBF014C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Descriptive statistics: the whole toolkit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7D4A9-1B98-A406-55C5-B230E7A19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4191000"/>
          </a:xfrm>
        </p:spPr>
        <p:txBody>
          <a:bodyPr>
            <a:normAutofit/>
          </a:bodyPr>
          <a:lstStyle/>
          <a:p>
            <a:r>
              <a:rPr lang="en-US" sz="1600"/>
              <a:t>Every question we have asked about a single variable falls into four buckets</a:t>
            </a:r>
          </a:p>
          <a:p>
            <a:pPr lvl="1"/>
            <a:r>
              <a:rPr lang="en-US" sz="1600" b="1">
                <a:solidFill>
                  <a:srgbClr val="C00000"/>
                </a:solidFill>
              </a:rPr>
              <a:t>SHAPE</a:t>
            </a:r>
            <a:r>
              <a:rPr lang="en-US" sz="1600"/>
              <a:t> - symmetric, skewed, how many peaks, gaps and outliers  (histogram, dot plot, stem and leaf, boxplot)</a:t>
            </a:r>
          </a:p>
          <a:p>
            <a:pPr lvl="1"/>
            <a:r>
              <a:rPr lang="en-US" sz="1600" b="1">
                <a:solidFill>
                  <a:srgbClr val="C00000"/>
                </a:solidFill>
              </a:rPr>
              <a:t>CENTER</a:t>
            </a:r>
            <a:r>
              <a:rPr lang="en-US" sz="1600"/>
              <a:t> - mean, median, mode</a:t>
            </a:r>
          </a:p>
          <a:p>
            <a:pPr lvl="1"/>
            <a:r>
              <a:rPr lang="en-US" sz="1600" b="1">
                <a:solidFill>
                  <a:srgbClr val="C00000"/>
                </a:solidFill>
              </a:rPr>
              <a:t>SPREAD</a:t>
            </a:r>
            <a:r>
              <a:rPr lang="en-US" sz="1600"/>
              <a:t> - range, IQR, variance, standard deviation</a:t>
            </a:r>
          </a:p>
          <a:p>
            <a:pPr lvl="1"/>
            <a:r>
              <a:rPr lang="en-US" sz="1600" b="1">
                <a:solidFill>
                  <a:srgbClr val="C00000"/>
                </a:solidFill>
              </a:rPr>
              <a:t>POSITION</a:t>
            </a:r>
            <a:r>
              <a:rPr lang="en-US" sz="1600"/>
              <a:t> - percentiles and quartiles  (ordered data, or the cumulative distribution)</a:t>
            </a:r>
          </a:p>
          <a:p>
            <a:r>
              <a:rPr lang="en-US" sz="1600"/>
              <a:t>Resistant to outliers: the median, the mode, the IQR</a:t>
            </a:r>
          </a:p>
          <a:p>
            <a:r>
              <a:rPr lang="en-US" sz="1600"/>
              <a:t>Not resistant: the mean, the range, the variance and the standard deviation</a:t>
            </a:r>
          </a:p>
          <a:p>
            <a:r>
              <a:rPr lang="en-US" sz="1600"/>
              <a:t>Shape decides which pair you report - mean with s, or median with IQR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36455-CD70-83B0-A593-302D614BB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DA73069E-C1E9-9849-DA6E-93E1788B1E1D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52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ody card">
            <a:extLst>
              <a:ext uri="{FF2B5EF4-FFF2-40B4-BE49-F238E27FC236}">
                <a16:creationId xmlns:a16="http://schemas.microsoft.com/office/drawing/2014/main" id="{275BC1EA-B7C4-A6FA-8AD8-5378AE8F49E2}"/>
              </a:ext>
            </a:extLst>
          </p:cNvPr>
          <p:cNvSpPr/>
          <p:nvPr/>
        </p:nvSpPr>
        <p:spPr>
          <a:xfrm>
            <a:off x="635000" y="1689100"/>
            <a:ext cx="10922000" cy="2895600"/>
          </a:xfrm>
          <a:prstGeom prst="roundRect">
            <a:avLst>
              <a:gd name="adj" fmla="val 3000"/>
            </a:avLst>
          </a:prstGeom>
          <a:solidFill>
            <a:srgbClr val="F2F6FC"/>
          </a:solidFill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6313B-397A-96A1-9834-BE37B602D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1F3864"/>
                </a:solidFill>
              </a:rPr>
              <a:t>End of the material for Exam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E4F9-5654-408F-5789-40CE756B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841500"/>
            <a:ext cx="10668000" cy="4191000"/>
          </a:xfrm>
        </p:spPr>
        <p:txBody>
          <a:bodyPr>
            <a:normAutofit/>
          </a:bodyPr>
          <a:lstStyle/>
          <a:p>
            <a:r>
              <a:rPr lang="en-US" sz="1700"/>
              <a:t>Everything on Exam 1 has now been covered. Monday starts new material that is NOT on it.</a:t>
            </a:r>
          </a:p>
          <a:p>
            <a:r>
              <a:rPr lang="en-US" sz="1700"/>
              <a:t>Wednesday September 16 - in-class review</a:t>
            </a:r>
          </a:p>
          <a:p>
            <a:r>
              <a:rPr lang="en-US" sz="1700"/>
              <a:t>Friday September 18 - Exam 1, in class</a:t>
            </a:r>
          </a:p>
          <a:p>
            <a:pPr lvl="1"/>
            <a:r>
              <a:rPr lang="en-US" sz="1700"/>
              <a:t>delivered through Canvas, so bring a charged laptop</a:t>
            </a:r>
          </a:p>
          <a:p>
            <a:pPr lvl="1"/>
            <a:r>
              <a:rPr lang="en-US" sz="1700"/>
              <a:t>a calculator is allowed, as long as it cannot communicate wirelessly</a:t>
            </a:r>
          </a:p>
          <a:p>
            <a:pPr lvl="1"/>
            <a:r>
              <a:rPr lang="en-US" sz="1700"/>
              <a:t>notes are not permitted; the formula sheet is printed on the study guide</a:t>
            </a:r>
          </a:p>
          <a:p>
            <a:r>
              <a:rPr lang="en-US" sz="1700"/>
              <a:t>The study guide and the review problems are on the course website, under Exam Study Guides</a:t>
            </a:r>
          </a:p>
          <a:p>
            <a:r>
              <a:rPr lang="en-US" sz="1700" b="1">
                <a:solidFill>
                  <a:srgbClr val="C00000"/>
                </a:solidFill>
              </a:rPr>
              <a:t>Homework 1</a:t>
            </a:r>
            <a:r>
              <a:rPr lang="en-US" sz="1700"/>
              <a:t> is due Sunday at 11:59 PM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21506-8ECB-01B5-BCDE-94A343B9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rule">
            <a:extLst>
              <a:ext uri="{FF2B5EF4-FFF2-40B4-BE49-F238E27FC236}">
                <a16:creationId xmlns:a16="http://schemas.microsoft.com/office/drawing/2014/main" id="{5F6F8731-BACB-0461-14D2-76C7A52348AA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0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</TotalTime>
  <Words>1010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Lecture 7 Cumulative Distributions</vt:lpstr>
      <vt:lpstr>Review</vt:lpstr>
      <vt:lpstr>The data: sugar in twenty breakfast cereals</vt:lpstr>
      <vt:lpstr>Cumulative distributions</vt:lpstr>
      <vt:lpstr>From the table to the plot</vt:lpstr>
      <vt:lpstr>Reading a percentile off the plot</vt:lpstr>
      <vt:lpstr>When the bar sits exactly on the percentile</vt:lpstr>
      <vt:lpstr>Going the other way: what percentile is this value at?</vt:lpstr>
      <vt:lpstr>Practice: quartiles from a cumulative distribution</vt:lpstr>
      <vt:lpstr>Two pictures of the same five numbers</vt:lpstr>
      <vt:lpstr>Descriptive statistics: the whole toolkit</vt:lpstr>
      <vt:lpstr>End of the material for Exam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345</cp:revision>
  <dcterms:created xsi:type="dcterms:W3CDTF">2023-08-05T23:57:41Z</dcterms:created>
  <dcterms:modified xsi:type="dcterms:W3CDTF">2026-09-09T16:57:56Z</dcterms:modified>
</cp:coreProperties>
</file>