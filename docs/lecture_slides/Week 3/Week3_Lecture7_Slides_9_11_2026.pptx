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7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Cumulative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Why do we square the deviations before averaging them?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Because the deviations always sum to zero – the positives cancel the negatives, so their average is 0 for every dataset.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The variance came out in squared units. What fixes that?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Taking the square root. The standard deviation is back on the scale of the data.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Why divide the sum of squares by n - 1 rather than n?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deviations must sum to zero, so once you know n - 1 of them the last is forced. Only n - 1 are free to vary.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Where do the two fences sit, and what do they decide?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At Q1 - 1.5(IQR) and Q3 + 1.5(IQR). Anything outside them is an outlier, and the whiskers stop before them.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648B-0865-9132-90F9-10BB6FCE9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data: sugar in twenty breakfast cereals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ADC10-16D0-6901-D9F9-6D3C1FC9C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778000"/>
            <a:ext cx="10668000" cy="762000"/>
          </a:xfrm>
        </p:spPr>
        <p:txBody>
          <a:bodyPr>
            <a:noAutofit/>
          </a:bodyPr>
          <a:lstStyle/>
          <a:p>
            <a:r>
              <a:rPr lang="en-US" sz="1600"/>
              <a:t>X = grams of sugar per serving, for twenty cereals on a US supermarket shelf</a:t>
            </a:r>
          </a:p>
          <a:p>
            <a:r>
              <a:rPr lang="en-US" sz="1600"/>
              <a:t>n = 20, so n is even - keep that in mind, it changes how we read one thing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93403-3859-CC92-8D35-8EBF165ED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217016-297D-1D7B-29E9-D10BC7C80C5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717800"/>
            <a:ext cx="9906000" cy="404326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817933A3-21BC-7D51-D9B0-DD4C89F7772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02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0FFE-FD3E-F5BF-5ABE-77ED966A5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Cumulative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8B7C-1252-90C3-9609-E4F4F5885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5080000" cy="4191000"/>
          </a:xfrm>
        </p:spPr>
        <p:txBody>
          <a:bodyPr>
            <a:noAutofit/>
          </a:bodyPr>
          <a:lstStyle/>
          <a:p>
            <a:r>
              <a:rPr lang="en-US" sz="1600"/>
              <a:t>A </a:t>
            </a:r>
            <a:r>
              <a:rPr lang="en-US" sz="1600" b="1">
                <a:solidFill>
                  <a:srgbClr val="C00000"/>
                </a:solidFill>
              </a:rPr>
              <a:t>cumulative distribution</a:t>
            </a:r>
            <a:r>
              <a:rPr lang="en-US" sz="1600"/>
              <a:t> shows the relationship between the value of a variable and the cumulative relative frequency</a:t>
            </a:r>
          </a:p>
          <a:p>
            <a:r>
              <a:rPr lang="en-US" sz="1600"/>
              <a:t>crf(x) answers one question: what fraction of the data falls at or below x?</a:t>
            </a:r>
          </a:p>
          <a:p>
            <a:pPr lvl="1"/>
            <a:r>
              <a:rPr lang="en-US" sz="1600"/>
              <a:t>It only ever climbs - it can never come back down</a:t>
            </a:r>
          </a:p>
          <a:p>
            <a:pPr lvl="1"/>
            <a:r>
              <a:rPr lang="en-US" sz="1600"/>
              <a:t>It starts at 0 and finishes at 1</a:t>
            </a:r>
          </a:p>
          <a:p>
            <a:r>
              <a:rPr lang="en-US" sz="1600"/>
              <a:t>For discrete data we draw it as a </a:t>
            </a:r>
            <a:r>
              <a:rPr lang="en-US" sz="1600" b="1">
                <a:solidFill>
                  <a:srgbClr val="C00000"/>
                </a:solidFill>
              </a:rPr>
              <a:t>step function</a:t>
            </a:r>
            <a:r>
              <a:rPr lang="en-US" sz="1600"/>
              <a:t>: flat between observed values, jumping at each one</a:t>
            </a:r>
          </a:p>
          <a:p>
            <a:pPr lvl="1"/>
            <a:r>
              <a:rPr lang="en-US" sz="1600"/>
              <a:t>The height of a jump is that value’s relative frequency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D79AE9-B3D5-D5ED-1F41-E067CC1F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EC700-1CEA-9CE2-6AD2-58F025AEB84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905000"/>
            <a:ext cx="4826000" cy="3937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E0993F5D-2680-A42D-1B71-0BE5D0370A2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879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BEB00-4340-CD49-E553-3E1FB69D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From the table to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86F7A-DDDE-1418-28CD-D778F57AA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Put the values of the variable on the x-axis and crf(x) on the y-axis</a:t>
            </a:r>
          </a:p>
          <a:p>
            <a:r>
              <a:rPr lang="en-US" sz="1600"/>
              <a:t>Plot a point at each observed value</a:t>
            </a:r>
          </a:p>
          <a:p>
            <a:r>
              <a:rPr lang="en-US" sz="1600"/>
              <a:t>Hold that height flat until the next observed value, then jump</a:t>
            </a:r>
          </a:p>
          <a:p>
            <a:r>
              <a:rPr lang="en-US" sz="1600"/>
              <a:t>The flat runs are not decoration - they are what we read a percentile 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76739-13A3-C516-9A6E-E7364494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09F885-98A5-99AA-BF49-9EC9C272090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E789064D-9C91-673C-AAAC-43F2E027824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646F-F959-CC5E-4B24-44E43E3A7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Reading a percentile off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A91E0-F753-0421-D042-29DF16445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To find the pth percentile:</a:t>
            </a:r>
          </a:p>
          <a:p>
            <a:pPr lvl="1"/>
            <a:r>
              <a:rPr lang="en-US" sz="1600"/>
              <a:t>go up the y-axis to p/100</a:t>
            </a:r>
          </a:p>
          <a:p>
            <a:pPr lvl="1"/>
            <a:r>
              <a:rPr lang="en-US" sz="1600"/>
              <a:t>read across to the curve</a:t>
            </a:r>
          </a:p>
          <a:p>
            <a:pPr lvl="1"/>
            <a:r>
              <a:rPr lang="en-US" sz="1600"/>
              <a:t>drop down to the x-axis</a:t>
            </a:r>
          </a:p>
          <a:p>
            <a:r>
              <a:rPr lang="en-US" sz="1600"/>
              <a:t>Q1, Q2 and Q3 are just the percentiles at 0.25, 0.50 and 0.75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= 4      Q2 = 9.5      Q3 = 13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IQR = 13 - 4 =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00B64-83AD-F8AD-A71D-28B77BA7C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0CE912-8129-DA9C-DC30-EB617FC3036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03F6EDD6-4698-838D-7ED2-9BAC208E36F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422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42FD-EEA2-C7E4-F70A-F9FCF93D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When the bar sits exactly on the percentile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DDED9-400F-A9DC-839B-DFF9EDB0E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4064000"/>
          </a:xfrm>
        </p:spPr>
        <p:txBody>
          <a:bodyPr>
            <a:noAutofit/>
          </a:bodyPr>
          <a:lstStyle/>
          <a:p>
            <a:r>
              <a:rPr lang="en-US" sz="1600"/>
              <a:t>Reading across at p usually crosses a jump, and the answer is that value</a:t>
            </a:r>
          </a:p>
          <a:p>
            <a:r>
              <a:rPr lang="en-US" sz="1600"/>
              <a:t>But sometimes the line lands ON a flat run instead</a:t>
            </a:r>
          </a:p>
          <a:p>
            <a:pPr lvl="1"/>
            <a:r>
              <a:rPr lang="en-US" sz="1600"/>
              <a:t>then the pth percentile is the </a:t>
            </a:r>
            <a:r>
              <a:rPr lang="en-US" sz="1600" b="1">
                <a:solidFill>
                  <a:srgbClr val="C00000"/>
                </a:solidFill>
              </a:rPr>
              <a:t>midpoint</a:t>
            </a:r>
            <a:r>
              <a:rPr lang="en-US" sz="1600"/>
              <a:t> of that bar</a:t>
            </a:r>
          </a:p>
          <a:p>
            <a:r>
              <a:rPr lang="en-US" sz="1600"/>
              <a:t>This happens when n is even, which is why n = 20 mattered</a:t>
            </a:r>
          </a:p>
          <a:p>
            <a:pPr lvl="1"/>
            <a:r>
              <a:rPr lang="en-US" sz="1600"/>
              <a:t>crf reaches 0.90 exactly at x = 15, and the next value is 16</a:t>
            </a:r>
          </a:p>
          <a:p>
            <a:pPr lvl="1"/>
            <a:r>
              <a:rPr lang="en-US" sz="1600"/>
              <a:t>so the 90th percentile is (15 + 16)/2 = 15.5, not 15</a:t>
            </a:r>
          </a:p>
          <a:p>
            <a:r>
              <a:rPr lang="en-US" sz="1600"/>
              <a:t>Same story at 0.50 and 0.75, which is why Q2 = 9.5 and Q3 =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E148E-DFEA-E499-8D62-D1E844A9B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B55158-6477-BDB9-13E6-87AA36C010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1EB173A4-BB00-4273-C06A-4BBF631CFF9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64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A7D8-96C7-304E-EA25-87B2BEDAD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Going the other way: what percentile is this value 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31767-5F38-439A-8E3E-E26FE52CD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The same plot answers the reverse question. Start on the x-axis instead:</a:t>
            </a:r>
          </a:p>
          <a:p>
            <a:pPr lvl="1"/>
            <a:r>
              <a:rPr lang="en-US" sz="1600"/>
              <a:t>go along to the value</a:t>
            </a:r>
          </a:p>
          <a:p>
            <a:pPr lvl="1"/>
            <a:r>
              <a:rPr lang="en-US" sz="1600"/>
              <a:t>up to the curve</a:t>
            </a:r>
          </a:p>
          <a:p>
            <a:pPr lvl="1"/>
            <a:r>
              <a:rPr lang="en-US" sz="1600"/>
              <a:t>across to the y-axis, and read crf</a:t>
            </a:r>
          </a:p>
          <a:p>
            <a:r>
              <a:rPr lang="en-US" sz="1600"/>
              <a:t>Your turn: Honeycomb has 11 g of sugar. What percentile is it at?</a:t>
            </a:r>
          </a:p>
          <a:p>
            <a:r>
              <a:rPr lang="en-US" sz="1600"/>
              <a:t>And what about All Bran, at 5 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EBE52-2046-AA02-7D1D-8D4247294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9EBE77-41E7-6E41-5EB0-E591716DC3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B993E9-8D8E-85C3-4E13-AE7FB6417E40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11 g  -&gt;  crf = 0.65  -&gt;  65th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5 g   -&gt;  crf = 0.35  -&gt;  35th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65% of cereals have at most</a:t>
            </a:r>
          </a:p>
          <a:p>
            <a:r>
              <a:rPr lang="en-US" sz="1600">
                <a:solidFill>
                  <a:srgbClr val="000000"/>
                </a:solidFill>
              </a:rPr>
              <a:t>as much sugar as Honeycomb.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9841CAD-0A64-1B7B-DF36-BC2501BE3E8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47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4525B-1C77-EA82-0A0B-A12B880E6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quartiles from a cumulative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373CF-5AED-DEB6-4EAB-A73F7F69B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This is the cumulative distribution of the 15 exam scores from Wednesday</a:t>
            </a:r>
          </a:p>
          <a:p>
            <a:r>
              <a:rPr lang="en-US" sz="1600"/>
              <a:t>Read Q1, Q2 and Q3 off the plot</a:t>
            </a:r>
          </a:p>
          <a:p>
            <a:r>
              <a:rPr lang="en-US" sz="1600"/>
              <a:t>n = 15 is odd this time. Does the midpoint rule come into it?</a:t>
            </a:r>
          </a:p>
          <a:p>
            <a:r>
              <a:rPr lang="en-US" sz="1600"/>
              <a:t>Then check your answers against the ones you got by halving the ordered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5B9DF-6567-296A-AE14-10FC779F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75E754-56EE-65D0-C82A-2B8B98EB6C9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20036E-6843-D09A-8282-9B31BC78FD4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755EA834-14FD-3A83-C622-3FA0FF4D898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B594AA7-C4EA-FBDF-927B-61DE0F32DEB6}"/>
              </a:ext>
            </a:extLst>
          </p:cNvPr>
          <p:cNvSpPr/>
          <p:nvPr/>
        </p:nvSpPr>
        <p:spPr>
          <a:xfrm>
            <a:off x="635000" y="1689100"/>
            <a:ext cx="10922000" cy="2413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96E5F3-99DE-CC32-5FBA-776618F83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pictures of the same five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4E2C4-86AE-6362-A3F7-671A4D863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064000"/>
          </a:xfrm>
        </p:spPr>
        <p:txBody>
          <a:bodyPr>
            <a:noAutofit/>
          </a:bodyPr>
          <a:lstStyle/>
          <a:p>
            <a:r>
              <a:rPr lang="en-US" sz="1700"/>
              <a:t>The step plot and the boxplot are not competing summaries - the boxplot is five readings off the step plot</a:t>
            </a:r>
          </a:p>
          <a:p>
            <a:pPr lvl="1"/>
            <a:r>
              <a:rPr lang="en-US" sz="1700"/>
              <a:t>the minimum is where the curve leaves 0, the maximum is where it reaches 1</a:t>
            </a:r>
          </a:p>
          <a:p>
            <a:pPr lvl="1"/>
            <a:r>
              <a:rPr lang="en-US" sz="1700"/>
              <a:t>Q1, Q2 and Q3 are the readings at 0.25, 0.50 and 0.75</a:t>
            </a:r>
          </a:p>
          <a:p>
            <a:r>
              <a:rPr lang="en-US" sz="1700"/>
              <a:t>What each one is good for:</a:t>
            </a:r>
          </a:p>
          <a:p>
            <a:pPr lvl="1"/>
            <a:r>
              <a:rPr lang="en-US" sz="1700"/>
              <a:t>the step plot gives you ANY percentile, not just the quartiles</a:t>
            </a:r>
          </a:p>
          <a:p>
            <a:pPr lvl="1"/>
            <a:r>
              <a:rPr lang="en-US" sz="1700"/>
              <a:t>the boxplot is far easier to compare across groups, and it flags outliers</a:t>
            </a:r>
          </a:p>
          <a:p>
            <a:pPr lvl="1"/>
            <a:r>
              <a:rPr lang="en-US" sz="1700"/>
              <a:t>the histogram is still the only one of the three that shows peaks and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BB848-FF85-6B44-3404-EF65EB15F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265786-5CF0-8E94-C856-DF3805A754D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01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12AFDAB5-E74F-4433-8999-09A80FF900D0}"/>
              </a:ext>
            </a:extLst>
          </p:cNvPr>
          <p:cNvSpPr/>
          <p:nvPr/>
        </p:nvSpPr>
        <p:spPr>
          <a:xfrm>
            <a:off x="635000" y="1689100"/>
            <a:ext cx="10922000" cy="2717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EC9F1F-89E8-DB21-B02C-444F4F237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Descriptive statistics: the whole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5B6D1-AE54-9329-6621-24DDB3BA5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600"/>
              <a:t>Every question we have asked about a single variable falls into four buckets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SHAPE</a:t>
            </a:r>
            <a:r>
              <a:rPr lang="en-US" sz="1600"/>
              <a:t> - symmetric, skewed, how many peaks, gaps and outliers  (histogram, dot plot, stem and leaf, boxplot)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CENTER</a:t>
            </a:r>
            <a:r>
              <a:rPr lang="en-US" sz="1600"/>
              <a:t> - mean, median, mode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SPREAD</a:t>
            </a:r>
            <a:r>
              <a:rPr lang="en-US" sz="1600"/>
              <a:t> - range, IQR, variance, standard deviation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POSITION</a:t>
            </a:r>
            <a:r>
              <a:rPr lang="en-US" sz="1600"/>
              <a:t> - percentiles and quartiles  (ordered data, or the cumulative distribution)</a:t>
            </a:r>
          </a:p>
          <a:p>
            <a:r>
              <a:rPr lang="en-US" sz="1600"/>
              <a:t>Resistant to outliers: the median, the mode, the IQR</a:t>
            </a:r>
          </a:p>
          <a:p>
            <a:r>
              <a:rPr lang="en-US" sz="1600"/>
              <a:t>Not resistant: the mean, the range, the variance and the standard deviation</a:t>
            </a:r>
          </a:p>
          <a:p>
            <a:r>
              <a:rPr lang="en-US" sz="1600"/>
              <a:t>Shape decides which pair you report - mean with s, or median with 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F108-FB82-2006-E5DE-451CBB1B9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FC6005A4-1783-D4A2-CDA6-47F39C76FB4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45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19052C17-1F92-6453-7F66-661D2278FFDB}"/>
              </a:ext>
            </a:extLst>
          </p:cNvPr>
          <p:cNvSpPr/>
          <p:nvPr/>
        </p:nvSpPr>
        <p:spPr>
          <a:xfrm>
            <a:off x="635000" y="1689100"/>
            <a:ext cx="10922000" cy="28956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D473CB-584F-7685-6822-407825945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End of the material for Exam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0F969-2EA5-050B-3E35-564ABCC9B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Everything on Exam 1 has now been covered. Monday starts new material that is NOT on it.</a:t>
            </a:r>
          </a:p>
          <a:p>
            <a:r>
              <a:rPr lang="en-US" sz="1700"/>
              <a:t>Wednesday September 16 - in-class review</a:t>
            </a:r>
          </a:p>
          <a:p>
            <a:r>
              <a:rPr lang="en-US" sz="1700"/>
              <a:t>Friday September 18 - Exam 1, in class</a:t>
            </a:r>
          </a:p>
          <a:p>
            <a:pPr lvl="1"/>
            <a:r>
              <a:rPr lang="en-US" sz="1700"/>
              <a:t>delivered through Canvas, so bring a charged laptop</a:t>
            </a:r>
          </a:p>
          <a:p>
            <a:pPr lvl="1"/>
            <a:r>
              <a:rPr lang="en-US" sz="1700"/>
              <a:t>a calculator is allowed, as long as it cannot communicate wirelessly</a:t>
            </a:r>
          </a:p>
          <a:p>
            <a:pPr lvl="1"/>
            <a:r>
              <a:rPr lang="en-US" sz="1700"/>
              <a:t>notes are not permitted; the formula sheet is printed on the study guide</a:t>
            </a:r>
          </a:p>
          <a:p>
            <a:r>
              <a:rPr lang="en-US" sz="1700"/>
              <a:t>The study guide and the review problems are on the course website, under Exam Study Guides</a:t>
            </a:r>
          </a:p>
          <a:p>
            <a:r>
              <a:rPr lang="en-US" sz="1700" b="1">
                <a:solidFill>
                  <a:srgbClr val="C00000"/>
                </a:solidFill>
              </a:rPr>
              <a:t>Homework 1</a:t>
            </a:r>
            <a:r>
              <a:rPr lang="en-US" sz="1700"/>
              <a:t> is due Sunday at 11:59 PM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F58E-83AC-7FC9-02EE-ECDAF4E56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50FD906-8012-0407-F732-45D7AE70632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17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1007</Words>
  <Application>Microsoft Office PowerPoint</Application>
  <PresentationFormat>Widescreen</PresentationFormat>
  <Paragraphs>95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Lecture 7 Cumulative Distributions</vt:lpstr>
      <vt:lpstr>Review</vt:lpstr>
      <vt:lpstr>The data: sugar in twenty breakfast cereals</vt:lpstr>
      <vt:lpstr>Cumulative distributions</vt:lpstr>
      <vt:lpstr>From the table to the plot</vt:lpstr>
      <vt:lpstr>Reading a percentile off the plot</vt:lpstr>
      <vt:lpstr>When the bar sits exactly on the percentile</vt:lpstr>
      <vt:lpstr>Going the other way: what percentile is this value at?</vt:lpstr>
      <vt:lpstr>Practice: quartiles from a cumulative distribution</vt:lpstr>
      <vt:lpstr>Two pictures of the same five numbers</vt:lpstr>
      <vt:lpstr>Descriptive statistics: the whole toolkit</vt:lpstr>
      <vt:lpstr>End of the material for Exam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345</cp:revision>
  <dcterms:created xsi:type="dcterms:W3CDTF">2023-08-05T23:57:41Z</dcterms:created>
  <dcterms:modified xsi:type="dcterms:W3CDTF">2026-09-09T18:52:35Z</dcterms:modified>
</cp:coreProperties>
</file>