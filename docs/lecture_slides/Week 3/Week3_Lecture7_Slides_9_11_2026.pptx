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7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Cumulative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Why do we square the deviations before averaging them?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Because the deviations always sum to zero – the positives cancel the negatives, so their average is 0 for every dataset.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The variance is in squared units. How do we get back to the units of the data?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Take the square root. That is the standard deviation, and it is back on the original scale.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Why divide the sum of squares by n - 1 rather than by n?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deviations must sum to zero, so once you know n - 1 of them the last is forced. Only n - 1 are free to vary.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Where are the two fences, and what do they decide?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At Q1 - 1.5(IQR) and Q3 + 1.5(IQR). Anything outside them is an outlier, and the whiskers stop before them.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a boxplot says about shape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4E30-2B55-4D71-9F02-113C77A0D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We ran out of time on this Wednesday. Four distributions, each with its boxplot drawn underneath the curve:</a:t>
            </a:r>
          </a:p>
          <a:p>
            <a:pPr lvl="1"/>
            <a:r>
              <a:rPr lang="en-US" sz="1600"/>
              <a:t>symmetric - the median sits mid-box and the two whiskers are about equal</a:t>
            </a:r>
          </a:p>
          <a:p>
            <a:pPr lvl="1"/>
            <a:r>
              <a:rPr lang="en-US" sz="1600"/>
              <a:t>skewed - the median is pushed toward the short whisker, and the long whisker points the way the tail runs</a:t>
            </a:r>
          </a:p>
          <a:p>
            <a:r>
              <a:rPr lang="en-US" sz="1600"/>
              <a:t>Now look at the bimodal panel. Its boxplot is the same picture as the symmetric one.</a:t>
            </a:r>
          </a:p>
          <a:p>
            <a:r>
              <a:rPr lang="en-US" sz="1600" b="1">
                <a:solidFill>
                  <a:srgbClr val="C00000"/>
                </a:solidFill>
              </a:rPr>
              <a:t>A boxplot cannot show peaks or gaps, so always read one beside a histogram.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6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855000"/>
            <a:ext cx="6223000" cy="37338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6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CB41F-6CB5-6FC3-1484-FBE224FA2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data: sugar in twenty breakfast cereals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AC80D-877F-9F3B-32E7-3CCD4DEE0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778000"/>
            <a:ext cx="10668000" cy="762000"/>
          </a:xfrm>
        </p:spPr>
        <p:txBody>
          <a:bodyPr>
            <a:noAutofit/>
          </a:bodyPr>
          <a:lstStyle/>
          <a:p>
            <a:r>
              <a:rPr lang="en-US" sz="1600"/>
              <a:t>X = grams of sugar per serving, for twenty cereals on a US supermarket shelf</a:t>
            </a:r>
          </a:p>
          <a:p>
            <a:r>
              <a:rPr lang="en-US" sz="1600"/>
              <a:t>n = 20, so n is even - keep that in mind, it changes how we read one thing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6552E-3898-177F-6266-3C7BFAF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2D4A0C-AD17-CF43-6DC5-845813E477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717800"/>
            <a:ext cx="9906000" cy="404326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D61E61CC-E35B-221F-DA2D-D01AE9DD92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33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64A2-8D3B-0968-A0DD-47B75E948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Cumulative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0C4A3-54AC-086E-BD9D-6B1B6F259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5080000" cy="4191000"/>
          </a:xfrm>
        </p:spPr>
        <p:txBody>
          <a:bodyPr>
            <a:noAutofit/>
          </a:bodyPr>
          <a:lstStyle/>
          <a:p>
            <a:r>
              <a:rPr lang="en-US" sz="1600"/>
              <a:t>A </a:t>
            </a:r>
            <a:r>
              <a:rPr lang="en-US" sz="1600" b="1">
                <a:solidFill>
                  <a:srgbClr val="C00000"/>
                </a:solidFill>
              </a:rPr>
              <a:t>cumulative distribution</a:t>
            </a:r>
            <a:r>
              <a:rPr lang="en-US" sz="1600"/>
              <a:t> shows the relationship between the value of a variable and the cumulative relative frequency</a:t>
            </a:r>
          </a:p>
          <a:p>
            <a:r>
              <a:rPr lang="en-US" sz="1600"/>
              <a:t>crf(x) answers one question: what fraction of the data falls at or below x?</a:t>
            </a:r>
          </a:p>
          <a:p>
            <a:pPr lvl="1"/>
            <a:r>
              <a:rPr lang="en-US" sz="1600"/>
              <a:t>It only ever climbs - it can never come back down</a:t>
            </a:r>
          </a:p>
          <a:p>
            <a:pPr lvl="1"/>
            <a:r>
              <a:rPr lang="en-US" sz="1600"/>
              <a:t>It starts at 0 and finishes at 1</a:t>
            </a:r>
          </a:p>
          <a:p>
            <a:r>
              <a:rPr lang="en-US" sz="1600"/>
              <a:t>For discrete data we draw it as a </a:t>
            </a:r>
            <a:r>
              <a:rPr lang="en-US" sz="1600" b="1">
                <a:solidFill>
                  <a:srgbClr val="C00000"/>
                </a:solidFill>
              </a:rPr>
              <a:t>step function</a:t>
            </a:r>
            <a:r>
              <a:rPr lang="en-US" sz="1600"/>
              <a:t>: flat between observed values, jumping at each one</a:t>
            </a:r>
          </a:p>
          <a:p>
            <a:pPr lvl="1"/>
            <a:r>
              <a:rPr lang="en-US" sz="1600"/>
              <a:t>The height of a jump is that value’s relative frequency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B81C8-E746-A660-567E-1A3BB222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D45B77-CB66-1677-8417-023201445E8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000" y="1905000"/>
            <a:ext cx="4826000" cy="3937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9715299E-242A-D4E2-FFAB-724D8818FC1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97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DFB64-76E5-E9BB-E49E-11DB4879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From the table to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019C7-0D2E-AAA7-DA5C-6E2059329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Put the values of the variable on the x-axis and crf(x) on the y-axis</a:t>
            </a:r>
          </a:p>
          <a:p>
            <a:r>
              <a:rPr lang="en-US" sz="1600"/>
              <a:t>Plot a point at each observed value</a:t>
            </a:r>
          </a:p>
          <a:p>
            <a:r>
              <a:rPr lang="en-US" sz="1600"/>
              <a:t>Hold that height flat until the next observed value, then jump</a:t>
            </a:r>
          </a:p>
          <a:p>
            <a:r>
              <a:rPr lang="en-US" sz="1600"/>
              <a:t>The flat runs are not decoration - they are what we read a percentile 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9CA9E-8721-8C0A-95AC-0FE0E8D0C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E6CDD0-F3AB-1B3F-B31C-9027DD24404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4EC02BCD-EC8E-0F3D-3AD4-68D63CA10B1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99922-AEC8-696A-9DEB-817189B2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Reading a percentile off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E8468-5628-36AF-A377-38EECFC0C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To find the pth percentile:</a:t>
            </a:r>
          </a:p>
          <a:p>
            <a:pPr lvl="1"/>
            <a:r>
              <a:rPr lang="en-US" sz="1600"/>
              <a:t>go up the y-axis to p/100</a:t>
            </a:r>
          </a:p>
          <a:p>
            <a:pPr lvl="1"/>
            <a:r>
              <a:rPr lang="en-US" sz="1600"/>
              <a:t>read across to the curve</a:t>
            </a:r>
          </a:p>
          <a:p>
            <a:pPr lvl="1"/>
            <a:r>
              <a:rPr lang="en-US" sz="1600"/>
              <a:t>drop down to the x-axis</a:t>
            </a:r>
          </a:p>
          <a:p>
            <a:r>
              <a:rPr lang="en-US" sz="1600"/>
              <a:t>Q1, Q2 and Q3 are just the percentiles at 0.25, 0.50 and 0.75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Q1 = 4      Q2 = 9.5      Q3 = 13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IQR = 13 - 4 =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985E6-BC77-4494-9883-D963210AA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84E6A-171C-6EBD-350A-FAB2EA9390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BF84C5C1-AF79-8DE8-85E1-6496CC70BA3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85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DBFA8-3DB1-7D53-DF23-06ED2339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When the bar sits exactly on the percentile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15D50-E1D2-797B-C622-6B579E80F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4064000"/>
          </a:xfrm>
        </p:spPr>
        <p:txBody>
          <a:bodyPr>
            <a:noAutofit/>
          </a:bodyPr>
          <a:lstStyle/>
          <a:p>
            <a:r>
              <a:rPr lang="en-US" sz="1600"/>
              <a:t>Reading across at p usually crosses a jump, and the answer is that value</a:t>
            </a:r>
          </a:p>
          <a:p>
            <a:r>
              <a:rPr lang="en-US" sz="1600"/>
              <a:t>But sometimes the line lands ON a flat run instead</a:t>
            </a:r>
          </a:p>
          <a:p>
            <a:pPr lvl="1"/>
            <a:r>
              <a:rPr lang="en-US" sz="1600"/>
              <a:t>then the pth percentile is the </a:t>
            </a:r>
            <a:r>
              <a:rPr lang="en-US" sz="1600" b="1">
                <a:solidFill>
                  <a:srgbClr val="C00000"/>
                </a:solidFill>
              </a:rPr>
              <a:t>midpoint</a:t>
            </a:r>
            <a:r>
              <a:rPr lang="en-US" sz="1600"/>
              <a:t> of that bar</a:t>
            </a:r>
          </a:p>
          <a:p>
            <a:r>
              <a:rPr lang="en-US" sz="1600"/>
              <a:t>This happens when n is even, which is why n = 20 mattered</a:t>
            </a:r>
          </a:p>
          <a:p>
            <a:pPr lvl="1"/>
            <a:r>
              <a:rPr lang="en-US" sz="1600"/>
              <a:t>crf reaches 0.90 exactly at x = 15, and the next value is 16</a:t>
            </a:r>
          </a:p>
          <a:p>
            <a:pPr lvl="1"/>
            <a:r>
              <a:rPr lang="en-US" sz="1600"/>
              <a:t>so the 90th percentile is (15 + 16)/2 = 15.5, not 15</a:t>
            </a:r>
          </a:p>
          <a:p>
            <a:r>
              <a:rPr lang="en-US" sz="1600"/>
              <a:t>Same story at 0.50 and 0.75, which is why Q2 = 9.5 and Q3 =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DE275-9896-165E-325F-8EE76F4CD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E5F6E3-EBDF-FDA0-A898-C03D35FAB09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CBCFF2ED-FA43-E2C4-34F5-5D1115B190D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45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6F3F4-457E-F19B-CF3A-D2A84DACA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Going the other way: what percentile is this value 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83386-CCF1-DA83-7F15-27769B379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The same plot answers the reverse question. Start on the x-axis instead:</a:t>
            </a:r>
          </a:p>
          <a:p>
            <a:pPr lvl="1"/>
            <a:r>
              <a:rPr lang="en-US" sz="1600"/>
              <a:t>go along to the value</a:t>
            </a:r>
          </a:p>
          <a:p>
            <a:pPr lvl="1"/>
            <a:r>
              <a:rPr lang="en-US" sz="1600"/>
              <a:t>up to the curve</a:t>
            </a:r>
          </a:p>
          <a:p>
            <a:pPr lvl="1"/>
            <a:r>
              <a:rPr lang="en-US" sz="1600"/>
              <a:t>across to the y-axis, and read crf</a:t>
            </a:r>
          </a:p>
          <a:p>
            <a:r>
              <a:rPr lang="en-US" sz="1600"/>
              <a:t>Your turn: Honeycomb has 11 g of sugar. What percentile is it at?</a:t>
            </a:r>
          </a:p>
          <a:p>
            <a:r>
              <a:rPr lang="en-US" sz="1600"/>
              <a:t>And what about All Bran, at 5 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ED2B4-1794-8E92-2526-91BB1DD3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5003A8-4895-1C4B-6F2E-5F5392B7FA7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522092-0478-379B-B78D-A661C88C987A}"/>
              </a:ext>
            </a:extLst>
          </p:cNvPr>
          <p:cNvSpPr/>
          <p:nvPr/>
        </p:nvSpPr>
        <p:spPr>
          <a:xfrm>
            <a:off x="698500" y="4318000"/>
            <a:ext cx="4826000" cy="1549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11 g  -&gt;  crf = 0.65  -&gt;  65th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5 g   -&gt;  crf = 0.35  -&gt;  35th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65% of cereals have at most</a:t>
            </a:r>
          </a:p>
          <a:p>
            <a:r>
              <a:rPr lang="en-US" sz="1600">
                <a:solidFill>
                  <a:srgbClr val="000000"/>
                </a:solidFill>
              </a:rPr>
              <a:t>as much sugar as Honeycomb.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CEBE2F7-9A61-49ED-4B1C-CB2F17B6D88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117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turn: build the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4E30-2B55-4D71-9F02-113C77A0D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Ten students were asked how many hours they slept last night:</a:t>
            </a:r>
          </a:p>
          <a:p>
            <a:pPr marL="0" indent="0">
              <a:buNone/>
            </a:pPr>
            <a:r>
              <a:rPr lang="en-US" sz="2000" b="1">
                <a:solidFill>
                  <a:srgbClr val="1F3864"/>
                </a:solidFill>
              </a:rPr>
              <a:t>7    9    6    7    8    5    7    9    6    8</a:t>
            </a:r>
          </a:p>
          <a:p>
            <a:r>
              <a:rPr lang="en-US" sz="1600"/>
              <a:t>n = 10. Fill in the three missing columns:</a:t>
            </a:r>
          </a:p>
          <a:p>
            <a:pPr lvl="1"/>
            <a:r>
              <a:rPr lang="en-US" sz="1600"/>
              <a:t>f(x) - how many times each value appears</a:t>
            </a:r>
          </a:p>
          <a:p>
            <a:pPr lvl="1"/>
            <a:r>
              <a:rPr lang="en-US" sz="1600"/>
              <a:t>rf(x) - each count divided by n = 10</a:t>
            </a:r>
          </a:p>
          <a:p>
            <a:pPr lvl="1"/>
            <a:r>
              <a:rPr lang="en-US" sz="1600"/>
              <a:t>crf(x) - the relative frequencies added up as you work down the column</a:t>
            </a:r>
          </a:p>
          <a:p>
            <a:r>
              <a:rPr lang="en-US" sz="1600" b="1">
                <a:solidFill>
                  <a:srgbClr val="C00000"/>
                </a:solidFill>
              </a:rPr>
              <a:t>The last crf has to come out at 1.00. If it does not, the counts are wrong.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A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2408150"/>
            <a:ext cx="6223000" cy="2933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1C4E30-2B55-4D71-9F02-113C77A0DA0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2408150"/>
            <a:ext cx="6223000" cy="29337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A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turn: read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4E30-2B55-4D71-9F02-113C77A0D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Sketch the step plot from your table. Then read off:</a:t>
            </a:r>
          </a:p>
          <a:p>
            <a:pPr lvl="1"/>
            <a:r>
              <a:rPr lang="en-US" sz="1600"/>
              <a:t>Q1, Q2 and Q3 - and then the IQR</a:t>
            </a:r>
          </a:p>
          <a:p>
            <a:pPr lvl="1"/>
            <a:r>
              <a:rPr lang="en-US" sz="1600"/>
              <a:t>the 80th percentile - careful, look at where the bar sits</a:t>
            </a:r>
          </a:p>
          <a:p>
            <a:pPr lvl="1"/>
            <a:r>
              <a:rPr lang="en-US" sz="1600"/>
              <a:t>one student slept 5 hours. What percentile is that?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B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1C4E30-2B55-4D71-9F02-113C77A0DB0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1C4E30-2B55-4D71-9F02-113C77A0DB07}"/>
              </a:ext>
            </a:extLst>
          </p:cNvPr>
          <p:cNvSpPr/>
          <p:nvPr/>
        </p:nvSpPr>
        <p:spPr>
          <a:xfrm>
            <a:off x="698500" y="4318000"/>
            <a:ext cx="4826000" cy="1549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Q1 = 6    Q2 = 7    Q3 = 8    IQR = 2</a:t>
            </a:r>
          </a:p>
          <a:p>
            <a:r>
              <a:rPr lang="en-US" sz="1600">
                <a:solidFill>
                  <a:srgbClr val="000000"/>
                </a:solidFill>
              </a:rPr>
              <a:t>crf sits exactly on 0.80 at x = 8, so the</a:t>
            </a:r>
          </a:p>
          <a:p>
            <a:r>
              <a:rPr lang="en-US" sz="1600">
                <a:solidFill>
                  <a:srgbClr val="000000"/>
                </a:solidFill>
              </a:rPr>
              <a:t>80th percentile is (8 + 9)/2 = 8.5</a:t>
            </a:r>
          </a:p>
          <a:p>
            <a:r>
              <a:rPr lang="en-US" sz="1600">
                <a:solidFill>
                  <a:srgbClr val="000000"/>
                </a:solidFill>
              </a:rPr>
              <a:t>5 hours  -&gt;  crf = 0.10  -&gt;  10th percentile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B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4E30-2B55-4D71-9F02-113C77A0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the shape of the step plot tells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4E30-2B55-4D71-9F02-113C77A0D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9" name="Rule">
            <a:extLst>
              <a:ext uri="{FF2B5EF4-FFF2-40B4-BE49-F238E27FC236}">
                <a16:creationId xmlns:a16="http://schemas.microsoft.com/office/drawing/2014/main" id="{7A1C4E30-2B55-4D71-9F02-113C77A0DC09}"/>
              </a:ext>
            </a:extLst>
          </p:cNvPr>
          <p:cNvSpPr txBox="1"/>
          <p:nvPr/>
        </p:nvSpPr>
        <p:spPr>
          <a:xfrm>
            <a:off x="838200" y="1676400"/>
            <a:ext cx="10515600" cy="430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pPr algn="ctr"/>
            <a:r>
              <a:rPr lang="en-US" sz="1800" b="1">
                <a:solidFill>
                  <a:srgbClr val="C00000"/>
                </a:solidFill>
              </a:rPr>
              <a:t>A steep run means a lot of data there.    A flat run means a gap, or a tail.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C4E30-2B55-4D71-9F02-113C77A0DC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545" y="2170000"/>
            <a:ext cx="9690910" cy="4100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A1C4E30-2B55-4D71-9F02-113C77A0DC0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24052BCE-7E92-E165-5A67-8C5258BABF4B}"/>
              </a:ext>
            </a:extLst>
          </p:cNvPr>
          <p:cNvSpPr/>
          <p:nvPr/>
        </p:nvSpPr>
        <p:spPr>
          <a:xfrm>
            <a:off x="635000" y="1689100"/>
            <a:ext cx="10922000" cy="2743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A3F97C-CD01-FE3D-43C8-10B2BF6D7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pictures of the same five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B628F-387A-3F1D-B40B-3578F8841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064000"/>
          </a:xfrm>
        </p:spPr>
        <p:txBody>
          <a:bodyPr>
            <a:noAutofit/>
          </a:bodyPr>
          <a:lstStyle/>
          <a:p>
            <a:r>
              <a:rPr lang="en-US" sz="1700"/>
              <a:t>The step plot and the boxplot are not competing summaries - the boxplot is five readings off the step plot</a:t>
            </a:r>
          </a:p>
          <a:p>
            <a:pPr lvl="1"/>
            <a:r>
              <a:rPr lang="en-US" sz="1700"/>
              <a:t>the minimum is where the curve leaves 0, the maximum is where it reaches 1</a:t>
            </a:r>
          </a:p>
          <a:p>
            <a:pPr lvl="1"/>
            <a:r>
              <a:rPr lang="en-US" sz="1700"/>
              <a:t>Q1, Q2 and Q3 are the readings at 0.25, 0.50 and 0.75</a:t>
            </a:r>
          </a:p>
          <a:p>
            <a:r>
              <a:rPr lang="en-US" sz="1700"/>
              <a:t>What each one is good for:</a:t>
            </a:r>
          </a:p>
          <a:p>
            <a:pPr lvl="1"/>
            <a:r>
              <a:rPr lang="en-US" sz="1700"/>
              <a:t>the step plot gives you ANY percentile, not just the quartiles</a:t>
            </a:r>
          </a:p>
          <a:p>
            <a:pPr lvl="1"/>
            <a:r>
              <a:rPr lang="en-US" sz="1700"/>
              <a:t>the boxplot is far easier to compare across groups, and it flags outliers</a:t>
            </a:r>
          </a:p>
          <a:p>
            <a:pPr lvl="1"/>
            <a:r>
              <a:rPr lang="en-US" sz="1700"/>
              <a:t>the histogram shows peaks and gaps most directly - the step plot turns a gap into a flat shelf, and the boxplot loses it altogether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43DF3-42DB-0E12-0986-C4457667B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2E931F2-934C-1CAB-550B-A20AA18F374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277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9C13C19-74B4-0526-F6A1-5654F679E9F7}"/>
              </a:ext>
            </a:extLst>
          </p:cNvPr>
          <p:cNvSpPr/>
          <p:nvPr/>
        </p:nvSpPr>
        <p:spPr>
          <a:xfrm>
            <a:off x="635000" y="1689100"/>
            <a:ext cx="10922000" cy="2717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3EDA93-D433-A68C-C5CB-A4459A9F1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Descriptive statistics: the whole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EB072-EB9A-10EB-609A-BE80F7266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600"/>
              <a:t>Every question we have asked about a single variable falls into four buckets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SHAPE</a:t>
            </a:r>
            <a:r>
              <a:rPr lang="en-US" sz="1600"/>
              <a:t> - symmetric, skewed, how many peaks, gaps and outliers  (histogram, dot plot, stem and leaf, boxplot)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CENTER</a:t>
            </a:r>
            <a:r>
              <a:rPr lang="en-US" sz="1600"/>
              <a:t> - mean, median, mode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SPREAD</a:t>
            </a:r>
            <a:r>
              <a:rPr lang="en-US" sz="1600"/>
              <a:t> - range, IQR, variance, standard deviation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POSITION</a:t>
            </a:r>
            <a:r>
              <a:rPr lang="en-US" sz="1600"/>
              <a:t> - percentiles and quartiles  (ordered data, or the cumulative distribution)</a:t>
            </a:r>
          </a:p>
          <a:p>
            <a:r>
              <a:rPr lang="en-US" sz="1600"/>
              <a:t>Resistant to outliers: the median, the mode, the IQR</a:t>
            </a:r>
          </a:p>
          <a:p>
            <a:r>
              <a:rPr lang="en-US" sz="1600"/>
              <a:t>Not resistant: the mean, the range, the variance and the standard deviation</a:t>
            </a:r>
          </a:p>
          <a:p>
            <a:r>
              <a:rPr lang="en-US" sz="1600"/>
              <a:t>Shape decides which pair you report - mean with s, or median with 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4C654-64F1-DBAE-291C-773F9B79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847554A2-B6FE-FB4C-022A-166460DAF70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489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D8D8ABA-4AE8-EB6F-6B42-92339DC54E52}"/>
              </a:ext>
            </a:extLst>
          </p:cNvPr>
          <p:cNvSpPr/>
          <p:nvPr/>
        </p:nvSpPr>
        <p:spPr>
          <a:xfrm>
            <a:off x="635000" y="1689100"/>
            <a:ext cx="10922000" cy="28956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68CE20-5AFC-F034-2451-7658C82C3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End of the material for Exam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BD34B-62F7-D8C7-7D2F-BAB277DD5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Everything on Exam 1 has now been covered. Monday starts new material that is NOT on it.</a:t>
            </a:r>
          </a:p>
          <a:p>
            <a:r>
              <a:rPr lang="en-US" sz="1700"/>
              <a:t>Wednesday September 16 - in-class review</a:t>
            </a:r>
          </a:p>
          <a:p>
            <a:r>
              <a:rPr lang="en-US" sz="1700"/>
              <a:t>Friday September 18 - Exam 1, in class</a:t>
            </a:r>
          </a:p>
          <a:p>
            <a:pPr lvl="1"/>
            <a:r>
              <a:rPr lang="en-US" sz="1700"/>
              <a:t>delivered through Canvas, so bring a charged laptop</a:t>
            </a:r>
          </a:p>
          <a:p>
            <a:pPr lvl="1"/>
            <a:r>
              <a:rPr lang="en-US" sz="1700"/>
              <a:t>a calculator is allowed, as long as it cannot communicate wirelessly</a:t>
            </a:r>
          </a:p>
          <a:p>
            <a:pPr lvl="1"/>
            <a:r>
              <a:rPr lang="en-US" sz="1700"/>
              <a:t>notes are not permitted; the formula sheet is printed on the study guide</a:t>
            </a:r>
          </a:p>
          <a:p>
            <a:r>
              <a:rPr lang="en-US" sz="1700"/>
              <a:t>The study guide and the review problems are on the course website, under Exam Study Guides</a:t>
            </a:r>
          </a:p>
          <a:p>
            <a:r>
              <a:rPr lang="en-US" sz="1700" b="1">
                <a:solidFill>
                  <a:srgbClr val="C00000"/>
                </a:solidFill>
              </a:rPr>
              <a:t>Homework 1</a:t>
            </a:r>
            <a:r>
              <a:rPr lang="en-US" sz="1700"/>
              <a:t> is due Sunday at 11:59 PM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F01E7-F963-89EA-0572-B4C92D2C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9B35D6F-8821-8D85-B2DE-A3D8ECC9EEF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7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Application>Microsoft Office PowerPoint</Application>
  <PresentationFormat>Widescreen</PresentationFormat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Consolas</vt:lpstr>
      <vt:lpstr>Office Theme</vt:lpstr>
      <vt:lpstr>Lecture 7 Cumulative Distributions</vt:lpstr>
      <vt:lpstr>Review</vt:lpstr>
      <vt:lpstr>What a boxplot says about shape</vt:lpstr>
      <vt:lpstr>The data: sugar in twenty breakfast cereals</vt:lpstr>
      <vt:lpstr>Cumulative distributions</vt:lpstr>
      <vt:lpstr>From the table to the plot</vt:lpstr>
      <vt:lpstr>Reading a percentile off the plot</vt:lpstr>
      <vt:lpstr>When the bar sits exactly on the percentile</vt:lpstr>
      <vt:lpstr>Going the other way: what percentile is this value at?</vt:lpstr>
      <vt:lpstr>Your turn: build the table</vt:lpstr>
      <vt:lpstr>Your turn: read the plot</vt:lpstr>
      <vt:lpstr>What the shape of the step plot tells you</vt:lpstr>
      <vt:lpstr>Two pictures of the same five numbers</vt:lpstr>
      <vt:lpstr>Descriptive statistics: the whole toolkit</vt:lpstr>
      <vt:lpstr>End of the material for Exam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345</cp:revision>
  <dcterms:created xsi:type="dcterms:W3CDTF">2023-08-05T23:57:41Z</dcterms:created>
  <dcterms:modified xsi:type="dcterms:W3CDTF">2026-09-09T19:08:13Z</dcterms:modified>
</cp:coreProperties>
</file>