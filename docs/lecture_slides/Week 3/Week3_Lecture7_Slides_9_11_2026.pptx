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>
        <p:scale>
          <a:sx n="76" d="100"/>
          <a:sy n="76" d="100"/>
        </p:scale>
        <p:origin x="6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821C1-92D8-0827-CE2B-80FEA840C2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4EA748-2C8E-5D78-5734-D9BCC16ECD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15553-DE39-3C41-4AFF-70F29A86E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2837C-8079-1B7F-0DCF-61C39ED30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95E205-162F-206E-F4C6-EB23D9DC1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8746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13490-30A7-12A6-2775-77578A346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7B95F-B119-D057-5670-8EC21A84E5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D001D-CEFB-FD30-FB40-0BEA5B52D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3377D-E7F3-D264-FB03-A4AF3E336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F48992-A907-9503-F005-BAA8A33CE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803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6B320-EDC1-EDD2-5F4C-2A675BD0C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58A940-1637-AC6F-0247-A5E578765F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2A479-CAFF-245E-F61F-3D6F3E5C8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24E38-70F9-0CAE-F19E-6DDE60057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E74C88-12BC-0657-008B-8419B1E10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099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02A09-336F-FDC8-F0C1-F84E09726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F6849-08AF-456F-8C3C-E6DE37B3B9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7E5562-6B4C-F11F-DF48-D254599EAA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A69C05-114E-11FE-5C76-D6F19175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71C5D0-A8D9-EEF2-15E4-CE74A390A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9944C5-75A0-666E-C3DD-6839AB176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107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EC19E-080C-F794-EB45-FB4903CDD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85744A-FDBE-87AE-7AF1-3AC154DB2C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1970E4-B2B1-0370-3C26-0D1A5A0023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A4F036-B8A8-878F-A1CB-05DAE58015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8B7F82-EBC0-322A-130D-972F39800F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21A5BB-D71E-872F-6F0E-2279BE484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C56747-8CBE-BF00-C39A-F442E724C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E2C14A-6287-B5B6-C760-7F506FD87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43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E9713-B0F2-9D1D-23FC-F5900F773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6FC7EC-16C8-C311-316C-6D99B4F99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FE4DA7-A4C5-460E-592C-CEF23DF38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3F89-7820-6BF8-A747-E433ED21A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244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EAD0FD-7A61-970C-10A9-76E2B39DA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F95651-C89A-3C9B-3D47-F7E5CAF6B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509228-92F1-54DE-D9B2-4AC018D50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303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3F474-02F7-A264-4B8D-717F5EB00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FA8C9F-750F-7D81-0E80-7FBCDEBEB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0A1C0B-C510-B118-D8FA-12722456A8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94604E-EC60-44AD-4B70-12B2B49AE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22C4B9-91B9-9E0E-9278-1C0433768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21E60F-F796-8B15-08E9-61BA30F0D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5051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E564D-22A0-8A8D-C6FE-D62998433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713DEA-5246-B946-AFE4-3B305BCDB1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4208CC-31DD-00AF-BFC4-37F7B4BF3C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77E30D-B05F-B2CA-9A3C-E01E2B6B0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E08FCE-463A-D1B2-8A60-3B6744202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438537-A621-46D4-781D-4E36BF836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242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105C2-17EC-1173-1FC9-8A7FC1018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6BBB4A-325C-1F27-06A3-6F4F1A8F5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9A6F55-A1EF-6AEC-99F0-DBF50F5EB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A1FD1D-86F4-EDE3-1CCE-ADED2161B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DE0593-ABE9-0E50-7A75-9252A5A1F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965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487FF77-0DAD-7CA9-B02D-208C020489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9298FA-F111-2C9C-551D-A1F30B239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F1B556-1ED0-55E4-9235-352E1A162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4A71E-8AC3-EA68-1DCB-99E68A465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B1CF60-74F8-B2C5-26C3-77536C36C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366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18B48B-0371-7ADD-E5C3-345B4D6CBF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BB5A92-73C5-8CE0-7C84-BE7902E60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5212B-F67A-E417-B1FE-C389458DF2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882561-BD16-4A95-ACA1-5204E478F2FE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9799A-D006-E28E-8EED-4BE2AFCB8D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069CB4-3B3A-FD13-F7E0-B4A0F34767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091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F151A-3AFE-974F-DDC4-9B99389C34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4105419"/>
          </a:xfrm>
        </p:spPr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Lecture 7</a:t>
            </a:r>
            <a:br>
              <a:rPr lang="en-US">
                <a:solidFill>
                  <a:srgbClr val="1F3864"/>
                </a:solidFill>
              </a:rPr>
            </a:br>
            <a:r>
              <a:rPr lang="en-US">
                <a:solidFill>
                  <a:srgbClr val="1F3864"/>
                </a:solidFill>
              </a:rPr>
              <a:t>Cumulative Distributions</a:t>
            </a:r>
            <a:endParaRPr lang="en-US" dirty="0">
              <a:solidFill>
                <a:srgbClr val="1F386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71534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05104"/>
          </a:xfrm>
        </p:spPr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Review</a:t>
            </a:r>
            <a:endParaRPr lang="en-US" dirty="0">
              <a:solidFill>
                <a:srgbClr val="1F3864"/>
              </a:solidFill>
            </a:endParaRPr>
          </a:p>
        </p:txBody>
      </p:sp>
      <p:sp>
        <p:nvSpPr>
          <p:cNvPr id="3" name="Question 1"/>
          <p:cNvSpPr/>
          <p:nvPr/>
        </p:nvSpPr>
        <p:spPr>
          <a:xfrm>
            <a:off x="838200" y="107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1   </a:t>
            </a:r>
            <a:r>
              <a:rPr lang="en-US" b="1"/>
              <a:t>Why do we square the deviations before averaging them?</a:t>
            </a:r>
            <a:endParaRPr lang="en-US" b="1" dirty="0"/>
          </a:p>
        </p:txBody>
      </p:sp>
      <p:sp>
        <p:nvSpPr>
          <p:cNvPr id="4" name="Answer 1"/>
          <p:cNvSpPr txBox="1"/>
          <p:nvPr/>
        </p:nvSpPr>
        <p:spPr>
          <a:xfrm>
            <a:off x="1066800" y="1655688"/>
            <a:ext cx="10058400" cy="6502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>
                <a:solidFill>
                  <a:srgbClr val="C00000"/>
                </a:solidFill>
              </a:rPr>
              <a:t>Because the deviations always sum to zero – the positives cancel the negatives, so their average is 0 for every dataset.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5" name="Question 2"/>
          <p:cNvSpPr/>
          <p:nvPr/>
        </p:nvSpPr>
        <p:spPr>
          <a:xfrm>
            <a:off x="838200" y="238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2   </a:t>
            </a:r>
            <a:r>
              <a:rPr lang="en-US" b="1"/>
              <a:t>The variance is in squared units. How do we get back to the units of the data?</a:t>
            </a:r>
            <a:endParaRPr lang="en-US" b="1" dirty="0"/>
          </a:p>
        </p:txBody>
      </p:sp>
      <p:sp>
        <p:nvSpPr>
          <p:cNvPr id="6" name="Answer 2"/>
          <p:cNvSpPr txBox="1"/>
          <p:nvPr/>
        </p:nvSpPr>
        <p:spPr>
          <a:xfrm>
            <a:off x="1066800" y="2965688"/>
            <a:ext cx="10058400" cy="5892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Take the square root. That is the standard deviation, and it is back on the original scale.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7" name="Question 3"/>
          <p:cNvSpPr/>
          <p:nvPr/>
        </p:nvSpPr>
        <p:spPr>
          <a:xfrm>
            <a:off x="838200" y="369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3   </a:t>
            </a:r>
            <a:r>
              <a:rPr lang="en-US" b="1"/>
              <a:t>Why divide the sum of squares by n - 1 rather than by n?</a:t>
            </a:r>
            <a:endParaRPr lang="en-US" b="1" dirty="0"/>
          </a:p>
        </p:txBody>
      </p:sp>
      <p:sp>
        <p:nvSpPr>
          <p:cNvPr id="8" name="Answer 3"/>
          <p:cNvSpPr txBox="1"/>
          <p:nvPr/>
        </p:nvSpPr>
        <p:spPr>
          <a:xfrm>
            <a:off x="1066800" y="427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The deviations must sum to zero, so once you know n - 1 of them the last is forced. Only n - 1 are free to vary.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9" name="Question 4"/>
          <p:cNvSpPr/>
          <p:nvPr/>
        </p:nvSpPr>
        <p:spPr>
          <a:xfrm>
            <a:off x="838200" y="500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4   </a:t>
            </a:r>
            <a:r>
              <a:rPr lang="en-US" b="1"/>
              <a:t>Where are the two fences, and what do they decide?</a:t>
            </a:r>
            <a:endParaRPr lang="en-US" b="1" dirty="0"/>
          </a:p>
        </p:txBody>
      </p:sp>
      <p:sp>
        <p:nvSpPr>
          <p:cNvPr id="10" name="Answer 4"/>
          <p:cNvSpPr txBox="1"/>
          <p:nvPr/>
        </p:nvSpPr>
        <p:spPr>
          <a:xfrm>
            <a:off x="1066800" y="5585688"/>
            <a:ext cx="10058400" cy="5892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At Q1 - 1.5(IQR) and Q3 + 1.5(IQR). Anything outside them is an outlier, and the whiskers stop before them.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66091C9-B7EB-6BBE-A602-1479CDF97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</a:t>
            </a:fld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1517484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1C4E30-2B55-4D71-9F02-113C77A0D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What a boxplot says about shape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1C4E30-2B55-4D71-9F02-113C77A0D6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000" y="1879600"/>
            <a:ext cx="4572000" cy="3810000"/>
          </a:xfrm>
        </p:spPr>
        <p:txBody>
          <a:bodyPr>
            <a:noAutofit/>
          </a:bodyPr>
          <a:lstStyle/>
          <a:p>
            <a:r>
              <a:rPr lang="en-US" sz="1600"/>
              <a:t>We ran out of time on this Wednesday. Four distributions, each with its boxplot drawn underneath the curve:</a:t>
            </a:r>
          </a:p>
          <a:p>
            <a:pPr lvl="1"/>
            <a:r>
              <a:rPr lang="en-US" sz="1600"/>
              <a:t>symmetric - the median sits mid-box and the two whiskers are about equal</a:t>
            </a:r>
          </a:p>
          <a:p>
            <a:pPr lvl="1"/>
            <a:r>
              <a:rPr lang="en-US" sz="1600"/>
              <a:t>skewed - the median is pushed toward the short whisker, and the long whisker points the way the tail runs</a:t>
            </a:r>
          </a:p>
          <a:p>
            <a:r>
              <a:rPr lang="en-US" sz="1600"/>
              <a:t>Now look at the bimodal panel. Its boxplot is the same picture as the symmetric one.</a:t>
            </a:r>
          </a:p>
          <a:p>
            <a:r>
              <a:rPr lang="en-US" sz="1600" b="1">
                <a:solidFill>
                  <a:srgbClr val="C00000"/>
                </a:solidFill>
              </a:rPr>
              <a:t>A boxplot cannot show peaks or gaps, so always read one beside a histogram.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1C4E30-2B55-4D71-9F02-113C77A0D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</a:t>
            </a:fld>
            <a:endParaRPr lang="en-US" sz="16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A1C4E30-2B55-4D71-9F02-113C77A0D606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1000" y="1855000"/>
            <a:ext cx="6223000" cy="3733800"/>
          </a:xfrm>
          <a:prstGeom prst="rect">
            <a:avLst/>
          </a:prstGeom>
        </p:spPr>
      </p:pic>
      <p:sp>
        <p:nvSpPr>
          <p:cNvPr id="5" name="Title rule">
            <a:extLst>
              <a:ext uri="{FF2B5EF4-FFF2-40B4-BE49-F238E27FC236}">
                <a16:creationId xmlns:a16="http://schemas.microsoft.com/office/drawing/2014/main" id="{7A1C4E30-2B55-4D71-9F02-113C77A0D60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75337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CB41F-6CB5-6FC3-1484-FBE224FA2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The data: sugar in twenty breakfast cereals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8AC80D-877F-9F3B-32E7-3CCD4DEE09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778000"/>
            <a:ext cx="10668000" cy="762000"/>
          </a:xfrm>
        </p:spPr>
        <p:txBody>
          <a:bodyPr>
            <a:noAutofit/>
          </a:bodyPr>
          <a:lstStyle/>
          <a:p>
            <a:r>
              <a:rPr lang="en-US" sz="1600"/>
              <a:t>X = grams of sugar per serving, for twenty cereals on a US supermarket shelf</a:t>
            </a:r>
          </a:p>
          <a:p>
            <a:r>
              <a:rPr lang="en-US" sz="1600"/>
              <a:t>n = 20, so n is even - keep that in mind, it changes how we read one thing later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A6552E-3898-177F-6266-3C7BFAFF6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4</a:t>
            </a:fld>
            <a:endParaRPr lang="en-US" sz="16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02D4A0C-AD17-CF43-6DC5-845813E4772E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000" y="2717800"/>
            <a:ext cx="9906000" cy="4043265"/>
          </a:xfrm>
          <a:prstGeom prst="rect">
            <a:avLst/>
          </a:prstGeom>
        </p:spPr>
      </p:pic>
      <p:sp>
        <p:nvSpPr>
          <p:cNvPr id="5" name="Title rule">
            <a:extLst>
              <a:ext uri="{FF2B5EF4-FFF2-40B4-BE49-F238E27FC236}">
                <a16:creationId xmlns:a16="http://schemas.microsoft.com/office/drawing/2014/main" id="{D61E61CC-E35B-221F-DA2D-D01AE9DD92FE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3331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9364A2-8D3B-0968-A0DD-47B75E9484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Cumulative distributions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40C4A3-54AC-086E-BD9D-6B1B6F2596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000" y="1879600"/>
            <a:ext cx="5080000" cy="4191000"/>
          </a:xfrm>
        </p:spPr>
        <p:txBody>
          <a:bodyPr>
            <a:noAutofit/>
          </a:bodyPr>
          <a:lstStyle/>
          <a:p>
            <a:r>
              <a:rPr lang="en-US" sz="1600"/>
              <a:t>A </a:t>
            </a:r>
            <a:r>
              <a:rPr lang="en-US" sz="1600" b="1">
                <a:solidFill>
                  <a:srgbClr val="C00000"/>
                </a:solidFill>
              </a:rPr>
              <a:t>cumulative distribution</a:t>
            </a:r>
            <a:r>
              <a:rPr lang="en-US" sz="1600"/>
              <a:t> shows the relationship between the value of a variable and the cumulative relative frequency</a:t>
            </a:r>
          </a:p>
          <a:p>
            <a:r>
              <a:rPr lang="en-US" sz="1600"/>
              <a:t>crf(x) answers one question: what fraction of the data falls at or below x?</a:t>
            </a:r>
          </a:p>
          <a:p>
            <a:pPr lvl="1"/>
            <a:r>
              <a:rPr lang="en-US" sz="1600"/>
              <a:t>It only ever climbs - it can never come back down</a:t>
            </a:r>
          </a:p>
          <a:p>
            <a:pPr lvl="1"/>
            <a:r>
              <a:rPr lang="en-US" sz="1600"/>
              <a:t>It starts at 0 and finishes at 1</a:t>
            </a:r>
          </a:p>
          <a:p>
            <a:r>
              <a:rPr lang="en-US" sz="1600"/>
              <a:t>For discrete data we draw it as a </a:t>
            </a:r>
            <a:r>
              <a:rPr lang="en-US" sz="1600" b="1">
                <a:solidFill>
                  <a:srgbClr val="C00000"/>
                </a:solidFill>
              </a:rPr>
              <a:t>step function</a:t>
            </a:r>
            <a:r>
              <a:rPr lang="en-US" sz="1600"/>
              <a:t>: flat between observed values, jumping at each one</a:t>
            </a:r>
          </a:p>
          <a:p>
            <a:pPr lvl="1"/>
            <a:r>
              <a:rPr lang="en-US" sz="1600"/>
              <a:t>The height of a jump is that value’s relative frequency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FB81C8-E746-A660-567E-1A3BB222B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5</a:t>
            </a:fld>
            <a:endParaRPr lang="en-US" sz="16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BD45B77-CB66-1677-8417-023201445E8D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3000" y="1905000"/>
            <a:ext cx="4826000" cy="3937000"/>
          </a:xfrm>
          <a:prstGeom prst="rect">
            <a:avLst/>
          </a:prstGeom>
        </p:spPr>
      </p:pic>
      <p:sp>
        <p:nvSpPr>
          <p:cNvPr id="5" name="Title rule">
            <a:extLst>
              <a:ext uri="{FF2B5EF4-FFF2-40B4-BE49-F238E27FC236}">
                <a16:creationId xmlns:a16="http://schemas.microsoft.com/office/drawing/2014/main" id="{9715299E-242A-D4E2-FFAB-724D8818FC11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8971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FDFB64-76E5-E9BB-E49E-11DB487915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From the table to the plot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4019C7-0D2E-AAA7-DA5C-6E2059329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000" y="1879600"/>
            <a:ext cx="4572000" cy="3810000"/>
          </a:xfrm>
        </p:spPr>
        <p:txBody>
          <a:bodyPr>
            <a:noAutofit/>
          </a:bodyPr>
          <a:lstStyle/>
          <a:p>
            <a:r>
              <a:rPr lang="en-US" sz="1600"/>
              <a:t>Put the values of the variable on the x-axis and crf(x) on the y-axis</a:t>
            </a:r>
          </a:p>
          <a:p>
            <a:r>
              <a:rPr lang="en-US" sz="1600"/>
              <a:t>Plot a point at each observed value</a:t>
            </a:r>
          </a:p>
          <a:p>
            <a:r>
              <a:rPr lang="en-US" sz="1600"/>
              <a:t>Hold that height flat until the next observed value, then jump</a:t>
            </a:r>
          </a:p>
          <a:p>
            <a:r>
              <a:rPr lang="en-US" sz="1600"/>
              <a:t>The flat runs are not decoration - they are what we read a percentile off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79CA9E-8721-8C0A-95AC-0FE0E8D0C0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6</a:t>
            </a:fld>
            <a:endParaRPr lang="en-US" sz="16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7E6CDD0-F3AB-1B3F-B31C-9027DD244046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1000" y="1778000"/>
            <a:ext cx="6223000" cy="3889375"/>
          </a:xfrm>
          <a:prstGeom prst="rect">
            <a:avLst/>
          </a:prstGeom>
        </p:spPr>
      </p:pic>
      <p:sp>
        <p:nvSpPr>
          <p:cNvPr id="5" name="Title rule">
            <a:extLst>
              <a:ext uri="{FF2B5EF4-FFF2-40B4-BE49-F238E27FC236}">
                <a16:creationId xmlns:a16="http://schemas.microsoft.com/office/drawing/2014/main" id="{4EC02BCD-EC8E-0F3D-3AD4-68D63CA10B14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75335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299922-AEC8-696A-9DEB-817189B27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Reading a percentile off the plot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BE8468-5628-36AF-A377-38EECFC0CE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000" y="1879600"/>
            <a:ext cx="4572000" cy="3810000"/>
          </a:xfrm>
        </p:spPr>
        <p:txBody>
          <a:bodyPr>
            <a:noAutofit/>
          </a:bodyPr>
          <a:lstStyle/>
          <a:p>
            <a:r>
              <a:rPr lang="en-US" sz="1600"/>
              <a:t>To find the pth percentile:</a:t>
            </a:r>
          </a:p>
          <a:p>
            <a:pPr lvl="1"/>
            <a:r>
              <a:rPr lang="en-US" sz="1600"/>
              <a:t>go up the y-axis to p/100</a:t>
            </a:r>
          </a:p>
          <a:p>
            <a:pPr lvl="1"/>
            <a:r>
              <a:rPr lang="en-US" sz="1600"/>
              <a:t>read across to the curve</a:t>
            </a:r>
          </a:p>
          <a:p>
            <a:pPr lvl="1"/>
            <a:r>
              <a:rPr lang="en-US" sz="1600"/>
              <a:t>drop down to the x-axis</a:t>
            </a:r>
          </a:p>
          <a:p>
            <a:r>
              <a:rPr lang="en-US" sz="1600"/>
              <a:t>Q1, Q2 and Q3 are just the percentiles at 0.25, 0.50 and 0.75</a:t>
            </a:r>
          </a:p>
          <a:p>
            <a:pPr lvl="1"/>
            <a:r>
              <a:rPr lang="en-US" sz="1600" b="1">
                <a:latin typeface="Consolas" panose="020B0609020204030204" pitchFamily="49" charset="0"/>
              </a:rPr>
              <a:t>Q1 = 4      Q2 = 9.5      Q3 = 13</a:t>
            </a:r>
          </a:p>
          <a:p>
            <a:pPr lvl="1"/>
            <a:r>
              <a:rPr lang="en-US" sz="1600" b="1">
                <a:latin typeface="Consolas" panose="020B0609020204030204" pitchFamily="49" charset="0"/>
              </a:rPr>
              <a:t>IQR = 13 - 4 = 9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5985E6-BC77-4494-9883-D963210AA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7</a:t>
            </a:fld>
            <a:endParaRPr lang="en-US" sz="16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F684E6A-171C-6EBD-350A-FAB2EA9390BD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1000" y="1778000"/>
            <a:ext cx="6223000" cy="3889375"/>
          </a:xfrm>
          <a:prstGeom prst="rect">
            <a:avLst/>
          </a:prstGeom>
        </p:spPr>
      </p:pic>
      <p:sp>
        <p:nvSpPr>
          <p:cNvPr id="5" name="Title rule">
            <a:extLst>
              <a:ext uri="{FF2B5EF4-FFF2-40B4-BE49-F238E27FC236}">
                <a16:creationId xmlns:a16="http://schemas.microsoft.com/office/drawing/2014/main" id="{BF84C5C1-AF79-8DE8-85E1-6496CC70BA33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87853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DBFA8-3DB1-7D53-DF23-06ED2339E3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When the bar sits exactly on the percentile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D15D50-E1D2-797B-C622-6B579E80F0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000" y="1879600"/>
            <a:ext cx="4572000" cy="4064000"/>
          </a:xfrm>
        </p:spPr>
        <p:txBody>
          <a:bodyPr>
            <a:noAutofit/>
          </a:bodyPr>
          <a:lstStyle/>
          <a:p>
            <a:r>
              <a:rPr lang="en-US" sz="1600"/>
              <a:t>Reading across at p usually crosses a jump, and the answer is that value</a:t>
            </a:r>
          </a:p>
          <a:p>
            <a:r>
              <a:rPr lang="en-US" sz="1600"/>
              <a:t>But sometimes the line lands ON a flat run instead</a:t>
            </a:r>
          </a:p>
          <a:p>
            <a:pPr lvl="1"/>
            <a:r>
              <a:rPr lang="en-US" sz="1600"/>
              <a:t>then the pth percentile is the </a:t>
            </a:r>
            <a:r>
              <a:rPr lang="en-US" sz="1600" b="1">
                <a:solidFill>
                  <a:srgbClr val="C00000"/>
                </a:solidFill>
              </a:rPr>
              <a:t>midpoint</a:t>
            </a:r>
            <a:r>
              <a:rPr lang="en-US" sz="1600"/>
              <a:t> of that bar</a:t>
            </a:r>
          </a:p>
          <a:p>
            <a:r>
              <a:rPr lang="en-US" sz="1600"/>
              <a:t>This happens when n is even, which is why n = 20 mattered</a:t>
            </a:r>
          </a:p>
          <a:p>
            <a:pPr lvl="1"/>
            <a:r>
              <a:rPr lang="en-US" sz="1600"/>
              <a:t>crf reaches 0.90 exactly at x = 15, and the next value is 16</a:t>
            </a:r>
          </a:p>
          <a:p>
            <a:pPr lvl="1"/>
            <a:r>
              <a:rPr lang="en-US" sz="1600"/>
              <a:t>so the 90th percentile is (15 + 16)/2 = 15.5, not 15</a:t>
            </a:r>
          </a:p>
          <a:p>
            <a:r>
              <a:rPr lang="en-US" sz="1600"/>
              <a:t>Same story at 0.50 and 0.75, which is why Q2 = 9.5 and Q3 = 13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6DE275-9896-165E-325F-8EE76F4CD8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8</a:t>
            </a:fld>
            <a:endParaRPr lang="en-US" sz="16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E5F6E3-EBDF-FDA0-A898-C03D35FAB093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1000" y="1778000"/>
            <a:ext cx="6223000" cy="3889375"/>
          </a:xfrm>
          <a:prstGeom prst="rect">
            <a:avLst/>
          </a:prstGeom>
        </p:spPr>
      </p:pic>
      <p:sp>
        <p:nvSpPr>
          <p:cNvPr id="5" name="Title rule">
            <a:extLst>
              <a:ext uri="{FF2B5EF4-FFF2-40B4-BE49-F238E27FC236}">
                <a16:creationId xmlns:a16="http://schemas.microsoft.com/office/drawing/2014/main" id="{CBCFF2ED-FA43-E2C4-34F5-5D1115B190D7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4459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76F3F4-457E-F19B-CF3A-D2A84DACA4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Going the other way: what percentile is this value at?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D83386-CCF1-DA83-7F15-27769B3794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000" y="1879600"/>
            <a:ext cx="4572000" cy="3810000"/>
          </a:xfrm>
        </p:spPr>
        <p:txBody>
          <a:bodyPr>
            <a:noAutofit/>
          </a:bodyPr>
          <a:lstStyle/>
          <a:p>
            <a:r>
              <a:rPr lang="en-US" sz="1600"/>
              <a:t>The same plot answers the reverse question. Start on the x-axis instead:</a:t>
            </a:r>
          </a:p>
          <a:p>
            <a:pPr lvl="1"/>
            <a:r>
              <a:rPr lang="en-US" sz="1600"/>
              <a:t>go along to the value</a:t>
            </a:r>
          </a:p>
          <a:p>
            <a:pPr lvl="1"/>
            <a:r>
              <a:rPr lang="en-US" sz="1600"/>
              <a:t>up to the curve</a:t>
            </a:r>
          </a:p>
          <a:p>
            <a:pPr lvl="1"/>
            <a:r>
              <a:rPr lang="en-US" sz="1600"/>
              <a:t>across to the y-axis, and read crf</a:t>
            </a:r>
          </a:p>
          <a:p>
            <a:r>
              <a:rPr lang="en-US" sz="1600"/>
              <a:t>Your turn: Honeycomb has 11 g of sugar. What percentile is it at?</a:t>
            </a:r>
          </a:p>
          <a:p>
            <a:r>
              <a:rPr lang="en-US" sz="1600"/>
              <a:t>And what about All Bran, at 5 g?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5ED2B4-1794-8E92-2526-91BB1DD3D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9</a:t>
            </a:fld>
            <a:endParaRPr lang="en-US" sz="16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A5003A8-4895-1C4B-6F2E-5F5392B7FA7C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1000" y="1778000"/>
            <a:ext cx="6223000" cy="3889375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E522092-0478-379B-B78D-A661C88C987A}"/>
              </a:ext>
            </a:extLst>
          </p:cNvPr>
          <p:cNvSpPr/>
          <p:nvPr/>
        </p:nvSpPr>
        <p:spPr>
          <a:xfrm>
            <a:off x="698500" y="4318000"/>
            <a:ext cx="4826000" cy="15494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tIns="63500" rIns="127000" bIns="63500" rtlCol="0" anchor="ctr"/>
          <a:lstStyle/>
          <a:p>
            <a:r>
              <a:rPr lang="en-US" sz="1600" b="1">
                <a:solidFill>
                  <a:srgbClr val="000000"/>
                </a:solidFill>
              </a:rPr>
              <a:t>Working:</a:t>
            </a:r>
          </a:p>
          <a:p>
            <a:r>
              <a:rPr lang="en-US" sz="1600">
                <a:solidFill>
                  <a:srgbClr val="000000"/>
                </a:solidFill>
              </a:rPr>
              <a:t>11 g  -&gt;  crf = 0.65  -&gt;  65th percentile</a:t>
            </a:r>
          </a:p>
          <a:p>
            <a:r>
              <a:rPr lang="en-US" sz="1600">
                <a:solidFill>
                  <a:srgbClr val="000000"/>
                </a:solidFill>
              </a:rPr>
              <a:t>5 g   -&gt;  crf = 0.35  -&gt;  35th percentile</a:t>
            </a:r>
          </a:p>
          <a:p>
            <a:r>
              <a:rPr lang="en-US" sz="1600">
                <a:solidFill>
                  <a:srgbClr val="000000"/>
                </a:solidFill>
              </a:rPr>
              <a:t>65% of cereals have at most</a:t>
            </a:r>
          </a:p>
          <a:p>
            <a:r>
              <a:rPr lang="en-US" sz="1600">
                <a:solidFill>
                  <a:srgbClr val="000000"/>
                </a:solidFill>
              </a:rPr>
              <a:t>as much sugar as Honeycomb.</a:t>
            </a:r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7CEBE2F7-9A61-49ED-4B1C-CB2F17B6D887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51173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1C4E30-2B55-4D71-9F02-113C77A0DA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Your turn: build the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1C4E30-2B55-4D71-9F02-113C77A0DA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000" y="1879600"/>
            <a:ext cx="4572000" cy="3810000"/>
          </a:xfrm>
        </p:spPr>
        <p:txBody>
          <a:bodyPr>
            <a:noAutofit/>
          </a:bodyPr>
          <a:lstStyle/>
          <a:p>
            <a:r>
              <a:rPr lang="en-US" sz="1600"/>
              <a:t>Ten students were asked how many hours they slept last night:</a:t>
            </a:r>
          </a:p>
          <a:p>
            <a:pPr marL="0" indent="0">
              <a:buNone/>
            </a:pPr>
            <a:r>
              <a:rPr lang="en-US" sz="2000" b="1">
                <a:solidFill>
                  <a:srgbClr val="1F3864"/>
                </a:solidFill>
              </a:rPr>
              <a:t>7    9    6    7    8    5    7    9    6    8</a:t>
            </a:r>
          </a:p>
          <a:p>
            <a:r>
              <a:rPr lang="en-US" sz="1600"/>
              <a:t>n = 10. Fill in the three missing columns:</a:t>
            </a:r>
          </a:p>
          <a:p>
            <a:pPr lvl="1"/>
            <a:r>
              <a:rPr lang="en-US" sz="1600"/>
              <a:t>f(x) - how many times each value appears</a:t>
            </a:r>
          </a:p>
          <a:p>
            <a:pPr lvl="1"/>
            <a:r>
              <a:rPr lang="en-US" sz="1600"/>
              <a:t>rf(x) - each count divided by n = 10</a:t>
            </a:r>
          </a:p>
          <a:p>
            <a:pPr lvl="1"/>
            <a:r>
              <a:rPr lang="en-US" sz="1600"/>
              <a:t>crf(x) - the relative frequencies added up as you work down the column</a:t>
            </a:r>
          </a:p>
          <a:p>
            <a:r>
              <a:rPr lang="en-US" sz="1600" b="1">
                <a:solidFill>
                  <a:srgbClr val="C00000"/>
                </a:solidFill>
              </a:rPr>
              <a:t>The last crf has to come out at 1.00. If it does not, the counts are wrong.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1C4E30-2B55-4D71-9F02-113C77A0D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10</a:t>
            </a:fld>
            <a:endParaRPr lang="en-US" sz="16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A1C4E30-2B55-4D71-9F02-113C77A0DA06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1000" y="2408150"/>
            <a:ext cx="6223000" cy="29337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A1C4E30-2B55-4D71-9F02-113C77A0DA08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1000" y="2408150"/>
            <a:ext cx="6223000" cy="2933700"/>
          </a:xfrm>
          <a:prstGeom prst="rect">
            <a:avLst/>
          </a:prstGeom>
        </p:spPr>
      </p:pic>
      <p:sp>
        <p:nvSpPr>
          <p:cNvPr id="5" name="Title rule">
            <a:extLst>
              <a:ext uri="{FF2B5EF4-FFF2-40B4-BE49-F238E27FC236}">
                <a16:creationId xmlns:a16="http://schemas.microsoft.com/office/drawing/2014/main" id="{7A1C4E30-2B55-4D71-9F02-113C77A0DA0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7533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1C4E30-2B55-4D71-9F02-113C77A0DB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Your turn: read the plot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1C4E30-2B55-4D71-9F02-113C77A0DB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000" y="1879600"/>
            <a:ext cx="4572000" cy="3810000"/>
          </a:xfrm>
        </p:spPr>
        <p:txBody>
          <a:bodyPr>
            <a:noAutofit/>
          </a:bodyPr>
          <a:lstStyle/>
          <a:p>
            <a:r>
              <a:rPr lang="en-US" sz="1600"/>
              <a:t>Sketch the step plot from your table. Then read off:</a:t>
            </a:r>
          </a:p>
          <a:p>
            <a:pPr lvl="1"/>
            <a:r>
              <a:rPr lang="en-US" sz="1600"/>
              <a:t>Q1, Q2 and Q3 - and then the IQR</a:t>
            </a:r>
          </a:p>
          <a:p>
            <a:pPr lvl="1"/>
            <a:r>
              <a:rPr lang="en-US" sz="1600"/>
              <a:t>the 80th percentile - careful, look at where the bar sits</a:t>
            </a:r>
          </a:p>
          <a:p>
            <a:pPr lvl="1"/>
            <a:r>
              <a:rPr lang="en-US" sz="1600"/>
              <a:t>one student slept 5 hours. What percentile is that?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1C4E30-2B55-4D71-9F02-113C77A0DB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11</a:t>
            </a:fld>
            <a:endParaRPr lang="en-US" sz="16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A1C4E30-2B55-4D71-9F02-113C77A0DB06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1000" y="1778000"/>
            <a:ext cx="6223000" cy="38893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A1C4E30-2B55-4D71-9F02-113C77A0DB08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1000" y="1778000"/>
            <a:ext cx="6223000" cy="3889375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A1C4E30-2B55-4D71-9F02-113C77A0DB07}"/>
              </a:ext>
            </a:extLst>
          </p:cNvPr>
          <p:cNvSpPr/>
          <p:nvPr/>
        </p:nvSpPr>
        <p:spPr>
          <a:xfrm>
            <a:off x="698500" y="4318000"/>
            <a:ext cx="4826000" cy="15494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tIns="63500" rIns="127000" bIns="63500" rtlCol="0" anchor="ctr"/>
          <a:lstStyle/>
          <a:p>
            <a:r>
              <a:rPr lang="en-US" sz="1600" b="1">
                <a:solidFill>
                  <a:srgbClr val="000000"/>
                </a:solidFill>
              </a:rPr>
              <a:t>Working:</a:t>
            </a:r>
          </a:p>
          <a:p>
            <a:r>
              <a:rPr lang="en-US" sz="1600">
                <a:solidFill>
                  <a:srgbClr val="000000"/>
                </a:solidFill>
              </a:rPr>
              <a:t>Q1 = 6    Q2 = 7    Q3 = 8    IQR = 2</a:t>
            </a:r>
          </a:p>
          <a:p>
            <a:r>
              <a:rPr lang="en-US" sz="1600">
                <a:solidFill>
                  <a:srgbClr val="000000"/>
                </a:solidFill>
              </a:rPr>
              <a:t>crf sits exactly on 0.80 at x = 8, so the</a:t>
            </a:r>
          </a:p>
          <a:p>
            <a:r>
              <a:rPr lang="en-US" sz="1600">
                <a:solidFill>
                  <a:srgbClr val="000000"/>
                </a:solidFill>
              </a:rPr>
              <a:t>80th percentile is (8 + 9)/2 = 8.5</a:t>
            </a:r>
          </a:p>
          <a:p>
            <a:r>
              <a:rPr lang="en-US" sz="1600">
                <a:solidFill>
                  <a:srgbClr val="000000"/>
                </a:solidFill>
              </a:rPr>
              <a:t>5 hours  -&gt;  crf = 0.10  -&gt;  10th percentile</a:t>
            </a:r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7A1C4E30-2B55-4D71-9F02-113C77A0DB0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7533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1C4E30-2B55-4D71-9F02-113C77A0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What the shape of the step plot tells you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1C4E30-2B55-4D71-9F02-113C77A0D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12</a:t>
            </a:fld>
            <a:endParaRPr lang="en-US" sz="1600"/>
          </a:p>
        </p:txBody>
      </p:sp>
      <p:sp>
        <p:nvSpPr>
          <p:cNvPr id="9" name="Rule">
            <a:extLst>
              <a:ext uri="{FF2B5EF4-FFF2-40B4-BE49-F238E27FC236}">
                <a16:creationId xmlns:a16="http://schemas.microsoft.com/office/drawing/2014/main" id="{7A1C4E30-2B55-4D71-9F02-113C77A0DC09}"/>
              </a:ext>
            </a:extLst>
          </p:cNvPr>
          <p:cNvSpPr txBox="1"/>
          <p:nvPr/>
        </p:nvSpPr>
        <p:spPr>
          <a:xfrm>
            <a:off x="838200" y="1676400"/>
            <a:ext cx="10515600" cy="430000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pPr algn="ctr"/>
            <a:r>
              <a:rPr lang="en-US" sz="1800" b="1">
                <a:solidFill>
                  <a:srgbClr val="C00000"/>
                </a:solidFill>
              </a:rPr>
              <a:t>A steep run means a lot of data there.    A flat run means a gap, or a tail.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A1C4E30-2B55-4D71-9F02-113C77A0DC06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0545" y="2170000"/>
            <a:ext cx="9690910" cy="4100000"/>
          </a:xfrm>
          <a:prstGeom prst="rect">
            <a:avLst/>
          </a:prstGeom>
        </p:spPr>
      </p:pic>
      <p:sp>
        <p:nvSpPr>
          <p:cNvPr id="5" name="Title rule">
            <a:extLst>
              <a:ext uri="{FF2B5EF4-FFF2-40B4-BE49-F238E27FC236}">
                <a16:creationId xmlns:a16="http://schemas.microsoft.com/office/drawing/2014/main" id="{7A1C4E30-2B55-4D71-9F02-113C77A0DC0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75337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2185</TotalTime>
  <Words>956</Words>
  <Application>Microsoft Office PowerPoint</Application>
  <PresentationFormat>Widescreen</PresentationFormat>
  <Paragraphs>90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Calibri Light</vt:lpstr>
      <vt:lpstr>Consolas</vt:lpstr>
      <vt:lpstr>Office Theme</vt:lpstr>
      <vt:lpstr>Lecture 7 Cumulative Distributions</vt:lpstr>
      <vt:lpstr>Review</vt:lpstr>
      <vt:lpstr>What a boxplot says about shape</vt:lpstr>
      <vt:lpstr>The data: sugar in twenty breakfast cereals</vt:lpstr>
      <vt:lpstr>Cumulative distributions</vt:lpstr>
      <vt:lpstr>From the table to the plot</vt:lpstr>
      <vt:lpstr>Reading a percentile off the plot</vt:lpstr>
      <vt:lpstr>When the bar sits exactly on the percentile</vt:lpstr>
      <vt:lpstr>Going the other way: what percentile is this value at?</vt:lpstr>
      <vt:lpstr>Your turn: build the table</vt:lpstr>
      <vt:lpstr>Your turn: read the plot</vt:lpstr>
      <vt:lpstr>What the shape of the step plot tells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Jarred Kvamme</dc:creator>
  <cp:lastModifiedBy>Jarred Kvamme</cp:lastModifiedBy>
  <cp:revision>346</cp:revision>
  <dcterms:created xsi:type="dcterms:W3CDTF">2023-08-05T23:57:41Z</dcterms:created>
  <dcterms:modified xsi:type="dcterms:W3CDTF">2026-09-11T19:17:50Z</dcterms:modified>
</cp:coreProperties>
</file>