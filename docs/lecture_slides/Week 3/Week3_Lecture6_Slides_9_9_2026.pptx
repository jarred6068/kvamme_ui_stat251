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52" r:id="rId4"/>
    <p:sldId id="353" r:id="rId5"/>
    <p:sldId id="354" r:id="rId6"/>
    <p:sldId id="303" r:id="rId7"/>
    <p:sldId id="259" r:id="rId8"/>
    <p:sldId id="325" r:id="rId9"/>
    <p:sldId id="346" r:id="rId10"/>
    <p:sldId id="313" r:id="rId11"/>
    <p:sldId id="314" r:id="rId12"/>
    <p:sldId id="355" r:id="rId13"/>
    <p:sldId id="315" r:id="rId14"/>
    <p:sldId id="316" r:id="rId15"/>
    <p:sldId id="317" r:id="rId16"/>
    <p:sldId id="283" r:id="rId17"/>
    <p:sldId id="356" r:id="rId18"/>
    <p:sldId id="357" r:id="rId19"/>
    <p:sldId id="358" r:id="rId20"/>
    <p:sldId id="349" r:id="rId21"/>
    <p:sldId id="359" r:id="rId22"/>
    <p:sldId id="350" r:id="rId23"/>
    <p:sldId id="351" r:id="rId24"/>
    <p:sldId id="345" r:id="rId25"/>
    <p:sldId id="34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6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Spread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One huge outlier is added to a dataset. Which moves more, the mean or the median?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mean is pulled toward it. The median barely moves – it only cares about position in the ordered list.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Besides the sum over n, what were the other two ways we wrote the mean?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From a frequency table, and from a relative frequency table. All three give the same number.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does it mean to say a score sits at the 75th percentile?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75 percent of the observations fall at or below that score.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You already have the median. How do you get Q1 and Q3 from it?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Q1 is the median of the lower half, Q3 the median of the upper half – leaving the median itself out of both halves when n is odd.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DB51-7140-0F78-C250-266B48064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on quartiles: which definition?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1A062-2FF0-861A-FC4B-7DB649630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1168400"/>
          </a:xfrm>
        </p:spPr>
        <p:txBody>
          <a:bodyPr>
            <a:noAutofit/>
          </a:bodyPr>
          <a:lstStyle/>
          <a:p>
            <a:r>
              <a:rPr lang="en-US" sz="1800"/>
              <a:t>There are several accepted ways to calculate a quartile. In this class we use the </a:t>
            </a:r>
            <a:r>
              <a:rPr lang="en-US" sz="1800" b="1">
                <a:solidFill>
                  <a:srgbClr val="C00000"/>
                </a:solidFill>
              </a:rPr>
              <a:t>median of halves</a:t>
            </a:r>
            <a:r>
              <a:rPr lang="en-US" sz="1800"/>
              <a:t> method.</a:t>
            </a:r>
          </a:p>
          <a:p>
            <a:r>
              <a:rPr lang="en-US" sz="1800"/>
              <a:t>Find the median first. When n is odd, leave that median out when forming the lower and upper halves.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B54D2-20FE-0D3B-E8CB-31469F126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D487F7-EBA6-6E7E-D31D-88D99FC5342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3098800"/>
            <a:ext cx="9652000" cy="324231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A48B0CF6-5AAA-9CD8-5755-0488329DE83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01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83753-F233-F38B-A562-9F3E1735D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R may give you different quartiles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C0194-7584-72D4-FE6D-3EA1A883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4953000"/>
            <a:ext cx="10668000" cy="1422400"/>
          </a:xfrm>
        </p:spPr>
        <p:txBody>
          <a:bodyPr>
            <a:noAutofit/>
          </a:bodyPr>
          <a:lstStyle/>
          <a:p>
            <a:r>
              <a:rPr lang="en-US" sz="1600"/>
              <a:t>R's quantile() interpolates between the ordered values; R's boxplot() is different again, drawing the box at Tukey's hinges, which keep the median inside both halves</a:t>
            </a:r>
          </a:p>
          <a:p>
            <a:r>
              <a:rPr lang="en-US" sz="1600"/>
              <a:t>A disagreement does not mean either of you made a mistake - it means a different definition was used</a:t>
            </a:r>
          </a:p>
          <a:p>
            <a:r>
              <a:rPr lang="en-US" sz="1600"/>
              <a:t>In this class, use the median of halves, and apply the same method </a:t>
            </a:r>
            <a:r>
              <a:rPr lang="en-US" sz="1600" b="1">
                <a:solidFill>
                  <a:srgbClr val="C00000"/>
                </a:solidFill>
              </a:rPr>
              <a:t>consistently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E8D2-53C2-3539-812C-7142CD3D1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2D3E5F-A8C7-3EC9-354C-91E85E95EE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0" y="1841500"/>
            <a:ext cx="8890000" cy="296291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2087FECE-E48C-1252-635B-D46EEF2C11A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07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8E5DE3FF-1F72-B1BF-B50A-4EE6DBF3DF0A}"/>
              </a:ext>
            </a:extLst>
          </p:cNvPr>
          <p:cNvSpPr/>
          <p:nvPr/>
        </p:nvSpPr>
        <p:spPr>
          <a:xfrm>
            <a:off x="635000" y="1651000"/>
            <a:ext cx="10922000" cy="2590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A44164-6B58-06CE-3191-0E56300B4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Our running example for the rest of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4DF1E-607F-1213-E819-64E72074D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4191000"/>
          </a:xfrm>
        </p:spPr>
        <p:txBody>
          <a:bodyPr>
            <a:noAutofit/>
          </a:bodyPr>
          <a:lstStyle/>
          <a:p>
            <a:r>
              <a:rPr lang="en-US" sz="1800"/>
              <a:t>We will build every measure of spread from the same five values, on the board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x  =  2,  4,  5,  7,  12                    n = 5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mean  =  (2 + 4 + 5 + 7 + 12) / 5  =  30 / 5  =  6</a:t>
            </a:r>
          </a:p>
          <a:p>
            <a:r>
              <a:rPr lang="en-US" sz="1800"/>
              <a:t>and we already have its quartiles, from the slide before: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Q1 = 3            Q2 = 5            Q3 = 9.5</a:t>
            </a:r>
          </a:p>
          <a:p>
            <a:r>
              <a:rPr lang="en-US" sz="1800"/>
              <a:t>Still to come: the range, the IQR, the variance and standard deviation, and the boxplot</a:t>
            </a:r>
          </a:p>
          <a:p>
            <a:r>
              <a:rPr lang="en-US" sz="1800"/>
              <a:t>Keep these numbers - everything from here on is worked from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45CED9-A977-8A69-23B1-A77666C15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2B7FDA4-E096-B923-0A3A-F0682028F1E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353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8AD11-2CC4-2AB6-9CE5-DCCB89DA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65904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Autofit/>
          </a:bodyPr>
          <a:lstStyle/>
          <a:p>
            <a:r>
              <a:rPr lang="en-US" sz="1900" dirty="0"/>
              <a:t>The </a:t>
            </a:r>
            <a:r>
              <a:rPr lang="en-US" sz="1900" b="1" dirty="0">
                <a:solidFill>
                  <a:srgbClr val="C00000"/>
                </a:solidFill>
              </a:rPr>
              <a:t>range</a:t>
            </a:r>
            <a:r>
              <a:rPr lang="en-US" sz="1900" dirty="0"/>
              <a:t> is a measure of the distance between the smallest and largest values in the data</a:t>
            </a:r>
          </a:p>
          <a:p>
            <a:endParaRPr lang="en-US" sz="1900" dirty="0"/>
          </a:p>
          <a:p>
            <a:pPr marL="457200" lvl="1" indent="0">
              <a:buNone/>
            </a:pPr>
            <a:r>
              <a:rPr lang="en-US" sz="1600" dirty="0"/>
              <a:t>The range can be computed with only two data points the minimum value and maximum value</a:t>
            </a:r>
          </a:p>
          <a:p>
            <a:endParaRPr lang="en-US" sz="1900" dirty="0"/>
          </a:p>
          <a:p>
            <a:r>
              <a:rPr lang="en-US" sz="1900" dirty="0"/>
              <a:t>If the range of a set of data is large, then usually this indicates greater dispersion of values</a:t>
            </a:r>
          </a:p>
          <a:p>
            <a:endParaRPr lang="en-US" sz="1900" dirty="0"/>
          </a:p>
          <a:p>
            <a:r>
              <a:rPr lang="en-US" sz="1900" dirty="0"/>
              <a:t>The range is </a:t>
            </a:r>
            <a:r>
              <a:rPr lang="en-US" sz="1900" u="sng" dirty="0"/>
              <a:t>severely</a:t>
            </a:r>
            <a:r>
              <a:rPr lang="en-US" sz="1900" dirty="0"/>
              <a:t> affected by the presence of outliers</a:t>
            </a:r>
          </a:p>
          <a:p>
            <a:endParaRPr lang="en-US" sz="1900" dirty="0"/>
          </a:p>
          <a:p>
            <a:r>
              <a:rPr lang="en-US" sz="1900" dirty="0"/>
              <a:t>We typically </a:t>
            </a:r>
            <a:r>
              <a:rPr lang="en-US" sz="1900" u="sng" dirty="0"/>
              <a:t>do not</a:t>
            </a:r>
            <a:r>
              <a:rPr lang="en-US" sz="1900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03966-5407-94DA-479C-BB9A9F8F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200598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E8495F7-FD8E-CE47-6FF5-9B67FDC5FFCF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100" dirty="0"/>
                  <a:t>The </a:t>
                </a:r>
                <a:r>
                  <a:rPr lang="en-US" sz="2100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sz="2100" dirty="0"/>
                  <a:t> measures the spread of the middle 50% of the observations </a:t>
                </a:r>
              </a:p>
              <a:p>
                <a:endParaRPr lang="en-US" sz="2100" dirty="0"/>
              </a:p>
              <a:p>
                <a:r>
                  <a:rPr lang="en-US" sz="2100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17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1700" dirty="0"/>
                  <a:t>The more variability the larger the value of the </a:t>
                </a:r>
                <a:r>
                  <a:rPr lang="en-US" sz="17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17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1700" dirty="0"/>
                  <a:t>is a good choice for distributions that are highly skewed!</a:t>
                </a:r>
                <a:endParaRPr lang="en-US" sz="17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  <a:blipFill>
                <a:blip r:embed="rId2"/>
                <a:stretch>
                  <a:fillRect l="-580" t="-1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AED4B-7D0B-B025-EFFA-10727BEB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C59B7F6-6EC8-75C4-2EBA-7F43BFA74F9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71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2C0B440-F91E-6F7A-3DFC-2793BD9D70C0}"/>
              </a:ext>
            </a:extLst>
          </p:cNvPr>
          <p:cNvSpPr/>
          <p:nvPr/>
        </p:nvSpPr>
        <p:spPr>
          <a:xfrm>
            <a:off x="635000" y="1676400"/>
            <a:ext cx="10922000" cy="11176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400">
                <a:latin typeface="Consolas" panose="020B0609020204030204" pitchFamily="49" charset="0"/>
              </a:rPr>
              <a:t>x  =  2,  4,  5,  7,  12</a:t>
            </a:r>
          </a:p>
          <a:p>
            <a:pPr marL="0" indent="0">
              <a:buNone/>
            </a:pPr>
            <a:r>
              <a:rPr lang="en-US" sz="2400"/>
              <a:t>Compute the range, and then the IQR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69AC6-F494-838D-32D6-9D4046F5E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5E310728-7EBB-3282-A6DF-A2124C2A2A9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896888-A574-06E0-6639-7FD1FB014F81}"/>
              </a:ext>
            </a:extLst>
          </p:cNvPr>
          <p:cNvSpPr/>
          <p:nvPr/>
        </p:nvSpPr>
        <p:spPr>
          <a:xfrm>
            <a:off x="1651000" y="3619500"/>
            <a:ext cx="8890000" cy="1803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range  =  max - min  =  12 - 2  =  10</a:t>
            </a:r>
          </a:p>
          <a:p>
            <a:r>
              <a:rPr lang="en-US" sz="1600">
                <a:solidFill>
                  <a:srgbClr val="000000"/>
                </a:solidFill>
              </a:rPr>
              <a:t>Q1 = 3      Q3 = 9.5      (from the running example)</a:t>
            </a:r>
          </a:p>
          <a:p>
            <a:r>
              <a:rPr lang="en-US" sz="1600">
                <a:solidFill>
                  <a:srgbClr val="000000"/>
                </a:solidFill>
              </a:rPr>
              <a:t>IQR  =  Q3 - Q1  =  9.5 - 3  =  6.5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The middle half spans 6.5 units; the full range spans 10.</a:t>
            </a:r>
          </a:p>
        </p:txBody>
      </p:sp>
    </p:spTree>
    <p:extLst>
      <p:ext uri="{BB962C8B-B14F-4D97-AF65-F5344CB8AC3E}">
        <p14:creationId xmlns:p14="http://schemas.microsoft.com/office/powerpoint/2010/main" val="176909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BAC071F-BA2C-5E2E-0CAD-1A176EFD288F}"/>
              </a:ext>
            </a:extLst>
          </p:cNvPr>
          <p:cNvSpPr/>
          <p:nvPr/>
        </p:nvSpPr>
        <p:spPr>
          <a:xfrm>
            <a:off x="635000" y="1676400"/>
            <a:ext cx="10922000" cy="4737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500" dirty="0"/>
                  <a:t>A better measure of variability that uses </a:t>
                </a:r>
                <a:r>
                  <a:rPr lang="en-US" sz="2500" i="1" dirty="0"/>
                  <a:t>all</a:t>
                </a:r>
                <a:r>
                  <a:rPr lang="en-US" sz="2500" dirty="0"/>
                  <a:t> the data is based on </a:t>
                </a:r>
                <a:r>
                  <a:rPr lang="en-US" sz="2500" b="1" dirty="0">
                    <a:solidFill>
                      <a:srgbClr val="C00000"/>
                    </a:solidFill>
                  </a:rPr>
                  <a:t>deviations</a:t>
                </a:r>
                <a:endParaRPr lang="en-US" sz="2500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sz="2500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sz="2500" dirty="0"/>
                  <a:t> are the </a:t>
                </a:r>
                <a:r>
                  <a:rPr lang="en-US" sz="2500" u="sng" dirty="0"/>
                  <a:t>distances</a:t>
                </a:r>
                <a:r>
                  <a:rPr lang="en-US" sz="2500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1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sz="2500" dirty="0"/>
                  <a:t>Every observation will have a deviation from the mean</a:t>
                </a:r>
              </a:p>
              <a:p>
                <a:endParaRPr lang="en-US" sz="2500" dirty="0"/>
              </a:p>
              <a:p>
                <a:endParaRPr lang="en-US" sz="2500" dirty="0"/>
              </a:p>
              <a:p>
                <a:endParaRPr lang="en-US" sz="25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600575"/>
              </a:xfrm>
              <a:blipFill>
                <a:blip r:embed="rId2"/>
                <a:stretch>
                  <a:fillRect l="-891" t="-1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C464D-2F8C-3618-EE3E-5E66E8861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BA83F57-FB71-D7DE-CCA6-B27182313D0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28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F0E5AF-A63D-4C6C-71DD-87EE0BBB2D4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1219200"/>
            <a:ext cx="10414000" cy="46278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D6F0A8-1B11-0FDC-E0F4-786F1F3691C9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Each deviation is the gap from a value to the mean. Three are negative, two positive - and they cancel exactly.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29A211-A696-678A-CFDC-6DF920D24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34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419A6518-1FEE-0A17-1E11-A906423A2A64}"/>
              </a:ext>
            </a:extLst>
          </p:cNvPr>
          <p:cNvSpPr/>
          <p:nvPr/>
        </p:nvSpPr>
        <p:spPr>
          <a:xfrm>
            <a:off x="635000" y="16510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A14B4A-2BBF-9FC5-152E-DC3A3B8A2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deviations always sum to zero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A3BF6-2B1B-7FF0-27DF-1E9842C84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Our five cancelled exactly. That is not luck - it happens for every dataset:</a:t>
            </a:r>
          </a:p>
          <a:p>
            <a:pPr lvl="1"/>
            <a:r>
              <a:rPr lang="en-US" sz="1700">
                <a:latin typeface="Consolas" panose="020B0609020204030204" pitchFamily="49" charset="0"/>
              </a:rPr>
              <a:t>Σ(x - mean)  =  Σx  -  n · mean</a:t>
            </a:r>
          </a:p>
          <a:p>
            <a:pPr lvl="1"/>
            <a:r>
              <a:rPr lang="en-US" sz="1700">
                <a:latin typeface="Consolas" panose="020B0609020204030204" pitchFamily="49" charset="0"/>
              </a:rPr>
              <a:t>but  mean = Σx / n,   so   n · mean  =  Σx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hence  Σ(x - mean)  =  Σx  -  Σx  =  0</a:t>
            </a:r>
          </a:p>
          <a:p>
            <a:r>
              <a:rPr lang="en-US" sz="1700"/>
              <a:t>Check it on our example: -4 - 2 - 1 + 1 + 6 = 0</a:t>
            </a:r>
          </a:p>
          <a:p>
            <a:r>
              <a:rPr lang="en-US" sz="1700"/>
              <a:t>So averaging the deviations is useless - it reports 0 for tightly packed data and for wildly scattered data alike</a:t>
            </a:r>
          </a:p>
          <a:p>
            <a:r>
              <a:rPr lang="en-US" sz="1700"/>
              <a:t>We have to remove the signs before averaging. That is why the next step squares them.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58F88-B8A7-C4DB-22E2-9065F47D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96C627D-3794-58D2-24FC-A3F61B288E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6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DA239E0-422E-62C2-D03D-DCFDFA55E2C8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700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600" dirty="0"/>
              </a:p>
              <a:p>
                <a:endParaRPr lang="en-US" sz="2700" dirty="0"/>
              </a:p>
              <a:p>
                <a:r>
                  <a:rPr lang="en-US" sz="2700" dirty="0"/>
                  <a:t>We typically use either the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sz="2700" dirty="0"/>
                  <a:t> or their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3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sz="2700" dirty="0"/>
                  <a:t>The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sz="2700" dirty="0"/>
                  <a:t>of a distribution is the </a:t>
                </a:r>
                <a:r>
                  <a:rPr lang="en-US" sz="2700" u="sng" dirty="0"/>
                  <a:t>average</a:t>
                </a:r>
                <a:r>
                  <a:rPr lang="en-US" sz="2700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500" dirty="0"/>
              </a:p>
              <a:p>
                <a:r>
                  <a:rPr lang="en-US" sz="25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500" dirty="0"/>
                  <a:t> is called the sum of squares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  <a:blipFill>
                <a:blip r:embed="rId2"/>
                <a:stretch>
                  <a:fillRect l="-986" t="-1987" r="-638" b="-15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80644-5A7D-5117-2E8F-7FDCB089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3D7432A-DD44-AE9D-5929-8975DDC7167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88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32716F67-54E6-4EF2-C210-3CB90EEDFEBB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/>
                  <a:t>Since the variance uses the squared deviation, we usually take its square root called the </a:t>
                </a:r>
                <a:r>
                  <a:rPr lang="en-US" sz="2000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sz="2000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1600" dirty="0"/>
              </a:p>
              <a:p>
                <a:endParaRPr lang="en-US" sz="2000" dirty="0"/>
              </a:p>
              <a:p>
                <a:r>
                  <a:rPr lang="en-US" sz="2000" dirty="0"/>
                  <a:t>The standard deviation represents (roughly) the average distance of an observation from the mean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greater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is the greater the variability in the data is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522" t="-1235" r="-348" b="-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9AC86-B215-32AD-CECC-47522CC45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3358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E7EEE50-9936-2C88-2AE4-3B761902A19A}"/>
              </a:ext>
            </a:extLst>
          </p:cNvPr>
          <p:cNvSpPr/>
          <p:nvPr/>
        </p:nvSpPr>
        <p:spPr>
          <a:xfrm>
            <a:off x="635000" y="1676400"/>
            <a:ext cx="10922000" cy="46355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03852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03852"/>
              </a:xfrm>
              <a:blipFill>
                <a:blip r:embed="rId3"/>
                <a:stretch>
                  <a:fillRect l="-1043" t="-2213" r="-1681" b="-2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0D4E2-DF09-B131-AB19-D6E73490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4346553-408C-AAA9-A308-0A74A79B30F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02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8300"/>
            <a:ext cx="10515600" cy="132080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the variance and standard deviation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761999" y="1904999"/>
            <a:ext cx="4826000" cy="381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x  =  2,  4,  5,  7,  12</a:t>
            </a:r>
          </a:p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mean  =  6</a:t>
            </a:r>
          </a:p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Find the deviations, then the sum of squares, then the variance and the standard deviation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818292-3AE6-B7AB-CA1F-D0F51642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27D325-5E77-224B-1498-C748F255DF61}"/>
              </a:ext>
            </a:extLst>
          </p:cNvPr>
          <p:cNvSpPr/>
          <p:nvPr/>
        </p:nvSpPr>
        <p:spPr>
          <a:xfrm>
            <a:off x="5969000" y="1905000"/>
            <a:ext cx="5715000" cy="317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deviations   -4   -2   -1    1    6</a:t>
            </a:r>
          </a:p>
          <a:p>
            <a:r>
              <a:rPr lang="en-US" sz="1600">
                <a:solidFill>
                  <a:srgbClr val="000000"/>
                </a:solidFill>
              </a:rPr>
              <a:t>                                (sum 0)</a:t>
            </a:r>
          </a:p>
          <a:p>
            <a:r>
              <a:rPr lang="en-US" sz="1600">
                <a:solidFill>
                  <a:srgbClr val="000000"/>
                </a:solidFill>
              </a:rPr>
              <a:t>squared      16    4    1    1   36</a:t>
            </a:r>
          </a:p>
          <a:p>
            <a:r>
              <a:rPr lang="en-US" sz="1600">
                <a:solidFill>
                  <a:srgbClr val="000000"/>
                </a:solidFill>
              </a:rPr>
              <a:t>sum of squares  =  58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s²  =  58 / (5 - 1)  =  14.5</a:t>
            </a:r>
          </a:p>
          <a:p>
            <a:r>
              <a:rPr lang="en-US" sz="1600">
                <a:solidFill>
                  <a:srgbClr val="000000"/>
                </a:solidFill>
              </a:rPr>
              <a:t>s   =  sqrt(14.5)  =  3.81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s is in the units of x; the variance is in those units squared.</a:t>
            </a:r>
          </a:p>
        </p:txBody>
      </p:sp>
    </p:spTree>
    <p:extLst>
      <p:ext uri="{BB962C8B-B14F-4D97-AF65-F5344CB8AC3E}">
        <p14:creationId xmlns:p14="http://schemas.microsoft.com/office/powerpoint/2010/main" val="3583992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4D03D-CCC2-AA42-0675-445838C29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s is itself an estimate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464AF-AFF9-DDEF-311A-D05705D1D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1498600"/>
          </a:xfrm>
        </p:spPr>
        <p:txBody>
          <a:bodyPr>
            <a:noAutofit/>
          </a:bodyPr>
          <a:lstStyle/>
          <a:p>
            <a:r>
              <a:rPr lang="en-US" sz="1700"/>
              <a:t>Every number today describes the one sample you happened to collect. Roll ten more times and all of them move.</a:t>
            </a:r>
          </a:p>
          <a:p>
            <a:r>
              <a:rPr lang="en-US" sz="1700"/>
              <a:t>That movement from sample to sample is called </a:t>
            </a:r>
            <a:r>
              <a:rPr lang="en-US" sz="1700" b="1">
                <a:solidFill>
                  <a:srgbClr val="C00000"/>
                </a:solidFill>
              </a:rPr>
              <a:t>sampling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C2ECB-9BF2-BB53-B9F4-840EFA800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9C58A-2727-2E09-DBC2-04F65A9565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327400"/>
            <a:ext cx="7874000" cy="29095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25523-50B3-8993-4BF5-2A19C849DBEF}"/>
              </a:ext>
            </a:extLst>
          </p:cNvPr>
          <p:cNvSpPr/>
          <p:nvPr/>
        </p:nvSpPr>
        <p:spPr>
          <a:xfrm>
            <a:off x="8636000" y="3327400"/>
            <a:ext cx="3048000" cy="302768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How much does the mean move?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Its standard deviation across</a:t>
            </a:r>
          </a:p>
          <a:p>
            <a:r>
              <a:rPr lang="en-US" sz="1600">
                <a:solidFill>
                  <a:srgbClr val="000000"/>
                </a:solidFill>
              </a:rPr>
              <a:t>repeated samples is called the</a:t>
            </a:r>
          </a:p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  <a:r>
              <a:rPr lang="en-US" sz="1600">
                <a:solidFill>
                  <a:srgbClr val="000000"/>
                </a:solidFill>
              </a:rPr>
              <a:t>: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   SE = s / sqrt(n)</a:t>
            </a:r>
          </a:p>
          <a:p>
            <a:r>
              <a:rPr lang="en-US" sz="1600">
                <a:solidFill>
                  <a:srgbClr val="000000"/>
                </a:solidFill>
              </a:rPr>
              <a:t>      = 1.619 / sqrt(10)</a:t>
            </a:r>
          </a:p>
          <a:p>
            <a:r>
              <a:rPr lang="en-US" sz="1600">
                <a:solidFill>
                  <a:srgbClr val="000000"/>
                </a:solidFill>
              </a:rPr>
              <a:t>      = 0.512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Bigger n, smaller SE.</a:t>
            </a:r>
          </a:p>
        </p:txBody>
      </p:sp>
      <p:sp>
        <p:nvSpPr>
          <p:cNvPr id="8" name="Exam note">
            <a:extLst>
              <a:ext uri="{FF2B5EF4-FFF2-40B4-BE49-F238E27FC236}">
                <a16:creationId xmlns:a16="http://schemas.microsoft.com/office/drawing/2014/main" id="{0E24953C-C874-A0AB-F162-FF6E8F057662}"/>
              </a:ext>
            </a:extLst>
          </p:cNvPr>
          <p:cNvSpPr txBox="1"/>
          <p:nvPr/>
        </p:nvSpPr>
        <p:spPr>
          <a:xfrm>
            <a:off x="508000" y="6299200"/>
            <a:ext cx="11176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Not on Exam 1 - this is the idea behind margin of error, which we pick up in a few weeks.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6E9FC8E-7817-9D5C-CF2A-77826A4D168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22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AFFDAE6-07EF-F240-FB47-63CBA648EFF9}"/>
              </a:ext>
            </a:extLst>
          </p:cNvPr>
          <p:cNvSpPr/>
          <p:nvPr/>
        </p:nvSpPr>
        <p:spPr>
          <a:xfrm>
            <a:off x="635000" y="1689100"/>
            <a:ext cx="10922000" cy="26035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6DC54E-36EA-C284-F513-8BF2B560A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measures do you report?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9F6BD-D8B5-49CB-4FA6-9AD13CAEF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A center on its own does not describe a distribution - it needs a spread beside it, and the two come in matched pairs</a:t>
            </a:r>
          </a:p>
          <a:p>
            <a:pPr lvl="1"/>
            <a:r>
              <a:rPr lang="en-US" sz="1700"/>
              <a:t>the mean and the standard deviation – both use every observation, so both are pulled by an outlier</a:t>
            </a:r>
          </a:p>
          <a:p>
            <a:pPr lvl="1"/>
            <a:r>
              <a:rPr lang="en-US" sz="1700"/>
              <a:t>the median and the IQR – both are positions in the ordered data, so both are resistant</a:t>
            </a:r>
          </a:p>
          <a:p>
            <a:r>
              <a:rPr lang="en-US" sz="1700"/>
              <a:t>A measure is </a:t>
            </a:r>
            <a:r>
              <a:rPr lang="en-US" sz="1700" b="1">
                <a:solidFill>
                  <a:srgbClr val="C00000"/>
                </a:solidFill>
              </a:rPr>
              <a:t>resistant</a:t>
            </a:r>
            <a:r>
              <a:rPr lang="en-US" sz="1700"/>
              <a:t> when a single extreme observation barely moves it</a:t>
            </a:r>
          </a:p>
          <a:p>
            <a:r>
              <a:rPr lang="en-US" sz="1700"/>
              <a:t>Roughly symmetric, no outliers: report the mean and the standard deviation</a:t>
            </a:r>
          </a:p>
          <a:p>
            <a:r>
              <a:rPr lang="en-US" sz="1700"/>
              <a:t>Skewed, or outliers present: report the median and the IQR</a:t>
            </a:r>
          </a:p>
          <a:p>
            <a:r>
              <a:rPr lang="en-US" sz="1700"/>
              <a:t>Do not mix the pair. A mean next to an IQR describes two different things and answers neither question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26255-CADA-670E-CB10-F0F768437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987A3E2-53AF-3426-E80B-DD44A05DFE1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83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69C8D2A2-6474-8E8B-D559-AE57D07AF8F4}"/>
              </a:ext>
            </a:extLst>
          </p:cNvPr>
          <p:cNvSpPr/>
          <p:nvPr/>
        </p:nvSpPr>
        <p:spPr>
          <a:xfrm>
            <a:off x="635000" y="1689100"/>
            <a:ext cx="10922000" cy="26924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5780AF-41C1-BBFD-4168-8D7BD829F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6EEB-ADF6-D15F-65F2-7EFC485A4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064000"/>
          </a:xfrm>
        </p:spPr>
        <p:txBody>
          <a:bodyPr>
            <a:noAutofit/>
          </a:bodyPr>
          <a:lstStyle/>
          <a:p>
            <a:r>
              <a:rPr lang="en-US" sz="1800" b="1">
                <a:solidFill>
                  <a:srgbClr val="C00000"/>
                </a:solidFill>
              </a:rPr>
              <a:t>Five numbers</a:t>
            </a:r>
            <a:r>
              <a:rPr lang="en-US" sz="1800"/>
              <a:t> are enough to sketch a whole distribution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Minimum      Q1      Median      Q3      Maximum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For x = 2, 4, 5, 7, 12:      2      3      5     9.5     12</a:t>
            </a:r>
          </a:p>
          <a:p>
            <a:r>
              <a:rPr lang="en-US" sz="1800"/>
              <a:t>the median gives the center</a:t>
            </a:r>
          </a:p>
          <a:p>
            <a:r>
              <a:rPr lang="en-US" sz="1800"/>
              <a:t>Q1 and Q3 bracket the middle half, and their difference is the IQR</a:t>
            </a:r>
          </a:p>
          <a:p>
            <a:r>
              <a:rPr lang="en-US" sz="1800"/>
              <a:t>the minimum and maximum give the full extent</a:t>
            </a:r>
          </a:p>
          <a:p>
            <a:r>
              <a:rPr lang="en-US" sz="1800"/>
              <a:t>These five numbers are exactly what a boxplot draws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0A63C-253E-1304-CE79-9BD8BA8CE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66AD18A-5DE9-2CD2-37DA-3561776F1EC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437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911437"/>
          </a:xfrm>
        </p:spPr>
        <p:txBody>
          <a:bodyPr>
            <a:noAutofit/>
          </a:bodyPr>
          <a:lstStyle/>
          <a:p>
            <a:r>
              <a:rPr lang="en-US" sz="2600" dirty="0"/>
              <a:t> Pros: </a:t>
            </a:r>
          </a:p>
          <a:p>
            <a:pPr lvl="1"/>
            <a:r>
              <a:rPr lang="en-US" sz="2200" dirty="0"/>
              <a:t>good for describing shape and location</a:t>
            </a:r>
          </a:p>
          <a:p>
            <a:pPr lvl="1"/>
            <a:r>
              <a:rPr lang="en-US" sz="2200" dirty="0"/>
              <a:t>Can be used to identify outliers</a:t>
            </a:r>
          </a:p>
          <a:p>
            <a:pPr lvl="1"/>
            <a:r>
              <a:rPr lang="en-US" sz="2200" dirty="0"/>
              <a:t>Length of whiskers indicates skew</a:t>
            </a:r>
          </a:p>
          <a:p>
            <a:pPr lvl="1"/>
            <a:r>
              <a:rPr lang="en-US" sz="2200" dirty="0"/>
              <a:t>Good for comparing two distributions or across categories</a:t>
            </a:r>
          </a:p>
          <a:p>
            <a:r>
              <a:rPr lang="en-US" sz="2600" dirty="0"/>
              <a:t>Cons: </a:t>
            </a:r>
          </a:p>
          <a:p>
            <a:pPr lvl="1"/>
            <a:r>
              <a:rPr lang="en-US" sz="2200" dirty="0"/>
              <a:t>does not show certain features like mounds, or gaps as well as a histogram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35FB2-D8B7-AAF8-DAEA-A410B5774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6871C-6A7C-FF82-79D1-6EA74E2EBEE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619" y="2722417"/>
            <a:ext cx="6657975" cy="295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401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4974225-2C16-6129-EC36-4FF36DBAA110}"/>
              </a:ext>
            </a:extLst>
          </p:cNvPr>
          <p:cNvSpPr/>
          <p:nvPr/>
        </p:nvSpPr>
        <p:spPr>
          <a:xfrm>
            <a:off x="635000" y="1689100"/>
            <a:ext cx="10922000" cy="347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20540-C008-B7C7-A878-488307013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Identifying outliers: the 1.5 x IQR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57FAC-5E3E-B77A-BFF0-3642EC930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600"/>
              <a:t>We need a rule for "extreme" that does not depend on eyeballing the plot</a:t>
            </a:r>
          </a:p>
          <a:p>
            <a:r>
              <a:rPr lang="en-US" sz="1600"/>
              <a:t>The </a:t>
            </a:r>
            <a:r>
              <a:rPr lang="en-US" sz="1600" b="1">
                <a:solidFill>
                  <a:srgbClr val="C00000"/>
                </a:solidFill>
              </a:rPr>
              <a:t>fences</a:t>
            </a:r>
            <a:r>
              <a:rPr lang="en-US" sz="1600"/>
              <a:t> sit an extra one and a half IQRs beyond the box: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Q1 - 1.5(IQR)          and          Q3 + 1.5(IQR)</a:t>
            </a:r>
          </a:p>
          <a:p>
            <a:r>
              <a:rPr lang="en-US" sz="1600"/>
              <a:t>Any observation outside a fence is an </a:t>
            </a:r>
            <a:r>
              <a:rPr lang="en-US" sz="1600" b="1">
                <a:solidFill>
                  <a:srgbClr val="C00000"/>
                </a:solidFill>
              </a:rPr>
              <a:t>outlier</a:t>
            </a:r>
            <a:r>
              <a:rPr lang="en-US" sz="1600"/>
              <a:t>, and gets plotted as its own point</a:t>
            </a:r>
          </a:p>
          <a:p>
            <a:r>
              <a:rPr lang="en-US" sz="1600"/>
              <a:t>The whiskers then stop at the most extreme observation INSIDE the fences - not at the minimum and maximum</a:t>
            </a:r>
          </a:p>
          <a:p>
            <a:r>
              <a:rPr lang="en-US" sz="1600"/>
              <a:t>The fences themselves are never drawn on the plot</a:t>
            </a:r>
          </a:p>
          <a:p>
            <a:r>
              <a:rPr lang="en-US" sz="1600"/>
              <a:t>Our example: 3 - 1.5(6.5) = -6.75 and 9.5 + 1.5(6.5) = 19.25, so nothing is flagged and the whiskers reach 2 and 12</a:t>
            </a:r>
          </a:p>
          <a:p>
            <a:r>
              <a:rPr lang="en-US" sz="1600"/>
              <a:t>Being flagged does not make an observation wrong. It makes it worth a second look.</a:t>
            </a:r>
          </a:p>
          <a:p>
            <a:r>
              <a:rPr lang="en-US" sz="1600"/>
              <a:t>Careful: R's boxplot() would draw this box at 4 and 7, not 3 and 9.5 - it uses Tukey's hinges, the third row of the table back on slide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FD3F8-B60D-21BF-2F80-611A3F85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E10AAD4-EC77-292E-B471-6128AF2F68F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407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50144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3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19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9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5014496"/>
              </a:xfrm>
              <a:prstGeom prst="rect">
                <a:avLst/>
              </a:prstGeom>
              <a:blipFill>
                <a:blip r:embed="rId2"/>
                <a:stretch>
                  <a:fillRect l="-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7"/>
            <a:ext cx="4783697" cy="119888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C7B98-5A0C-A4DC-7715-7487860F3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815618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B4BA65E-42BC-C3E0-8EF0-D373FC1C12C5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54BA3-3EE4-E355-6CEC-1440F7097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8EF96B-2D5B-6F64-9249-6A4C511401A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B44561-A4CE-7482-1E3D-65C070E9226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25" y="4127500"/>
            <a:ext cx="549275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109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C926376-94AB-9179-7369-7C7C6CDBBBFE}"/>
              </a:ext>
            </a:extLst>
          </p:cNvPr>
          <p:cNvSpPr/>
          <p:nvPr/>
        </p:nvSpPr>
        <p:spPr>
          <a:xfrm>
            <a:off x="635000" y="1676400"/>
            <a:ext cx="10922000" cy="2362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00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sz="1700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Compute the 5 number summary and draw a boxplot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Compare the IQR with the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26FC2-D9C8-EF57-1C53-B6A7F0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E34886-97D6-4A80-E40A-362CCC47BE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2ECD84-5B26-61B8-6473-79FD7C0B50D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26" y="4241800"/>
            <a:ext cx="4932947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35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2A178C-85BE-9C3D-8880-ADF68CEC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604045-066A-0CD2-DEA2-1677E836187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0" y="279400"/>
            <a:ext cx="8890000" cy="5334000"/>
          </a:xfrm>
          <a:prstGeom prst="rect">
            <a:avLst/>
          </a:prstGeom>
        </p:spPr>
      </p:pic>
      <p:sp>
        <p:nvSpPr>
          <p:cNvPr id="5" name="Caption">
            <a:extLst>
              <a:ext uri="{FF2B5EF4-FFF2-40B4-BE49-F238E27FC236}">
                <a16:creationId xmlns:a16="http://schemas.microsoft.com/office/drawing/2014/main" id="{256C2B1F-9D4F-86C8-89D3-EC961C0880D3}"/>
              </a:ext>
            </a:extLst>
          </p:cNvPr>
          <p:cNvSpPr txBox="1"/>
          <p:nvPr/>
        </p:nvSpPr>
        <p:spPr>
          <a:xfrm>
            <a:off x="762000" y="5689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Whisker lengths show skew. But the bimodal panel has the same boxplot as a symmetric one - a boxplot cannot show peaks or gaps, so read it next to a histogram.</a:t>
            </a:r>
          </a:p>
        </p:txBody>
      </p:sp>
    </p:spTree>
    <p:extLst>
      <p:ext uri="{BB962C8B-B14F-4D97-AF65-F5344CB8AC3E}">
        <p14:creationId xmlns:p14="http://schemas.microsoft.com/office/powerpoint/2010/main" val="1961021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1898</Words>
  <Application>Microsoft Office PowerPoint</Application>
  <PresentationFormat>Widescreen</PresentationFormat>
  <Paragraphs>209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Consolas</vt:lpstr>
      <vt:lpstr>Office Theme</vt:lpstr>
      <vt:lpstr>Lecture 6 Measures of Spread</vt:lpstr>
      <vt:lpstr>Review</vt:lpstr>
      <vt:lpstr>A note on quartiles: which definition?</vt:lpstr>
      <vt:lpstr>Why R may give you different quartiles</vt:lpstr>
      <vt:lpstr>Our running example for the rest of today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Measures of Spread: Deviation</vt:lpstr>
      <vt:lpstr>PowerPoint Presentation</vt:lpstr>
      <vt:lpstr>The deviations always sum to zero</vt:lpstr>
      <vt:lpstr>Measures of Spread: Variance</vt:lpstr>
      <vt:lpstr>Measures of Spread: Standard Deviation</vt:lpstr>
      <vt:lpstr>Why divide by n-1 ?</vt:lpstr>
      <vt:lpstr>Try it out: computing the variance and standard deviation</vt:lpstr>
      <vt:lpstr>Your s is itself an estimate</vt:lpstr>
      <vt:lpstr>Which measures do you report?</vt:lpstr>
      <vt:lpstr>The five number summary</vt:lpstr>
      <vt:lpstr>The Boxplot (Box and Whisker Plot): A five number summary</vt:lpstr>
      <vt:lpstr>Identifying outliers: the 1.5 x IQR rule</vt:lpstr>
      <vt:lpstr>Ex. Construct a Boxplot</vt:lpstr>
      <vt:lpstr>Practice: Construct a Boxplot</vt:lpstr>
      <vt:lpstr>Ex2. Construct a Boxplot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343</cp:revision>
  <dcterms:created xsi:type="dcterms:W3CDTF">2023-08-05T23:57:41Z</dcterms:created>
  <dcterms:modified xsi:type="dcterms:W3CDTF">2026-09-09T18:40:07Z</dcterms:modified>
</cp:coreProperties>
</file>