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  <p:sldId id="352" r:id="rId4"/>
    <p:sldId id="303" r:id="rId5"/>
    <p:sldId id="259" r:id="rId6"/>
    <p:sldId id="325" r:id="rId7"/>
    <p:sldId id="346" r:id="rId8"/>
    <p:sldId id="313" r:id="rId9"/>
    <p:sldId id="314" r:id="rId10"/>
    <p:sldId id="315" r:id="rId11"/>
    <p:sldId id="316" r:id="rId12"/>
    <p:sldId id="317" r:id="rId13"/>
    <p:sldId id="283" r:id="rId14"/>
    <p:sldId id="353" r:id="rId15"/>
    <p:sldId id="354" r:id="rId16"/>
    <p:sldId id="349" r:id="rId17"/>
    <p:sldId id="355" r:id="rId18"/>
    <p:sldId id="350" r:id="rId19"/>
    <p:sldId id="351" r:id="rId20"/>
    <p:sldId id="345" r:id="rId21"/>
    <p:sldId id="34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6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Measures of Spread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One huge outlier is added to a dataset. Which moves more, the mean or the median?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C00000"/>
                </a:solidFill>
              </a:rPr>
              <a:t>The mean is pulled toward it. The median barely moves – it only cares about position in the ordered list.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Besides the sum over n, what were the other two ways we wrote the mean?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From a frequency table, and from a relative frequency table. All three give the same number.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does it mean to say a score sits at the 75th percentile?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75 percent of the observations fall at or below that score.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You already have the median. How do you get Q1 and Q3 from it?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Q1 is the median of the lower half, Q3 the median of the upper half – leaving the median itself out of both halves when n is odd.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D65AB-AC18-48E1-99E2-5A8644AB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Review: quartiles of the exam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364FA-DE55-55A2-1C7F-6EAFCE735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778000"/>
            <a:ext cx="5080000" cy="2921000"/>
          </a:xfrm>
        </p:spPr>
        <p:txBody>
          <a:bodyPr>
            <a:normAutofit/>
          </a:bodyPr>
          <a:lstStyle/>
          <a:p>
            <a:r>
              <a:rPr lang="en-US" sz="1600"/>
              <a:t>Last time you were asked for Q1, Q2 and Q3 of these 15 exam scores</a:t>
            </a:r>
          </a:p>
          <a:p>
            <a:pPr lvl="1"/>
            <a:r>
              <a:rPr lang="en-US" sz="1200">
                <a:latin typeface="Consolas" panose="020B0609020204030204" pitchFamily="49" charset="0"/>
              </a:rPr>
              <a:t>61 61 65 65 66 68 69 73 74 75 76 78 79 90 94</a:t>
            </a:r>
          </a:p>
          <a:p>
            <a:r>
              <a:rPr lang="en-US" sz="1600"/>
              <a:t>n is odd, so start at the median and work outward</a:t>
            </a:r>
          </a:p>
          <a:p>
            <a:r>
              <a:rPr lang="en-US" sz="1600"/>
              <a:t>Keep these three numbers - every example today uses them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AC4CF-942E-CBD1-7025-C2DBB20D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05673C-C6A1-96FC-DED2-9467CE00FC25}"/>
              </a:ext>
            </a:extLst>
          </p:cNvPr>
          <p:cNvSpPr/>
          <p:nvPr/>
        </p:nvSpPr>
        <p:spPr>
          <a:xfrm>
            <a:off x="5969000" y="1879600"/>
            <a:ext cx="5715000" cy="2667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r>
              <a:rPr lang="en-US" sz="1300" b="1">
                <a:solidFill>
                  <a:srgbClr val="000000"/>
                </a:solidFill>
              </a:rPr>
              <a:t>Working:</a:t>
            </a:r>
          </a:p>
          <a:p>
            <a:r>
              <a:rPr lang="en-US" sz="1300">
                <a:solidFill>
                  <a:srgbClr val="000000"/>
                </a:solidFill>
              </a:rPr>
              <a:t>  Q2 is the median: with n = 15 that is the 8th value  →  Q2 = 73</a:t>
            </a:r>
          </a:p>
          <a:p>
            <a:endParaRPr lang="en-US" sz="1300">
              <a:solidFill>
                <a:srgbClr val="000000"/>
              </a:solidFill>
            </a:endParaRPr>
          </a:p>
          <a:p>
            <a:r>
              <a:rPr lang="en-US" sz="1300">
                <a:solidFill>
                  <a:srgbClr val="000000"/>
                </a:solidFill>
              </a:rPr>
              <a:t>  lower half   61  61  65  65  66  68  69</a:t>
            </a:r>
          </a:p>
          <a:p>
            <a:r>
              <a:rPr lang="en-US" sz="1300">
                <a:solidFill>
                  <a:srgbClr val="000000"/>
                </a:solidFill>
              </a:rPr>
              <a:t>  its median   →  Q1 = 65</a:t>
            </a:r>
          </a:p>
          <a:p>
            <a:endParaRPr lang="en-US" sz="1300">
              <a:solidFill>
                <a:srgbClr val="000000"/>
              </a:solidFill>
            </a:endParaRPr>
          </a:p>
          <a:p>
            <a:r>
              <a:rPr lang="en-US" sz="1300">
                <a:solidFill>
                  <a:srgbClr val="000000"/>
                </a:solidFill>
              </a:rPr>
              <a:t>  upper half   74  75  76  78  79  90  94</a:t>
            </a:r>
          </a:p>
          <a:p>
            <a:r>
              <a:rPr lang="en-US" sz="1300">
                <a:solidFill>
                  <a:srgbClr val="000000"/>
                </a:solidFill>
              </a:rPr>
              <a:t>  its median   →  Q3 = 78</a:t>
            </a:r>
          </a:p>
          <a:p>
            <a:endParaRPr lang="en-US" sz="1300">
              <a:solidFill>
                <a:srgbClr val="000000"/>
              </a:solidFill>
            </a:endParaRPr>
          </a:p>
          <a:p>
            <a:r>
              <a:rPr lang="en-US" sz="1300">
                <a:solidFill>
                  <a:srgbClr val="000000"/>
                </a:solidFill>
              </a:rPr>
              <a:t>  The median itself belongs to neither half.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065D973E-F3CA-146A-2ED2-A32A47F71F1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7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764E-1650-762B-5308-1049092E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Variability of A Distribution: Measures of Spread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F4481B-DAA2-3B91-063C-97837630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89" y="1771748"/>
            <a:ext cx="8783276" cy="48107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8AD11-2CC4-2AB6-9CE5-DCCB89DA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D83D08-E688-A516-345A-2BA8AFF85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23" y="3687010"/>
            <a:ext cx="5685913" cy="3170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3EFD-680B-07F4-94B1-411EFE5D3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34" y="1825625"/>
            <a:ext cx="5257800" cy="46672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range</a:t>
            </a:r>
            <a:r>
              <a:rPr lang="en-US" dirty="0"/>
              <a:t> is a measure of the distance between the smallest and largest values in the data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The range can be computed with only two data points the minimum value and maximum value</a:t>
            </a:r>
          </a:p>
          <a:p>
            <a:endParaRPr lang="en-US" dirty="0"/>
          </a:p>
          <a:p>
            <a:r>
              <a:rPr lang="en-US" dirty="0"/>
              <a:t>If the range of a set of data is large, then usually this indicates greater dispersion of values</a:t>
            </a:r>
          </a:p>
          <a:p>
            <a:endParaRPr lang="en-US" dirty="0"/>
          </a:p>
          <a:p>
            <a:r>
              <a:rPr lang="en-US" dirty="0"/>
              <a:t>The range is </a:t>
            </a:r>
            <a:r>
              <a:rPr lang="en-US" u="sng" dirty="0"/>
              <a:t>severely</a:t>
            </a:r>
            <a:r>
              <a:rPr lang="en-US" dirty="0"/>
              <a:t> affected by the presence of outliers</a:t>
            </a:r>
          </a:p>
          <a:p>
            <a:endParaRPr lang="en-US" dirty="0"/>
          </a:p>
          <a:p>
            <a:r>
              <a:rPr lang="en-US" dirty="0"/>
              <a:t>We typically </a:t>
            </a:r>
            <a:r>
              <a:rPr lang="en-US" u="sng" dirty="0"/>
              <a:t>do not</a:t>
            </a:r>
            <a:r>
              <a:rPr lang="en-US" dirty="0"/>
              <a:t> use the range to measure variability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44C54-000D-E381-2205-131B79AD8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24" y="942974"/>
            <a:ext cx="5466842" cy="31388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084E88-7278-810D-D713-71E32243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Measures of Spread: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03966-5407-94DA-479C-BB9A9F8F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9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BE8495F7-FD8E-CE47-6FF5-9B67FDC5FFCF}"/>
              </a:ext>
            </a:extLst>
          </p:cNvPr>
          <p:cNvSpPr/>
          <p:nvPr/>
        </p:nvSpPr>
        <p:spPr>
          <a:xfrm>
            <a:off x="635000" y="1676400"/>
            <a:ext cx="10922000" cy="4749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D6BCC-CAB3-F735-AC9E-6A794031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3864"/>
                </a:solidFill>
              </a:rPr>
              <a:t>Measures of Spread: Interquartile Range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E8586-DD23-94D2-D323-FAF1EE2B0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interquartile range (IQR)</a:t>
                </a:r>
                <a:r>
                  <a:rPr lang="en-US" dirty="0"/>
                  <a:t> measures the spread of the middle 50% of the observations </a:t>
                </a:r>
              </a:p>
              <a:p>
                <a:endParaRPr lang="en-US" dirty="0"/>
              </a:p>
              <a:p>
                <a:r>
                  <a:rPr lang="en-US" dirty="0"/>
                  <a:t>It is resistant to outliers</a:t>
                </a:r>
              </a:p>
              <a:p>
                <a:pPr marL="0" indent="0" algn="ctr">
                  <a:buNone/>
                </a:pP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𝑰𝑸𝑹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ctr">
                  <a:buNone/>
                </a:pPr>
                <a:endParaRPr lang="en-US" sz="2400" b="1" dirty="0"/>
              </a:p>
              <a:p>
                <a:r>
                  <a:rPr lang="en-US" sz="2400" dirty="0"/>
                  <a:t>The more variability the larger the value of the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IQR</a:t>
                </a:r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IQR </a:t>
                </a:r>
                <a:r>
                  <a:rPr lang="en-US" sz="2400" dirty="0"/>
                  <a:t>is a good choice for distributions that are highly skewed!</a:t>
                </a:r>
                <a:endParaRPr lang="en-US" sz="2400" b="1" dirty="0"/>
              </a:p>
              <a:p>
                <a:pPr marL="0" indent="0" algn="ctr">
                  <a:buNone/>
                </a:pPr>
                <a:endParaRPr lang="en-US" sz="2400" b="1" dirty="0"/>
              </a:p>
              <a:p>
                <a:endParaRPr lang="en-US" sz="24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E8586-DD23-94D2-D323-FAF1EE2B0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AED4B-7D0B-B025-EFFA-10727BEB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6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6C59B7F6-6EC8-75C4-2EBA-7F43BFA74F9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7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02C0B440-F91E-6F7A-3DFC-2793BD9D70C0}"/>
              </a:ext>
            </a:extLst>
          </p:cNvPr>
          <p:cNvSpPr/>
          <p:nvPr/>
        </p:nvSpPr>
        <p:spPr>
          <a:xfrm>
            <a:off x="635000" y="1676400"/>
            <a:ext cx="10922000" cy="17399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A510B-84BA-0986-946A-7635FB29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Practice: Finding quartiles and IQR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D4BA-5F56-129C-FF6C-FCDB24448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 Scores 61,61,65,65,66,68,69,73,74,75,76,78,79,90,94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Compute the IQR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69AC6-F494-838D-32D6-9D4046F5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7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5E310728-7EBB-3282-A6DF-A2124C2A2A9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4231C2-9BF1-E347-1166-1E5CF11A5F6E}"/>
              </a:ext>
            </a:extLst>
          </p:cNvPr>
          <p:cNvSpPr/>
          <p:nvPr/>
        </p:nvSpPr>
        <p:spPr>
          <a:xfrm>
            <a:off x="1651000" y="3619500"/>
            <a:ext cx="8890000" cy="1473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r>
              <a:rPr lang="en-US" sz="1500" b="1">
                <a:solidFill>
                  <a:srgbClr val="000000"/>
                </a:solidFill>
              </a:rPr>
              <a:t>Working:</a:t>
            </a:r>
          </a:p>
          <a:p>
            <a:r>
              <a:rPr lang="en-US" sz="1500">
                <a:solidFill>
                  <a:srgbClr val="000000"/>
                </a:solidFill>
              </a:rPr>
              <a:t>  Q1 = 65      Q3 = 78          (from the review slide)</a:t>
            </a:r>
          </a:p>
          <a:p>
            <a:r>
              <a:rPr lang="en-US" sz="1500">
                <a:solidFill>
                  <a:srgbClr val="000000"/>
                </a:solidFill>
              </a:rPr>
              <a:t>  IQR = Q3 - Q1 = 78 - 65 = 13</a:t>
            </a:r>
          </a:p>
          <a:p>
            <a:endParaRPr lang="en-US" sz="1500">
              <a:solidFill>
                <a:srgbClr val="000000"/>
              </a:solidFill>
            </a:endParaRPr>
          </a:p>
          <a:p>
            <a:r>
              <a:rPr lang="en-US" sz="1500">
                <a:solidFill>
                  <a:srgbClr val="000000"/>
                </a:solidFill>
              </a:rPr>
              <a:t>The middle half of the class scored within 13 points of one another.</a:t>
            </a:r>
          </a:p>
        </p:txBody>
      </p:sp>
    </p:spTree>
    <p:extLst>
      <p:ext uri="{BB962C8B-B14F-4D97-AF65-F5344CB8AC3E}">
        <p14:creationId xmlns:p14="http://schemas.microsoft.com/office/powerpoint/2010/main" val="17690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2BAC071F-BA2C-5E2E-0CAD-1A176EFD288F}"/>
              </a:ext>
            </a:extLst>
          </p:cNvPr>
          <p:cNvSpPr/>
          <p:nvPr/>
        </p:nvSpPr>
        <p:spPr>
          <a:xfrm>
            <a:off x="635000" y="1676400"/>
            <a:ext cx="10922000" cy="4749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4CF04-6A9A-C024-DDD4-4EA11F99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Measures of Spread: Deviation</a:t>
            </a:r>
            <a:endParaRPr lang="en-US" dirty="0">
              <a:solidFill>
                <a:srgbClr val="1F386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F7291A-45D9-8440-5889-A0D10595CB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679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better measure of variability that uses </a:t>
                </a:r>
                <a:r>
                  <a:rPr lang="en-US" i="1" dirty="0"/>
                  <a:t>all</a:t>
                </a:r>
                <a:r>
                  <a:rPr lang="en-US" dirty="0"/>
                  <a:t> the data is based on </a:t>
                </a:r>
                <a:r>
                  <a:rPr lang="en-US" b="1" dirty="0">
                    <a:solidFill>
                      <a:srgbClr val="C00000"/>
                    </a:solidFill>
                  </a:rPr>
                  <a:t>deviations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deviations</a:t>
                </a:r>
                <a:r>
                  <a:rPr lang="en-US" dirty="0"/>
                  <a:t> are the </a:t>
                </a:r>
                <a:r>
                  <a:rPr lang="en-US" u="sng" dirty="0"/>
                  <a:t>distances</a:t>
                </a:r>
                <a:r>
                  <a:rPr lang="en-US" dirty="0"/>
                  <a:t> of each value from the mean of the data:</a:t>
                </a:r>
              </a:p>
              <a:p>
                <a:pPr marL="914400" lvl="2" indent="0">
                  <a:buNone/>
                </a:pPr>
                <a:r>
                  <a:rPr lang="en-US" sz="2400" b="0" dirty="0"/>
                  <a:t>Deviation of an observation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Every observation will have a deviation from the mean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F7291A-45D9-8440-5889-A0D10595C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67950" cy="4351338"/>
              </a:xfrm>
              <a:blipFill>
                <a:blip r:embed="rId2"/>
                <a:stretch>
                  <a:fillRect l="-106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C464D-2F8C-3618-EE3E-5E66E886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8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6BA83F57-FB71-D7DE-CCA6-B27182313D0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8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D4BAC8-DF07-082E-EBA7-3A6128B34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48882"/>
            <a:ext cx="10306050" cy="57439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56D99A-7249-27F8-2F8D-EA0FC4B870BA}"/>
              </a:ext>
            </a:extLst>
          </p:cNvPr>
          <p:cNvSpPr txBox="1"/>
          <p:nvPr/>
        </p:nvSpPr>
        <p:spPr>
          <a:xfrm>
            <a:off x="8899976" y="538404"/>
            <a:ext cx="2632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Rice </a:t>
            </a:r>
            <a:r>
              <a:rPr lang="en-US" sz="2000" b="1" dirty="0" err="1">
                <a:solidFill>
                  <a:srgbClr val="0070C0"/>
                </a:solidFill>
              </a:rPr>
              <a:t>Krispes</a:t>
            </a:r>
            <a:r>
              <a:rPr lang="en-US" sz="2000" b="1" dirty="0">
                <a:solidFill>
                  <a:srgbClr val="0070C0"/>
                </a:solidFill>
              </a:rPr>
              <a:t> = 340 (mg)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554AD-23CC-6BD4-2F40-8A6ED06437AB}"/>
              </a:ext>
            </a:extLst>
          </p:cNvPr>
          <p:cNvSpPr txBox="1"/>
          <p:nvPr/>
        </p:nvSpPr>
        <p:spPr>
          <a:xfrm>
            <a:off x="4998805" y="443992"/>
            <a:ext cx="1984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Mean = 167 (mg)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A4E7E84C-0911-1392-D0D5-DA31D45F4D32}"/>
              </a:ext>
            </a:extLst>
          </p:cNvPr>
          <p:cNvSpPr/>
          <p:nvPr/>
        </p:nvSpPr>
        <p:spPr>
          <a:xfrm rot="16200000">
            <a:off x="8100087" y="738701"/>
            <a:ext cx="249796" cy="4257966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572141-56E1-D65C-762A-8EB6762F1B7E}"/>
              </a:ext>
            </a:extLst>
          </p:cNvPr>
          <p:cNvCxnSpPr>
            <a:cxnSpLocks/>
          </p:cNvCxnSpPr>
          <p:nvPr/>
        </p:nvCxnSpPr>
        <p:spPr>
          <a:xfrm>
            <a:off x="10420350" y="844102"/>
            <a:ext cx="0" cy="450317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182893-F575-370F-93FD-AABD46DB5B34}"/>
                  </a:ext>
                </a:extLst>
              </p:cNvPr>
              <p:cNvSpPr txBox="1"/>
              <p:nvPr/>
            </p:nvSpPr>
            <p:spPr>
              <a:xfrm>
                <a:off x="7328629" y="2282563"/>
                <a:ext cx="20726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340 −167=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𝟏𝟕𝟑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182893-F575-370F-93FD-AABD46DB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629" y="2282563"/>
                <a:ext cx="2072682" cy="307777"/>
              </a:xfrm>
              <a:prstGeom prst="rect">
                <a:avLst/>
              </a:prstGeom>
              <a:blipFill>
                <a:blip r:embed="rId3"/>
                <a:stretch>
                  <a:fillRect l="-2353" r="-264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A10761-3E76-A720-4A01-BCEED23A554E}"/>
              </a:ext>
            </a:extLst>
          </p:cNvPr>
          <p:cNvCxnSpPr>
            <a:cxnSpLocks/>
          </p:cNvCxnSpPr>
          <p:nvPr/>
        </p:nvCxnSpPr>
        <p:spPr>
          <a:xfrm>
            <a:off x="1816678" y="844102"/>
            <a:ext cx="0" cy="4503175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28DDED-55BC-DD33-5745-B9634F33AA7B}"/>
              </a:ext>
            </a:extLst>
          </p:cNvPr>
          <p:cNvSpPr txBox="1"/>
          <p:nvPr/>
        </p:nvSpPr>
        <p:spPr>
          <a:xfrm>
            <a:off x="378598" y="338349"/>
            <a:ext cx="3319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Frosted Mini Wheats = 0 (mg)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F14E752A-1AFD-2EE1-5241-D58BCCB24693}"/>
              </a:ext>
            </a:extLst>
          </p:cNvPr>
          <p:cNvSpPr/>
          <p:nvPr/>
        </p:nvSpPr>
        <p:spPr>
          <a:xfrm rot="16200000">
            <a:off x="3787077" y="-99858"/>
            <a:ext cx="239373" cy="4168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312EA1-A247-DCFB-9E28-98A481EE5EBD}"/>
                  </a:ext>
                </a:extLst>
              </p:cNvPr>
              <p:cNvSpPr txBox="1"/>
              <p:nvPr/>
            </p:nvSpPr>
            <p:spPr>
              <a:xfrm>
                <a:off x="3084520" y="1485666"/>
                <a:ext cx="19797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0 −167=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𝟏𝟔𝟕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312EA1-A247-DCFB-9E28-98A481EE5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520" y="1485666"/>
                <a:ext cx="1979709" cy="307777"/>
              </a:xfrm>
              <a:prstGeom prst="rect">
                <a:avLst/>
              </a:prstGeom>
              <a:blipFill>
                <a:blip r:embed="rId4"/>
                <a:stretch>
                  <a:fillRect l="-2769" r="-215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1622FF-13C1-B17C-CD0D-D92F5A24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ADA239E0-422E-62C2-D03D-DCFDFA55E2C8}"/>
              </a:ext>
            </a:extLst>
          </p:cNvPr>
          <p:cNvSpPr/>
          <p:nvPr/>
        </p:nvSpPr>
        <p:spPr>
          <a:xfrm>
            <a:off x="635000" y="1676400"/>
            <a:ext cx="10922000" cy="4368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1D9B-D3D0-4DD3-432B-B05376CC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Measures of Spread: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4D4B1-FB15-A405-14E1-A713E04E3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sum of all deviations is zero.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typically use either the </a:t>
                </a:r>
                <a:r>
                  <a:rPr lang="en-US" b="1" dirty="0">
                    <a:solidFill>
                      <a:srgbClr val="C00000"/>
                    </a:solidFill>
                  </a:rPr>
                  <a:t>squared deviations</a:t>
                </a:r>
                <a:r>
                  <a:rPr lang="en-US" dirty="0"/>
                  <a:t> or their </a:t>
                </a:r>
                <a:r>
                  <a:rPr lang="en-US" b="1" dirty="0">
                    <a:solidFill>
                      <a:srgbClr val="C00000"/>
                    </a:solidFill>
                  </a:rPr>
                  <a:t>absolute value</a:t>
                </a:r>
              </a:p>
              <a:p>
                <a:pPr marL="914400" lvl="2" indent="0">
                  <a:buNone/>
                </a:pPr>
                <a:r>
                  <a:rPr lang="en-US" sz="2400" dirty="0"/>
                  <a:t>Squared deviation of an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Variance </a:t>
                </a:r>
                <a:r>
                  <a:rPr lang="en-US" dirty="0"/>
                  <a:t>of a distribution is the </a:t>
                </a:r>
                <a:r>
                  <a:rPr lang="en-US" u="sng" dirty="0"/>
                  <a:t>average</a:t>
                </a:r>
                <a:r>
                  <a:rPr lang="en-US" dirty="0"/>
                  <a:t> squared deviation from the mean</a:t>
                </a:r>
              </a:p>
              <a:p>
                <a:pPr marL="1828800" lvl="4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dirty="0"/>
              </a:p>
              <a:p>
                <a:r>
                  <a:rPr lang="en-US" sz="2600" dirty="0"/>
                  <a:t>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6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600" dirty="0"/>
                  <a:t> is called the sum of squares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4D4B1-FB15-A405-14E1-A713E04E3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80644-5A7D-5117-2E8F-7FDCB089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23D7432A-DD44-AE9D-5929-8975DDC7167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 card">
            <a:extLst>
              <a:ext uri="{FF2B5EF4-FFF2-40B4-BE49-F238E27FC236}">
                <a16:creationId xmlns:a16="http://schemas.microsoft.com/office/drawing/2014/main" id="{32716F67-54E6-4EF2-C210-3CB90EEDFEBB}"/>
              </a:ext>
            </a:extLst>
          </p:cNvPr>
          <p:cNvSpPr/>
          <p:nvPr/>
        </p:nvSpPr>
        <p:spPr>
          <a:xfrm>
            <a:off x="635000" y="1397000"/>
            <a:ext cx="10922000" cy="50292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59E61-7A67-5D11-4320-1B5FFC92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>
                <a:solidFill>
                  <a:srgbClr val="1F3864"/>
                </a:solidFill>
              </a:rPr>
              <a:t>Measures of Spread: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1D609-D493-78C3-4B57-D24A155F0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8533"/>
                <a:ext cx="10515600" cy="493539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Since the variance uses the squared deviation, we usually take its square root called the </a:t>
                </a:r>
                <a:r>
                  <a:rPr lang="en-US" b="1" dirty="0">
                    <a:solidFill>
                      <a:srgbClr val="C00000"/>
                    </a:solidFill>
                  </a:rPr>
                  <a:t>standard deviation</a:t>
                </a:r>
              </a:p>
              <a:p>
                <a:endParaRPr lang="en-US" b="1" dirty="0">
                  <a:solidFill>
                    <a:srgbClr val="C00000"/>
                  </a:solidFill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r>
                  <a:rPr lang="en-US" dirty="0"/>
                  <a:t>The standard deviation represents (roughly) the average distance of an observation from the mean </a:t>
                </a:r>
              </a:p>
              <a:p>
                <a:endParaRPr lang="en-US" dirty="0"/>
              </a:p>
              <a:p>
                <a:r>
                  <a:rPr lang="en-US" dirty="0"/>
                  <a:t>The greater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is the greater the variability in the data is</a:t>
                </a:r>
              </a:p>
              <a:p>
                <a:endParaRPr lang="en-US" dirty="0"/>
              </a:p>
              <a:p>
                <a:r>
                  <a:rPr lang="en-US" dirty="0"/>
                  <a:t>We denote the population parameter for the variance and standard deviation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1D609-D493-78C3-4B57-D24A155F0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8533"/>
                <a:ext cx="10515600" cy="4935393"/>
              </a:xfrm>
              <a:blipFill>
                <a:blip r:embed="rId2"/>
                <a:stretch>
                  <a:fillRect l="-812" t="-2840" b="-1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9AC86-B215-32AD-CECC-47522CC4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58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7E7EEE50-9936-2C88-2AE4-3B761902A19A}"/>
              </a:ext>
            </a:extLst>
          </p:cNvPr>
          <p:cNvSpPr/>
          <p:nvPr/>
        </p:nvSpPr>
        <p:spPr>
          <a:xfrm>
            <a:off x="635000" y="1676400"/>
            <a:ext cx="10922000" cy="42291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D5E1B0-DD07-8EDA-1858-2D2EA2B4B3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1F3864"/>
                    </a:solidFill>
                  </a:rPr>
                  <a:t>Why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1F3864"/>
                    </a:solidFill>
                  </a:rPr>
                  <a:t> 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D5E1B0-DD07-8EDA-1858-2D2EA2B4B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4BF34-A2FA-6993-0CE4-3573B865F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because we have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pieces of independent information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Since the sum of the deviations must add to zero, then if we know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deviations we can always figure out the last one</a:t>
                </a:r>
              </a:p>
              <a:p>
                <a:endParaRPr lang="en-US" dirty="0"/>
              </a:p>
              <a:p>
                <a:r>
                  <a:rPr lang="en-US" dirty="0"/>
                  <a:t>Ex.) suppose we have two data points and deviation of the first data point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Then the deviation of the second data point </a:t>
                </a:r>
                <a:r>
                  <a:rPr lang="en-US" u="sng" dirty="0"/>
                  <a:t>has</a:t>
                </a:r>
                <a:r>
                  <a:rPr lang="en-US" dirty="0"/>
                  <a:t> to be 5 for the sum of deviations to be zero.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4BF34-A2FA-6993-0CE4-3573B865F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0D4E2-DF09-B131-AB19-D6E73490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E4346553-408C-AAA9-A308-0A74A79B30F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02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rgbClr val="1F3864"/>
                </a:solidFill>
                <a:latin typeface="+mj-lt"/>
                <a:ea typeface="+mj-ea"/>
                <a:cs typeface="+mj-cs"/>
              </a:rPr>
              <a:t>Try it out: computing the variance and standard deviation</a:t>
            </a:r>
            <a:endParaRPr lang="en-US" sz="4000" kern="1200" dirty="0">
              <a:solidFill>
                <a:srgbClr val="1F3864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2686323"/>
                <a:ext cx="4783697" cy="34335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Roll a six-sided die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times and record the number rolled each time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 = 1,2,3,3,4,4,4,5,6,6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 = 3.8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686323"/>
                <a:ext cx="4783697" cy="3433583"/>
              </a:xfrm>
              <a:prstGeom prst="rect">
                <a:avLst/>
              </a:prstGeom>
              <a:blipFill>
                <a:blip r:embed="rId3"/>
                <a:stretch>
                  <a:fillRect l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Beer die - EUSwiki">
            <a:extLst>
              <a:ext uri="{FF2B5EF4-FFF2-40B4-BE49-F238E27FC236}">
                <a16:creationId xmlns:a16="http://schemas.microsoft.com/office/drawing/2014/main" id="{98F16938-2ED7-9FB6-1FC2-1BF322196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6159" y="2927927"/>
            <a:ext cx="3077639" cy="312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818292-3AE6-B7AB-CA1F-D0F51642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A4ECCE-C3BC-86FB-5CA6-D3E2D332D1D2}"/>
              </a:ext>
            </a:extLst>
          </p:cNvPr>
          <p:cNvSpPr/>
          <p:nvPr/>
        </p:nvSpPr>
        <p:spPr>
          <a:xfrm>
            <a:off x="5969000" y="1905000"/>
            <a:ext cx="5715000" cy="29845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r>
              <a:rPr lang="en-US" sz="1250" b="1">
                <a:solidFill>
                  <a:srgbClr val="000000"/>
                </a:solidFill>
              </a:rPr>
              <a:t>Working:</a:t>
            </a:r>
          </a:p>
          <a:p>
            <a:r>
              <a:rPr lang="en-US" sz="1250">
                <a:solidFill>
                  <a:srgbClr val="000000"/>
                </a:solidFill>
              </a:rPr>
              <a:t>  deviations   -2.8  -1.8  -0.8  -0.8  0.2  0.2  0.2  1.2  2.2  2.2</a:t>
            </a:r>
          </a:p>
          <a:p>
            <a:r>
              <a:rPr lang="en-US" sz="1250">
                <a:solidFill>
                  <a:srgbClr val="000000"/>
                </a:solidFill>
              </a:rPr>
              <a:t>  (they sum to 0, as they always must)</a:t>
            </a:r>
          </a:p>
          <a:p>
            <a:endParaRPr lang="en-US" sz="1250">
              <a:solidFill>
                <a:srgbClr val="000000"/>
              </a:solidFill>
            </a:endParaRPr>
          </a:p>
          <a:p>
            <a:r>
              <a:rPr lang="en-US" sz="1250">
                <a:solidFill>
                  <a:srgbClr val="000000"/>
                </a:solidFill>
              </a:rPr>
              <a:t>  squared      7.84  3.24  0.64  0.64  0.04  0.04  0.04  1.44  4.84  4.84</a:t>
            </a:r>
          </a:p>
          <a:p>
            <a:r>
              <a:rPr lang="en-US" sz="1250">
                <a:solidFill>
                  <a:srgbClr val="000000"/>
                </a:solidFill>
              </a:rPr>
              <a:t>  sum of squares = 23.6</a:t>
            </a:r>
          </a:p>
          <a:p>
            <a:endParaRPr lang="en-US" sz="1250">
              <a:solidFill>
                <a:srgbClr val="000000"/>
              </a:solidFill>
            </a:endParaRPr>
          </a:p>
          <a:p>
            <a:r>
              <a:rPr lang="en-US" sz="1250">
                <a:solidFill>
                  <a:srgbClr val="000000"/>
                </a:solidFill>
              </a:rPr>
              <a:t>  s² = 23.6 / (10 - 1) = 2.622</a:t>
            </a:r>
          </a:p>
          <a:p>
            <a:r>
              <a:rPr lang="en-US" sz="1250">
                <a:solidFill>
                  <a:srgbClr val="000000"/>
                </a:solidFill>
              </a:rPr>
              <a:t>  s  = sqrt(2.622) = 1.619</a:t>
            </a:r>
          </a:p>
          <a:p>
            <a:endParaRPr lang="en-US" sz="1250">
              <a:solidFill>
                <a:srgbClr val="000000"/>
              </a:solidFill>
            </a:endParaRPr>
          </a:p>
          <a:p>
            <a:r>
              <a:rPr lang="en-US" sz="1250">
                <a:solidFill>
                  <a:srgbClr val="000000"/>
                </a:solidFill>
              </a:rPr>
              <a:t>  s is back in pips; s² is in pips squared.</a:t>
            </a:r>
          </a:p>
        </p:txBody>
      </p:sp>
    </p:spTree>
    <p:extLst>
      <p:ext uri="{BB962C8B-B14F-4D97-AF65-F5344CB8AC3E}">
        <p14:creationId xmlns:p14="http://schemas.microsoft.com/office/powerpoint/2010/main" val="358399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9113F6E2-DF09-C6EA-90E1-A2240806A4DB}"/>
              </a:ext>
            </a:extLst>
          </p:cNvPr>
          <p:cNvSpPr/>
          <p:nvPr/>
        </p:nvSpPr>
        <p:spPr>
          <a:xfrm>
            <a:off x="635000" y="1689100"/>
            <a:ext cx="10922000" cy="26035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1AA2A-6063-01D5-5603-22D80700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Which measures do you report?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B2C9-13C0-3805-B4F7-563CE3194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191000"/>
          </a:xfrm>
        </p:spPr>
        <p:txBody>
          <a:bodyPr>
            <a:normAutofit/>
          </a:bodyPr>
          <a:lstStyle/>
          <a:p>
            <a:r>
              <a:rPr lang="en-US" sz="1700"/>
              <a:t>A center on its own does not describe a distribution - it needs a spread beside it, and the two come in matched pairs</a:t>
            </a:r>
          </a:p>
          <a:p>
            <a:pPr lvl="1"/>
            <a:r>
              <a:rPr lang="en-US" sz="1700"/>
              <a:t>the mean and the standard deviation – both use every observation, so both are pulled by an outlier</a:t>
            </a:r>
          </a:p>
          <a:p>
            <a:pPr lvl="1"/>
            <a:r>
              <a:rPr lang="en-US" sz="1700"/>
              <a:t>the median and the IQR – both are positions in the ordered data, so both are resistant</a:t>
            </a:r>
          </a:p>
          <a:p>
            <a:r>
              <a:rPr lang="en-US" sz="1700"/>
              <a:t>A measure is </a:t>
            </a:r>
            <a:r>
              <a:rPr lang="en-US" sz="1700" b="1">
                <a:solidFill>
                  <a:srgbClr val="C00000"/>
                </a:solidFill>
              </a:rPr>
              <a:t>resistant</a:t>
            </a:r>
            <a:r>
              <a:rPr lang="en-US" sz="1700"/>
              <a:t> when a single extreme observation barely moves it</a:t>
            </a:r>
          </a:p>
          <a:p>
            <a:r>
              <a:rPr lang="en-US" sz="1700"/>
              <a:t>Roughly symmetric, no outliers: report the mean and the standard deviation</a:t>
            </a:r>
          </a:p>
          <a:p>
            <a:r>
              <a:rPr lang="en-US" sz="1700"/>
              <a:t>Skewed, or outliers present: report the median and the IQR</a:t>
            </a:r>
          </a:p>
          <a:p>
            <a:r>
              <a:rPr lang="en-US" sz="1700"/>
              <a:t>Do not mix the pair. A mean next to an IQR describes two different things and answers neither question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E704C-338B-6BD9-4E4E-15C85171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3C6562C3-1751-03E5-D811-8E2D36CEBE3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8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549AFACD-4123-C1AC-7B1E-F9F86EF3B69F}"/>
              </a:ext>
            </a:extLst>
          </p:cNvPr>
          <p:cNvSpPr/>
          <p:nvPr/>
        </p:nvSpPr>
        <p:spPr>
          <a:xfrm>
            <a:off x="635000" y="1689100"/>
            <a:ext cx="10922000" cy="26924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14B07-0201-95AD-6A76-F19B971B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The five number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A18D-F96B-1C4B-EEE3-9771D39FF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064000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C00000"/>
                </a:solidFill>
              </a:rPr>
              <a:t>Five numbers</a:t>
            </a:r>
            <a:r>
              <a:rPr lang="en-US" sz="1800"/>
              <a:t> are enough to sketch a whole distribution</a:t>
            </a:r>
          </a:p>
          <a:p>
            <a:pPr lvl="1"/>
            <a:r>
              <a:rPr lang="en-US" sz="1800" b="1">
                <a:latin typeface="Consolas" panose="020B0609020204030204" pitchFamily="49" charset="0"/>
              </a:rPr>
              <a:t>Minimum      Q1      Median      Q3      Maximum</a:t>
            </a:r>
          </a:p>
          <a:p>
            <a:pPr lvl="1"/>
            <a:r>
              <a:rPr lang="en-US" sz="1800" b="1">
                <a:latin typeface="Consolas" panose="020B0609020204030204" pitchFamily="49" charset="0"/>
              </a:rPr>
              <a:t>For the 15 exam scores:   61    65    73    78    94</a:t>
            </a:r>
          </a:p>
          <a:p>
            <a:r>
              <a:rPr lang="en-US" sz="1800"/>
              <a:t>the median gives the center</a:t>
            </a:r>
          </a:p>
          <a:p>
            <a:r>
              <a:rPr lang="en-US" sz="1800"/>
              <a:t>Q1 and Q3 bracket the middle half, and their difference is the IQR</a:t>
            </a:r>
          </a:p>
          <a:p>
            <a:r>
              <a:rPr lang="en-US" sz="1800"/>
              <a:t>the minimum and maximum give the full extent</a:t>
            </a:r>
          </a:p>
          <a:p>
            <a:r>
              <a:rPr lang="en-US" sz="1800"/>
              <a:t>These five numbers are exactly what a boxplot draws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24169-1992-7A33-5161-510B6039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DB53CF64-5FC5-C359-E05F-0E9BF70B584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A028-A7CA-27E1-ACC7-31804B9B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1F3864"/>
                </a:solidFill>
              </a:rPr>
              <a:t>The Boxplot (Box and Whisker Plot): A five number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0CDBC-1066-FD3E-EAC4-1CD68D780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63"/>
            <a:ext cx="4448175" cy="4662199"/>
          </a:xfrm>
        </p:spPr>
        <p:txBody>
          <a:bodyPr>
            <a:normAutofit fontScale="92500"/>
          </a:bodyPr>
          <a:lstStyle/>
          <a:p>
            <a:r>
              <a:rPr lang="en-US" dirty="0"/>
              <a:t> Pros: </a:t>
            </a:r>
          </a:p>
          <a:p>
            <a:pPr lvl="1"/>
            <a:r>
              <a:rPr lang="en-US" dirty="0"/>
              <a:t>good for describing shape and location</a:t>
            </a:r>
          </a:p>
          <a:p>
            <a:pPr lvl="1"/>
            <a:r>
              <a:rPr lang="en-US" dirty="0"/>
              <a:t>Can be used to identify outliers</a:t>
            </a:r>
          </a:p>
          <a:p>
            <a:pPr lvl="1"/>
            <a:r>
              <a:rPr lang="en-US" dirty="0"/>
              <a:t>Length of whiskers indicates skew</a:t>
            </a:r>
          </a:p>
          <a:p>
            <a:pPr lvl="1"/>
            <a:r>
              <a:rPr lang="en-US" dirty="0"/>
              <a:t>Good for comparing two distributions or across categories</a:t>
            </a:r>
          </a:p>
          <a:p>
            <a:r>
              <a:rPr lang="en-US" dirty="0"/>
              <a:t>Cons: </a:t>
            </a:r>
          </a:p>
          <a:p>
            <a:pPr lvl="1"/>
            <a:r>
              <a:rPr lang="en-US" dirty="0"/>
              <a:t>does not show certain features like mounds, or gaps as well as a histogram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35FB2-D8B7-AAF8-DAEA-A410B577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DE09A-D33C-B47F-4D61-10E71A1EFE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19" y="2722417"/>
            <a:ext cx="6657975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0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A9C5ED71-53BC-B834-EB1C-936F1F67D474}"/>
              </a:ext>
            </a:extLst>
          </p:cNvPr>
          <p:cNvSpPr/>
          <p:nvPr/>
        </p:nvSpPr>
        <p:spPr>
          <a:xfrm>
            <a:off x="635000" y="1689100"/>
            <a:ext cx="10922000" cy="29083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4B5F2-EEE1-68D6-C89E-9D5B89A1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Identifying outliers: the 1.5 x IQR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D217-D45F-D3D7-0C2B-1CA141605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191000"/>
          </a:xfrm>
        </p:spPr>
        <p:txBody>
          <a:bodyPr>
            <a:normAutofit/>
          </a:bodyPr>
          <a:lstStyle/>
          <a:p>
            <a:r>
              <a:rPr lang="en-US" sz="1600"/>
              <a:t>We need a rule for "extreme" that does not depend on eyeballing the plot</a:t>
            </a:r>
          </a:p>
          <a:p>
            <a:r>
              <a:rPr lang="en-US" sz="1600"/>
              <a:t>The </a:t>
            </a:r>
            <a:r>
              <a:rPr lang="en-US" sz="1600" b="1">
                <a:solidFill>
                  <a:srgbClr val="C00000"/>
                </a:solidFill>
              </a:rPr>
              <a:t>fences</a:t>
            </a:r>
            <a:r>
              <a:rPr lang="en-US" sz="1600"/>
              <a:t> sit an extra one and a half IQRs beyond the box:</a:t>
            </a:r>
          </a:p>
          <a:p>
            <a:pPr lvl="1"/>
            <a:r>
              <a:rPr lang="en-US" sz="1600" b="1">
                <a:latin typeface="Consolas" panose="020B0609020204030204" pitchFamily="49" charset="0"/>
              </a:rPr>
              <a:t>Q1 - 1.5(IQR)          and          Q3 + 1.5(IQR)</a:t>
            </a:r>
          </a:p>
          <a:p>
            <a:r>
              <a:rPr lang="en-US" sz="1600"/>
              <a:t>Any observation outside a fence is an </a:t>
            </a:r>
            <a:r>
              <a:rPr lang="en-US" sz="1600" b="1">
                <a:solidFill>
                  <a:srgbClr val="C00000"/>
                </a:solidFill>
              </a:rPr>
              <a:t>outlier</a:t>
            </a:r>
            <a:r>
              <a:rPr lang="en-US" sz="1600"/>
              <a:t>, and gets plotted as its own point</a:t>
            </a:r>
          </a:p>
          <a:p>
            <a:r>
              <a:rPr lang="en-US" sz="1600"/>
              <a:t>The whiskers then stop at the most extreme observation INSIDE the fences - not at the minimum and maximum</a:t>
            </a:r>
          </a:p>
          <a:p>
            <a:r>
              <a:rPr lang="en-US" sz="1600"/>
              <a:t>The fences themselves are never drawn on the plot</a:t>
            </a:r>
          </a:p>
          <a:p>
            <a:r>
              <a:rPr lang="en-US" sz="1600"/>
              <a:t>Exam scores: 65 - 1.5(13) = 45.5 and 78 + 1.5(13) = 97.5, so nothing is flagged and the whiskers reach 61 and 94</a:t>
            </a:r>
          </a:p>
          <a:p>
            <a:r>
              <a:rPr lang="en-US" sz="1600"/>
              <a:t>Being flagged does not make an observation wrong. It makes it worth a second look.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BD27-0A86-020A-2897-7DBED60E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6D78C4F2-514F-FDA1-6C95-F50C318CD5B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88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411704"/>
                <a:ext cx="10393219" cy="47951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Consider the following data which come from 20 rolls of a six-sided die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lower half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middle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half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 = 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1, 1, 1, 2, </a:t>
                </a:r>
                <a:r>
                  <a:rPr kumimoji="0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2, 2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2, 2, 2, </a:t>
                </a:r>
                <a:r>
                  <a:rPr kumimoji="0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2, 3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3, 3, 3, </a:t>
                </a:r>
                <a:r>
                  <a:rPr kumimoji="0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4, 5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5, 6, 6, 6</a:t>
                </a:r>
              </a:p>
              <a:p>
                <a:pPr marL="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en-US" sz="2400" dirty="0">
                    <a:solidFill>
                      <a:srgbClr val="00B050"/>
                    </a:solidFill>
                    <a:latin typeface="Calibri" panose="020F0502020204030204"/>
                  </a:rPr>
                  <a:t>Q2 = median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2+3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Q1 = median lower half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2+2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Q3 = median upper half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4+5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=4.5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933D906-CF81-5AD4-2902-D9DD0E0E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11704"/>
                <a:ext cx="10393219" cy="4795132"/>
              </a:xfrm>
              <a:prstGeom prst="rect">
                <a:avLst/>
              </a:prstGeom>
              <a:blipFill>
                <a:blip r:embed="rId2"/>
                <a:stretch>
                  <a:fillRect l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61818"/>
            <a:ext cx="4783697" cy="106752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rgbClr val="1F3864"/>
                </a:solidFill>
                <a:latin typeface="+mj-lt"/>
                <a:ea typeface="+mj-ea"/>
                <a:cs typeface="+mj-cs"/>
              </a:rPr>
              <a:t>Ex. </a:t>
            </a:r>
            <a:r>
              <a:rPr lang="en-US" sz="4000" dirty="0">
                <a:solidFill>
                  <a:srgbClr val="1F3864"/>
                </a:solidFill>
              </a:rPr>
              <a:t>Construct a Boxplot</a:t>
            </a:r>
            <a:endParaRPr lang="en-US" sz="4000" kern="1200" dirty="0">
              <a:solidFill>
                <a:srgbClr val="1F3864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83090-59E8-EFFB-3135-1672E48B6474}"/>
              </a:ext>
            </a:extLst>
          </p:cNvPr>
          <p:cNvSpPr/>
          <p:nvPr/>
        </p:nvSpPr>
        <p:spPr>
          <a:xfrm>
            <a:off x="1939636" y="3066473"/>
            <a:ext cx="3519055" cy="48029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39C5B-257E-372D-3412-85E2D621D863}"/>
              </a:ext>
            </a:extLst>
          </p:cNvPr>
          <p:cNvSpPr/>
          <p:nvPr/>
        </p:nvSpPr>
        <p:spPr>
          <a:xfrm>
            <a:off x="5458691" y="3066473"/>
            <a:ext cx="3519055" cy="480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C7B98-5A0C-A4DC-7715-7487860F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1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CB4BA65E-42BC-C3E0-8EF0-D373FC1C12C5}"/>
              </a:ext>
            </a:extLst>
          </p:cNvPr>
          <p:cNvSpPr/>
          <p:nvPr/>
        </p:nvSpPr>
        <p:spPr>
          <a:xfrm>
            <a:off x="635000" y="1676400"/>
            <a:ext cx="10922000" cy="22479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DEDB4-D308-EF0A-43A7-3BA893E1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Practice: Construct a Boxplot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843BF-7D1D-9153-A164-BE2AA5E36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the boxplot for student exam scores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 Scores 61,61,65,65,66,68,69,73,74,75,76,78,79,90,94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4BA3-3EE4-E355-6CEC-1440F709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3C8EF96B-2D5B-6F64-9249-6A4C511401A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0133AA-DB86-A393-7915-53EBC741BC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5" y="4127500"/>
            <a:ext cx="549275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0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CC926376-94AB-9179-7369-7C7C6CDBBBFE}"/>
              </a:ext>
            </a:extLst>
          </p:cNvPr>
          <p:cNvSpPr/>
          <p:nvPr/>
        </p:nvSpPr>
        <p:spPr>
          <a:xfrm>
            <a:off x="635000" y="1676400"/>
            <a:ext cx="10922000" cy="23622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B69AC-9E45-9EA9-B899-B3797D5B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rgbClr val="1F3864"/>
                </a:solidFill>
                <a:latin typeface="+mj-lt"/>
                <a:ea typeface="+mj-ea"/>
                <a:cs typeface="+mj-cs"/>
              </a:rPr>
              <a:t>Ex2. </a:t>
            </a:r>
            <a:r>
              <a:rPr lang="en-US" sz="4400" dirty="0">
                <a:solidFill>
                  <a:srgbClr val="1F3864"/>
                </a:solidFill>
              </a:rPr>
              <a:t>Construct a Boxplot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9D6F1-D1E4-EA2F-1694-74768E613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Consider the following 12 observations of a quantitative variable X</a:t>
            </a:r>
          </a:p>
          <a:p>
            <a:pPr marL="0" indent="0">
              <a:buNone/>
            </a:pPr>
            <a:r>
              <a:rPr lang="en-US" sz="1700" dirty="0"/>
              <a:t>X = { -5.7, -2.6, -1.5, -1.3, -0.4, 0.2, 1.5, 2.2, 2.3, 2.6, 2.9, 10.4 }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Compute the 5 number summary and draw a boxplot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Compare the IQR with the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26FC2-D9C8-EF57-1C53-B6A7F0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3CE34886-97D6-4A80-E40A-362CCC47BE2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B368A0-879F-F615-93D8-FF02833810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526" y="4241800"/>
            <a:ext cx="4932947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2A178C-85BE-9C3D-8880-ADF68CEC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4B5B-8912-4E2B-3E31-B4055279F3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279400"/>
            <a:ext cx="8890000" cy="53340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59989E8E-8917-D55E-E723-FFA04A2EB3A4}"/>
              </a:ext>
            </a:extLst>
          </p:cNvPr>
          <p:cNvSpPr txBox="1"/>
          <p:nvPr/>
        </p:nvSpPr>
        <p:spPr>
          <a:xfrm>
            <a:off x="762000" y="57404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i="1"/>
              <a:t>Whisker lengths show skew. But the bimodal panel has the same boxplot as a symmetric one - a boxplot cannot show peaks or gaps, so read it next to a histogram.</a:t>
            </a:r>
          </a:p>
        </p:txBody>
      </p:sp>
    </p:spTree>
    <p:extLst>
      <p:ext uri="{BB962C8B-B14F-4D97-AF65-F5344CB8AC3E}">
        <p14:creationId xmlns:p14="http://schemas.microsoft.com/office/powerpoint/2010/main" val="1961021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1517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Consolas</vt:lpstr>
      <vt:lpstr>Office Theme</vt:lpstr>
      <vt:lpstr>Lecture 6 Measures of Spread</vt:lpstr>
      <vt:lpstr>Review</vt:lpstr>
      <vt:lpstr>Review: quartiles of the exam scores</vt:lpstr>
      <vt:lpstr>Variability of A Distribution: Measures of Spread</vt:lpstr>
      <vt:lpstr>Measures of Spread: Range</vt:lpstr>
      <vt:lpstr>Measures of Spread: Interquartile Range</vt:lpstr>
      <vt:lpstr>Practice: Finding quartiles and IQR</vt:lpstr>
      <vt:lpstr>Measures of Spread: Deviation</vt:lpstr>
      <vt:lpstr>PowerPoint Presentation</vt:lpstr>
      <vt:lpstr>Measures of Spread: Variance</vt:lpstr>
      <vt:lpstr>Measures of Spread: Standard Deviation</vt:lpstr>
      <vt:lpstr>Why divide by n-1 ?</vt:lpstr>
      <vt:lpstr>Try it out: computing the variance and standard deviation</vt:lpstr>
      <vt:lpstr>Which measures do you report?</vt:lpstr>
      <vt:lpstr>The five number summary</vt:lpstr>
      <vt:lpstr>The Boxplot (Box and Whisker Plot): A five number summary</vt:lpstr>
      <vt:lpstr>Identifying outliers: the 1.5 x IQR rule</vt:lpstr>
      <vt:lpstr>Ex. Construct a Boxplot</vt:lpstr>
      <vt:lpstr>Practice: Construct a Boxplot</vt:lpstr>
      <vt:lpstr>Ex2. Construct a Boxplot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343</cp:revision>
  <dcterms:created xsi:type="dcterms:W3CDTF">2023-08-05T23:57:41Z</dcterms:created>
  <dcterms:modified xsi:type="dcterms:W3CDTF">2026-09-09T16:50:41Z</dcterms:modified>
</cp:coreProperties>
</file>