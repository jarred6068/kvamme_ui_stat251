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31" r:id="rId3"/>
    <p:sldId id="352" r:id="rId4"/>
    <p:sldId id="353" r:id="rId5"/>
    <p:sldId id="354" r:id="rId6"/>
    <p:sldId id="303" r:id="rId7"/>
    <p:sldId id="259" r:id="rId8"/>
    <p:sldId id="325" r:id="rId9"/>
    <p:sldId id="346" r:id="rId10"/>
    <p:sldId id="313" r:id="rId11"/>
    <p:sldId id="314" r:id="rId12"/>
    <p:sldId id="355" r:id="rId13"/>
    <p:sldId id="315" r:id="rId14"/>
    <p:sldId id="316" r:id="rId15"/>
    <p:sldId id="317" r:id="rId16"/>
    <p:sldId id="283" r:id="rId17"/>
    <p:sldId id="356" r:id="rId18"/>
    <p:sldId id="357" r:id="rId19"/>
    <p:sldId id="358" r:id="rId20"/>
    <p:sldId id="349" r:id="rId21"/>
    <p:sldId id="359" r:id="rId22"/>
    <p:sldId id="350" r:id="rId23"/>
    <p:sldId id="351" r:id="rId24"/>
    <p:sldId id="345" r:id="rId25"/>
    <p:sldId id="34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6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Measures of Spread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05104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Review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Question 1"/>
          <p:cNvSpPr/>
          <p:nvPr/>
        </p:nvSpPr>
        <p:spPr>
          <a:xfrm>
            <a:off x="838200" y="107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1   </a:t>
            </a:r>
            <a:r>
              <a:rPr lang="en-US" b="1"/>
              <a:t>One value is far larger than all the rest. Which moves more, the mean or the median?</a:t>
            </a:r>
            <a:endParaRPr lang="en-US" b="1" dirty="0"/>
          </a:p>
        </p:txBody>
      </p:sp>
      <p:sp>
        <p:nvSpPr>
          <p:cNvPr id="4" name="Answer 1"/>
          <p:cNvSpPr txBox="1"/>
          <p:nvPr/>
        </p:nvSpPr>
        <p:spPr>
          <a:xfrm>
            <a:off x="1066800" y="1655688"/>
            <a:ext cx="10058400" cy="65024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>
                <a:solidFill>
                  <a:srgbClr val="C00000"/>
                </a:solidFill>
              </a:rPr>
              <a:t>The mean, which gets pulled toward it. The median barely moves – it only cares about position in the ordered list.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5" name="Question 2"/>
          <p:cNvSpPr/>
          <p:nvPr/>
        </p:nvSpPr>
        <p:spPr>
          <a:xfrm>
            <a:off x="838200" y="238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2   </a:t>
            </a:r>
            <a:r>
              <a:rPr lang="en-US" b="1"/>
              <a:t>We wrote the mean three different ways last time. What were they?</a:t>
            </a:r>
            <a:endParaRPr lang="en-US" b="1" dirty="0"/>
          </a:p>
        </p:txBody>
      </p:sp>
      <p:sp>
        <p:nvSpPr>
          <p:cNvPr id="6" name="Answer 2"/>
          <p:cNvSpPr txBox="1"/>
          <p:nvPr/>
        </p:nvSpPr>
        <p:spPr>
          <a:xfrm>
            <a:off x="1066800" y="2965688"/>
            <a:ext cx="10058400" cy="5892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Add the values and divide by n; or work from a frequency table; or from a relative frequency table. All three give the same number.</a:t>
            </a:r>
          </a:p>
        </p:txBody>
      </p:sp>
      <p:sp>
        <p:nvSpPr>
          <p:cNvPr id="7" name="Question 3"/>
          <p:cNvSpPr/>
          <p:nvPr/>
        </p:nvSpPr>
        <p:spPr>
          <a:xfrm>
            <a:off x="838200" y="3695688"/>
            <a:ext cx="10515600" cy="1230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9050">
            <a:solidFill>
              <a:schemeClr val="accent1"/>
            </a:solidFill>
          </a:ln>
        </p:spPr>
        <p:txBody>
          <a:bodyPr lIns="228600" tIns="182880" rIns="228600" bIns="91440" anchor="t">
            <a:noAutofit/>
          </a:bodyPr>
          <a:lstStyle/>
          <a:p>
            <a:pPr marL="0" indent="0">
              <a:buNone/>
            </a:pPr>
            <a:r>
              <a:rPr lang="en-US" b="1">
                <a:solidFill>
                  <a:srgbClr val="C00000"/>
                </a:solidFill>
              </a:rPr>
              <a:t>3   </a:t>
            </a:r>
            <a:r>
              <a:rPr lang="en-US" b="1"/>
              <a:t>A student's exam score is at the 75th percentile. What does that tell you?</a:t>
            </a:r>
            <a:endParaRPr lang="en-US" b="1" dirty="0"/>
          </a:p>
        </p:txBody>
      </p:sp>
      <p:sp>
        <p:nvSpPr>
          <p:cNvPr id="8" name="Answer 3"/>
          <p:cNvSpPr txBox="1"/>
          <p:nvPr/>
        </p:nvSpPr>
        <p:spPr>
          <a:xfrm>
            <a:off x="1066800" y="4275688"/>
            <a:ext cx="10058400" cy="5585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That 75 percent of the scores are at or below theirs.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6091C9-B7EB-6BBE-A602-1479CDF97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517484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E1A2D-56A4-17F4-71E6-F0DA2823F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note on quartiles: which definition?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9645C-C773-7EB8-169A-3B4A6AA4C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03400"/>
            <a:ext cx="10668000" cy="1168400"/>
          </a:xfrm>
        </p:spPr>
        <p:txBody>
          <a:bodyPr>
            <a:noAutofit/>
          </a:bodyPr>
          <a:lstStyle/>
          <a:p>
            <a:r>
              <a:rPr lang="en-US" sz="1800"/>
              <a:t>There are several accepted ways to calculate a quartile. In this class we use the </a:t>
            </a:r>
            <a:r>
              <a:rPr lang="en-US" sz="1800" b="1">
                <a:solidFill>
                  <a:srgbClr val="C00000"/>
                </a:solidFill>
              </a:rPr>
              <a:t>median of halves</a:t>
            </a:r>
            <a:r>
              <a:rPr lang="en-US" sz="1800"/>
              <a:t> method.</a:t>
            </a:r>
          </a:p>
          <a:p>
            <a:r>
              <a:rPr lang="en-US" sz="1800"/>
              <a:t>Find the median first. When n is odd, leave that median out when forming the lower and upper halves.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3BC775-5437-BAF3-E0D2-166A2787E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3056D3-9047-86C3-059A-98A2F9ED549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0" y="3098800"/>
            <a:ext cx="9652000" cy="324231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BDF2A375-024F-7A84-805F-E663A6FF4CA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7113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9D985-6907-3BF5-2144-F2E2C71F5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Why R may give you different quartiles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0331F-A33D-A21F-582E-3D5CAC223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4953000"/>
            <a:ext cx="10668000" cy="1422400"/>
          </a:xfrm>
        </p:spPr>
        <p:txBody>
          <a:bodyPr>
            <a:noAutofit/>
          </a:bodyPr>
          <a:lstStyle/>
          <a:p>
            <a:r>
              <a:rPr lang="en-US" sz="1600"/>
              <a:t>R's quantile() interpolates between the ordered values; R's boxplot() is different again, drawing the box at Tukey's hinges, which keep the median inside both halves</a:t>
            </a:r>
          </a:p>
          <a:p>
            <a:r>
              <a:rPr lang="en-US" sz="1600"/>
              <a:t>A disagreement does not mean either of you made a mistake - it means a different definition was used</a:t>
            </a:r>
          </a:p>
          <a:p>
            <a:r>
              <a:rPr lang="en-US" sz="1600"/>
              <a:t>In this class, use the median of halves, and apply the same method </a:t>
            </a:r>
            <a:r>
              <a:rPr lang="en-US" sz="1600" b="1">
                <a:solidFill>
                  <a:srgbClr val="C00000"/>
                </a:solidFill>
              </a:rPr>
              <a:t>consistently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A7958C-98B2-9EEB-50BA-A8510F037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9752E4-87F6-1E09-31FC-C410DE4E1C0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000" y="1841500"/>
            <a:ext cx="8890000" cy="2962910"/>
          </a:xfrm>
          <a:prstGeom prst="rect">
            <a:avLst/>
          </a:prstGeom>
        </p:spPr>
      </p:pic>
      <p:sp>
        <p:nvSpPr>
          <p:cNvPr id="5" name="Title rule">
            <a:extLst>
              <a:ext uri="{FF2B5EF4-FFF2-40B4-BE49-F238E27FC236}">
                <a16:creationId xmlns:a16="http://schemas.microsoft.com/office/drawing/2014/main" id="{65CA14CE-677B-A3FA-FD66-2C47C52DFDF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215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A3BB14A2-A17B-0DDB-EE44-E49DC3E47367}"/>
              </a:ext>
            </a:extLst>
          </p:cNvPr>
          <p:cNvSpPr/>
          <p:nvPr/>
        </p:nvSpPr>
        <p:spPr>
          <a:xfrm>
            <a:off x="635000" y="1651000"/>
            <a:ext cx="10922000" cy="2590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DB5192-65CD-99C0-DC8F-0AA402C5C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Our running example for the rest of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D1FDB8-9175-1475-794C-EA230FB5ED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03400"/>
            <a:ext cx="10668000" cy="4191000"/>
          </a:xfrm>
        </p:spPr>
        <p:txBody>
          <a:bodyPr>
            <a:noAutofit/>
          </a:bodyPr>
          <a:lstStyle/>
          <a:p>
            <a:r>
              <a:rPr lang="en-US" sz="1800"/>
              <a:t>We will build every measure of spread from the same five values, on the board</a:t>
            </a:r>
          </a:p>
          <a:p>
            <a:pPr lvl="1"/>
            <a:r>
              <a:rPr lang="en-US" sz="1700" b="1">
                <a:latin typeface="Consolas" panose="020B0609020204030204" pitchFamily="49" charset="0"/>
              </a:rPr>
              <a:t>x  =  2,  4,  5,  7,  12                    n = 5</a:t>
            </a:r>
          </a:p>
          <a:p>
            <a:pPr lvl="1"/>
            <a:r>
              <a:rPr lang="en-US" sz="1700" b="1">
                <a:latin typeface="Consolas" panose="020B0609020204030204" pitchFamily="49" charset="0"/>
              </a:rPr>
              <a:t>mean  =  (2 + 4 + 5 + 7 + 12) / 5  =  30 / 5  =  6</a:t>
            </a:r>
          </a:p>
          <a:p>
            <a:r>
              <a:rPr lang="en-US" sz="1800"/>
              <a:t>and we already have its quartiles, from the slide before:</a:t>
            </a:r>
          </a:p>
          <a:p>
            <a:pPr lvl="1"/>
            <a:r>
              <a:rPr lang="en-US" sz="1700" b="1">
                <a:latin typeface="Consolas" panose="020B0609020204030204" pitchFamily="49" charset="0"/>
              </a:rPr>
              <a:t>Q1 = 3            Q2 = 5            Q3 = 9.5</a:t>
            </a:r>
          </a:p>
          <a:p>
            <a:r>
              <a:rPr lang="en-US" sz="1800"/>
              <a:t>Still to come: the range, the IQR, the variance and standard deviation, and the boxplot</a:t>
            </a:r>
          </a:p>
          <a:p>
            <a:r>
              <a:rPr lang="en-US" sz="1800"/>
              <a:t>Keep these numbers - everything from here on is worked from them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542E42-FFAE-A2EC-4B0B-8F87B962F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CBE738CD-BC27-DA57-351F-0762B315609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65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6764E-1650-762B-5308-1049092EA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>
                <a:solidFill>
                  <a:srgbClr val="1F3864"/>
                </a:solidFill>
              </a:rPr>
              <a:t>Variability of A Distribution: Measures of Spread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2F4481B-DAA2-3B91-063C-978376309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689" y="1771748"/>
            <a:ext cx="8783276" cy="481079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B38AD11-2CC4-2AB6-9CE5-DCCB89DAA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1659041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2D83D08-E688-A516-345A-2BA8AFF855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23" y="3687010"/>
            <a:ext cx="5685913" cy="317099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3EFD-680B-07F4-94B1-411EFE5D3C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834" y="1825625"/>
            <a:ext cx="5257800" cy="4667250"/>
          </a:xfrm>
        </p:spPr>
        <p:txBody>
          <a:bodyPr>
            <a:noAutofit/>
          </a:bodyPr>
          <a:lstStyle/>
          <a:p>
            <a:r>
              <a:rPr lang="en-US" sz="1900" dirty="0"/>
              <a:t>The </a:t>
            </a:r>
            <a:r>
              <a:rPr lang="en-US" sz="1900" b="1" dirty="0">
                <a:solidFill>
                  <a:srgbClr val="C00000"/>
                </a:solidFill>
              </a:rPr>
              <a:t>range</a:t>
            </a:r>
            <a:r>
              <a:rPr lang="en-US" sz="1900" dirty="0"/>
              <a:t> is a measure of the distance between the smallest and largest values in the data</a:t>
            </a:r>
          </a:p>
          <a:p>
            <a:endParaRPr lang="en-US" sz="1900" dirty="0"/>
          </a:p>
          <a:p>
            <a:pPr marL="457200" lvl="1" indent="0">
              <a:buNone/>
            </a:pPr>
            <a:r>
              <a:rPr lang="en-US" sz="1600" dirty="0"/>
              <a:t>The range can be computed with only two data points the minimum value and maximum value</a:t>
            </a:r>
          </a:p>
          <a:p>
            <a:endParaRPr lang="en-US" sz="1900" dirty="0"/>
          </a:p>
          <a:p>
            <a:r>
              <a:rPr lang="en-US" sz="1900" dirty="0"/>
              <a:t>If the range of a set of data is large, then usually this indicates greater dispersion of values</a:t>
            </a:r>
          </a:p>
          <a:p>
            <a:endParaRPr lang="en-US" sz="1900" dirty="0"/>
          </a:p>
          <a:p>
            <a:r>
              <a:rPr lang="en-US" sz="1900" dirty="0"/>
              <a:t>The range is </a:t>
            </a:r>
            <a:r>
              <a:rPr lang="en-US" sz="1900" u="sng" dirty="0"/>
              <a:t>severely</a:t>
            </a:r>
            <a:r>
              <a:rPr lang="en-US" sz="1900" dirty="0"/>
              <a:t> affected by the presence of outliers</a:t>
            </a:r>
          </a:p>
          <a:p>
            <a:endParaRPr lang="en-US" sz="1900" dirty="0"/>
          </a:p>
          <a:p>
            <a:r>
              <a:rPr lang="en-US" sz="1900" dirty="0"/>
              <a:t>We typically </a:t>
            </a:r>
            <a:r>
              <a:rPr lang="en-US" sz="1900" u="sng" dirty="0"/>
              <a:t>do not</a:t>
            </a:r>
            <a:r>
              <a:rPr lang="en-US" sz="1900" dirty="0"/>
              <a:t> use the range to measure variability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C44C54-000D-E381-2205-131B79AD8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24" y="942974"/>
            <a:ext cx="5466842" cy="31388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084E88-7278-810D-D713-71E32243F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>
                <a:solidFill>
                  <a:srgbClr val="1F3864"/>
                </a:solidFill>
              </a:rPr>
              <a:t>Measures of Spread: Range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203966-5407-94DA-479C-BB9A9F8F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2005988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BE8495F7-FD8E-CE47-6FF5-9B67FDC5FFCF}"/>
              </a:ext>
            </a:extLst>
          </p:cNvPr>
          <p:cNvSpPr/>
          <p:nvPr/>
        </p:nvSpPr>
        <p:spPr>
          <a:xfrm>
            <a:off x="635000" y="1676400"/>
            <a:ext cx="10922000" cy="4749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6D6BCC-CAB3-F735-AC9E-6A7940310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>
                <a:solidFill>
                  <a:srgbClr val="1F3864"/>
                </a:solidFill>
              </a:rPr>
              <a:t>Measures of Spread: Interquartile Range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8E8586-DD23-94D2-D323-FAF1EE2B0E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575"/>
              </a:xfrm>
            </p:spPr>
            <p:txBody>
              <a:bodyPr>
                <a:noAutofit/>
              </a:bodyPr>
              <a:lstStyle/>
              <a:p>
                <a:r>
                  <a:rPr lang="en-US" sz="2100" dirty="0"/>
                  <a:t>The </a:t>
                </a:r>
                <a:r>
                  <a:rPr lang="en-US" sz="2100" b="1" dirty="0">
                    <a:solidFill>
                      <a:srgbClr val="C00000"/>
                    </a:solidFill>
                  </a:rPr>
                  <a:t>interquartile range (IQR)</a:t>
                </a:r>
                <a:r>
                  <a:rPr lang="en-US" sz="2100" dirty="0"/>
                  <a:t> measures the spread of the middle 50% of the observations </a:t>
                </a:r>
              </a:p>
              <a:p>
                <a:endParaRPr lang="en-US" sz="2100" dirty="0"/>
              </a:p>
              <a:p>
                <a:r>
                  <a:rPr lang="en-US" sz="2100" dirty="0"/>
                  <a:t>It is resistant to outliers</a:t>
                </a:r>
              </a:p>
              <a:p>
                <a:pPr marL="0" indent="0" algn="ctr">
                  <a:buNone/>
                </a:pPr>
                <a:endParaRPr lang="en-US" sz="2400" b="1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7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𝑰𝑸𝑹</m:t>
                      </m:r>
                      <m:r>
                        <a:rPr lang="en-US" sz="17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7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sz="17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17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17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𝑸</m:t>
                      </m:r>
                      <m:r>
                        <a:rPr lang="en-US" sz="1700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</m:oMath>
                  </m:oMathPara>
                </a14:m>
                <a:endParaRPr lang="en-US" sz="1700" b="1" dirty="0"/>
              </a:p>
              <a:p>
                <a:pPr marL="0" indent="0" algn="ctr">
                  <a:buNone/>
                </a:pPr>
                <a:endParaRPr lang="en-US" sz="2400" b="1" dirty="0"/>
              </a:p>
              <a:p>
                <a:r>
                  <a:rPr lang="en-US" sz="1700" dirty="0"/>
                  <a:t>The more variability the larger the value of the </a:t>
                </a:r>
                <a:r>
                  <a:rPr lang="en-US" sz="1700" b="1" dirty="0">
                    <a:solidFill>
                      <a:srgbClr val="C00000"/>
                    </a:solidFill>
                  </a:rPr>
                  <a:t>IQR</a:t>
                </a:r>
                <a:r>
                  <a:rPr lang="en-US" sz="2400" dirty="0"/>
                  <a:t> </a:t>
                </a:r>
              </a:p>
              <a:p>
                <a:endParaRPr lang="en-US" sz="2400" dirty="0"/>
              </a:p>
              <a:p>
                <a:r>
                  <a:rPr lang="en-US" sz="1700" b="1" dirty="0">
                    <a:solidFill>
                      <a:srgbClr val="C00000"/>
                    </a:solidFill>
                  </a:rPr>
                  <a:t>IQR </a:t>
                </a:r>
                <a:r>
                  <a:rPr lang="en-US" sz="1700" dirty="0"/>
                  <a:t>is a good choice for distributions that are highly skewed!</a:t>
                </a:r>
                <a:endParaRPr lang="en-US" sz="1700" b="1" dirty="0"/>
              </a:p>
              <a:p>
                <a:pPr marL="0" indent="0" algn="ctr">
                  <a:buNone/>
                </a:pPr>
                <a:endParaRPr lang="en-US" sz="2400" b="1" dirty="0"/>
              </a:p>
              <a:p>
                <a:endParaRPr lang="en-US" sz="2400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8E8586-DD23-94D2-D323-FAF1EE2B0E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575"/>
              </a:xfrm>
              <a:blipFill>
                <a:blip r:embed="rId2"/>
                <a:stretch>
                  <a:fillRect l="-580" t="-14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AED4B-7D0B-B025-EFFA-10727BEB6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6C59B7F6-6EC8-75C4-2EBA-7F43BFA74F9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7710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02C0B440-F91E-6F7A-3DFC-2793BD9D70C0}"/>
              </a:ext>
            </a:extLst>
          </p:cNvPr>
          <p:cNvSpPr/>
          <p:nvPr/>
        </p:nvSpPr>
        <p:spPr>
          <a:xfrm>
            <a:off x="635000" y="1676400"/>
            <a:ext cx="10922000" cy="11176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EA510B-84BA-0986-946A-7635FB2953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>
                <a:solidFill>
                  <a:srgbClr val="1F3864"/>
                </a:solidFill>
              </a:rPr>
              <a:t>Practice: Finding quartiles and IQR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B3D4BA-5F56-129C-FF6C-FCDB24448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400">
                <a:latin typeface="Consolas" panose="020B0609020204030204" pitchFamily="49" charset="0"/>
              </a:rPr>
              <a:t>x  =  2,  4,  5,  7,  12</a:t>
            </a:r>
          </a:p>
          <a:p>
            <a:pPr marL="0" indent="0">
              <a:buNone/>
            </a:pPr>
            <a:r>
              <a:rPr lang="en-US" sz="2400"/>
              <a:t>Compute the range, and then the IQR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B69AC6-F494-838D-32D6-9D4046F5E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5E310728-7EBB-3282-A6DF-A2124C2A2A9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4E34695-3BDE-3B38-CDD1-335B55EA7BAE}"/>
              </a:ext>
            </a:extLst>
          </p:cNvPr>
          <p:cNvSpPr/>
          <p:nvPr/>
        </p:nvSpPr>
        <p:spPr>
          <a:xfrm>
            <a:off x="1651000" y="3619500"/>
            <a:ext cx="8890000" cy="18034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tIns="63500" rIns="127000" bIns="63500" rtlCol="0" anchor="ctr"/>
          <a:lstStyle/>
          <a:p>
            <a:r>
              <a:rPr lang="en-US" sz="1600" b="1">
                <a:solidFill>
                  <a:srgbClr val="000000"/>
                </a:solidFill>
              </a:rPr>
              <a:t>Working:</a:t>
            </a:r>
          </a:p>
          <a:p>
            <a:r>
              <a:rPr lang="en-US" sz="1600">
                <a:solidFill>
                  <a:srgbClr val="000000"/>
                </a:solidFill>
              </a:rPr>
              <a:t>range  =  max - min  =  12 - 2  =  10</a:t>
            </a:r>
          </a:p>
          <a:p>
            <a:r>
              <a:rPr lang="en-US" sz="1600">
                <a:solidFill>
                  <a:srgbClr val="000000"/>
                </a:solidFill>
              </a:rPr>
              <a:t>Q1 = 3      Q3 = 9.5      (from the running example)</a:t>
            </a:r>
          </a:p>
          <a:p>
            <a:r>
              <a:rPr lang="en-US" sz="1600">
                <a:solidFill>
                  <a:srgbClr val="000000"/>
                </a:solidFill>
              </a:rPr>
              <a:t>IQR  =  Q3 - Q1  =  9.5 - 3  =  6.5</a:t>
            </a:r>
          </a:p>
          <a:p>
            <a:endParaRPr lang="en-US" sz="1600">
              <a:solidFill>
                <a:srgbClr val="000000"/>
              </a:solidFill>
            </a:endParaRPr>
          </a:p>
          <a:p>
            <a:r>
              <a:rPr lang="en-US" sz="1600">
                <a:solidFill>
                  <a:srgbClr val="000000"/>
                </a:solidFill>
              </a:rPr>
              <a:t>The middle half spans 6.5 units; the full range spans 10.</a:t>
            </a:r>
          </a:p>
        </p:txBody>
      </p:sp>
    </p:spTree>
    <p:extLst>
      <p:ext uri="{BB962C8B-B14F-4D97-AF65-F5344CB8AC3E}">
        <p14:creationId xmlns:p14="http://schemas.microsoft.com/office/powerpoint/2010/main" val="1769097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2BAC071F-BA2C-5E2E-0CAD-1A176EFD288F}"/>
              </a:ext>
            </a:extLst>
          </p:cNvPr>
          <p:cNvSpPr/>
          <p:nvPr/>
        </p:nvSpPr>
        <p:spPr>
          <a:xfrm>
            <a:off x="635000" y="1676400"/>
            <a:ext cx="10922000" cy="47371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74CF04-6A9A-C024-DDD4-4EA11F99D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Measures of Spread: Deviation</a:t>
            </a:r>
            <a:endParaRPr lang="en-US" dirty="0">
              <a:solidFill>
                <a:srgbClr val="1F3864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F7291A-45D9-8440-5889-A0D10595CB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267950" cy="4600575"/>
              </a:xfrm>
            </p:spPr>
            <p:txBody>
              <a:bodyPr>
                <a:noAutofit/>
              </a:bodyPr>
              <a:lstStyle/>
              <a:p>
                <a:r>
                  <a:rPr lang="en-US" sz="2500" dirty="0"/>
                  <a:t>A better measure of variability that uses </a:t>
                </a:r>
                <a:r>
                  <a:rPr lang="en-US" sz="2500" i="1" dirty="0"/>
                  <a:t>all</a:t>
                </a:r>
                <a:r>
                  <a:rPr lang="en-US" sz="2500" dirty="0"/>
                  <a:t> the data is based on </a:t>
                </a:r>
                <a:r>
                  <a:rPr lang="en-US" sz="2500" b="1" dirty="0">
                    <a:solidFill>
                      <a:srgbClr val="C00000"/>
                    </a:solidFill>
                  </a:rPr>
                  <a:t>deviations</a:t>
                </a:r>
                <a:endParaRPr lang="en-US" sz="2500" dirty="0">
                  <a:solidFill>
                    <a:srgbClr val="C00000"/>
                  </a:solidFill>
                </a:endParaRPr>
              </a:p>
              <a:p>
                <a:endParaRPr lang="en-US" dirty="0"/>
              </a:p>
              <a:p>
                <a:r>
                  <a:rPr lang="en-US" sz="2500" b="1" dirty="0">
                    <a:solidFill>
                      <a:srgbClr val="C00000"/>
                    </a:solidFill>
                  </a:rPr>
                  <a:t>deviations</a:t>
                </a:r>
                <a:r>
                  <a:rPr lang="en-US" sz="2500" dirty="0"/>
                  <a:t> are the </a:t>
                </a:r>
                <a:r>
                  <a:rPr lang="en-US" sz="2500" u="sng" dirty="0"/>
                  <a:t>distances</a:t>
                </a:r>
                <a:r>
                  <a:rPr lang="en-US" sz="2500" dirty="0"/>
                  <a:t> of each value from the mean of the data:</a:t>
                </a:r>
              </a:p>
              <a:p>
                <a:pPr marL="914400" lvl="2" indent="0">
                  <a:buNone/>
                </a:pPr>
                <a:r>
                  <a:rPr lang="en-US" sz="2100" b="0" dirty="0"/>
                  <a:t>Deviation of an observation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−</m:t>
                    </m:r>
                    <m:acc>
                      <m:accPr>
                        <m:chr m:val="̅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r>
                  <a:rPr lang="en-US" sz="2500" dirty="0"/>
                  <a:t>Every observation will have a deviation from the mean</a:t>
                </a:r>
              </a:p>
              <a:p>
                <a:endParaRPr lang="en-US" sz="2500" dirty="0"/>
              </a:p>
              <a:p>
                <a:endParaRPr lang="en-US" sz="2500" dirty="0"/>
              </a:p>
              <a:p>
                <a:endParaRPr lang="en-US" sz="25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F7291A-45D9-8440-5889-A0D10595CB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267950" cy="4600575"/>
              </a:xfrm>
              <a:blipFill>
                <a:blip r:embed="rId2"/>
                <a:stretch>
                  <a:fillRect l="-891" t="-17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C464D-2F8C-3618-EE3E-5E66E8861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6BA83F57-FB71-D7DE-CCA6-B27182313D0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028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1AED81-81B4-7F61-592C-8E1A2E45FA9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000" y="1219200"/>
            <a:ext cx="10414000" cy="46278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6C5A7F-48C5-B8D4-C6BF-F580EDC5199A}"/>
              </a:ext>
            </a:extLst>
          </p:cNvPr>
          <p:cNvSpPr txBox="1"/>
          <p:nvPr/>
        </p:nvSpPr>
        <p:spPr>
          <a:xfrm>
            <a:off x="762000" y="5969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600" i="1"/>
              <a:t>Each deviation is the gap from a value to the mean. Three are negative, two positive - and they cancel exactly.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FA7418-DBCB-2D4B-5B18-CC67633DA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3406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C29A3C11-1223-E90D-387B-B18E9B1ED0AC}"/>
              </a:ext>
            </a:extLst>
          </p:cNvPr>
          <p:cNvSpPr/>
          <p:nvPr/>
        </p:nvSpPr>
        <p:spPr>
          <a:xfrm>
            <a:off x="635000" y="1651000"/>
            <a:ext cx="10922000" cy="25400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04138C-4405-2DE3-A3B9-BE079E771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deviations always sum to zero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8B33F-88E0-06E1-3A16-4F4A807DB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03400"/>
            <a:ext cx="10668000" cy="4191000"/>
          </a:xfrm>
        </p:spPr>
        <p:txBody>
          <a:bodyPr>
            <a:noAutofit/>
          </a:bodyPr>
          <a:lstStyle/>
          <a:p>
            <a:r>
              <a:rPr lang="en-US" sz="1700"/>
              <a:t>Our five cancelled exactly. That is not luck - it happens for every dataset:</a:t>
            </a:r>
          </a:p>
          <a:p>
            <a:pPr lvl="1"/>
            <a:r>
              <a:rPr lang="en-US" sz="1700">
                <a:latin typeface="Consolas" panose="020B0609020204030204" pitchFamily="49" charset="0"/>
              </a:rPr>
              <a:t>Σ(x - mean)  =  Σx  -  n · mean</a:t>
            </a:r>
          </a:p>
          <a:p>
            <a:pPr lvl="1"/>
            <a:r>
              <a:rPr lang="en-US" sz="1700">
                <a:latin typeface="Consolas" panose="020B0609020204030204" pitchFamily="49" charset="0"/>
              </a:rPr>
              <a:t>but  mean = Σx / n,   so   n · mean  =  Σx</a:t>
            </a:r>
          </a:p>
          <a:p>
            <a:pPr lvl="1"/>
            <a:r>
              <a:rPr lang="en-US" sz="1700" b="1">
                <a:latin typeface="Consolas" panose="020B0609020204030204" pitchFamily="49" charset="0"/>
              </a:rPr>
              <a:t>hence  Σ(x - mean)  =  Σx  -  Σx  =  0</a:t>
            </a:r>
          </a:p>
          <a:p>
            <a:r>
              <a:rPr lang="en-US" sz="1700"/>
              <a:t>Check it on our example: -4 - 2 - 1 + 1 + 6 = 0</a:t>
            </a:r>
          </a:p>
          <a:p>
            <a:r>
              <a:rPr lang="en-US" sz="1700"/>
              <a:t>So averaging the deviations is useless - it reports 0 for tightly packed data and for wildly scattered data alike</a:t>
            </a:r>
          </a:p>
          <a:p>
            <a:r>
              <a:rPr lang="en-US" sz="1700"/>
              <a:t>We have to remove the signs before averaging. That is why the next step squares them.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742FB-6AC7-AFF5-20FE-66C562C36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932B9A14-4646-0DCA-A374-46974873E5B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2568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ADA239E0-422E-62C2-D03D-DCFDFA55E2C8}"/>
              </a:ext>
            </a:extLst>
          </p:cNvPr>
          <p:cNvSpPr/>
          <p:nvPr/>
        </p:nvSpPr>
        <p:spPr>
          <a:xfrm>
            <a:off x="635000" y="1676400"/>
            <a:ext cx="10922000" cy="4749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1D9B-D3D0-4DD3-432B-B05376CC1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>
                <a:solidFill>
                  <a:srgbClr val="1F3864"/>
                </a:solidFill>
              </a:rPr>
              <a:t>Measures of Spread: Variance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4D4B1-FB15-A405-14E1-A713E04E39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575"/>
              </a:xfrm>
            </p:spPr>
            <p:txBody>
              <a:bodyPr>
                <a:noAutofit/>
              </a:bodyPr>
              <a:lstStyle/>
              <a:p>
                <a:r>
                  <a:rPr lang="en-US" sz="2700" dirty="0"/>
                  <a:t>The sum of all deviations is zero. 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acc>
                          <m:accPr>
                            <m:chr m:val="̅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1600" dirty="0"/>
              </a:p>
              <a:p>
                <a:endParaRPr lang="en-US" sz="2700" dirty="0"/>
              </a:p>
              <a:p>
                <a:r>
                  <a:rPr lang="en-US" sz="2700" dirty="0"/>
                  <a:t>We typically use either the </a:t>
                </a:r>
                <a:r>
                  <a:rPr lang="en-US" sz="2700" b="1" dirty="0">
                    <a:solidFill>
                      <a:srgbClr val="C00000"/>
                    </a:solidFill>
                  </a:rPr>
                  <a:t>squared deviations</a:t>
                </a:r>
                <a:r>
                  <a:rPr lang="en-US" sz="2700" dirty="0"/>
                  <a:t> or their </a:t>
                </a:r>
                <a:r>
                  <a:rPr lang="en-US" sz="2700" b="1" dirty="0">
                    <a:solidFill>
                      <a:srgbClr val="C00000"/>
                    </a:solidFill>
                  </a:rPr>
                  <a:t>absolute value</a:t>
                </a:r>
              </a:p>
              <a:p>
                <a:pPr marL="914400" lvl="2" indent="0">
                  <a:buNone/>
                </a:pPr>
                <a:r>
                  <a:rPr lang="en-US" sz="2300" dirty="0"/>
                  <a:t>Squared deviation of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 </m:t>
                            </m:r>
                            <m:acc>
                              <m:accPr>
                                <m:chr m:val="̅"/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1600" dirty="0"/>
              </a:p>
              <a:p>
                <a:pPr marL="914400" lvl="2" indent="0">
                  <a:buNone/>
                </a:pPr>
                <a:endParaRPr lang="en-US" dirty="0"/>
              </a:p>
              <a:p>
                <a:r>
                  <a:rPr lang="en-US" sz="2700" dirty="0"/>
                  <a:t>The </a:t>
                </a:r>
                <a:r>
                  <a:rPr lang="en-US" sz="2700" b="1" dirty="0">
                    <a:solidFill>
                      <a:srgbClr val="C00000"/>
                    </a:solidFill>
                  </a:rPr>
                  <a:t>Variance </a:t>
                </a:r>
                <a:r>
                  <a:rPr lang="en-US" sz="2700" dirty="0"/>
                  <a:t>of a distribution is the </a:t>
                </a:r>
                <a:r>
                  <a:rPr lang="en-US" sz="2700" u="sng" dirty="0"/>
                  <a:t>average</a:t>
                </a:r>
                <a:r>
                  <a:rPr lang="en-US" sz="2700" dirty="0"/>
                  <a:t> squared deviation from the mean</a:t>
                </a:r>
              </a:p>
              <a:p>
                <a:pPr marL="1828800" lvl="4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p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6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6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60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60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sz="1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500" dirty="0"/>
              </a:p>
              <a:p>
                <a:r>
                  <a:rPr lang="en-US" sz="2500" dirty="0"/>
                  <a:t>The sum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60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60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16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sz="160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60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60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2500" dirty="0"/>
                  <a:t> is called the sum of squares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24D4B1-FB15-A405-14E1-A713E04E39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575"/>
              </a:xfrm>
              <a:blipFill>
                <a:blip r:embed="rId2"/>
                <a:stretch>
                  <a:fillRect l="-986" t="-1987" r="-638" b="-15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A80644-5A7D-5117-2E8F-7FDCB0896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23D7432A-DD44-AE9D-5929-8975DDC7167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0886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ody card">
            <a:extLst>
              <a:ext uri="{FF2B5EF4-FFF2-40B4-BE49-F238E27FC236}">
                <a16:creationId xmlns:a16="http://schemas.microsoft.com/office/drawing/2014/main" id="{32716F67-54E6-4EF2-C210-3CB90EEDFEBB}"/>
              </a:ext>
            </a:extLst>
          </p:cNvPr>
          <p:cNvSpPr/>
          <p:nvPr/>
        </p:nvSpPr>
        <p:spPr>
          <a:xfrm>
            <a:off x="635000" y="1397000"/>
            <a:ext cx="10922000" cy="5029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759E61-7A67-5D11-4320-1B5FFC922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>
            <a:noAutofit/>
          </a:bodyPr>
          <a:lstStyle/>
          <a:p>
            <a:r>
              <a:rPr lang="en-US" dirty="0">
                <a:solidFill>
                  <a:srgbClr val="1F3864"/>
                </a:solidFill>
              </a:rPr>
              <a:t>Measures of Spread: Standard Deviation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01D609-D493-78C3-4B57-D24A155F0A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48533"/>
                <a:ext cx="10515600" cy="4935393"/>
              </a:xfrm>
            </p:spPr>
            <p:txBody>
              <a:bodyPr>
                <a:noAutofit/>
              </a:bodyPr>
              <a:lstStyle/>
              <a:p>
                <a:r>
                  <a:rPr lang="en-US" sz="2000" dirty="0"/>
                  <a:t>Since the variance uses the squared deviation, we usually take its square root called the </a:t>
                </a:r>
                <a:r>
                  <a:rPr lang="en-US" sz="2000" b="1" dirty="0">
                    <a:solidFill>
                      <a:srgbClr val="C00000"/>
                    </a:solidFill>
                  </a:rPr>
                  <a:t>standard deviation</a:t>
                </a:r>
              </a:p>
              <a:p>
                <a:endParaRPr lang="en-US" sz="2000" b="1" dirty="0">
                  <a:solidFill>
                    <a:srgbClr val="C00000"/>
                  </a:solidFill>
                </a:endParaRPr>
              </a:p>
              <a:p>
                <a:pPr marL="914400" lvl="2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</m:oMath>
                  </m:oMathPara>
                </a14:m>
                <a:endParaRPr lang="en-US" sz="1600" dirty="0"/>
              </a:p>
              <a:p>
                <a:endParaRPr lang="en-US" sz="2000" dirty="0"/>
              </a:p>
              <a:p>
                <a:r>
                  <a:rPr lang="en-US" sz="2000" dirty="0"/>
                  <a:t>The standard deviation represents (roughly) the average distance of an observation from the mean 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The greater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is the greater the variability in the data is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We denote the population parameter for the variance and standard deviation using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01D609-D493-78C3-4B57-D24A155F0A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48533"/>
                <a:ext cx="10515600" cy="4935393"/>
              </a:xfrm>
              <a:blipFill>
                <a:blip r:embed="rId2"/>
                <a:stretch>
                  <a:fillRect l="-522" t="-1235" r="-348" b="-4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79AC86-B215-32AD-CECC-47522CC45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4533585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7E7EEE50-9936-2C88-2AE4-3B761902A19A}"/>
              </a:ext>
            </a:extLst>
          </p:cNvPr>
          <p:cNvSpPr/>
          <p:nvPr/>
        </p:nvSpPr>
        <p:spPr>
          <a:xfrm>
            <a:off x="635000" y="1676400"/>
            <a:ext cx="10922000" cy="46355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DD5E1B0-DD07-8EDA-1858-2D2EA2B4B38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dirty="0">
                    <a:solidFill>
                      <a:srgbClr val="1F3864"/>
                    </a:solidFill>
                  </a:rPr>
                  <a:t>Why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1F3864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1F3864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solidFill>
                      <a:srgbClr val="1F3864"/>
                    </a:solidFill>
                  </a:rPr>
                  <a:t> 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DD5E1B0-DD07-8EDA-1858-2D2EA2B4B3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4BF34-A2FA-6993-0CE4-3573B865FE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403852"/>
              </a:xfrm>
            </p:spPr>
            <p:txBody>
              <a:bodyPr>
                <a:noAutofit/>
              </a:bodyPr>
              <a:lstStyle/>
              <a:p>
                <a:r>
                  <a:rPr lang="en-US" dirty="0"/>
                  <a:t>We divide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because we have only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−1 </m:t>
                    </m:r>
                  </m:oMath>
                </a14:m>
                <a:r>
                  <a:rPr lang="en-US" dirty="0"/>
                  <a:t>pieces of independent information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Since the sum of the deviations must add to zero, then if we know the first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deviations we can always figure out the last one</a:t>
                </a:r>
              </a:p>
              <a:p>
                <a:endParaRPr lang="en-US" dirty="0"/>
              </a:p>
              <a:p>
                <a:r>
                  <a:rPr lang="en-US" dirty="0"/>
                  <a:t>Ex.) suppose we have two data points and deviation of the first data point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=−5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Then the deviation of the second data point </a:t>
                </a:r>
                <a:r>
                  <a:rPr lang="en-US" u="sng" dirty="0"/>
                  <a:t>has</a:t>
                </a:r>
                <a:r>
                  <a:rPr lang="en-US" dirty="0"/>
                  <a:t> to be 5 for the sum of deviations to be zero.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A4BF34-A2FA-6993-0CE4-3573B865FE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403852"/>
              </a:xfrm>
              <a:blipFill>
                <a:blip r:embed="rId3"/>
                <a:stretch>
                  <a:fillRect l="-1043" t="-2213" r="-1681" b="-2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0D4E2-DF09-B131-AB19-D6E73490E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E4346553-408C-AAA9-A308-0A74A79B30F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7023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2587ECF-85E9-4393-9D87-8EB6F3F6C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8300"/>
            <a:ext cx="10515600" cy="1320800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4000" kern="120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Try it out: computing the variance and standard deviation</a:t>
            </a:r>
            <a:endParaRPr lang="en-US" sz="4000" kern="1200" dirty="0">
              <a:solidFill>
                <a:srgbClr val="1F3864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933D906-CF81-5AD4-2902-D9DD0E0EF8B7}"/>
              </a:ext>
            </a:extLst>
          </p:cNvPr>
          <p:cNvSpPr txBox="1">
            <a:spLocks/>
          </p:cNvSpPr>
          <p:nvPr/>
        </p:nvSpPr>
        <p:spPr>
          <a:xfrm>
            <a:off x="761999" y="1904999"/>
            <a:ext cx="4826000" cy="3810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x  =  2,  4,  5,  7,  12</a:t>
            </a:r>
          </a:p>
          <a:p>
            <a:pPr marL="0"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mean  =  6</a:t>
            </a:r>
          </a:p>
          <a:p>
            <a:pPr marL="0">
              <a:defRPr/>
            </a:pP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Find the deviations, then the sum of squares, then the variance and the standard deviation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818292-3AE6-B7AB-CA1F-D0F516426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742C01C-3EE8-E2F7-2E4A-F86684B8432E}"/>
              </a:ext>
            </a:extLst>
          </p:cNvPr>
          <p:cNvSpPr/>
          <p:nvPr/>
        </p:nvSpPr>
        <p:spPr>
          <a:xfrm>
            <a:off x="5969000" y="1905000"/>
            <a:ext cx="5715000" cy="31750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tIns="63500" rIns="127000" bIns="63500" rtlCol="0" anchor="ctr"/>
          <a:lstStyle/>
          <a:p>
            <a:r>
              <a:rPr lang="en-US" sz="1600" b="1">
                <a:solidFill>
                  <a:srgbClr val="000000"/>
                </a:solidFill>
              </a:rPr>
              <a:t>Working:</a:t>
            </a:r>
          </a:p>
          <a:p>
            <a:r>
              <a:rPr lang="en-US" sz="1600">
                <a:solidFill>
                  <a:srgbClr val="000000"/>
                </a:solidFill>
              </a:rPr>
              <a:t>deviations   -4   -2   -1    1    6</a:t>
            </a:r>
          </a:p>
          <a:p>
            <a:r>
              <a:rPr lang="en-US" sz="1600">
                <a:solidFill>
                  <a:srgbClr val="000000"/>
                </a:solidFill>
              </a:rPr>
              <a:t>                                (sum 0)</a:t>
            </a:r>
          </a:p>
          <a:p>
            <a:r>
              <a:rPr lang="en-US" sz="1600">
                <a:solidFill>
                  <a:srgbClr val="000000"/>
                </a:solidFill>
              </a:rPr>
              <a:t>squared      16    4    1    1   36</a:t>
            </a:r>
          </a:p>
          <a:p>
            <a:r>
              <a:rPr lang="en-US" sz="1600">
                <a:solidFill>
                  <a:srgbClr val="000000"/>
                </a:solidFill>
              </a:rPr>
              <a:t>sum of squares  =  58</a:t>
            </a:r>
          </a:p>
          <a:p>
            <a:endParaRPr lang="en-US" sz="1600">
              <a:solidFill>
                <a:srgbClr val="000000"/>
              </a:solidFill>
            </a:endParaRPr>
          </a:p>
          <a:p>
            <a:r>
              <a:rPr lang="en-US" sz="1600">
                <a:solidFill>
                  <a:srgbClr val="000000"/>
                </a:solidFill>
              </a:rPr>
              <a:t>s²  =  58 / (5 - 1)  =  14.5</a:t>
            </a:r>
          </a:p>
          <a:p>
            <a:r>
              <a:rPr lang="en-US" sz="1600">
                <a:solidFill>
                  <a:srgbClr val="000000"/>
                </a:solidFill>
              </a:rPr>
              <a:t>s   =  sqrt(14.5)  =  3.81</a:t>
            </a:r>
          </a:p>
          <a:p>
            <a:endParaRPr lang="en-US" sz="1600">
              <a:solidFill>
                <a:srgbClr val="000000"/>
              </a:solidFill>
            </a:endParaRPr>
          </a:p>
          <a:p>
            <a:r>
              <a:rPr lang="en-US" sz="1600">
                <a:solidFill>
                  <a:srgbClr val="000000"/>
                </a:solidFill>
              </a:rPr>
              <a:t>s is in the units of x; the variance is in those units squared.</a:t>
            </a:r>
          </a:p>
        </p:txBody>
      </p:sp>
    </p:spTree>
    <p:extLst>
      <p:ext uri="{BB962C8B-B14F-4D97-AF65-F5344CB8AC3E}">
        <p14:creationId xmlns:p14="http://schemas.microsoft.com/office/powerpoint/2010/main" val="3583992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F6A12-195C-CFCB-6698-37F2F4787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Your s is itself an estimate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C8F69-8C2F-69A1-770D-BE95AA8D83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03400"/>
            <a:ext cx="10668000" cy="1498600"/>
          </a:xfrm>
        </p:spPr>
        <p:txBody>
          <a:bodyPr>
            <a:noAutofit/>
          </a:bodyPr>
          <a:lstStyle/>
          <a:p>
            <a:r>
              <a:rPr lang="en-US" sz="1700"/>
              <a:t>Every number today describes the one sample you happened to collect. Roll ten more times and all of them move.</a:t>
            </a:r>
          </a:p>
          <a:p>
            <a:r>
              <a:rPr lang="en-US" sz="1700"/>
              <a:t>That movement from sample to sample is called </a:t>
            </a:r>
            <a:r>
              <a:rPr lang="en-US" sz="1700" b="1">
                <a:solidFill>
                  <a:srgbClr val="C00000"/>
                </a:solidFill>
              </a:rPr>
              <a:t>sampling variation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742FC3-9CF4-B66A-1624-24F65C97D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3C7C14-7CBF-D386-3873-6338686F8C6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3327400"/>
            <a:ext cx="7874000" cy="290957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946B354-F320-7F79-8A0E-B513C1262676}"/>
              </a:ext>
            </a:extLst>
          </p:cNvPr>
          <p:cNvSpPr/>
          <p:nvPr/>
        </p:nvSpPr>
        <p:spPr>
          <a:xfrm>
            <a:off x="8636000" y="3327400"/>
            <a:ext cx="3048000" cy="302768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tIns="63500" rIns="127000" bIns="63500" rtlCol="0" anchor="ctr"/>
          <a:lstStyle/>
          <a:p>
            <a:r>
              <a:rPr lang="en-US" sz="1600" b="1">
                <a:solidFill>
                  <a:srgbClr val="000000"/>
                </a:solidFill>
              </a:rPr>
              <a:t>How much does the mean move?</a:t>
            </a:r>
          </a:p>
          <a:p>
            <a:endParaRPr lang="en-US" sz="1600">
              <a:solidFill>
                <a:srgbClr val="000000"/>
              </a:solidFill>
            </a:endParaRPr>
          </a:p>
          <a:p>
            <a:r>
              <a:rPr lang="en-US" sz="1600">
                <a:solidFill>
                  <a:srgbClr val="000000"/>
                </a:solidFill>
              </a:rPr>
              <a:t>Its standard deviation across</a:t>
            </a:r>
          </a:p>
          <a:p>
            <a:r>
              <a:rPr lang="en-US" sz="1600">
                <a:solidFill>
                  <a:srgbClr val="000000"/>
                </a:solidFill>
              </a:rPr>
              <a:t>repeated samples is called the</a:t>
            </a:r>
          </a:p>
          <a:p>
            <a:r>
              <a:rPr lang="en-US" sz="1600" b="1">
                <a:solidFill>
                  <a:srgbClr val="C00000"/>
                </a:solidFill>
              </a:rPr>
              <a:t>standard error</a:t>
            </a:r>
            <a:r>
              <a:rPr lang="en-US" sz="1600">
                <a:solidFill>
                  <a:srgbClr val="000000"/>
                </a:solidFill>
              </a:rPr>
              <a:t>:</a:t>
            </a:r>
          </a:p>
          <a:p>
            <a:endParaRPr lang="en-US" sz="1600">
              <a:solidFill>
                <a:srgbClr val="000000"/>
              </a:solidFill>
            </a:endParaRPr>
          </a:p>
          <a:p>
            <a:r>
              <a:rPr lang="en-US" sz="1600">
                <a:solidFill>
                  <a:srgbClr val="000000"/>
                </a:solidFill>
              </a:rPr>
              <a:t>   SE = s / sqrt(n)</a:t>
            </a:r>
          </a:p>
          <a:p>
            <a:r>
              <a:rPr lang="en-US" sz="1600">
                <a:solidFill>
                  <a:srgbClr val="000000"/>
                </a:solidFill>
              </a:rPr>
              <a:t>      = 1.619 / sqrt(10)</a:t>
            </a:r>
          </a:p>
          <a:p>
            <a:r>
              <a:rPr lang="en-US" sz="1600">
                <a:solidFill>
                  <a:srgbClr val="000000"/>
                </a:solidFill>
              </a:rPr>
              <a:t>      = 0.512</a:t>
            </a:r>
          </a:p>
          <a:p>
            <a:endParaRPr lang="en-US" sz="1600">
              <a:solidFill>
                <a:srgbClr val="000000"/>
              </a:solidFill>
            </a:endParaRPr>
          </a:p>
          <a:p>
            <a:r>
              <a:rPr lang="en-US" sz="1600">
                <a:solidFill>
                  <a:srgbClr val="000000"/>
                </a:solidFill>
              </a:rPr>
              <a:t>Bigger n, smaller SE.</a:t>
            </a:r>
          </a:p>
        </p:txBody>
      </p:sp>
      <p:sp>
        <p:nvSpPr>
          <p:cNvPr id="8" name="Exam note">
            <a:extLst>
              <a:ext uri="{FF2B5EF4-FFF2-40B4-BE49-F238E27FC236}">
                <a16:creationId xmlns:a16="http://schemas.microsoft.com/office/drawing/2014/main" id="{731C31C2-6075-E1AD-6256-06E22DD9C3E4}"/>
              </a:ext>
            </a:extLst>
          </p:cNvPr>
          <p:cNvSpPr txBox="1"/>
          <p:nvPr/>
        </p:nvSpPr>
        <p:spPr>
          <a:xfrm>
            <a:off x="508000" y="6299200"/>
            <a:ext cx="11176000" cy="33855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600" i="1"/>
              <a:t>Not on Exam 1 - this is the idea behind margin of error, which we pick up in a few weeks.</a:t>
            </a:r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09AC5377-F944-1933-DBA4-5C6D2FF7889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850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5DF7E186-66CD-65B2-9B0F-DBF4A632FC4B}"/>
              </a:ext>
            </a:extLst>
          </p:cNvPr>
          <p:cNvSpPr/>
          <p:nvPr/>
        </p:nvSpPr>
        <p:spPr>
          <a:xfrm>
            <a:off x="635000" y="1689100"/>
            <a:ext cx="10922000" cy="26035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5CE1D4-15A9-7FF0-C525-007E07F7E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Which measures do you report?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3E7B6F-476F-400E-F917-FC8F05B863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41500"/>
            <a:ext cx="10668000" cy="4191000"/>
          </a:xfrm>
        </p:spPr>
        <p:txBody>
          <a:bodyPr>
            <a:noAutofit/>
          </a:bodyPr>
          <a:lstStyle/>
          <a:p>
            <a:r>
              <a:rPr lang="en-US" sz="1700"/>
              <a:t>A center on its own does not describe a distribution - it needs a spread beside it, and the two come in matched pairs</a:t>
            </a:r>
          </a:p>
          <a:p>
            <a:pPr lvl="1"/>
            <a:r>
              <a:rPr lang="en-US" sz="1700"/>
              <a:t>the mean and the standard deviation – both use every observation, so both are pulled by an outlier</a:t>
            </a:r>
          </a:p>
          <a:p>
            <a:pPr lvl="1"/>
            <a:r>
              <a:rPr lang="en-US" sz="1700"/>
              <a:t>the median and the IQR – both are positions in the ordered data, so both are resistant</a:t>
            </a:r>
          </a:p>
          <a:p>
            <a:r>
              <a:rPr lang="en-US" sz="1700"/>
              <a:t>A measure is </a:t>
            </a:r>
            <a:r>
              <a:rPr lang="en-US" sz="1700" b="1">
                <a:solidFill>
                  <a:srgbClr val="C00000"/>
                </a:solidFill>
              </a:rPr>
              <a:t>resistant</a:t>
            </a:r>
            <a:r>
              <a:rPr lang="en-US" sz="1700"/>
              <a:t> when a single extreme observation barely moves it</a:t>
            </a:r>
          </a:p>
          <a:p>
            <a:r>
              <a:rPr lang="en-US" sz="1700"/>
              <a:t>Roughly symmetric, no outliers: report the mean and the standard deviation</a:t>
            </a:r>
          </a:p>
          <a:p>
            <a:r>
              <a:rPr lang="en-US" sz="1700"/>
              <a:t>Skewed, or outliers present: report the median and the IQR</a:t>
            </a:r>
          </a:p>
          <a:p>
            <a:r>
              <a:rPr lang="en-US" sz="1700"/>
              <a:t>Do not mix the pair. A mean next to an IQR describes two different things and answers neither question well.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6F82F-2148-B23B-08D8-E47DACC1A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18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253387AF-CD47-AA18-083E-3CFAC569B35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7310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9E467043-7C9F-F745-3FB7-23F5DFE39944}"/>
              </a:ext>
            </a:extLst>
          </p:cNvPr>
          <p:cNvSpPr/>
          <p:nvPr/>
        </p:nvSpPr>
        <p:spPr>
          <a:xfrm>
            <a:off x="635000" y="1689100"/>
            <a:ext cx="10922000" cy="26924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EE0B52-61E1-D3E2-7303-FFD87741A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five number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F1990-7093-ECF3-4CB3-2C9D96E01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41500"/>
            <a:ext cx="10668000" cy="4064000"/>
          </a:xfrm>
        </p:spPr>
        <p:txBody>
          <a:bodyPr>
            <a:noAutofit/>
          </a:bodyPr>
          <a:lstStyle/>
          <a:p>
            <a:r>
              <a:rPr lang="en-US" sz="1800" b="1">
                <a:solidFill>
                  <a:srgbClr val="C00000"/>
                </a:solidFill>
              </a:rPr>
              <a:t>Five numbers</a:t>
            </a:r>
            <a:r>
              <a:rPr lang="en-US" sz="1800"/>
              <a:t> are enough to sketch a whole distribution</a:t>
            </a:r>
          </a:p>
          <a:p>
            <a:pPr lvl="1"/>
            <a:r>
              <a:rPr lang="en-US" sz="1800" b="1">
                <a:latin typeface="Consolas" panose="020B0609020204030204" pitchFamily="49" charset="0"/>
              </a:rPr>
              <a:t>Minimum      Q1      Median      Q3      Maximum</a:t>
            </a:r>
          </a:p>
          <a:p>
            <a:pPr lvl="1"/>
            <a:r>
              <a:rPr lang="en-US" sz="1800" b="1">
                <a:latin typeface="Consolas" panose="020B0609020204030204" pitchFamily="49" charset="0"/>
              </a:rPr>
              <a:t>For x = 2, 4, 5, 7, 12:      2      3      5     9.5     12</a:t>
            </a:r>
          </a:p>
          <a:p>
            <a:r>
              <a:rPr lang="en-US" sz="1800"/>
              <a:t>the median gives the center</a:t>
            </a:r>
          </a:p>
          <a:p>
            <a:r>
              <a:rPr lang="en-US" sz="1800"/>
              <a:t>Q1 and Q3 bracket the middle half, and their difference is the IQR</a:t>
            </a:r>
          </a:p>
          <a:p>
            <a:r>
              <a:rPr lang="en-US" sz="1800"/>
              <a:t>the minimum and maximum give the full extent</a:t>
            </a:r>
          </a:p>
          <a:p>
            <a:r>
              <a:rPr lang="en-US" sz="1800"/>
              <a:t>These five numbers are exactly what a boxplot draws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5FD6E8-18B1-B687-D59C-D4230C916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19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A785DC30-FC0E-D3EA-D9DD-4E85CC149E3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3097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A028-A7CA-27E1-ACC7-31804B9B3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8300"/>
            <a:ext cx="10515600" cy="1320800"/>
          </a:xfrm>
        </p:spPr>
        <p:txBody>
          <a:bodyPr>
            <a:noAutofit/>
          </a:bodyPr>
          <a:lstStyle/>
          <a:p>
            <a:r>
              <a:rPr lang="en-US" sz="3600" dirty="0">
                <a:solidFill>
                  <a:srgbClr val="1F3864"/>
                </a:solidFill>
              </a:rPr>
              <a:t>The Boxplot (Box and Whisker Plot): A five number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0CDBC-1066-FD3E-EAC4-1CD68D7800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763"/>
            <a:ext cx="4448175" cy="4911437"/>
          </a:xfrm>
        </p:spPr>
        <p:txBody>
          <a:bodyPr>
            <a:noAutofit/>
          </a:bodyPr>
          <a:lstStyle/>
          <a:p>
            <a:r>
              <a:rPr lang="en-US" sz="2600" dirty="0"/>
              <a:t> Pros: </a:t>
            </a:r>
          </a:p>
          <a:p>
            <a:pPr lvl="1"/>
            <a:r>
              <a:rPr lang="en-US" sz="2200" dirty="0"/>
              <a:t>good for describing shape and location</a:t>
            </a:r>
          </a:p>
          <a:p>
            <a:pPr lvl="1"/>
            <a:r>
              <a:rPr lang="en-US" sz="2200" dirty="0"/>
              <a:t>Can be used to identify outliers</a:t>
            </a:r>
          </a:p>
          <a:p>
            <a:pPr lvl="1"/>
            <a:r>
              <a:rPr lang="en-US" sz="2200" dirty="0"/>
              <a:t>Length of whiskers indicates skew</a:t>
            </a:r>
          </a:p>
          <a:p>
            <a:pPr lvl="1"/>
            <a:r>
              <a:rPr lang="en-US" sz="2200" dirty="0"/>
              <a:t>Good for comparing two distributions or across categories</a:t>
            </a:r>
          </a:p>
          <a:p>
            <a:r>
              <a:rPr lang="en-US" sz="2600" dirty="0"/>
              <a:t>Cons: </a:t>
            </a:r>
          </a:p>
          <a:p>
            <a:pPr lvl="1"/>
            <a:r>
              <a:rPr lang="en-US" sz="2200" dirty="0"/>
              <a:t>does not show certain features like mounds, or gaps as well as a histogram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735FB2-D8B7-AAF8-DAEA-A410B5774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20</a:t>
            </a:fld>
            <a:endParaRPr lang="en-US" sz="16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B7B0AA-BA0E-8CA3-43DA-81440F75A94A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1619" y="2722417"/>
            <a:ext cx="6657975" cy="295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4010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85B7623B-8C02-CE9B-1FBA-55C6D4A4870F}"/>
              </a:ext>
            </a:extLst>
          </p:cNvPr>
          <p:cNvSpPr/>
          <p:nvPr/>
        </p:nvSpPr>
        <p:spPr>
          <a:xfrm>
            <a:off x="635000" y="1689100"/>
            <a:ext cx="10922000" cy="34798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DBB32B-8553-F0C8-C769-AA9CA8B8A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Identifying outliers: the 1.5 x IQR rule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27EA79-87D9-D3FD-EC21-58058CB128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41500"/>
            <a:ext cx="10668000" cy="4191000"/>
          </a:xfrm>
        </p:spPr>
        <p:txBody>
          <a:bodyPr>
            <a:noAutofit/>
          </a:bodyPr>
          <a:lstStyle/>
          <a:p>
            <a:r>
              <a:rPr lang="en-US" sz="1600"/>
              <a:t>We need a rule for "extreme" that does not depend on eyeballing the plot</a:t>
            </a:r>
          </a:p>
          <a:p>
            <a:r>
              <a:rPr lang="en-US" sz="1600"/>
              <a:t>The </a:t>
            </a:r>
            <a:r>
              <a:rPr lang="en-US" sz="1600" b="1">
                <a:solidFill>
                  <a:srgbClr val="C00000"/>
                </a:solidFill>
              </a:rPr>
              <a:t>fences</a:t>
            </a:r>
            <a:r>
              <a:rPr lang="en-US" sz="1600"/>
              <a:t> sit an extra one and a half IQRs beyond the box:</a:t>
            </a:r>
          </a:p>
          <a:p>
            <a:pPr lvl="1"/>
            <a:r>
              <a:rPr lang="en-US" sz="1600" b="1">
                <a:latin typeface="Consolas" panose="020B0609020204030204" pitchFamily="49" charset="0"/>
              </a:rPr>
              <a:t>Q1 - 1.5(IQR)          and          Q3 + 1.5(IQR)</a:t>
            </a:r>
          </a:p>
          <a:p>
            <a:r>
              <a:rPr lang="en-US" sz="1600"/>
              <a:t>Any observation outside a fence is an </a:t>
            </a:r>
            <a:r>
              <a:rPr lang="en-US" sz="1600" b="1">
                <a:solidFill>
                  <a:srgbClr val="C00000"/>
                </a:solidFill>
              </a:rPr>
              <a:t>outlier</a:t>
            </a:r>
            <a:r>
              <a:rPr lang="en-US" sz="1600"/>
              <a:t>, and gets plotted as its own point</a:t>
            </a:r>
          </a:p>
          <a:p>
            <a:r>
              <a:rPr lang="en-US" sz="1600"/>
              <a:t>The whiskers then stop at the most extreme observation INSIDE the fences - not at the minimum and maximum</a:t>
            </a:r>
          </a:p>
          <a:p>
            <a:r>
              <a:rPr lang="en-US" sz="1600"/>
              <a:t>The fences themselves are never drawn on the plot</a:t>
            </a:r>
          </a:p>
          <a:p>
            <a:r>
              <a:rPr lang="en-US" sz="1600"/>
              <a:t>Our example: 3 - 1.5(6.5) = -6.75 and 9.5 + 1.5(6.5) = 19.25, so nothing is flagged and the whiskers reach 2 and 12</a:t>
            </a:r>
          </a:p>
          <a:p>
            <a:r>
              <a:rPr lang="en-US" sz="1600"/>
              <a:t>Being flagged does not make an observation wrong. It makes it worth a second look.</a:t>
            </a:r>
          </a:p>
          <a:p>
            <a:r>
              <a:rPr lang="en-US" sz="1600"/>
              <a:t>Careful: R's boxplot() would draw this box at 4 and 7, not 3 and 9.5 - it uses Tukey's hinges, the third row of the table back on slide 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69D8E8-25ED-D137-B516-42B577C8E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21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EEFD88EB-AD79-5435-AD3C-AD4CF8F84C8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8542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199" y="1411704"/>
                <a:ext cx="10393219" cy="501449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3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Consider the following data which come from 20 rolls of a six-sided die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                </a:t>
                </a:r>
                <a:r>
                  <a:rPr kumimoji="0" lang="en-US" sz="1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lower half 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 </a:t>
                </a:r>
                <a:r>
                  <a:rPr kumimoji="0" lang="en-US" sz="1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B05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middle</a:t>
                </a:r>
                <a:r>
                  <a:rPr kumimoji="0" 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                 </a:t>
                </a:r>
                <a:r>
                  <a:rPr kumimoji="0" lang="en-US" sz="19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upper half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kumimoji="0" lang="en-US" sz="23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Data = </a:t>
                </a:r>
                <a:r>
                  <a:rPr kumimoji="0" lang="en-US" sz="2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1, 1, 1, 2, </a:t>
                </a:r>
                <a:r>
                  <a:rPr kumimoji="0" lang="en-US" sz="2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2, 2</a:t>
                </a:r>
                <a:r>
                  <a:rPr kumimoji="0" lang="en-US" sz="2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2, 2, 2, </a:t>
                </a:r>
                <a:r>
                  <a:rPr kumimoji="0" lang="en-US" sz="2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2, 3</a:t>
                </a:r>
                <a:r>
                  <a:rPr kumimoji="0" lang="en-US" sz="2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 3, 3, 3, </a:t>
                </a:r>
                <a:r>
                  <a:rPr kumimoji="0" lang="en-US" sz="27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C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4, 5</a:t>
                </a:r>
                <a:r>
                  <a:rPr kumimoji="0" lang="en-US" sz="27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,</a:t>
                </a:r>
                <a:r>
                  <a:rPr kumimoji="0" lang="en-US" sz="27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5, 6, 6, 6</a:t>
                </a:r>
              </a:p>
              <a:p>
                <a:pPr marL="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lang="en-US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lang="en-US" sz="2300" dirty="0">
                    <a:solidFill>
                      <a:srgbClr val="00B050"/>
                    </a:solidFill>
                    <a:latin typeface="Calibri" panose="020F0502020204030204"/>
                  </a:rPr>
                  <a:t>Q2 = median </a:t>
                </a:r>
                <a14:m>
                  <m:oMath xmlns:m="http://schemas.openxmlformats.org/officeDocument/2006/math">
                    <m:r>
                      <a:rPr lang="en-US" sz="19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9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9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2+3</m:t>
                        </m:r>
                      </m:num>
                      <m:den>
                        <m:r>
                          <a:rPr lang="en-US" sz="19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9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=2.5</m:t>
                    </m:r>
                  </m:oMath>
                </a14:m>
                <a:endParaRPr kumimoji="0" lang="en-US" sz="1900" b="0" i="0" u="none" strike="noStrike" kern="1200" cap="none" spc="0" normalizeH="0" baseline="0" noProof="0" dirty="0">
                  <a:ln>
                    <a:noFill/>
                  </a:ln>
                  <a:solidFill>
                    <a:srgbClr val="00B050"/>
                  </a:solidFill>
                  <a:effectLst/>
                  <a:uLnTx/>
                  <a:uFillTx/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3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70C0"/>
                    </a:solidFill>
                    <a:effectLst/>
                    <a:uLnTx/>
                    <a:uFillTx/>
                    <a:latin typeface="Calibri" panose="020F0502020204030204"/>
                  </a:rPr>
                  <a:t>Q1 = median lower half </a:t>
                </a:r>
                <a14:m>
                  <m:oMath xmlns:m="http://schemas.openxmlformats.org/officeDocument/2006/math">
                    <m:r>
                      <a:rPr kumimoji="0" lang="en-US" sz="19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0" lang="en-US" sz="19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0" lang="en-US" sz="19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2+2</m:t>
                        </m:r>
                      </m:num>
                      <m:den>
                        <m:r>
                          <a:rPr kumimoji="0" lang="en-US" sz="19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kumimoji="0" lang="en-US" sz="19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kumimoji="0" lang="en-US" sz="1900" b="0" i="0" u="none" strike="noStrike" kern="120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Calibri" panose="020F0502020204030204"/>
                </a:endParaRPr>
              </a:p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kumimoji="0" lang="en-US" sz="23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Q3 = median upper half </a:t>
                </a:r>
                <a14:m>
                  <m:oMath xmlns:m="http://schemas.openxmlformats.org/officeDocument/2006/math">
                    <m:r>
                      <a:rPr kumimoji="0" lang="en-US" sz="19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</m:t>
                    </m:r>
                    <m:f>
                      <m:fPr>
                        <m:ctrlPr>
                          <a:rPr kumimoji="0" lang="en-US" sz="19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fPr>
                      <m:num>
                        <m:r>
                          <a:rPr kumimoji="0" lang="en-US" sz="19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4+5</m:t>
                        </m:r>
                      </m:num>
                      <m:den>
                        <m:r>
                          <a:rPr kumimoji="0" lang="en-US" sz="19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FF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den>
                    </m:f>
                    <m:r>
                      <a:rPr kumimoji="0" lang="en-US" sz="19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=4.5</m:t>
                    </m:r>
                  </m:oMath>
                </a14:m>
                <a:endParaRPr kumimoji="0" lang="en-US" sz="19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marL="228600" marR="0" lvl="0" indent="-228600" algn="l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endParaRPr kumimoji="0" 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933D906-CF81-5AD4-2902-D9DD0E0EF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1411704"/>
                <a:ext cx="10393219" cy="5014496"/>
              </a:xfrm>
              <a:prstGeom prst="rect">
                <a:avLst/>
              </a:prstGeom>
              <a:blipFill>
                <a:blip r:embed="rId2"/>
                <a:stretch>
                  <a:fillRect l="-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EA75132-6122-451D-8580-53616DB7E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61817"/>
            <a:ext cx="4783697" cy="1198880"/>
          </a:xfr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sz="4000" kern="1200" dirty="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Ex. </a:t>
            </a:r>
            <a:r>
              <a:rPr lang="en-US" sz="4000" dirty="0">
                <a:solidFill>
                  <a:srgbClr val="1F3864"/>
                </a:solidFill>
              </a:rPr>
              <a:t>Construct a Boxplot</a:t>
            </a:r>
            <a:endParaRPr lang="en-US" sz="4000" kern="1200" dirty="0">
              <a:solidFill>
                <a:srgbClr val="1F3864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A83090-59E8-EFFB-3135-1672E48B6474}"/>
              </a:ext>
            </a:extLst>
          </p:cNvPr>
          <p:cNvSpPr/>
          <p:nvPr/>
        </p:nvSpPr>
        <p:spPr>
          <a:xfrm>
            <a:off x="1939636" y="3066473"/>
            <a:ext cx="3519055" cy="48029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A39C5B-257E-372D-3412-85E2D621D863}"/>
              </a:ext>
            </a:extLst>
          </p:cNvPr>
          <p:cNvSpPr/>
          <p:nvPr/>
        </p:nvSpPr>
        <p:spPr>
          <a:xfrm>
            <a:off x="5458691" y="3066473"/>
            <a:ext cx="3519055" cy="4802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6C7B98-5A0C-A4DC-7715-7487860F3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22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8156189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CB4BA65E-42BC-C3E0-8EF0-D373FC1C12C5}"/>
              </a:ext>
            </a:extLst>
          </p:cNvPr>
          <p:cNvSpPr/>
          <p:nvPr/>
        </p:nvSpPr>
        <p:spPr>
          <a:xfrm>
            <a:off x="635000" y="1676400"/>
            <a:ext cx="10922000" cy="22479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CDEDB4-D308-EF0A-43A7-3BA893E1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Construct a Boxplot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843BF-7D1D-9153-A164-BE2AA5E36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Construct the boxplot for student exam scores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Exam Scores 61,61,65,65,66,68,69,73,74,75,76,78,79,90,94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54BA3-3EE4-E355-6CEC-1440F7097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23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3C8EF96B-2D5B-6F64-9249-6A4C511401A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C4F961-D201-AF58-9F6E-765C4644B34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625" y="4127500"/>
            <a:ext cx="5492750" cy="219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109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CC926376-94AB-9179-7369-7C7C6CDBBBFE}"/>
              </a:ext>
            </a:extLst>
          </p:cNvPr>
          <p:cNvSpPr/>
          <p:nvPr/>
        </p:nvSpPr>
        <p:spPr>
          <a:xfrm>
            <a:off x="635000" y="1676400"/>
            <a:ext cx="10922000" cy="23622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6B69AC-9E45-9EA9-B899-B3797D5B7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kern="1200" dirty="0">
                <a:solidFill>
                  <a:srgbClr val="1F3864"/>
                </a:solidFill>
                <a:latin typeface="+mj-lt"/>
                <a:ea typeface="+mj-ea"/>
                <a:cs typeface="+mj-cs"/>
              </a:rPr>
              <a:t>Ex2. </a:t>
            </a:r>
            <a:r>
              <a:rPr lang="en-US" sz="4400" dirty="0">
                <a:solidFill>
                  <a:srgbClr val="1F3864"/>
                </a:solidFill>
              </a:rPr>
              <a:t>Construct a Boxplot</a:t>
            </a:r>
            <a:endParaRPr lang="en-US" dirty="0">
              <a:solidFill>
                <a:srgbClr val="1F3864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9D6F1-D1E4-EA2F-1694-74768E613E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700" dirty="0"/>
              <a:t>Consider the following 12 observations of a quantitative variable X</a:t>
            </a:r>
          </a:p>
          <a:p>
            <a:pPr marL="0" indent="0">
              <a:buNone/>
            </a:pPr>
            <a:r>
              <a:rPr lang="en-US" sz="1700" dirty="0"/>
              <a:t>X = { -5.7, -2.6, -1.5, -1.3, -0.4, 0.2, 1.5, 2.2, 2.3, 2.6, 2.9, 10.4 }</a:t>
            </a:r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/>
              <a:t>Compute the 5 number summary and draw a boxplot</a:t>
            </a:r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/>
              <a:t>Compare the IQR with the range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26FC2-D9C8-EF57-1C53-B6A7F0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24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3CE34886-97D6-4A80-E40A-362CCC47BE2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CC1D2F0-9293-5D71-7FB1-CDC4E9B9229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9526" y="4241800"/>
            <a:ext cx="4932947" cy="20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354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2A178C-85BE-9C3D-8880-ADF68CEC9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25</a:t>
            </a:fld>
            <a:endParaRPr lang="en-US" sz="16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F572F7-4028-3BAD-0D06-22FF50BEED8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1000" y="279400"/>
            <a:ext cx="8890000" cy="5334000"/>
          </a:xfrm>
          <a:prstGeom prst="rect">
            <a:avLst/>
          </a:prstGeom>
        </p:spPr>
      </p:pic>
      <p:sp>
        <p:nvSpPr>
          <p:cNvPr id="5" name="Caption">
            <a:extLst>
              <a:ext uri="{FF2B5EF4-FFF2-40B4-BE49-F238E27FC236}">
                <a16:creationId xmlns:a16="http://schemas.microsoft.com/office/drawing/2014/main" id="{9F6E5139-DE79-325A-F07D-99D930CDF34F}"/>
              </a:ext>
            </a:extLst>
          </p:cNvPr>
          <p:cNvSpPr txBox="1"/>
          <p:nvPr/>
        </p:nvSpPr>
        <p:spPr>
          <a:xfrm>
            <a:off x="762000" y="56895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sz="1600" i="1"/>
              <a:t>Whisker lengths show skew. But the bimodal panel has the same boxplot as a symmetric one - a boxplot cannot show peaks or gaps, so read it next to a histogram.</a:t>
            </a:r>
          </a:p>
        </p:txBody>
      </p:sp>
    </p:spTree>
    <p:extLst>
      <p:ext uri="{BB962C8B-B14F-4D97-AF65-F5344CB8AC3E}">
        <p14:creationId xmlns:p14="http://schemas.microsoft.com/office/powerpoint/2010/main" val="1961021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2179</TotalTime>
  <Words>1863</Words>
  <Application>Microsoft Office PowerPoint</Application>
  <PresentationFormat>Widescreen</PresentationFormat>
  <Paragraphs>207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Calibri</vt:lpstr>
      <vt:lpstr>Calibri Light</vt:lpstr>
      <vt:lpstr>Cambria Math</vt:lpstr>
      <vt:lpstr>Consolas</vt:lpstr>
      <vt:lpstr>Office Theme</vt:lpstr>
      <vt:lpstr>Lecture 6 Measures of Spread</vt:lpstr>
      <vt:lpstr>Review</vt:lpstr>
      <vt:lpstr>A note on quartiles: which definition?</vt:lpstr>
      <vt:lpstr>Why R may give you different quartiles</vt:lpstr>
      <vt:lpstr>Our running example for the rest of today</vt:lpstr>
      <vt:lpstr>Variability of A Distribution: Measures of Spread</vt:lpstr>
      <vt:lpstr>Measures of Spread: Range</vt:lpstr>
      <vt:lpstr>Measures of Spread: Interquartile Range</vt:lpstr>
      <vt:lpstr>Practice: Finding quartiles and IQR</vt:lpstr>
      <vt:lpstr>Measures of Spread: Deviation</vt:lpstr>
      <vt:lpstr>PowerPoint Presentation</vt:lpstr>
      <vt:lpstr>The deviations always sum to zero</vt:lpstr>
      <vt:lpstr>Measures of Spread: Variance</vt:lpstr>
      <vt:lpstr>Measures of Spread: Standard Deviation</vt:lpstr>
      <vt:lpstr>Why divide by n-1 ?</vt:lpstr>
      <vt:lpstr>Try it out: computing the variance and standard deviation</vt:lpstr>
      <vt:lpstr>Your s is itself an estimate</vt:lpstr>
      <vt:lpstr>Which measures do you report?</vt:lpstr>
      <vt:lpstr>The five number summary</vt:lpstr>
      <vt:lpstr>The Boxplot (Box and Whisker Plot): A five number summary</vt:lpstr>
      <vt:lpstr>Identifying outliers: the 1.5 x IQR rule</vt:lpstr>
      <vt:lpstr>Ex. Construct a Boxplot</vt:lpstr>
      <vt:lpstr>Practice: Construct a Boxplot</vt:lpstr>
      <vt:lpstr>Ex2. Construct a Boxplot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344</cp:revision>
  <dcterms:created xsi:type="dcterms:W3CDTF">2023-08-05T23:57:41Z</dcterms:created>
  <dcterms:modified xsi:type="dcterms:W3CDTF">2026-09-09T19:13:03Z</dcterms:modified>
</cp:coreProperties>
</file>