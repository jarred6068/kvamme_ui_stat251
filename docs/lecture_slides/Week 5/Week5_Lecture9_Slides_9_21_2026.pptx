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09" r:id="rId4"/>
    <p:sldId id="272" r:id="rId5"/>
    <p:sldId id="278" r:id="rId6"/>
    <p:sldId id="279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92" r:id="rId20"/>
    <p:sldId id="310" r:id="rId21"/>
    <p:sldId id="311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  <p:sldId id="305" r:id="rId35"/>
    <p:sldId id="306" r:id="rId36"/>
    <p:sldId id="307" r:id="rId37"/>
    <p:sldId id="308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9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Sampling, Experiments and Causation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What is the difference between a parameter and a statistic?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A parameter describes the population. A statistic is computed from the sample, and we use it to estimate the parameter.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A poll calls numbers picked from a phone directory. What is the directory?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sampling frame - the list the sample is actually chosen from. Anyone not on it cannot be chosen.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What is sampling error? Would a different random sample change it?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The gap between a statistic and the parameter, just from which units were chosen. Yes - every sample differs.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4   </a:t>
            </a:r>
            <a:r>
              <a:rPr lang="en-US" b="1"/>
              <a:t>Why is a vote-now link on social media a poor way to get a sample?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It is a voluntary response sample. People choose themselves - usually the ones with strong opinions - so it is biased.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972524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5   </a:t>
            </a:r>
            <a:r>
              <a:rPr lang="en-US" b="1"/>
              <a:t>Musk's Twitter poll drew 17.5 million votes. Why doesn't that make it trustworthy?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It is still a voluntary response sample. The votes describe only the people who chose to vote.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6   </a:t>
            </a:r>
            <a:r>
              <a:rPr lang="en-US" b="1"/>
              <a:t>On the target picture, what is bias and what is standard error?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Bias: the shots are centered off the bullseye (accuracy). Standard error: how spread out the shots are (precision).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7   </a:t>
            </a:r>
            <a:r>
              <a:rPr lang="en-US" b="1"/>
              <a:t>How do we take a systematic sample of n = 20 from a list of N = 100?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k = 100/20 = 5. Pick a random start among the first 5 units, then take every 5th unit after it.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9" name="Question 4"/>
          <p:cNvSpPr/>
          <p:nvPr/>
        </p:nvSpPr>
        <p:spPr>
          <a:xfrm>
            <a:off x="838200" y="500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8   </a:t>
            </a:r>
            <a:r>
              <a:rPr lang="en-US" b="1"/>
              <a:t>Why take a separate SRS inside each class year instead of one SRS overall?</a:t>
            </a:r>
            <a:endParaRPr lang="en-US" b="1" dirty="0"/>
          </a:p>
        </p:txBody>
      </p:sp>
      <p:sp>
        <p:nvSpPr>
          <p:cNvPr id="10" name="Answer 4"/>
          <p:cNvSpPr txBox="1"/>
          <p:nvPr/>
        </p:nvSpPr>
        <p:spPr>
          <a:xfrm>
            <a:off x="1066800" y="558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>
                <a:solidFill>
                  <a:srgbClr val="C00000"/>
                </a:solidFill>
              </a:rPr>
              <a:t>A stratified sample guarantees every class year is represented - no more 2 juniors by bad luck.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8760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E6F3B-5AA8-FA32-FA36-F76E403F6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bigger sample does not fix bias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3985D-720F-E661-4B98-2B2B699C47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905000"/>
            <a:ext cx="4445000" cy="4191000"/>
          </a:xfrm>
        </p:spPr>
        <p:txBody>
          <a:bodyPr>
            <a:noAutofit/>
          </a:bodyPr>
          <a:lstStyle/>
          <a:p>
            <a:r>
              <a:rPr lang="en-US" sz="1600"/>
              <a:t>Suppose 40% of UI students exercise at least three times a week</a:t>
            </a:r>
          </a:p>
          <a:p>
            <a:r>
              <a:rPr lang="en-US" sz="1600"/>
              <a:t>Blue: 5000 simple random samples of 200 students</a:t>
            </a:r>
          </a:p>
          <a:p>
            <a:r>
              <a:rPr lang="en-US" sz="1600"/>
              <a:t>Grey: 5000 Rec Center surveys of 2000 students</a:t>
            </a:r>
          </a:p>
          <a:p>
            <a:r>
              <a:rPr lang="en-US" sz="1600"/>
              <a:t>The Rec Center survey is more </a:t>
            </a:r>
            <a:r>
              <a:rPr lang="en-US" sz="1600" b="1">
                <a:solidFill>
                  <a:srgbClr val="C00000"/>
                </a:solidFill>
              </a:rPr>
              <a:t>precise</a:t>
            </a:r>
            <a:r>
              <a:rPr lang="en-US" sz="1600"/>
              <a:t> - a smaller standard error</a:t>
            </a:r>
          </a:p>
          <a:p>
            <a:r>
              <a:rPr lang="en-US" sz="1600"/>
              <a:t>and every one of its estimates misses the truth: </a:t>
            </a:r>
            <a:r>
              <a:rPr lang="en-US" sz="1600" b="1">
                <a:solidFill>
                  <a:srgbClr val="C00000"/>
                </a:solidFill>
              </a:rPr>
              <a:t>bias</a:t>
            </a:r>
          </a:p>
          <a:p>
            <a:r>
              <a:rPr lang="en-US" sz="1600"/>
              <a:t>More data buys precision. Only a </a:t>
            </a:r>
            <a:r>
              <a:rPr lang="en-US" sz="1600" b="1">
                <a:solidFill>
                  <a:srgbClr val="C00000"/>
                </a:solidFill>
              </a:rPr>
              <a:t>better design</a:t>
            </a:r>
            <a:r>
              <a:rPr lang="en-US" sz="1600"/>
              <a:t> buys accuracy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24190-EDC9-111D-36F7-A4650D75E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l8_bias_vs_n.png">
            <a:extLst>
              <a:ext uri="{FF2B5EF4-FFF2-40B4-BE49-F238E27FC236}">
                <a16:creationId xmlns:a16="http://schemas.microsoft.com/office/drawing/2014/main" id="{234C5C45-6EA8-A3FB-1854-ABE44697922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3500" y="1905000"/>
            <a:ext cx="6858000" cy="419100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5E062A62-2B36-42B5-267B-199202BCA92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23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725DE-1FA3-4673-C2B0-0E94FC359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Proportional allocation with real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CCAB8-7CC5-6423-8BF9-48B0DE638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BF07B-2425-181A-F030-3292A7D90694}"/>
              </a:ext>
            </a:extLst>
          </p:cNvPr>
          <p:cNvSpPr txBox="1"/>
          <p:nvPr/>
        </p:nvSpPr>
        <p:spPr>
          <a:xfrm>
            <a:off x="762000" y="1905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heights.csv (on the course Data page) has N = 379 people: 262 female and 117 male. Stratify by sex for a sample of n = 30: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F1A7F7-FF53-53DE-3812-9D91CAFBEE64}"/>
              </a:ext>
            </a:extLst>
          </p:cNvPr>
          <p:cNvSpPr txBox="1"/>
          <p:nvPr/>
        </p:nvSpPr>
        <p:spPr>
          <a:xfrm>
            <a:off x="762000" y="23266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female:  30 x 262/379 = 20.74, so 21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male:    30 x 117/379 =  9.26, so 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0594E7-6F89-A1AE-A32B-8ED7F5BA9252}"/>
              </a:ext>
            </a:extLst>
          </p:cNvPr>
          <p:cNvSpPr txBox="1"/>
          <p:nvPr/>
        </p:nvSpPr>
        <p:spPr>
          <a:xfrm>
            <a:off x="762000" y="29921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Then an SRS of 21 of the women, and a separate SRS of 9 of the men</a:t>
            </a:r>
          </a:p>
        </p:txBody>
      </p:sp>
      <p:pic>
        <p:nvPicPr>
          <p:cNvPr id="9" name="l8_heights_allocation.png">
            <a:extLst>
              <a:ext uri="{FF2B5EF4-FFF2-40B4-BE49-F238E27FC236}">
                <a16:creationId xmlns:a16="http://schemas.microsoft.com/office/drawing/2014/main" id="{000F477B-2346-0354-C917-1E180135AD2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4318000"/>
            <a:ext cx="9144000" cy="190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5D097974-5BD2-F5B9-C5D0-CD0FE599CFD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5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A24FB-BD5C-3549-431E-3F17F518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2884-959E-CB8B-5FA3-97B069536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F9CE6-6733-CCDC-DB25-6ADD4D505A74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834A82-F53C-CCF8-F734-06E4B9082CAB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occurs naturally - a dorm, a classroom, a city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11F32-4B84-C7C5-F75A-7E2D88B68E4D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65F1E-DEDA-651C-46A2-16C3A2709A8F}"/>
              </a:ext>
            </a:extLst>
          </p:cNvPr>
          <p:cNvSpPr txBox="1"/>
          <p:nvPr/>
        </p:nvSpPr>
        <p:spPr>
          <a:xfrm>
            <a:off x="850900" y="3121660"/>
            <a:ext cx="5943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an SRS of clusters, then measure EVERY unit in the clusters chosen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51A1B6-C462-31CF-AB24-A95A9FB20086}"/>
              </a:ext>
            </a:extLst>
          </p:cNvPr>
          <p:cNvSpPr txBox="1"/>
          <p:nvPr/>
        </p:nvSpPr>
        <p:spPr>
          <a:xfrm>
            <a:off x="571500" y="3619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Only needs a list of clusters, not of every person - and far less travel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E6AFF6-DC4E-E6F1-4F31-409AF24F39C2}"/>
              </a:ext>
            </a:extLst>
          </p:cNvPr>
          <p:cNvSpPr txBox="1"/>
          <p:nvPr/>
        </p:nvSpPr>
        <p:spPr>
          <a:xfrm>
            <a:off x="571500" y="40665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Works best when each cluster is a mini-population: mixed inside, like each column here</a:t>
            </a:r>
          </a:p>
        </p:txBody>
      </p:sp>
      <p:pic>
        <p:nvPicPr>
          <p:cNvPr id="12" name="l8_design_cluster.png">
            <a:extLst>
              <a:ext uri="{FF2B5EF4-FFF2-40B4-BE49-F238E27FC236}">
                <a16:creationId xmlns:a16="http://schemas.microsoft.com/office/drawing/2014/main" id="{EE65C59B-8E58-2252-225A-73C8E4131E9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3788119E-74CF-C022-F71C-4A28886659F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5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9" grpId="0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96049-F16C-76DD-D687-979A5EA62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Two-stage cluster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AEF1C-2E72-AA8C-7F8D-52E42EAF8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0E76D-76B9-65AF-3D0A-CEA7CF54B198}"/>
              </a:ext>
            </a:extLst>
          </p:cNvPr>
          <p:cNvSpPr txBox="1"/>
          <p:nvPr/>
        </p:nvSpPr>
        <p:spPr>
          <a:xfrm>
            <a:off x="571500" y="184150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two-stage cluster sample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7B30FB-A637-0871-AD41-355647816C77}"/>
              </a:ext>
            </a:extLst>
          </p:cNvPr>
          <p:cNvSpPr txBox="1"/>
          <p:nvPr/>
        </p:nvSpPr>
        <p:spPr>
          <a:xfrm>
            <a:off x="850900" y="2110739"/>
            <a:ext cx="5943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stage 1: an SRS of clusters.  Stage 2: an SRS of units inside each chosen cluster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1A80A2-F776-CC7D-F274-4DD8D2949385}"/>
              </a:ext>
            </a:extLst>
          </p:cNvPr>
          <p:cNvSpPr txBox="1"/>
          <p:nvPr/>
        </p:nvSpPr>
        <p:spPr>
          <a:xfrm>
            <a:off x="571500" y="2852420"/>
            <a:ext cx="6223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Here: 4 of the 10 columns, then 5 students in each, n = 20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FA3B2B-7F32-FCEE-6C85-137E9FC671C7}"/>
              </a:ext>
            </a:extLst>
          </p:cNvPr>
          <p:cNvSpPr txBox="1"/>
          <p:nvPr/>
        </p:nvSpPr>
        <p:spPr>
          <a:xfrm>
            <a:off x="571500" y="329945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Exit polls work this way: sample polling places, then interview every nth voter leaving each one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63B701-CECB-5097-5529-4525B1F0656F}"/>
              </a:ext>
            </a:extLst>
          </p:cNvPr>
          <p:cNvSpPr txBox="1"/>
          <p:nvPr/>
        </p:nvSpPr>
        <p:spPr>
          <a:xfrm>
            <a:off x="571500" y="3990339"/>
            <a:ext cx="622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National surveys such as NHANES stack it all: strata, clusters inside strata, households inside clusters</a:t>
            </a:r>
          </a:p>
        </p:txBody>
      </p:sp>
      <p:pic>
        <p:nvPicPr>
          <p:cNvPr id="11" name="l8_design_two_stage.png">
            <a:extLst>
              <a:ext uri="{FF2B5EF4-FFF2-40B4-BE49-F238E27FC236}">
                <a16:creationId xmlns:a16="http://schemas.microsoft.com/office/drawing/2014/main" id="{FFD9DA9A-8CC3-2C6C-1F81-A2A41E0E4D7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000" y="1778000"/>
            <a:ext cx="4572000" cy="4572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F0524DA0-2144-8157-3A1C-7AFFB817194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39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3D759-6589-044E-A5F4-2A25AB5E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Strata vs. clusters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72818-8AA4-8C8E-31B7-9C3197656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pic>
        <p:nvPicPr>
          <p:cNvPr id="6" name="l8_three_designs.png">
            <a:extLst>
              <a:ext uri="{FF2B5EF4-FFF2-40B4-BE49-F238E27FC236}">
                <a16:creationId xmlns:a16="http://schemas.microsoft.com/office/drawing/2014/main" id="{A68FD79A-6305-EA61-8669-76C7430B6E8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752600"/>
            <a:ext cx="10922000" cy="4191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BCF5F1-3ED6-FA54-061E-593F582EE09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b="1">
                <a:solidFill>
                  <a:srgbClr val="1F3864"/>
                </a:solidFill>
              </a:rPr>
              <a:t>Strata: alike inside - sample from EVERY one.     Clusters: mixed inside - sample SOME, whole.</a:t>
            </a:r>
          </a:p>
        </p:txBody>
      </p:sp>
    </p:spTree>
    <p:extLst>
      <p:ext uri="{BB962C8B-B14F-4D97-AF65-F5344CB8AC3E}">
        <p14:creationId xmlns:p14="http://schemas.microsoft.com/office/powerpoint/2010/main" val="3464719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23A8B403-CAA9-6BE3-A2D6-370954658E26}"/>
              </a:ext>
            </a:extLst>
          </p:cNvPr>
          <p:cNvSpPr/>
          <p:nvPr/>
        </p:nvSpPr>
        <p:spPr>
          <a:xfrm>
            <a:off x="762000" y="430022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DB226C1-EB15-02C4-2DDA-EF28B380F4E6}"/>
              </a:ext>
            </a:extLst>
          </p:cNvPr>
          <p:cNvSpPr/>
          <p:nvPr/>
        </p:nvSpPr>
        <p:spPr>
          <a:xfrm>
            <a:off x="762000" y="307086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D693D69B-6061-5D41-654C-F51E8969D956}"/>
              </a:ext>
            </a:extLst>
          </p:cNvPr>
          <p:cNvSpPr/>
          <p:nvPr/>
        </p:nvSpPr>
        <p:spPr>
          <a:xfrm>
            <a:off x="762000" y="184150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64EEC-AEDC-13FC-C31B-557FD7F6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Two kinds of error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B1CC95-C9A5-3048-6EE3-083C5E102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D3F9A6-81F3-EE4F-08F3-DA677F1891CD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A014A0-7484-60C9-7401-F6A703F6FC4E}"/>
              </a:ext>
            </a:extLst>
          </p:cNvPr>
          <p:cNvSpPr txBox="1"/>
          <p:nvPr/>
        </p:nvSpPr>
        <p:spPr>
          <a:xfrm>
            <a:off x="4013200" y="194310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natural gap between a sample and the population, caused by which units happened to be chosen</a:t>
            </a:r>
          </a:p>
          <a:p>
            <a:r>
              <a:rPr lang="en-US" i="1">
                <a:solidFill>
                  <a:srgbClr val="595959"/>
                </a:solidFill>
              </a:rPr>
              <a:t>every sample has some - a larger sample makes it smaller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D63AAF-CDBB-FC92-3E67-2DC3B2E0D3FE}"/>
              </a:ext>
            </a:extLst>
          </p:cNvPr>
          <p:cNvSpPr txBox="1"/>
          <p:nvPr/>
        </p:nvSpPr>
        <p:spPr>
          <a:xfrm>
            <a:off x="914400" y="317246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nonsampling error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40826-8BB7-EE20-2E4D-41CD635218F6}"/>
              </a:ext>
            </a:extLst>
          </p:cNvPr>
          <p:cNvSpPr txBox="1"/>
          <p:nvPr/>
        </p:nvSpPr>
        <p:spPr>
          <a:xfrm>
            <a:off x="4013200" y="317246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errors that do not come from chance - biased methods, bad questions, data-entry mistakes, faulty instruments</a:t>
            </a:r>
          </a:p>
          <a:p>
            <a:r>
              <a:rPr lang="en-US" i="1">
                <a:solidFill>
                  <a:srgbClr val="595959"/>
                </a:solidFill>
              </a:rPr>
              <a:t>a larger sample does not make these smaller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633517-E064-B119-4728-E6FDE708798C}"/>
              </a:ext>
            </a:extLst>
          </p:cNvPr>
          <p:cNvSpPr txBox="1"/>
          <p:nvPr/>
        </p:nvSpPr>
        <p:spPr>
          <a:xfrm>
            <a:off x="914400" y="44018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sampling bias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A1AE1-9AED-46DD-25B7-2E2B1AA57C4A}"/>
              </a:ext>
            </a:extLst>
          </p:cNvPr>
          <p:cNvSpPr txBox="1"/>
          <p:nvPr/>
        </p:nvSpPr>
        <p:spPr>
          <a:xfrm>
            <a:off x="4013200" y="440182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some members of the population are less likely to be chosen than others</a:t>
            </a:r>
          </a:p>
          <a:p>
            <a:r>
              <a:rPr lang="en-US" i="1">
                <a:solidFill>
                  <a:srgbClr val="595959"/>
                </a:solidFill>
              </a:rPr>
              <a:t>convenience and voluntary response samples, or a frame that leaves people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E118F2C-5AC8-29C7-6207-F3DA63B7D96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47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DD5BB63E-3EA2-F0FB-5E89-A169F5F63425}"/>
              </a:ext>
            </a:extLst>
          </p:cNvPr>
          <p:cNvSpPr/>
          <p:nvPr/>
        </p:nvSpPr>
        <p:spPr>
          <a:xfrm>
            <a:off x="762000" y="420878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C8545C68-728D-3DBC-8856-E53F52C1B3D9}"/>
              </a:ext>
            </a:extLst>
          </p:cNvPr>
          <p:cNvSpPr/>
          <p:nvPr/>
        </p:nvSpPr>
        <p:spPr>
          <a:xfrm>
            <a:off x="762000" y="32537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4AA8FAE9-8DC7-B2A0-44CD-52960C69B86E}"/>
              </a:ext>
            </a:extLst>
          </p:cNvPr>
          <p:cNvSpPr/>
          <p:nvPr/>
        </p:nvSpPr>
        <p:spPr>
          <a:xfrm>
            <a:off x="762000" y="2298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5C7FE2-DED0-DF94-72E3-76FCDB232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Three common nonsampling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7756A-EA9C-ACC1-25C6-DB720DDD8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AB3F2F-0B42-8831-992A-4E3802B15C93}"/>
              </a:ext>
            </a:extLst>
          </p:cNvPr>
          <p:cNvSpPr txBox="1"/>
          <p:nvPr/>
        </p:nvSpPr>
        <p:spPr>
          <a:xfrm>
            <a:off x="762000" y="1841500"/>
            <a:ext cx="106680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Even a perfectly random design can end up biased: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08314-0CC3-5177-9B67-07586A023635}"/>
              </a:ext>
            </a:extLst>
          </p:cNvPr>
          <p:cNvSpPr txBox="1"/>
          <p:nvPr/>
        </p:nvSpPr>
        <p:spPr>
          <a:xfrm>
            <a:off x="914400" y="2400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undercoverage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D2D80-EC4C-68D9-D43B-33D78AF08FD1}"/>
              </a:ext>
            </a:extLst>
          </p:cNvPr>
          <p:cNvSpPr txBox="1"/>
          <p:nvPr/>
        </p:nvSpPr>
        <p:spPr>
          <a:xfrm>
            <a:off x="4013200" y="2400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sampling frame leaves part of the population out</a:t>
            </a:r>
          </a:p>
          <a:p>
            <a:r>
              <a:rPr lang="en-US" i="1">
                <a:solidFill>
                  <a:srgbClr val="595959"/>
                </a:solidFill>
              </a:rPr>
              <a:t>students who are not on the list you sampled from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58AC8D-1C6E-890A-F148-8C98005A5368}"/>
              </a:ext>
            </a:extLst>
          </p:cNvPr>
          <p:cNvSpPr txBox="1"/>
          <p:nvPr/>
        </p:nvSpPr>
        <p:spPr>
          <a:xfrm>
            <a:off x="914400" y="33553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nonresponse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FA4A44-B99B-F127-11E3-A826DA55FCF2}"/>
              </a:ext>
            </a:extLst>
          </p:cNvPr>
          <p:cNvSpPr txBox="1"/>
          <p:nvPr/>
        </p:nvSpPr>
        <p:spPr>
          <a:xfrm>
            <a:off x="4013200" y="33553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who are chosen cannot be reached, or refuse to answer</a:t>
            </a:r>
          </a:p>
          <a:p>
            <a:r>
              <a:rPr lang="en-US" i="1">
                <a:solidFill>
                  <a:srgbClr val="595959"/>
                </a:solidFill>
              </a:rPr>
              <a:t>a problem when the people who do not answer differ from those who do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6C9A0E-3FF6-5F4F-388B-DDF252F3F7BD}"/>
              </a:ext>
            </a:extLst>
          </p:cNvPr>
          <p:cNvSpPr txBox="1"/>
          <p:nvPr/>
        </p:nvSpPr>
        <p:spPr>
          <a:xfrm>
            <a:off x="914400" y="4310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bias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3CE1B-C94D-3503-4E43-FC5847C34E55}"/>
              </a:ext>
            </a:extLst>
          </p:cNvPr>
          <p:cNvSpPr txBox="1"/>
          <p:nvPr/>
        </p:nvSpPr>
        <p:spPr>
          <a:xfrm>
            <a:off x="4013200" y="431038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answers themselves are wrong</a:t>
            </a:r>
          </a:p>
          <a:p>
            <a:r>
              <a:rPr lang="en-US" i="1">
                <a:solidFill>
                  <a:srgbClr val="595959"/>
                </a:solidFill>
              </a:rPr>
              <a:t>leading or confusing questions, sensitive topics, wanting to please the interviewer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618AECC-D5FC-BBC6-16CC-A46A88B0572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694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BC30F-FE23-34A2-8070-9BE65D2DF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Nonresponse: when nobody picks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E6F44-2A76-793A-043A-08A9FB8E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2ADB7B-1189-1655-8200-D65A4A1F9291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Pew Research Center reached 36% of the people it called for its phone surveys in 1997. By 2018 it reached 6%.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8F050F-9CE6-CDAA-2EA3-4E0A75A555B8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Does a 6% response rate automatically make a survey biased?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BAA9D-EED2-9FEE-FC7C-BEBC1EB5614F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only if the people who answer differ from the people who do not. The trouble is that you usually cannot check.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9F6C6-619A-EC51-149D-30AF04709744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In 2020, national polls in the final two weeks overstated Biden's margin by 3.9 points on average - the largest error in 40 years. What could cause that?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4CF00F-69F2-2D2C-C726-EC572859921B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pollsters' own task force concluded that at least some of the error came from nonresponse: the people who answered differed from those who did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85E25-6555-D74C-5812-4A01CD2716EB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Pew Research Center (2019); AAPOR Task Force on 2020 Pre-Election Polling (2021)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5388C1-F6C9-2CC5-12C3-4EE502AE9F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76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84FB8-131C-CD66-6D35-E547EB1D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Question wording: same law, two names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02B64-5B6B-DDCB-7308-2F771CFD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6F6AE-F7DC-E672-67CB-83C138622793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In September 2013, CNBC asked half of its poll respondents about “Obamacare” and the other half about “the Affordable Care Act” - the same law.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5BCC4-EDEE-8F47-EF6A-B7F45B3442CD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Which name do you think drew more opposition?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055AB-3BD9-15C6-4864-B93CE66D179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Obamacare: 46% opposed it, against 37% for the Affordable Care Act.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846B4-5FEC-6BAC-D100-DCC8A67EEF9F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So did fewer people support Obamacare, too?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26C3AE-0131-5C64-FEE7-521026B9665D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- 29% supported Obamacare and 22% the ACA. 30% said they did not know about the ACA, but only 12% about Obamacare.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44738A-850C-94A5-8BF5-8D7B9ABAF140}"/>
              </a:ext>
            </a:extLst>
          </p:cNvPr>
          <p:cNvSpPr txBox="1"/>
          <p:nvPr/>
        </p:nvSpPr>
        <p:spPr>
          <a:xfrm>
            <a:off x="762000" y="43865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this tell you about survey questions?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9BA77-C486-61E6-94C8-0A8BBAFA0E6E}"/>
              </a:ext>
            </a:extLst>
          </p:cNvPr>
          <p:cNvSpPr txBox="1"/>
          <p:nvPr/>
        </p:nvSpPr>
        <p:spPr>
          <a:xfrm>
            <a:off x="1117600" y="46812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words in a question change the answers. A familiar, politically loaded name pulled people off the fence.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33F665-24AD-B31C-EFB7-2CA4D78C0A26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 (September 27, 2013); Harvard Political Review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973C24F-319A-12C4-D3F2-B67CE41050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8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4581-A7B8-058F-CE00-7D2789AD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name the sampling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DB3-321E-5463-C253-6D7E97AC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274E0-0312-B057-A4C4-76E1E2E044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reporter interviews the first 50 students who walk out of the Idaho Student Union Building.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BA503-495C-07C2-CB72-E174ACD67A25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only students who happen to pass the SUB can be chosen.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2BAA32-B5BB-1FA1-716F-2D93D0A390FB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 numbers every enrolled student, and a computer picks 200 of the numbers at random.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76B3F-5477-00E3-27D5-828B6BE3AB4E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43331-0DAF-78F9-4749-53B896EBE422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principal polls 50 first-years, 50 sophomores, 50 juniors and 50 seniors, chosen at random within each year.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9D8FD-2696-7FAE-6F81-0D2CA68A2BE1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 - the class years are the strata.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0E4CB-A494-2804-FF46-F58AA4F79F9E}"/>
              </a:ext>
            </a:extLst>
          </p:cNvPr>
          <p:cNvSpPr txBox="1"/>
          <p:nvPr/>
        </p:nvSpPr>
        <p:spPr>
          <a:xfrm>
            <a:off x="762000" y="4218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5 of the 40 apartment buildings in town are chosen at random, and every household in them is surveyed.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09785-9111-F45E-6739-FD1FCD7CFB62}"/>
              </a:ext>
            </a:extLst>
          </p:cNvPr>
          <p:cNvSpPr txBox="1"/>
          <p:nvPr/>
        </p:nvSpPr>
        <p:spPr>
          <a:xfrm>
            <a:off x="1117600" y="4513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 - the buildings are the clusters.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2B130-480D-FFEA-63DC-70CD80DD6359}"/>
              </a:ext>
            </a:extLst>
          </p:cNvPr>
          <p:cNvSpPr txBox="1"/>
          <p:nvPr/>
        </p:nvSpPr>
        <p:spPr>
          <a:xfrm>
            <a:off x="762000" y="5011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5.</a:t>
            </a:r>
            <a:r>
              <a:rPr lang="en-US" sz="1600">
                <a:solidFill>
                  <a:srgbClr val="000000"/>
                </a:solidFill>
              </a:rPr>
              <a:t>  A medical researcher interviews every third patient on a hospital list, starting from a randomly chosen one of the first three.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ABF5D8-B607-D737-5983-9B9364B7B05E}"/>
              </a:ext>
            </a:extLst>
          </p:cNvPr>
          <p:cNvSpPr txBox="1"/>
          <p:nvPr/>
        </p:nvSpPr>
        <p:spPr>
          <a:xfrm>
            <a:off x="1117600" y="5306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sample, with k = 3.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DCB1E00-6304-AA9E-D05E-EAC6156E4E0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CE20B6-38A7-15FC-A780-9236ED5B251A}"/>
              </a:ext>
            </a:extLst>
          </p:cNvPr>
          <p:cNvSpPr/>
          <p:nvPr/>
        </p:nvSpPr>
        <p:spPr>
          <a:xfrm>
            <a:off x="635000" y="1752600"/>
            <a:ext cx="10922000" cy="2286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63740-143A-20EF-58DF-B74D9BEE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course project: Part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6C05-48F2-7DC9-0EF2-19875F895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Part 3</a:t>
            </a:r>
            <a:r>
              <a:rPr lang="en-US" sz="1600"/>
              <a:t> asks you to draw a sample of 20 to 30 observations from your dataset</a:t>
            </a:r>
          </a:p>
          <a:p>
            <a:r>
              <a:rPr lang="en-US" sz="1600"/>
              <a:t>Pick a design: simple random, systematic, stratified or cluster sampling</a:t>
            </a:r>
          </a:p>
          <a:p>
            <a:r>
              <a:rPr lang="en-US" sz="1600"/>
              <a:t>Say exactly how you drew it - the method, n, and the tool - so someone else could repeat it</a:t>
            </a:r>
          </a:p>
          <a:p>
            <a:r>
              <a:rPr lang="en-US" sz="1600"/>
              <a:t>Justify the choice for YOUR data: is there a natural group to stratify on? natural clusters?</a:t>
            </a:r>
          </a:p>
          <a:p>
            <a:r>
              <a:rPr lang="en-US" sz="1600"/>
              <a:t>Name any bias your method could introduce</a:t>
            </a:r>
          </a:p>
          <a:p>
            <a:r>
              <a:rPr lang="en-US" sz="1600" b="1">
                <a:solidFill>
                  <a:srgbClr val="C00000"/>
                </a:solidFill>
              </a:rPr>
              <a:t>Steps 1 to 4</a:t>
            </a:r>
            <a:r>
              <a:rPr lang="en-US" sz="1600"/>
              <a:t> of the project can be started as soon as this lecture is finished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9CF3-35F0-165A-7204-570EF649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4587468-C3E1-89FF-09F9-A150441DB07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81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5552-A4BF-1448-5C51-D2350D33A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Part 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AD4-41B8-DB7F-DFB2-FA8D0099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0522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BA60B263-976A-5CE5-8272-06ECCD1782D2}"/>
              </a:ext>
            </a:extLst>
          </p:cNvPr>
          <p:cNvSpPr/>
          <p:nvPr/>
        </p:nvSpPr>
        <p:spPr>
          <a:xfrm>
            <a:off x="762000" y="44907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73797005-D6BA-BE76-B18D-7DB36CA669FC}"/>
              </a:ext>
            </a:extLst>
          </p:cNvPr>
          <p:cNvSpPr/>
          <p:nvPr/>
        </p:nvSpPr>
        <p:spPr>
          <a:xfrm>
            <a:off x="762000" y="35864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69840F7-0E13-9381-8D34-7E063722E17D}"/>
              </a:ext>
            </a:extLst>
          </p:cNvPr>
          <p:cNvSpPr/>
          <p:nvPr/>
        </p:nvSpPr>
        <p:spPr>
          <a:xfrm>
            <a:off x="762000" y="26822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E51AF47B-0951-E409-02DA-7B830ECEC321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FA2C48-23E4-4878-293C-39723AFE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Observational studies and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904D-CB03-8A6F-22D8-860FA141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B3D1F-9CFB-F8B7-A4BB-31E30E9ABF20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D33E3-5943-711A-B3A7-4F7C76D2D91F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outcome we measure</a:t>
            </a:r>
          </a:p>
          <a:p>
            <a:r>
              <a:rPr lang="en-US" i="1">
                <a:solidFill>
                  <a:srgbClr val="595959"/>
                </a:solidFill>
              </a:rPr>
              <a:t>heart disease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1B318-B44F-515D-1570-E10C21509C1A}"/>
              </a:ext>
            </a:extLst>
          </p:cNvPr>
          <p:cNvSpPr txBox="1"/>
          <p:nvPr/>
        </p:nvSpPr>
        <p:spPr>
          <a:xfrm>
            <a:off x="914400" y="27838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explanatory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F129D-9E98-47B7-99C4-3797F7604661}"/>
              </a:ext>
            </a:extLst>
          </p:cNvPr>
          <p:cNvSpPr txBox="1"/>
          <p:nvPr/>
        </p:nvSpPr>
        <p:spPr>
          <a:xfrm>
            <a:off x="4013200" y="27838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variable we think explains or influences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hormone therapy (yes or no)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5F996-D838-8944-A200-71D57A7B9D53}"/>
              </a:ext>
            </a:extLst>
          </p:cNvPr>
          <p:cNvSpPr txBox="1"/>
          <p:nvPr/>
        </p:nvSpPr>
        <p:spPr>
          <a:xfrm>
            <a:off x="914400" y="36880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observational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DA115-0F9C-A8C1-A8EF-9F1BE5A2D48E}"/>
              </a:ext>
            </a:extLst>
          </p:cNvPr>
          <p:cNvSpPr txBox="1"/>
          <p:nvPr/>
        </p:nvSpPr>
        <p:spPr>
          <a:xfrm>
            <a:off x="4013200" y="36880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observe individuals and measure variables, without influencing anything</a:t>
            </a:r>
          </a:p>
          <a:p>
            <a:r>
              <a:rPr lang="en-US" i="1">
                <a:solidFill>
                  <a:srgbClr val="595959"/>
                </a:solidFill>
              </a:rPr>
              <a:t>survey women about the hormones they chose to take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2C101-798C-B303-319A-F4AB6DA42C79}"/>
              </a:ext>
            </a:extLst>
          </p:cNvPr>
          <p:cNvSpPr txBox="1"/>
          <p:nvPr/>
        </p:nvSpPr>
        <p:spPr>
          <a:xfrm>
            <a:off x="914400" y="45923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91DFC-44B2-46A4-A39A-1243F86B104A}"/>
              </a:ext>
            </a:extLst>
          </p:cNvPr>
          <p:cNvSpPr txBox="1"/>
          <p:nvPr/>
        </p:nvSpPr>
        <p:spPr>
          <a:xfrm>
            <a:off x="4013200" y="45923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researcher deliberately assigns treatments, then measures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randomly assign women to hormones or a placebo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15352-59F5-E396-6639-A433A1F79951}"/>
              </a:ext>
            </a:extLst>
          </p:cNvPr>
          <p:cNvSpPr txBox="1"/>
          <p:nvPr/>
        </p:nvSpPr>
        <p:spPr>
          <a:xfrm>
            <a:off x="762000" y="54203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Ask: who decided which group each unit ended up in? The units themselves -&gt; observational. The researcher -&gt; experiment.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7F0848F-4234-6352-776D-6A856730F9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F846-6815-E010-8F4E-0E679E8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Association is not causation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66D85-78FC-A3ED-348A-07D5FD0B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88A43-C5A7-802F-BDBD-CCE30CC783EF}"/>
              </a:ext>
            </a:extLst>
          </p:cNvPr>
          <p:cNvSpPr txBox="1"/>
          <p:nvPr/>
        </p:nvSpPr>
        <p:spPr>
          <a:xfrm>
            <a:off x="5715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association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24555-BA7F-CDD8-B0F1-68F3508220D3}"/>
              </a:ext>
            </a:extLst>
          </p:cNvPr>
          <p:cNvSpPr txBox="1"/>
          <p:nvPr/>
        </p:nvSpPr>
        <p:spPr>
          <a:xfrm>
            <a:off x="850900" y="211074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move together in the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EEA9D-6F6C-F4AB-EC91-DDB4B28CCAA3}"/>
              </a:ext>
            </a:extLst>
          </p:cNvPr>
          <p:cNvSpPr txBox="1"/>
          <p:nvPr/>
        </p:nvSpPr>
        <p:spPr>
          <a:xfrm>
            <a:off x="571500" y="25323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EF420A-5F7F-DABA-6144-A5522D27D0DF}"/>
              </a:ext>
            </a:extLst>
          </p:cNvPr>
          <p:cNvSpPr txBox="1"/>
          <p:nvPr/>
        </p:nvSpPr>
        <p:spPr>
          <a:xfrm>
            <a:off x="850900" y="280162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changing one variable would change the other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96CCB-5F2E-7A85-75DB-483DA92E48F9}"/>
              </a:ext>
            </a:extLst>
          </p:cNvPr>
          <p:cNvSpPr txBox="1"/>
          <p:nvPr/>
        </p:nvSpPr>
        <p:spPr>
          <a:xfrm>
            <a:off x="571500" y="3223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lurking variable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A6BA3-C0B9-84D6-D5F1-8F2A8EC788BC}"/>
              </a:ext>
            </a:extLst>
          </p:cNvPr>
          <p:cNvSpPr txBox="1"/>
          <p:nvPr/>
        </p:nvSpPr>
        <p:spPr>
          <a:xfrm>
            <a:off x="850900" y="349249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variable not in the study that influences both the explanatory and the 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F8AA2-EB6E-B099-A9C7-80584E6C21C7}"/>
              </a:ext>
            </a:extLst>
          </p:cNvPr>
          <p:cNvSpPr txBox="1"/>
          <p:nvPr/>
        </p:nvSpPr>
        <p:spPr>
          <a:xfrm>
            <a:off x="571500" y="41579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E3446-E4E6-ABA6-1DE4-FE0D3ACC824E}"/>
              </a:ext>
            </a:extLst>
          </p:cNvPr>
          <p:cNvSpPr txBox="1"/>
          <p:nvPr/>
        </p:nvSpPr>
        <p:spPr>
          <a:xfrm>
            <a:off x="850900" y="442721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whose effects on the response cannot be separated</a:t>
            </a:r>
          </a:p>
        </p:txBody>
      </p:sp>
      <p:pic>
        <p:nvPicPr>
          <p:cNvPr id="14" name="l8_confounding.png">
            <a:extLst>
              <a:ext uri="{FF2B5EF4-FFF2-40B4-BE49-F238E27FC236}">
                <a16:creationId xmlns:a16="http://schemas.microsoft.com/office/drawing/2014/main" id="{DA6A759B-A5B3-3C3F-6E71-07F7A573524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400" y="1905000"/>
            <a:ext cx="5842000" cy="3175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DCA095-5637-5F84-8712-02A1A02FE668}"/>
              </a:ext>
            </a:extLst>
          </p:cNvPr>
          <p:cNvSpPr txBox="1"/>
          <p:nvPr/>
        </p:nvSpPr>
        <p:spPr>
          <a:xfrm>
            <a:off x="6121400" y="5206999"/>
            <a:ext cx="5842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Ice cream sales and drownings rise together. The lurking variable: hot weather. The association is real - the causal story is not.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B65428A-4306-892C-0D7E-F8DB58E21C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Hormone therapy and heart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Large observational studies, such as the Nurses' Health Study, found that women who took hormone therapy after menopause had less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Women's Health Initiative then randomly assigned 16,608 women aged 50 to 79 to estrogen plus progestin or a placebo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It was stopped early in 2002 because the risks outweighed the benefits: more breast cancer, and MORE heart disease, not less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observational studies point the wrong way?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variables.</a:t>
            </a:r>
          </a:p>
          <a:p>
            <a:r>
              <a:rPr lang="en-US" sz="1600">
                <a:solidFill>
                  <a:srgbClr val="000000"/>
                </a:solidFill>
              </a:rPr>
              <a:t>Women who chose hormone therapy tended to be wealthier, better educated and healthier to start with - and that,</a:t>
            </a:r>
          </a:p>
          <a:p>
            <a:r>
              <a:rPr lang="en-US" sz="1600">
                <a:solidFill>
                  <a:srgbClr val="000000"/>
                </a:solidFill>
              </a:rPr>
              <a:t>not the hormones, lowered their heart risk. Random assignment balanced those differences out.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Writing Group for the WHI Investigators (2002), JAMA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C90A-874C-9408-C3AA-9D7B0825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we claim cause without an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80207-1BC0-55AF-A06B-5004730EF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/>
              <a:t>Nobody can randomly assign people to smoke for thirty years - or randomly assign their birth order</a:t>
            </a:r>
          </a:p>
          <a:p>
            <a:r>
              <a:rPr lang="en-US" sz="1600"/>
              <a:t>Yet we are confident that smoking causes lung cancer. Decades of observational studies found:</a:t>
            </a:r>
          </a:p>
          <a:p>
            <a:pPr lvl="1"/>
            <a:r>
              <a:rPr lang="en-US" sz="1600"/>
              <a:t>a strong association, found again and again in different populations</a:t>
            </a:r>
          </a:p>
          <a:p>
            <a:pPr lvl="1"/>
            <a:r>
              <a:rPr lang="en-US" sz="1600"/>
              <a:t>a dose-response pattern: the more cigarettes, the higher the risk</a:t>
            </a:r>
          </a:p>
          <a:p>
            <a:pPr lvl="1"/>
            <a:r>
              <a:rPr lang="en-US" sz="1600"/>
              <a:t>the right order in time: the smoking comes before the cancer</a:t>
            </a:r>
          </a:p>
          <a:p>
            <a:pPr lvl="1"/>
            <a:r>
              <a:rPr lang="en-US" sz="1600"/>
              <a:t>a plausible biological explanation, backed by laboratory evidence</a:t>
            </a:r>
          </a:p>
          <a:p>
            <a:r>
              <a:rPr lang="en-US" sz="1600"/>
              <a:t>The 2014 Surgeon General's report: smoking causes at least 480,000 premature U.S. deaths a year, about 127,700 of them from lung cancer</a:t>
            </a:r>
          </a:p>
          <a:p>
            <a:r>
              <a:rPr lang="en-US" sz="1600"/>
              <a:t>Without an experiment, a causal claim needs this much evidence - </a:t>
            </a:r>
            <a:r>
              <a:rPr lang="en-US" sz="1600" b="1">
                <a:solidFill>
                  <a:srgbClr val="C00000"/>
                </a:solidFill>
              </a:rPr>
              <a:t>never one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729E7-FFA2-29BB-2354-01F49A3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0B40C-8745-6E52-D76C-46CA53ABD2E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U.S. Department of Health and Human Services (2014)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1939F72A-BEBD-8766-65C6-B4203F49E6A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AF1E-8589-CA56-2E20-310C69FE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In the news: light at night and the heart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15A37-0A40-9416-1F1A-D02A04EF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A0F3E-BC1C-AB3C-7C49-4F27FBFE7DC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September 2026, European Heart Journal: 11,071 UK Biobank adults wore a wrist light sensor for 7 days in 2013-2015. About 3 years later, each one had an MRI of their heart.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D82CE-DE26-541E-BE77-216218034116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Is this an observational study or an experiment?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8CA01-16A8-B0CA-E9BB-3617458ABCF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Observational. Nobody was assigned a bright or a dark bedroom - the light people already had was measured.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BB752-313E-E3BB-C8C6-DE8F8D78217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People with the most light above 3 lux had 1.5% thicker heart walls than people with none. Did the light cause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F69E3-89A7-0A3C-BBC9-7A78B36DF97D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This study cannot tell us. It shows an association - the authors say their design cannot establish cause.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917509-9C7A-F531-8F14-27897C39BE49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press release was titled “Too much light at night changes the shape and working of the heart.” Fair?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9195F8-8C3F-F2C2-86AF-1FB585FE33AE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It goes too far. The paper says more night light was associated with these changes, not that it changed the heart.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609FA-BB60-2749-A121-ABA24D881BC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Journal; ESC press release (2026)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4D05FFE-5C77-3343-F6ED-D73A8174B6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3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C2DC-B562-4055-A05F-8710B472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Light at night: how strong is the evidence?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2B145-B9E0-9EDE-7846-E574CD9C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AEBD8-9C55-5C87-F654-606BB91A9C10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The authors adjusted for age, smoking, physical activity, BMI, air pollution, deprivation and more. The heart changes grew steadily as night light went 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A5382-396D-E973-8156-DC5F1BD9BB9E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adjusted for many variables. Is that as good as random assignment?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A6341D-833D-A973-E4BF-28891FD5C0E1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Adjusting only handles what was measured. Traffic noise was not, and the editorial says it could confound.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A17D4-67C2-6627-E29A-DF60916A80D5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Which features from the smoking evidence does this study have? What is it missing?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4B5EC4-D245-95DB-F64C-842A74A83A0B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Time order, a dose-response and a plausible link (shorter sleep). Missing: many studies finding it again.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03FFF-2F51-C42D-11A4-AF232C48DCA4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participants were volunteers, mostly White and healthier than average. Who can we generalize to?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E4E28-6180-4AD7-A8E4-C0D783A498E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people like them. Volunteers are not a random sample of any population.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E55E86-0C35-38F8-CFD9-DADE4335E1C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2CA0A45-4556-612D-4893-11505401BA1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9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5B6B4083-6A76-3AB1-6E4E-BD2ABB06907C}"/>
              </a:ext>
            </a:extLst>
          </p:cNvPr>
          <p:cNvSpPr/>
          <p:nvPr/>
        </p:nvSpPr>
        <p:spPr>
          <a:xfrm>
            <a:off x="762000" y="45847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728E254B-B963-8B15-E6D8-B608C62B921F}"/>
              </a:ext>
            </a:extLst>
          </p:cNvPr>
          <p:cNvSpPr/>
          <p:nvPr/>
        </p:nvSpPr>
        <p:spPr>
          <a:xfrm>
            <a:off x="762000" y="3898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56B8FF7B-CD8F-BC90-921C-D691BD6A67E6}"/>
              </a:ext>
            </a:extLst>
          </p:cNvPr>
          <p:cNvSpPr/>
          <p:nvPr/>
        </p:nvSpPr>
        <p:spPr>
          <a:xfrm>
            <a:off x="762000" y="32131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4A85B32D-EFA9-B551-D206-9D3E66E3F717}"/>
              </a:ext>
            </a:extLst>
          </p:cNvPr>
          <p:cNvSpPr/>
          <p:nvPr/>
        </p:nvSpPr>
        <p:spPr>
          <a:xfrm>
            <a:off x="762000" y="25273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388A91A-393F-5A40-E3CF-608DDC8059D1}"/>
              </a:ext>
            </a:extLst>
          </p:cNvPr>
          <p:cNvSpPr/>
          <p:nvPr/>
        </p:nvSpPr>
        <p:spPr>
          <a:xfrm>
            <a:off x="762000" y="18415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F31B9-1873-4E71-A9F4-6BEDD3C3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EA6BA-8F68-5854-36C7-853E531DE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00F10-CA11-2A25-8C44-81AF34F24A4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experimental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862C4-1503-054A-E3F5-C010116F1698}"/>
              </a:ext>
            </a:extLst>
          </p:cNvPr>
          <p:cNvSpPr txBox="1"/>
          <p:nvPr/>
        </p:nvSpPr>
        <p:spPr>
          <a:xfrm>
            <a:off x="4013200" y="19431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individuals or objects the treatments are applied 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6D211-16DE-824A-0C3A-1EABE54E5A1C}"/>
              </a:ext>
            </a:extLst>
          </p:cNvPr>
          <p:cNvSpPr txBox="1"/>
          <p:nvPr/>
        </p:nvSpPr>
        <p:spPr>
          <a:xfrm>
            <a:off x="914400" y="26289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subjects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2096-A3E1-2E74-6B4B-55BEC2D4DA9D}"/>
              </a:ext>
            </a:extLst>
          </p:cNvPr>
          <p:cNvSpPr txBox="1"/>
          <p:nvPr/>
        </p:nvSpPr>
        <p:spPr>
          <a:xfrm>
            <a:off x="4013200" y="26289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experimental units that are people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A0A0-6B40-F51C-D006-7E6530D26A22}"/>
              </a:ext>
            </a:extLst>
          </p:cNvPr>
          <p:cNvSpPr txBox="1"/>
          <p:nvPr/>
        </p:nvSpPr>
        <p:spPr>
          <a:xfrm>
            <a:off x="914400" y="33147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905AE-3467-B06B-3986-9E632C2A8492}"/>
              </a:ext>
            </a:extLst>
          </p:cNvPr>
          <p:cNvSpPr txBox="1"/>
          <p:nvPr/>
        </p:nvSpPr>
        <p:spPr>
          <a:xfrm>
            <a:off x="4013200" y="33147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explanatory variable the researcher controls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1DD15-BDEF-1360-23DE-61EE06C8C957}"/>
              </a:ext>
            </a:extLst>
          </p:cNvPr>
          <p:cNvSpPr txBox="1"/>
          <p:nvPr/>
        </p:nvSpPr>
        <p:spPr>
          <a:xfrm>
            <a:off x="914400" y="4000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levels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EB79A-241B-7774-AEC9-725D191F6A33}"/>
              </a:ext>
            </a:extLst>
          </p:cNvPr>
          <p:cNvSpPr txBox="1"/>
          <p:nvPr/>
        </p:nvSpPr>
        <p:spPr>
          <a:xfrm>
            <a:off x="4013200" y="4000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specific values a factor is set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BD3C7A-A136-6A70-0060-76FF802CDFEA}"/>
              </a:ext>
            </a:extLst>
          </p:cNvPr>
          <p:cNvSpPr txBox="1"/>
          <p:nvPr/>
        </p:nvSpPr>
        <p:spPr>
          <a:xfrm>
            <a:off x="914400" y="4686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treatment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00C68-AFE6-C72F-A7FD-81B4E594114A}"/>
              </a:ext>
            </a:extLst>
          </p:cNvPr>
          <p:cNvSpPr txBox="1"/>
          <p:nvPr/>
        </p:nvSpPr>
        <p:spPr>
          <a:xfrm>
            <a:off x="4013200" y="46863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condition a unit receives: one combination of factor levels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E184CCB-0A67-C2ED-C2C8-65879478851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8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9F2B-D79C-B061-7D7C-D0E3E9E9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VITAL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69749-915A-A889-6AF8-EEE3DE2B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54EC98-752B-E4E1-3A6C-D7C16282437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VITAL randomly assigned 25,871 U.S. adults to vitamin D (2,000 IU a day) or a placebo, AND to omega-3 fish oil (1 g a day) or a placebo, then followed them for about 5 years.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24511-5DA8-139E-D168-B30F6FC9D64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experimental units - and what do we call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D3336-BE2D-C5F7-C1A2-C937A4C032A2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25,871 adults. They are people, so they are subjects.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3E08D-862C-AF03-64BB-BE6B12D52B9E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are the factors, and how many levels does each have?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3DCC8-196D-E1A6-C6DA-904079F554A1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Vitamin D and omega-3 - 2 levels each (the supplement or a placebo).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25D4A-4773-05CB-3292-48B30A495FCF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How many treatments are there?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F8927A-06B7-68FB-674D-7CEEB23B0E4F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2 x 2 = 4: vitamin D + omega-3, vitamin D + placebo, placebo + omega-3, placebo + placebo.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AC598D-D11F-462C-0B3E-1312AD123B2D}"/>
              </a:ext>
            </a:extLst>
          </p:cNvPr>
          <p:cNvSpPr txBox="1"/>
          <p:nvPr/>
        </p:nvSpPr>
        <p:spPr>
          <a:xfrm>
            <a:off x="762000" y="49352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What happened?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32CBC3-2896-472B-A54A-0EF0CDD6FDC6}"/>
              </a:ext>
            </a:extLst>
          </p:cNvPr>
          <p:cNvSpPr txBox="1"/>
          <p:nvPr/>
        </p:nvSpPr>
        <p:spPr>
          <a:xfrm>
            <a:off x="1117600" y="52298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Neither supplement lowered the rate of invasive cancer or of major cardiovascular events.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5CB9B-7BE5-0C0D-696A-48328ABA143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Manson et al. (2019),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3842B88-3FD8-7BBF-86D4-D79A31D0D3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527CC9D9-A452-0F04-D7C0-F8B69F5FD4C0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4A0377C-BFF0-B79A-19D7-981494C77764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46E8175-71AD-D653-1B18-4535B9169AC0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8048B-F56E-F853-6D78-C4705594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Principles of experimental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E4708-CDE4-49E1-2123-2142A283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215F6-8FCE-DFDC-A690-266976110908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BEDF8-CA87-BB2E-E7CC-E75E0EBDCEE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compare the treatment against a control group, so the treatment is the only systematic difference between the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15D86-8FC4-38CD-E9E4-1D9C20B84007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random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3CF75-0947-A75D-A911-27285F7282DC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let chance assign units to treatments - it balances the lurking variables we know about AND the ones we do not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A74FA-ACCD-0444-2FD1-C5FE41F3DEBE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replication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8E4AF-B0A9-AA0C-9A85-E8AD8B4D0E1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enough units in each group that chance differences between the groups average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FBAB81F-3E0F-CC4A-57E6-BF5693CD0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4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0986321D-DD51-CC3D-7DD0-2F9B636F6666}"/>
              </a:ext>
            </a:extLst>
          </p:cNvPr>
          <p:cNvSpPr/>
          <p:nvPr/>
        </p:nvSpPr>
        <p:spPr>
          <a:xfrm>
            <a:off x="762000" y="4711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3240A742-6545-D275-21CB-933A9D3A95BD}"/>
              </a:ext>
            </a:extLst>
          </p:cNvPr>
          <p:cNvSpPr/>
          <p:nvPr/>
        </p:nvSpPr>
        <p:spPr>
          <a:xfrm>
            <a:off x="762000" y="4025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748393A2-618F-1098-18D2-B69CA52BD216}"/>
              </a:ext>
            </a:extLst>
          </p:cNvPr>
          <p:cNvSpPr/>
          <p:nvPr/>
        </p:nvSpPr>
        <p:spPr>
          <a:xfrm>
            <a:off x="762000" y="279654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D35FDEF-A6C9-D92F-1656-6ED66949569F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A9945-18E2-A815-CD09-6E30DA8C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Placebos and blinding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9166-75E8-99F6-EF42-55FFE563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14461-1C87-49C0-A9DA-02B03CA129A0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A0659-C886-4CB8-B25B-5E2B59B4990B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inactive treatment that looks exactly like the real one</a:t>
            </a:r>
          </a:p>
          <a:p>
            <a:r>
              <a:rPr lang="en-US" i="1">
                <a:solidFill>
                  <a:srgbClr val="595959"/>
                </a:solidFill>
              </a:rPr>
              <a:t>a sugar pill, or a saline injection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E6C15-B051-DA6B-FC50-75C45B601985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 effect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1B553-B0DF-9622-DF06-AFFDA7ADF708}"/>
              </a:ext>
            </a:extLst>
          </p:cNvPr>
          <p:cNvSpPr txBox="1"/>
          <p:nvPr/>
        </p:nvSpPr>
        <p:spPr>
          <a:xfrm>
            <a:off x="4013200" y="289814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often improve simply because they believe they are being treated</a:t>
            </a:r>
          </a:p>
          <a:p>
            <a:r>
              <a:rPr lang="en-US" i="1">
                <a:solidFill>
                  <a:srgbClr val="595959"/>
                </a:solidFill>
              </a:rPr>
              <a:t>in one study, believing you had taken a performance drug worked almost as well as the drug itself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88549-1922-B620-2B4E-9464BCE53BB2}"/>
              </a:ext>
            </a:extLst>
          </p:cNvPr>
          <p:cNvSpPr txBox="1"/>
          <p:nvPr/>
        </p:nvSpPr>
        <p:spPr>
          <a:xfrm>
            <a:off x="914400" y="4127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blinding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D28C7-3333-6E48-704B-CF3132518528}"/>
              </a:ext>
            </a:extLst>
          </p:cNvPr>
          <p:cNvSpPr txBox="1"/>
          <p:nvPr/>
        </p:nvSpPr>
        <p:spPr>
          <a:xfrm>
            <a:off x="4013200" y="4127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subjects do not know which treatment they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D5F34-944C-50F9-7B04-0A433180EADC}"/>
              </a:ext>
            </a:extLst>
          </p:cNvPr>
          <p:cNvSpPr txBox="1"/>
          <p:nvPr/>
        </p:nvSpPr>
        <p:spPr>
          <a:xfrm>
            <a:off x="914400" y="4813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double-blind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F50005-2E1E-E3B6-F676-29A98A6D4792}"/>
              </a:ext>
            </a:extLst>
          </p:cNvPr>
          <p:cNvSpPr txBox="1"/>
          <p:nvPr/>
        </p:nvSpPr>
        <p:spPr>
          <a:xfrm>
            <a:off x="4013200" y="4813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neither the subjects nor the researchers working with them know who received what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11A2D97-48DE-89D2-6522-EBF2B2D535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5B16-617F-F91A-E768-60685CC2F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2020 Pfizer-BioNTech vaccine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F39A-FB57-1204-AB85-BFED90862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1BD-9532-392A-1ADC-7094172C5BC4}"/>
              </a:ext>
            </a:extLst>
          </p:cNvPr>
          <p:cNvSpPr txBox="1"/>
          <p:nvPr/>
        </p:nvSpPr>
        <p:spPr>
          <a:xfrm>
            <a:off x="762000" y="1841499"/>
            <a:ext cx="10668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43,548 people were randomly assigned, half and half, to two shots of the COVID-19 vaccine or two shots of a saline placebo. Participants and the staff assessing them did not know who got which. Afterwards: 8 COVID-19 cases in the vaccine group, 162 in the placebo group.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BEC6E-F862-FBAF-E1D5-A21B197591D4}"/>
              </a:ext>
            </a:extLst>
          </p:cNvPr>
          <p:cNvSpPr txBox="1"/>
          <p:nvPr/>
        </p:nvSpPr>
        <p:spPr>
          <a:xfrm>
            <a:off x="762000" y="28016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Why give the control group a saline shot instead of no shot at all?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74361-B6BF-56E2-BB7E-9C77E3EAFA32}"/>
              </a:ext>
            </a:extLst>
          </p:cNvPr>
          <p:cNvSpPr txBox="1"/>
          <p:nvPr/>
        </p:nvSpPr>
        <p:spPr>
          <a:xfrm>
            <a:off x="1117600" y="30962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So both groups have the same experience. A difference in cases can then only come from the vaccine, not from expectations.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A95-81B2-0E2E-FE21-D50E35C6D672}"/>
              </a:ext>
            </a:extLst>
          </p:cNvPr>
          <p:cNvSpPr txBox="1"/>
          <p:nvPr/>
        </p:nvSpPr>
        <p:spPr>
          <a:xfrm>
            <a:off x="762000" y="3837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randomize, instead of letting people choose whether to get the vaccine?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161EE-C1D2-5729-30B3-60F805D911B5}"/>
              </a:ext>
            </a:extLst>
          </p:cNvPr>
          <p:cNvSpPr txBox="1"/>
          <p:nvPr/>
        </p:nvSpPr>
        <p:spPr>
          <a:xfrm>
            <a:off x="1117600" y="4132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People who choose a new vaccine may also be more careful in other ways - a lurking variable. Randomizing balances it.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07AEF-2F3C-5F98-7416-32548ECBAE2D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8 cases versus 162 suggest?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D47C-2CA4-17F0-F93D-EF0EDE1376BA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vaccine group had about 95% fewer cases - and because of the design, we can credit that to the vaccine.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19372-51FF-D9A9-4502-CC2DDA37DE5F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Polack et al. (2020),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E52C4A4-CBD4-248B-5876-3F7BDD6EBAB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36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CEAD-BED6-366D-B1C7-78228E9BC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design the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4598-F929-FBEF-0FCD-3842D923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AF5A54-3217-1980-49D5-537B627C1769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You want to know whether texting slows how quickly a driver reacts when the car ahead brakes.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77CB1-5024-41A2-F8A3-6B89CE2AF015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explanatory variable, the response variable, and the treatments?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81DEAB-C346-C1FC-6F30-AE7180E156BE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Explanatory: texting or not. Response: reaction time. Treatments: driving while texting, and driving only.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FD67D3-A732-4066-5E2D-00FF4E4A5E82}"/>
              </a:ext>
            </a:extLst>
          </p:cNvPr>
          <p:cNvSpPr txBox="1"/>
          <p:nvPr/>
        </p:nvSpPr>
        <p:spPr>
          <a:xfrm>
            <a:off x="762000" y="3106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Your partner wants to split drivers at random into a texting group and a driving-only group. Is there a better design?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BB92E-59CE-E9A9-9010-0BDBAD66B2A2}"/>
              </a:ext>
            </a:extLst>
          </p:cNvPr>
          <p:cNvSpPr txBox="1"/>
          <p:nvPr/>
        </p:nvSpPr>
        <p:spPr>
          <a:xfrm>
            <a:off x="1117600" y="3401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pairs: each driver does both, in a random order. Reaction times vary a lot between people, so compare each driver to themselves.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74C9-C009-AC02-9C35-B6BD2A0EFCDD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Can the study be blinded?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3EB21-B37F-C852-F822-D27D3318693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Not for the drivers - they know when they are texting. But the person measuring reaction times can be kept blind.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C9BE4-E6DE-D686-2782-B7D82B17E03C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Adapted from Introductory Statistics 2e (OpenStax), Section 1.4, Try It 1.21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C9AC535-E8E9-27B3-3BD7-A56C99861C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2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Ethics also means honest data. An investigation of psychologist Diederik Stapel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C0BD2-74EB-8BD3-2FA2-EDF53C0DB90C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choose a block where they already know many of the neighbors. What is the problem?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A2E9A-6FFD-CC4B-0BB8-6E3EE5F60F15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convenience sample - it is biased, and claiming it represents the community is misleading.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61BC9F-8DF7-4ADB-68EF-D1A416279CEB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Nobody is home at four houses, so they skip them and never go back. What is the problem?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C7D30-25A5-81AE-2894-7068B4D9B330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 - people who are not home, such as working families, may differ from the people who 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AC60D-581D-7FA4-26CF-042E9E2B03F5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Running late, they fill in four forms with answers copied from neighbors. What is the problem?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D2DD0-5481-A2A7-66F2-84DB6CD15D72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Fabricated data. It is never acceptable, even when the answers look realistic.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B4AB3-AF76-E343-8E9D-F510689F4DA5}"/>
              </a:ext>
            </a:extLst>
          </p:cNvPr>
          <p:cNvSpPr txBox="1"/>
          <p:nvPr/>
        </p:nvSpPr>
        <p:spPr>
          <a:xfrm>
            <a:off x="762000" y="42189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Subjects complete mazes wearing a floral-scented mask and an unscented mask, in a random order. Can the subjects be blinded?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CA5C4-59E4-103B-3E2C-908EA083FB6B}"/>
              </a:ext>
            </a:extLst>
          </p:cNvPr>
          <p:cNvSpPr txBox="1"/>
          <p:nvPr/>
        </p:nvSpPr>
        <p:spPr>
          <a:xfrm>
            <a:off x="1117600" y="4757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they can smell the flowers. But the researchers timing the mazes can be blinded. (Textbook Example 1.20)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3916</Words>
  <Application>Microsoft Office PowerPoint</Application>
  <PresentationFormat>Widescreen</PresentationFormat>
  <Paragraphs>328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Calibri Light</vt:lpstr>
      <vt:lpstr>Consolas</vt:lpstr>
      <vt:lpstr>Office Theme</vt:lpstr>
      <vt:lpstr>Lecture 9 Sampling, Experiments and Causation</vt:lpstr>
      <vt:lpstr>Review</vt:lpstr>
      <vt:lpstr>Review</vt:lpstr>
      <vt:lpstr>A bigger sample does not fix bias</vt:lpstr>
      <vt:lpstr>Proportional allocation with real data</vt:lpstr>
      <vt:lpstr>Cluster sample</vt:lpstr>
      <vt:lpstr>Two-stage cluster sample</vt:lpstr>
      <vt:lpstr>Strata vs. clusters</vt:lpstr>
      <vt:lpstr>Two kinds of error</vt:lpstr>
      <vt:lpstr>Three common nonsampling errors</vt:lpstr>
      <vt:lpstr>Nonresponse: when nobody picks up</vt:lpstr>
      <vt:lpstr>Question wording: same law, two names</vt:lpstr>
      <vt:lpstr>Practice: name the sampling design</vt:lpstr>
      <vt:lpstr>Your course project: Part 3</vt:lpstr>
      <vt:lpstr>Part 2 Experiments and Causation</vt:lpstr>
      <vt:lpstr>Observational studies and experiments</vt:lpstr>
      <vt:lpstr>Association is not causation</vt:lpstr>
      <vt:lpstr>Hormone therapy and heart disease</vt:lpstr>
      <vt:lpstr>Can we claim cause without an experiment?</vt:lpstr>
      <vt:lpstr>In the news: light at night and the heart</vt:lpstr>
      <vt:lpstr>Light at night: how strong is the evidence?</vt:lpstr>
      <vt:lpstr>The language of experiments</vt:lpstr>
      <vt:lpstr>Example: the VITAL trial</vt:lpstr>
      <vt:lpstr>Principles of experimental design</vt:lpstr>
      <vt:lpstr>Placebos and blinding</vt:lpstr>
      <vt:lpstr>The 2020 Pfizer-BioNTech vaccine trial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Practice: design the study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351</cp:revision>
  <dcterms:created xsi:type="dcterms:W3CDTF">2023-08-05T23:57:41Z</dcterms:created>
  <dcterms:modified xsi:type="dcterms:W3CDTF">2026-09-15T17:40:48Z</dcterms:modified>
</cp:coreProperties>
</file>