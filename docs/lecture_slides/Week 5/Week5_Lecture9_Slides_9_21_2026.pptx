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309" r:id="rId4"/>
    <p:sldId id="272" r:id="rId5"/>
    <p:sldId id="312" r:id="rId6"/>
    <p:sldId id="313" r:id="rId7"/>
    <p:sldId id="276" r:id="rId8"/>
    <p:sldId id="277" r:id="rId9"/>
    <p:sldId id="278" r:id="rId10"/>
    <p:sldId id="279" r:id="rId11"/>
    <p:sldId id="280" r:id="rId12"/>
    <p:sldId id="281" r:id="rId13"/>
    <p:sldId id="282" r:id="rId14"/>
    <p:sldId id="283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apnorc.org/wp-content/uploads/2026/09/State_of_the_facts_2026.pdf" TargetMode="External"/><Relationship Id="rId2" Type="http://schemas.openxmlformats.org/officeDocument/2006/relationships/hyperlink" Target="https://apnorc.org/projects/state-of-the-facts-2026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norc.org/services-solutions/amerispeak/about.html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93/eurheartj/ehag563" TargetMode="External"/><Relationship Id="rId2" Type="http://schemas.openxmlformats.org/officeDocument/2006/relationships/hyperlink" Target="https://www.escardio.org/news/press/press-releases/too-much-light-at-night-changes-the-shape-and-working-of-the-heart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Lecture 9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Sampling, Experiments and Causation</a:t>
            </a:r>
            <a:endParaRPr lang="en-US" dirty="0">
              <a:solidFill>
                <a:srgbClr val="1F3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7153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5104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Review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Question 1"/>
          <p:cNvSpPr/>
          <p:nvPr/>
        </p:nvSpPr>
        <p:spPr>
          <a:xfrm>
            <a:off x="838200" y="107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1</a:t>
            </a:r>
            <a:r>
              <a:rPr lang="en-US" b="1">
                <a:solidFill>
                  <a:srgbClr val="000000"/>
                </a:solidFill>
              </a:rPr>
              <a:t>   What is bias?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4" name="Answer 1"/>
          <p:cNvSpPr txBox="1"/>
          <p:nvPr/>
        </p:nvSpPr>
        <p:spPr>
          <a:xfrm>
            <a:off x="1066800" y="1655688"/>
            <a:ext cx="10058400" cy="6502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When a sampling method's estimates miss the parameter in the same direction every time - an accuracy problem.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5" name="Question 2"/>
          <p:cNvSpPr/>
          <p:nvPr/>
        </p:nvSpPr>
        <p:spPr>
          <a:xfrm>
            <a:off x="838200" y="238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2</a:t>
            </a:r>
            <a:r>
              <a:rPr lang="en-US" b="1">
                <a:solidFill>
                  <a:srgbClr val="000000"/>
                </a:solidFill>
              </a:rPr>
              <a:t>   What is standard error?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" name="Answer 2"/>
          <p:cNvSpPr txBox="1"/>
          <p:nvPr/>
        </p:nvSpPr>
        <p:spPr>
          <a:xfrm>
            <a:off x="1066800" y="296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How much an estimate varies from one sample to the next - a precision problem.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7" name="Question 3"/>
          <p:cNvSpPr/>
          <p:nvPr/>
        </p:nvSpPr>
        <p:spPr>
          <a:xfrm>
            <a:off x="838200" y="369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3</a:t>
            </a:r>
            <a:r>
              <a:rPr lang="en-US" b="1">
                <a:solidFill>
                  <a:srgbClr val="000000"/>
                </a:solidFill>
              </a:rPr>
              <a:t>   What is random sampling?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8" name="Answer 3"/>
          <p:cNvSpPr txBox="1"/>
          <p:nvPr/>
        </p:nvSpPr>
        <p:spPr>
          <a:xfrm>
            <a:off x="1066800" y="427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Using chance, not a person, to decide which units get into the sample.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9" name="Question 4"/>
          <p:cNvSpPr/>
          <p:nvPr/>
        </p:nvSpPr>
        <p:spPr>
          <a:xfrm>
            <a:off x="838200" y="500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4</a:t>
            </a:r>
            <a:r>
              <a:rPr lang="en-US" b="1">
                <a:solidFill>
                  <a:srgbClr val="000000"/>
                </a:solidFill>
              </a:rPr>
              <a:t>   What is a simple random sample (SRS)?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10" name="Answer 4"/>
          <p:cNvSpPr txBox="1"/>
          <p:nvPr/>
        </p:nvSpPr>
        <p:spPr>
          <a:xfrm>
            <a:off x="1066800" y="558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Every possible group of n units has the same chance of being the sample.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6091C9-B7EB-6BBE-A602-1479CDF97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1972524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5104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Review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Question 1"/>
          <p:cNvSpPr/>
          <p:nvPr/>
        </p:nvSpPr>
        <p:spPr>
          <a:xfrm>
            <a:off x="838200" y="107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5</a:t>
            </a:r>
            <a:r>
              <a:rPr lang="en-US" b="1">
                <a:solidFill>
                  <a:srgbClr val="000000"/>
                </a:solidFill>
              </a:rPr>
              <a:t>   What is a convenience sample?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4" name="Answer 1"/>
          <p:cNvSpPr txBox="1"/>
          <p:nvPr/>
        </p:nvSpPr>
        <p:spPr>
          <a:xfrm>
            <a:off x="1066800" y="1655688"/>
            <a:ext cx="10058400" cy="6502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A sample of whoever is easiest to reach.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5" name="Question 2"/>
          <p:cNvSpPr/>
          <p:nvPr/>
        </p:nvSpPr>
        <p:spPr>
          <a:xfrm>
            <a:off x="838200" y="238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6</a:t>
            </a:r>
            <a:r>
              <a:rPr lang="en-US" b="1">
                <a:solidFill>
                  <a:srgbClr val="000000"/>
                </a:solidFill>
              </a:rPr>
              <a:t>   What is sampling with replacement?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" name="Answer 2"/>
          <p:cNvSpPr txBox="1"/>
          <p:nvPr/>
        </p:nvSpPr>
        <p:spPr>
          <a:xfrm>
            <a:off x="1066800" y="296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A picked unit goes back into the pool, so it can be picked again.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7" name="Question 3"/>
          <p:cNvSpPr/>
          <p:nvPr/>
        </p:nvSpPr>
        <p:spPr>
          <a:xfrm>
            <a:off x="838200" y="369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7</a:t>
            </a:r>
            <a:r>
              <a:rPr lang="en-US" b="1">
                <a:solidFill>
                  <a:srgbClr val="000000"/>
                </a:solidFill>
              </a:rPr>
              <a:t>   What is sampling without replacement?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8" name="Answer 3"/>
          <p:cNvSpPr txBox="1"/>
          <p:nvPr/>
        </p:nvSpPr>
        <p:spPr>
          <a:xfrm>
            <a:off x="1066800" y="427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A picked unit is set aside, so it can be chosen only once.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9" name="Question 4"/>
          <p:cNvSpPr/>
          <p:nvPr/>
        </p:nvSpPr>
        <p:spPr>
          <a:xfrm>
            <a:off x="838200" y="500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8</a:t>
            </a:r>
            <a:r>
              <a:rPr lang="en-US" b="1">
                <a:solidFill>
                  <a:srgbClr val="000000"/>
                </a:solidFill>
              </a:rPr>
              <a:t>   What is a voluntary response sample?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10" name="Answer 4"/>
          <p:cNvSpPr txBox="1"/>
          <p:nvPr/>
        </p:nvSpPr>
        <p:spPr>
          <a:xfrm>
            <a:off x="1066800" y="558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A sample of people who choose themselves by responding - usually the ones with strong opinions.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6091C9-B7EB-6BBE-A602-1479CDF97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1876038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E6F3B-5AA8-FA32-FA36-F76E403F6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A bigger sample does not fix bias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33985D-720F-E661-4B98-2B2B699C47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905000"/>
            <a:ext cx="4445000" cy="4191000"/>
          </a:xfrm>
        </p:spPr>
        <p:txBody>
          <a:bodyPr>
            <a:noAutofit/>
          </a:bodyPr>
          <a:lstStyle/>
          <a:p>
            <a:r>
              <a:rPr lang="en-US" sz="1600"/>
              <a:t>Suppose 40% of UI students exercise at least three times a week</a:t>
            </a:r>
          </a:p>
          <a:p>
            <a:r>
              <a:rPr lang="en-US" sz="1600"/>
              <a:t>Blue: 5000 simple random samples of 200 students</a:t>
            </a:r>
          </a:p>
          <a:p>
            <a:r>
              <a:rPr lang="en-US" sz="1600"/>
              <a:t>Grey: 5000 Rec Center surveys of 2000 students</a:t>
            </a:r>
          </a:p>
          <a:p>
            <a:r>
              <a:rPr lang="en-US" sz="1600"/>
              <a:t>The Rec Center survey is more </a:t>
            </a:r>
            <a:r>
              <a:rPr lang="en-US" sz="1600" b="1">
                <a:solidFill>
                  <a:srgbClr val="C00000"/>
                </a:solidFill>
              </a:rPr>
              <a:t>precise</a:t>
            </a:r>
            <a:r>
              <a:rPr lang="en-US" sz="1600"/>
              <a:t> - a smaller standard error</a:t>
            </a:r>
          </a:p>
          <a:p>
            <a:r>
              <a:rPr lang="en-US" sz="1600"/>
              <a:t>and every one of its estimates misses the truth: </a:t>
            </a:r>
            <a:r>
              <a:rPr lang="en-US" sz="1600" b="1">
                <a:solidFill>
                  <a:srgbClr val="C00000"/>
                </a:solidFill>
              </a:rPr>
              <a:t>bias</a:t>
            </a:r>
          </a:p>
          <a:p>
            <a:r>
              <a:rPr lang="en-US" sz="1600"/>
              <a:t>More data buys precision. Only a </a:t>
            </a:r>
            <a:r>
              <a:rPr lang="en-US" sz="1600" b="1">
                <a:solidFill>
                  <a:srgbClr val="C00000"/>
                </a:solidFill>
              </a:rPr>
              <a:t>better design</a:t>
            </a:r>
            <a:r>
              <a:rPr lang="en-US" sz="1600"/>
              <a:t> buys accuracy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124190-EDC9-111D-36F7-A4650D75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</a:t>
            </a:fld>
            <a:endParaRPr lang="en-US" sz="1600"/>
          </a:p>
        </p:txBody>
      </p:sp>
      <p:pic>
        <p:nvPicPr>
          <p:cNvPr id="6" name="l8_bias_vs_n.png">
            <a:extLst>
              <a:ext uri="{FF2B5EF4-FFF2-40B4-BE49-F238E27FC236}">
                <a16:creationId xmlns:a16="http://schemas.microsoft.com/office/drawing/2014/main" id="{234C5C45-6EA8-A3FB-1854-ABE44697922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3500" y="1905000"/>
            <a:ext cx="6858000" cy="4191000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5E062A62-2B36-42B5-267B-199202BCA92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0233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51DA7-11D0-1778-A5EF-3AC5C016E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In the news: how a national poll samples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684351-310C-F91C-7640-411793D509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879600"/>
            <a:ext cx="10668000" cy="4038600"/>
          </a:xfrm>
        </p:spPr>
        <p:txBody>
          <a:bodyPr wrap="square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800"/>
              <a:t>State of the Facts 2026 (AP-NORC Center with USAFacts) asked U.S. adults how much they trust government information and AI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800"/>
              <a:t>1,036 adults, July 29 – August 10, 2026: 1,017 online and 19 by phone, in English or Spanish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800"/>
              <a:t>Drawn from AmeriSpeak, a </a:t>
            </a:r>
            <a:r>
              <a:rPr lang="en-US" sz="1800" b="1">
                <a:solidFill>
                  <a:srgbClr val="C00000"/>
                </a:solidFill>
              </a:rPr>
              <a:t>probability-based panel</a:t>
            </a:r>
            <a:r>
              <a:rPr lang="en-US" sz="1800"/>
              <a:t>: NORC randomly selects U.S. addresses, then recruits those households by mail, phone and in person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800"/>
              <a:t>You cannot sign yourself up - </a:t>
            </a:r>
            <a:r>
              <a:rPr lang="en-US" sz="1800" b="1">
                <a:solidFill>
                  <a:srgbClr val="C00000"/>
                </a:solidFill>
              </a:rPr>
              <a:t>chance decides</a:t>
            </a:r>
            <a:r>
              <a:rPr lang="en-US" sz="1800"/>
              <a:t> who is invited. Compare the opt-in panels from last week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800"/>
              <a:t>Margin of sampling error: ±4.1 percentage points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800"/>
              <a:t>But only </a:t>
            </a:r>
            <a:r>
              <a:rPr lang="en-US" sz="1800" b="1">
                <a:solidFill>
                  <a:srgbClr val="C00000"/>
                </a:solidFill>
              </a:rPr>
              <a:t>10.3%</a:t>
            </a:r>
            <a:r>
              <a:rPr lang="en-US" sz="1800"/>
              <a:t> of invited panel members completed this survey (AAPOR response rate 3)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800"/>
              <a:t>One finding: only 37% say it is easy to know whether the information they see is true</a:t>
            </a:r>
          </a:p>
          <a:p>
            <a:pPr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800"/>
              <a:t>Read more:  </a:t>
            </a:r>
            <a:r>
              <a:rPr lang="en-US" sz="1800">
                <a:hlinkClick r:id="rId2"/>
              </a:rPr>
              <a:t>Project page</a:t>
            </a:r>
            <a:r>
              <a:rPr lang="en-US" sz="1800"/>
              <a:t>   ·   </a:t>
            </a:r>
            <a:r>
              <a:rPr lang="en-US" sz="1800">
                <a:hlinkClick r:id="rId3"/>
              </a:rPr>
              <a:t>Full report (PDF; methods on p. 42)</a:t>
            </a:r>
            <a:r>
              <a:rPr lang="en-US" sz="1800"/>
              <a:t>   ·   </a:t>
            </a:r>
            <a:r>
              <a:rPr lang="en-US" sz="1800">
                <a:hlinkClick r:id="rId4"/>
              </a:rPr>
              <a:t>How AmeriSpeak recruits</a:t>
            </a:r>
            <a:endParaRPr lang="en-US" sz="1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DDA66C-38DE-C98F-BA8F-C026BB989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5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82BF1B-26E1-6854-42B6-A05093CF27C0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AP-NORC Center for Public Affairs Research and USAFacts (2026); NORC, About AmeriSpeak</a:t>
            </a:r>
          </a:p>
        </p:txBody>
      </p:sp>
      <p:sp>
        <p:nvSpPr>
          <p:cNvPr id="6" name="Title rule">
            <a:extLst>
              <a:ext uri="{FF2B5EF4-FFF2-40B4-BE49-F238E27FC236}">
                <a16:creationId xmlns:a16="http://schemas.microsoft.com/office/drawing/2014/main" id="{27420F5B-78A2-AD18-5122-958AF8DBB974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40668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BA469-EC53-AB44-2C66-C5F3546BB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In the news: light at night, over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204AF2-0CE7-2BEA-87A0-07E8AE92ED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879600"/>
            <a:ext cx="10668000" cy="4038600"/>
          </a:xfrm>
        </p:spPr>
        <p:txBody>
          <a:bodyPr wrap="square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800"/>
              <a:t>UK Biobank: about 500,000 UK adults aged 40–69 who agreed to join in 2006–2010, then followed through their health records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800"/>
              <a:t>2013–2015: 103,615 of them wore a wrist sensor with a light meter for 7 days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800"/>
              <a:t>Removed: unreliable sensor data, 2,770 night-shift workers, anyone with heart disease already, anyone without a later heart MRI → 11,071 people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800"/>
              <a:t>About 3 years later each had an MRI of their heart; hospital and death records were followed for up to 10 years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800" b="1">
                <a:solidFill>
                  <a:srgbClr val="C00000"/>
                </a:solidFill>
              </a:rPr>
              <a:t>Longitudinal</a:t>
            </a:r>
            <a:r>
              <a:rPr lang="en-US" sz="1800"/>
              <a:t>: the same people measured more than once - night light first, the heart later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800" b="1">
                <a:solidFill>
                  <a:srgbClr val="C00000"/>
                </a:solidFill>
              </a:rPr>
              <a:t>Not random</a:t>
            </a:r>
            <a:r>
              <a:rPr lang="en-US" sz="1800"/>
              <a:t>: the people who agreed to join are mostly White and healthier than the UK population (the authors say so)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800"/>
              <a:t>Result: more light above 3 lux at night went with thicker heart walls and weaker pumping. Did the light cause it? We come back to that later today</a:t>
            </a:r>
          </a:p>
          <a:p>
            <a:pPr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800"/>
              <a:t>Read more:  </a:t>
            </a:r>
            <a:r>
              <a:rPr lang="en-US" sz="1800">
                <a:hlinkClick r:id="rId2"/>
              </a:rPr>
              <a:t>ESC press release</a:t>
            </a:r>
            <a:r>
              <a:rPr lang="en-US" sz="1800"/>
              <a:t>   ·   </a:t>
            </a:r>
            <a:r>
              <a:rPr lang="en-US" sz="1800">
                <a:hlinkClick r:id="rId3"/>
              </a:rPr>
              <a:t>Dai et al. (2026), European Heart Journal</a:t>
            </a:r>
            <a:endParaRPr lang="en-US" sz="1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F0E2C-B972-E595-EC77-EE262FD2F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6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B12DA7-2636-21B9-74C3-C00D77CD6F25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Dai, Dai, Heianza and Qi (2026), European Heart Journal; ESC press release (2026)</a:t>
            </a:r>
          </a:p>
        </p:txBody>
      </p:sp>
      <p:sp>
        <p:nvSpPr>
          <p:cNvPr id="6" name="Title rule">
            <a:extLst>
              <a:ext uri="{FF2B5EF4-FFF2-40B4-BE49-F238E27FC236}">
                <a16:creationId xmlns:a16="http://schemas.microsoft.com/office/drawing/2014/main" id="{D967E96B-4CFC-D3F4-67BB-14DAD0690C10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3112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097E2-4E3E-168E-D9EF-BE86DD21F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Systematic sample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C44AB4-3472-45D6-45C0-B84299A6D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7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CDA281-DC4B-F536-974A-7668B2AF62C6}"/>
              </a:ext>
            </a:extLst>
          </p:cNvPr>
          <p:cNvSpPr txBox="1"/>
          <p:nvPr/>
        </p:nvSpPr>
        <p:spPr>
          <a:xfrm>
            <a:off x="762000" y="1841500"/>
            <a:ext cx="2921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systematic sample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01DC53-F5E2-B64C-85E7-BE250E06A5B0}"/>
              </a:ext>
            </a:extLst>
          </p:cNvPr>
          <p:cNvSpPr txBox="1"/>
          <p:nvPr/>
        </p:nvSpPr>
        <p:spPr>
          <a:xfrm>
            <a:off x="3784600" y="1841499"/>
            <a:ext cx="7645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pick a random starting point among the first k units of an ordered list, then take every kth unit after it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F71F7A-F91D-D57F-1674-50E9AF83A26F}"/>
              </a:ext>
            </a:extLst>
          </p:cNvPr>
          <p:cNvSpPr txBox="1"/>
          <p:nvPr/>
        </p:nvSpPr>
        <p:spPr>
          <a:xfrm>
            <a:off x="762000" y="25323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1F3864"/>
                </a:solidFill>
              </a:rPr>
              <a:t>k = N/n = 100/20 = 5.  Random start = 2, so we take list positions 2, 7, 12, 17, ... , 97</a:t>
            </a:r>
          </a:p>
        </p:txBody>
      </p:sp>
      <p:pic>
        <p:nvPicPr>
          <p:cNvPr id="9" name="l8_design_systematic.png">
            <a:extLst>
              <a:ext uri="{FF2B5EF4-FFF2-40B4-BE49-F238E27FC236}">
                <a16:creationId xmlns:a16="http://schemas.microsoft.com/office/drawing/2014/main" id="{85D54DE1-2786-33F5-0EF9-7F4D43CDC65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928620"/>
            <a:ext cx="10668000" cy="2921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E7C95CC-2585-95F4-F078-4DC6534EB4AC}"/>
              </a:ext>
            </a:extLst>
          </p:cNvPr>
          <p:cNvSpPr txBox="1"/>
          <p:nvPr/>
        </p:nvSpPr>
        <p:spPr>
          <a:xfrm>
            <a:off x="762000" y="59690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Works like an SRS - unless the list has a repeating pattern that lines up with k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2F33DF17-F38C-5CEA-9FDD-F067BB8A13EF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481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1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6E805-04AC-8627-66AE-26DA578A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Stratified random sample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406A2-7F5B-24F5-5E49-5056AD0D2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8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A2458B-0AA1-E8C9-39EE-CA982E9119F6}"/>
              </a:ext>
            </a:extLst>
          </p:cNvPr>
          <p:cNvSpPr txBox="1"/>
          <p:nvPr/>
        </p:nvSpPr>
        <p:spPr>
          <a:xfrm>
            <a:off x="571500" y="1841500"/>
            <a:ext cx="6223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strata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435368-2E5B-AF0E-01AC-9C12A4355760}"/>
              </a:ext>
            </a:extLst>
          </p:cNvPr>
          <p:cNvSpPr txBox="1"/>
          <p:nvPr/>
        </p:nvSpPr>
        <p:spPr>
          <a:xfrm>
            <a:off x="850900" y="2110739"/>
            <a:ext cx="5943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groups of units that are alike, formed BEFORE sampling - class year, region, age group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490EB5-C42D-BF95-5B7C-4469ECC019FC}"/>
              </a:ext>
            </a:extLst>
          </p:cNvPr>
          <p:cNvSpPr txBox="1"/>
          <p:nvPr/>
        </p:nvSpPr>
        <p:spPr>
          <a:xfrm>
            <a:off x="571500" y="2776220"/>
            <a:ext cx="6223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stratified random sample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F5BCF9-8285-D541-7330-1790862F3580}"/>
              </a:ext>
            </a:extLst>
          </p:cNvPr>
          <p:cNvSpPr txBox="1"/>
          <p:nvPr/>
        </p:nvSpPr>
        <p:spPr>
          <a:xfrm>
            <a:off x="850900" y="3045460"/>
            <a:ext cx="59436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separate SRS inside every stratum, combined into one sample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FC2DD-65F2-EFF3-93FB-D22279D7CC17}"/>
              </a:ext>
            </a:extLst>
          </p:cNvPr>
          <p:cNvSpPr txBox="1"/>
          <p:nvPr/>
        </p:nvSpPr>
        <p:spPr>
          <a:xfrm>
            <a:off x="571500" y="3467100"/>
            <a:ext cx="6223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proportional allocation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562EC6-6104-9EFC-9213-8793181910F3}"/>
              </a:ext>
            </a:extLst>
          </p:cNvPr>
          <p:cNvSpPr txBox="1"/>
          <p:nvPr/>
        </p:nvSpPr>
        <p:spPr>
          <a:xfrm>
            <a:off x="850900" y="3736340"/>
            <a:ext cx="59436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each stratum gets its share of n: 40, 30, 20, 10 students -&gt; 8, 6, 4, 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7D03EC-98B8-EFA6-7B19-7ACF3DF1AE45}"/>
              </a:ext>
            </a:extLst>
          </p:cNvPr>
          <p:cNvSpPr txBox="1"/>
          <p:nvPr/>
        </p:nvSpPr>
        <p:spPr>
          <a:xfrm>
            <a:off x="571500" y="4157980"/>
            <a:ext cx="6223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1F3864"/>
                </a:solidFill>
              </a:rPr>
              <a:t>Every group is guaranteed a place - no more 2 juniors by bad luck</a:t>
            </a:r>
          </a:p>
        </p:txBody>
      </p:sp>
      <p:pic>
        <p:nvPicPr>
          <p:cNvPr id="13" name="l8_design_stratified.png">
            <a:extLst>
              <a:ext uri="{FF2B5EF4-FFF2-40B4-BE49-F238E27FC236}">
                <a16:creationId xmlns:a16="http://schemas.microsoft.com/office/drawing/2014/main" id="{178531D0-F711-51C4-33D6-2FDDC352EC94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0" y="1778000"/>
            <a:ext cx="4572000" cy="45720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E7A1A481-EFE9-E2B6-2D31-F3B3EDED8C66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587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725DE-1FA3-4673-C2B0-0E94FC359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Proportional allocation with real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3CCAB8-7CC5-6423-8BF9-48B0DE638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2BF07B-2425-181A-F030-3292A7D90694}"/>
              </a:ext>
            </a:extLst>
          </p:cNvPr>
          <p:cNvSpPr txBox="1"/>
          <p:nvPr/>
        </p:nvSpPr>
        <p:spPr>
          <a:xfrm>
            <a:off x="762000" y="19050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heights.csv (on the course Data page) has N = 379 people: 262 female and 117 male. Stratify by sex for a sample of n = 30: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F1A7F7-FF53-53DE-3812-9D91CAFBEE64}"/>
              </a:ext>
            </a:extLst>
          </p:cNvPr>
          <p:cNvSpPr txBox="1"/>
          <p:nvPr/>
        </p:nvSpPr>
        <p:spPr>
          <a:xfrm>
            <a:off x="762000" y="232663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female:  30 x 262/379 = 20.74, so 21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male:    30 x 117/379 =  9.26, so 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0594E7-6F89-A1AE-A32B-8ED7F5BA9252}"/>
              </a:ext>
            </a:extLst>
          </p:cNvPr>
          <p:cNvSpPr txBox="1"/>
          <p:nvPr/>
        </p:nvSpPr>
        <p:spPr>
          <a:xfrm>
            <a:off x="762000" y="29921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Then an SRS of 21 of the women, and a separate SRS of 9 of the men</a:t>
            </a:r>
          </a:p>
        </p:txBody>
      </p:sp>
      <p:pic>
        <p:nvPicPr>
          <p:cNvPr id="9" name="l8_heights_allocation.png">
            <a:extLst>
              <a:ext uri="{FF2B5EF4-FFF2-40B4-BE49-F238E27FC236}">
                <a16:creationId xmlns:a16="http://schemas.microsoft.com/office/drawing/2014/main" id="{000F477B-2346-0354-C917-1E180135AD2A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4318000"/>
            <a:ext cx="9144000" cy="19050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5D097974-5BD2-F5B9-C5D0-CD0FE599CFD9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8325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A24FB-BD5C-3549-431E-3F17F5184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Cluster sample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502884-959E-CB8B-5FA3-97B069536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10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AF9CE6-6733-CCDC-DB25-6ADD4D505A74}"/>
              </a:ext>
            </a:extLst>
          </p:cNvPr>
          <p:cNvSpPr txBox="1"/>
          <p:nvPr/>
        </p:nvSpPr>
        <p:spPr>
          <a:xfrm>
            <a:off x="571500" y="1841500"/>
            <a:ext cx="6223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cluster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834A82-F53C-CCF8-F734-06E4B9082CAB}"/>
              </a:ext>
            </a:extLst>
          </p:cNvPr>
          <p:cNvSpPr txBox="1"/>
          <p:nvPr/>
        </p:nvSpPr>
        <p:spPr>
          <a:xfrm>
            <a:off x="850900" y="2110739"/>
            <a:ext cx="5943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group of units that occurs naturally - a dorm, a classroom, a city block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C11F32-4B84-C7C5-F75A-7E2D88B68E4D}"/>
              </a:ext>
            </a:extLst>
          </p:cNvPr>
          <p:cNvSpPr txBox="1"/>
          <p:nvPr/>
        </p:nvSpPr>
        <p:spPr>
          <a:xfrm>
            <a:off x="571500" y="2852420"/>
            <a:ext cx="6223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cluster sample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365F1E-DEDA-651C-46A2-16C3A2709A8F}"/>
              </a:ext>
            </a:extLst>
          </p:cNvPr>
          <p:cNvSpPr txBox="1"/>
          <p:nvPr/>
        </p:nvSpPr>
        <p:spPr>
          <a:xfrm>
            <a:off x="850900" y="3121660"/>
            <a:ext cx="59436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an SRS of clusters, then measure EVERY unit in the clusters chosen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51A1B6-C462-31CF-AB24-A95A9FB20086}"/>
              </a:ext>
            </a:extLst>
          </p:cNvPr>
          <p:cNvSpPr txBox="1"/>
          <p:nvPr/>
        </p:nvSpPr>
        <p:spPr>
          <a:xfrm>
            <a:off x="571500" y="3619500"/>
            <a:ext cx="6223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Only needs a list of clusters, not of every person - and far less travel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E6AFF6-DC4E-E6F1-4F31-409AF24F39C2}"/>
              </a:ext>
            </a:extLst>
          </p:cNvPr>
          <p:cNvSpPr txBox="1"/>
          <p:nvPr/>
        </p:nvSpPr>
        <p:spPr>
          <a:xfrm>
            <a:off x="571500" y="4066539"/>
            <a:ext cx="6223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Works best when each cluster is a mini-population: mixed inside, like each column here</a:t>
            </a:r>
          </a:p>
        </p:txBody>
      </p:sp>
      <p:pic>
        <p:nvPicPr>
          <p:cNvPr id="12" name="l8_design_cluster.png">
            <a:extLst>
              <a:ext uri="{FF2B5EF4-FFF2-40B4-BE49-F238E27FC236}">
                <a16:creationId xmlns:a16="http://schemas.microsoft.com/office/drawing/2014/main" id="{EE65C59B-8E58-2252-225A-73C8E4131E9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0" y="1778000"/>
            <a:ext cx="4572000" cy="45720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3788119E-74CF-C022-F71C-4A28886659F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35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9" grpId="0"/>
      <p:bldP spid="1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96049-F16C-76DD-D687-979A5EA62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Two-stage cluster sample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DAEF1C-2E72-AA8C-7F8D-52E42EAF8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11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50E76D-76B9-65AF-3D0A-CEA7CF54B198}"/>
              </a:ext>
            </a:extLst>
          </p:cNvPr>
          <p:cNvSpPr txBox="1"/>
          <p:nvPr/>
        </p:nvSpPr>
        <p:spPr>
          <a:xfrm>
            <a:off x="571500" y="1841500"/>
            <a:ext cx="6223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two-stage cluster sample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7B30FB-A637-0871-AD41-355647816C77}"/>
              </a:ext>
            </a:extLst>
          </p:cNvPr>
          <p:cNvSpPr txBox="1"/>
          <p:nvPr/>
        </p:nvSpPr>
        <p:spPr>
          <a:xfrm>
            <a:off x="850900" y="2110739"/>
            <a:ext cx="5943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stage 1: an SRS of clusters.  Stage 2: an SRS of units inside each chosen cluster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1A80A2-F776-CC7D-F274-4DD8D2949385}"/>
              </a:ext>
            </a:extLst>
          </p:cNvPr>
          <p:cNvSpPr txBox="1"/>
          <p:nvPr/>
        </p:nvSpPr>
        <p:spPr>
          <a:xfrm>
            <a:off x="571500" y="2852420"/>
            <a:ext cx="6223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Here: 4 of the 10 columns, then 5 students in each, n = 20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FA3B2B-7F32-FCEE-6C85-137E9FC671C7}"/>
              </a:ext>
            </a:extLst>
          </p:cNvPr>
          <p:cNvSpPr txBox="1"/>
          <p:nvPr/>
        </p:nvSpPr>
        <p:spPr>
          <a:xfrm>
            <a:off x="571500" y="3299459"/>
            <a:ext cx="6223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Exit polls work this way: sample polling places, then interview every nth voter leaving each one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63B701-CECB-5097-5529-4525B1F0656F}"/>
              </a:ext>
            </a:extLst>
          </p:cNvPr>
          <p:cNvSpPr txBox="1"/>
          <p:nvPr/>
        </p:nvSpPr>
        <p:spPr>
          <a:xfrm>
            <a:off x="571500" y="3990339"/>
            <a:ext cx="6223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National surveys such as NHANES stack it all: strata, clusters inside strata, households inside clusters</a:t>
            </a:r>
          </a:p>
        </p:txBody>
      </p:sp>
      <p:pic>
        <p:nvPicPr>
          <p:cNvPr id="11" name="l8_design_two_stage.png">
            <a:extLst>
              <a:ext uri="{FF2B5EF4-FFF2-40B4-BE49-F238E27FC236}">
                <a16:creationId xmlns:a16="http://schemas.microsoft.com/office/drawing/2014/main" id="{FFD9DA9A-8CC3-2C6C-1F81-A2A41E0E4D7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0" y="1778000"/>
            <a:ext cx="4572000" cy="45720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F0524DA0-2144-8157-3A1C-7AFFB8171948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539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3D759-6589-044E-A5F4-2A25AB5EF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Strata vs. clusters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C72818-8AA4-8C8E-31B7-9C3197656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12</a:t>
            </a:fld>
            <a:endParaRPr lang="en-US" sz="1600"/>
          </a:p>
        </p:txBody>
      </p:sp>
      <p:pic>
        <p:nvPicPr>
          <p:cNvPr id="6" name="l8_three_designs.png">
            <a:extLst>
              <a:ext uri="{FF2B5EF4-FFF2-40B4-BE49-F238E27FC236}">
                <a16:creationId xmlns:a16="http://schemas.microsoft.com/office/drawing/2014/main" id="{A68FD79A-6305-EA61-8669-76C7430B6E8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1752600"/>
            <a:ext cx="10922000" cy="4191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CBCF5F1-3ED6-FA54-061E-593F582EE09F}"/>
              </a:ext>
            </a:extLst>
          </p:cNvPr>
          <p:cNvSpPr txBox="1"/>
          <p:nvPr/>
        </p:nvSpPr>
        <p:spPr>
          <a:xfrm>
            <a:off x="762000" y="59690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600" b="1">
                <a:solidFill>
                  <a:srgbClr val="1F3864"/>
                </a:solidFill>
              </a:rPr>
              <a:t>Strata: alike inside - sample from EVERY one.     Clusters: mixed inside - sample SOME, whole.</a:t>
            </a:r>
          </a:p>
        </p:txBody>
      </p:sp>
    </p:spTree>
    <p:extLst>
      <p:ext uri="{BB962C8B-B14F-4D97-AF65-F5344CB8AC3E}">
        <p14:creationId xmlns:p14="http://schemas.microsoft.com/office/powerpoint/2010/main" val="3464719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efinition card">
            <a:extLst>
              <a:ext uri="{FF2B5EF4-FFF2-40B4-BE49-F238E27FC236}">
                <a16:creationId xmlns:a16="http://schemas.microsoft.com/office/drawing/2014/main" id="{23A8B403-CAA9-6BE3-A2D6-370954658E26}"/>
              </a:ext>
            </a:extLst>
          </p:cNvPr>
          <p:cNvSpPr/>
          <p:nvPr/>
        </p:nvSpPr>
        <p:spPr>
          <a:xfrm>
            <a:off x="762000" y="4300220"/>
            <a:ext cx="10668000" cy="110236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1DB226C1-EB15-02C4-2DDA-EF28B380F4E6}"/>
              </a:ext>
            </a:extLst>
          </p:cNvPr>
          <p:cNvSpPr/>
          <p:nvPr/>
        </p:nvSpPr>
        <p:spPr>
          <a:xfrm>
            <a:off x="762000" y="3070860"/>
            <a:ext cx="10668000" cy="110236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D693D69B-6061-5D41-654C-F51E8969D956}"/>
              </a:ext>
            </a:extLst>
          </p:cNvPr>
          <p:cNvSpPr/>
          <p:nvPr/>
        </p:nvSpPr>
        <p:spPr>
          <a:xfrm>
            <a:off x="762000" y="1841500"/>
            <a:ext cx="10668000" cy="110236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264EEC-AEDC-13FC-C31B-557FD7F63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Two kinds of error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B1CC95-C9A5-3048-6EE3-083C5E102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13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D3F9A6-81F3-EE4F-08F3-DA677F1891CD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sampling error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A014A0-7484-60C9-7401-F6A703F6FC4E}"/>
              </a:ext>
            </a:extLst>
          </p:cNvPr>
          <p:cNvSpPr txBox="1"/>
          <p:nvPr/>
        </p:nvSpPr>
        <p:spPr>
          <a:xfrm>
            <a:off x="4013200" y="1943100"/>
            <a:ext cx="7264400" cy="9245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natural gap between a sample and the population, caused by which units happened to be chosen</a:t>
            </a:r>
          </a:p>
          <a:p>
            <a:r>
              <a:rPr lang="en-US" i="1">
                <a:solidFill>
                  <a:srgbClr val="595959"/>
                </a:solidFill>
              </a:rPr>
              <a:t>every sample has some - a larger sample makes it smaller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D63AAF-CDBB-FC92-3E67-2DC3B2E0D3FE}"/>
              </a:ext>
            </a:extLst>
          </p:cNvPr>
          <p:cNvSpPr txBox="1"/>
          <p:nvPr/>
        </p:nvSpPr>
        <p:spPr>
          <a:xfrm>
            <a:off x="914400" y="317246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nonsampling error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740826-8BB7-EE20-2E4D-41CD635218F6}"/>
              </a:ext>
            </a:extLst>
          </p:cNvPr>
          <p:cNvSpPr txBox="1"/>
          <p:nvPr/>
        </p:nvSpPr>
        <p:spPr>
          <a:xfrm>
            <a:off x="4013200" y="3172460"/>
            <a:ext cx="7264400" cy="9245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errors that do not come from chance - biased methods, bad questions, data-entry mistakes, faulty instruments</a:t>
            </a:r>
          </a:p>
          <a:p>
            <a:r>
              <a:rPr lang="en-US" i="1">
                <a:solidFill>
                  <a:srgbClr val="595959"/>
                </a:solidFill>
              </a:rPr>
              <a:t>a larger sample does not make these smaller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633517-E064-B119-4728-E6FDE708798C}"/>
              </a:ext>
            </a:extLst>
          </p:cNvPr>
          <p:cNvSpPr txBox="1"/>
          <p:nvPr/>
        </p:nvSpPr>
        <p:spPr>
          <a:xfrm>
            <a:off x="914400" y="440182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sampling bias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BA1AE1-9AED-46DD-25B7-2E2B1AA57C4A}"/>
              </a:ext>
            </a:extLst>
          </p:cNvPr>
          <p:cNvSpPr txBox="1"/>
          <p:nvPr/>
        </p:nvSpPr>
        <p:spPr>
          <a:xfrm>
            <a:off x="4013200" y="4401820"/>
            <a:ext cx="7264400" cy="9245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some members of the population are less likely to be chosen than others</a:t>
            </a:r>
          </a:p>
          <a:p>
            <a:r>
              <a:rPr lang="en-US" i="1">
                <a:solidFill>
                  <a:srgbClr val="595959"/>
                </a:solidFill>
              </a:rPr>
              <a:t>convenience and voluntary response samples, or a frame that leaves people out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1E118F2C-5AC8-29C7-6207-F3DA63B7D968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470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efinition card">
            <a:extLst>
              <a:ext uri="{FF2B5EF4-FFF2-40B4-BE49-F238E27FC236}">
                <a16:creationId xmlns:a16="http://schemas.microsoft.com/office/drawing/2014/main" id="{DD5BB63E-3EA2-F0FB-5E89-A169F5F63425}"/>
              </a:ext>
            </a:extLst>
          </p:cNvPr>
          <p:cNvSpPr/>
          <p:nvPr/>
        </p:nvSpPr>
        <p:spPr>
          <a:xfrm>
            <a:off x="762000" y="4208780"/>
            <a:ext cx="10668000" cy="110236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Definition card">
            <a:extLst>
              <a:ext uri="{FF2B5EF4-FFF2-40B4-BE49-F238E27FC236}">
                <a16:creationId xmlns:a16="http://schemas.microsoft.com/office/drawing/2014/main" id="{C8545C68-728D-3DBC-8856-E53F52C1B3D9}"/>
              </a:ext>
            </a:extLst>
          </p:cNvPr>
          <p:cNvSpPr/>
          <p:nvPr/>
        </p:nvSpPr>
        <p:spPr>
          <a:xfrm>
            <a:off x="762000" y="325374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efinition card">
            <a:extLst>
              <a:ext uri="{FF2B5EF4-FFF2-40B4-BE49-F238E27FC236}">
                <a16:creationId xmlns:a16="http://schemas.microsoft.com/office/drawing/2014/main" id="{4AA8FAE9-8DC7-B2A0-44CD-52960C69B86E}"/>
              </a:ext>
            </a:extLst>
          </p:cNvPr>
          <p:cNvSpPr/>
          <p:nvPr/>
        </p:nvSpPr>
        <p:spPr>
          <a:xfrm>
            <a:off x="762000" y="22987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5C7FE2-DED0-DF94-72E3-76FCDB232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Three common nonsampling errors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A7756A-EA9C-ACC1-25C6-DB720DDD8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AB3F2F-0B42-8831-992A-4E3802B15C93}"/>
              </a:ext>
            </a:extLst>
          </p:cNvPr>
          <p:cNvSpPr txBox="1"/>
          <p:nvPr/>
        </p:nvSpPr>
        <p:spPr>
          <a:xfrm>
            <a:off x="762000" y="18415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Even a perfectly random design can end up biased: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308314-0CC3-5177-9B67-07586A023635}"/>
              </a:ext>
            </a:extLst>
          </p:cNvPr>
          <p:cNvSpPr txBox="1"/>
          <p:nvPr/>
        </p:nvSpPr>
        <p:spPr>
          <a:xfrm>
            <a:off x="914400" y="24003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undercoverage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0D2D80-EC4C-68D9-D43B-33D78AF08FD1}"/>
              </a:ext>
            </a:extLst>
          </p:cNvPr>
          <p:cNvSpPr txBox="1"/>
          <p:nvPr/>
        </p:nvSpPr>
        <p:spPr>
          <a:xfrm>
            <a:off x="4013200" y="24002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sampling frame leaves part of the population out</a:t>
            </a:r>
          </a:p>
          <a:p>
            <a:r>
              <a:rPr lang="en-US" i="1">
                <a:solidFill>
                  <a:srgbClr val="595959"/>
                </a:solidFill>
              </a:rPr>
              <a:t>students who are not on the list you sampled from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58AC8D-1C6E-890A-F148-8C98005A5368}"/>
              </a:ext>
            </a:extLst>
          </p:cNvPr>
          <p:cNvSpPr txBox="1"/>
          <p:nvPr/>
        </p:nvSpPr>
        <p:spPr>
          <a:xfrm>
            <a:off x="914400" y="33553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nonresponse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FA4A44-B99B-F127-11E3-A826DA55FCF2}"/>
              </a:ext>
            </a:extLst>
          </p:cNvPr>
          <p:cNvSpPr txBox="1"/>
          <p:nvPr/>
        </p:nvSpPr>
        <p:spPr>
          <a:xfrm>
            <a:off x="4013200" y="335533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people who are chosen cannot be reached, or refuse to answer</a:t>
            </a:r>
          </a:p>
          <a:p>
            <a:r>
              <a:rPr lang="en-US" i="1">
                <a:solidFill>
                  <a:srgbClr val="595959"/>
                </a:solidFill>
              </a:rPr>
              <a:t>a problem when the people who do not answer differ from those who do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6C9A0E-3FF6-5F4F-388B-DDF252F3F7BD}"/>
              </a:ext>
            </a:extLst>
          </p:cNvPr>
          <p:cNvSpPr txBox="1"/>
          <p:nvPr/>
        </p:nvSpPr>
        <p:spPr>
          <a:xfrm>
            <a:off x="914400" y="43103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response bias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E3CE1B-C94D-3503-4E43-FC5847C34E55}"/>
              </a:ext>
            </a:extLst>
          </p:cNvPr>
          <p:cNvSpPr txBox="1"/>
          <p:nvPr/>
        </p:nvSpPr>
        <p:spPr>
          <a:xfrm>
            <a:off x="4013200" y="4310380"/>
            <a:ext cx="7264400" cy="9245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answers themselves are wrong</a:t>
            </a:r>
          </a:p>
          <a:p>
            <a:r>
              <a:rPr lang="en-US" i="1">
                <a:solidFill>
                  <a:srgbClr val="595959"/>
                </a:solidFill>
              </a:rPr>
              <a:t>leading or confusing questions, sensitive topics, wanting to please the interviewer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2618AECC-D5FC-BBC6-16CC-A46A88B05729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694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/>
      <p:bldP spid="13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2185</TotalTime>
  <Words>1235</Words>
  <Application>Microsoft Office PowerPoint</Application>
  <PresentationFormat>Widescreen</PresentationFormat>
  <Paragraphs>113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Consolas</vt:lpstr>
      <vt:lpstr>Office Theme</vt:lpstr>
      <vt:lpstr>Lecture 9 Sampling, Experiments and Causation</vt:lpstr>
      <vt:lpstr>Review</vt:lpstr>
      <vt:lpstr>Review</vt:lpstr>
      <vt:lpstr>A bigger sample does not fix bias</vt:lpstr>
      <vt:lpstr>In the news: how a national poll samples</vt:lpstr>
      <vt:lpstr>In the news: light at night, over time</vt:lpstr>
      <vt:lpstr>Systematic sample</vt:lpstr>
      <vt:lpstr>Stratified random sample</vt:lpstr>
      <vt:lpstr>Proportional allocation with real data</vt:lpstr>
      <vt:lpstr>Cluster sample</vt:lpstr>
      <vt:lpstr>Two-stage cluster sample</vt:lpstr>
      <vt:lpstr>Strata vs. clusters</vt:lpstr>
      <vt:lpstr>Two kinds of error</vt:lpstr>
      <vt:lpstr>Three common nonsampling errors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358</cp:revision>
  <dcterms:created xsi:type="dcterms:W3CDTF">2023-08-05T23:57:41Z</dcterms:created>
  <dcterms:modified xsi:type="dcterms:W3CDTF">2026-09-22T22:23:22Z</dcterms:modified>
</cp:coreProperties>
</file>