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9" r:id="rId4"/>
    <p:sldId id="272" r:id="rId5"/>
    <p:sldId id="312" r:id="rId6"/>
    <p:sldId id="313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310" r:id="rId25"/>
    <p:sldId id="311" r:id="rId26"/>
    <p:sldId id="293" r:id="rId27"/>
    <p:sldId id="294" r:id="rId28"/>
    <p:sldId id="295" r:id="rId29"/>
    <p:sldId id="296" r:id="rId30"/>
    <p:sldId id="297" r:id="rId31"/>
    <p:sldId id="298" r:id="rId32"/>
    <p:sldId id="299" r:id="rId33"/>
    <p:sldId id="300" r:id="rId34"/>
    <p:sldId id="301" r:id="rId35"/>
    <p:sldId id="302" r:id="rId36"/>
    <p:sldId id="303" r:id="rId37"/>
    <p:sldId id="304" r:id="rId38"/>
    <p:sldId id="305" r:id="rId39"/>
    <p:sldId id="306" r:id="rId40"/>
    <p:sldId id="307" r:id="rId41"/>
    <p:sldId id="30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norc.org/wp-content/uploads/2026/09/State_of_the_facts_2026.pdf" TargetMode="External"/><Relationship Id="rId2" Type="http://schemas.openxmlformats.org/officeDocument/2006/relationships/hyperlink" Target="https://apnorc.org/projects/state-of-the-facts-2026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orc.org/services-solutions/amerispeak/about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urheartj/ehag563" TargetMode="External"/><Relationship Id="rId2" Type="http://schemas.openxmlformats.org/officeDocument/2006/relationships/hyperlink" Target="https://www.escardio.org/news/press/press-releases/too-much-light-at-night-changes-the-shape-and-working-of-the-heart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9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Sampling, 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On the target picture, what is bias?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shots are centered off the bullseye - the method misses the parameter the same way every time.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On the target picture, what is standard error?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How spread out the shots are from one sample to the next - a measure of precision.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does it mean to choose a sample at random?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Chance, not a person, decides which units get into the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makes a sample a simple random sample (SRS)?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Every possible group of n units has the same chance of being the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97252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5   </a:t>
            </a:r>
            <a:r>
              <a:rPr lang="en-US" b="1"/>
              <a:t>What is a convenience sample?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sample of whoever is easiest to reach.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6   </a:t>
            </a:r>
            <a:r>
              <a:rPr lang="en-US" b="1"/>
              <a:t>What is sampling with replacement?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picked unit goes back into the pool, so it can be picked again.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7   </a:t>
            </a:r>
            <a:r>
              <a:rPr lang="en-US" b="1"/>
              <a:t>What is sampling without replacement?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picked unit is set aside, so it can be chosen only once.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8   </a:t>
            </a:r>
            <a:r>
              <a:rPr lang="en-US" b="1"/>
              <a:t>What is a voluntary response sample?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sample of people who choose themselves by responding - usually the ones with strong opinions.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8760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970D3-B093-F70D-AA2D-66EFE9D61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In the news: how a national poll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43284-F8EF-BF3E-3B0C-348A655D7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79600"/>
            <a:ext cx="10668000" cy="4038600"/>
          </a:xfrm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State of the Facts 2026 (AP-NORC Center with USAFacts) asked U.S. adults how much they trust government information and AI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1,036 adults, July 29 – August 10, 2026: 1,017 online and 19 by phone, in English or Spanish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Drawn from AmeriSpeak, a </a:t>
            </a:r>
            <a:r>
              <a:rPr lang="en-US" sz="1800" b="1">
                <a:solidFill>
                  <a:srgbClr val="C00000"/>
                </a:solidFill>
              </a:rPr>
              <a:t>probability-based panel</a:t>
            </a:r>
            <a:r>
              <a:rPr lang="en-US" sz="1800"/>
              <a:t>: NORC randomly selects U.S. addresses, then recruits those households by mail, phone and in person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You cannot sign yourself up - </a:t>
            </a:r>
            <a:r>
              <a:rPr lang="en-US" sz="1800" b="1">
                <a:solidFill>
                  <a:srgbClr val="C00000"/>
                </a:solidFill>
              </a:rPr>
              <a:t>chance decides</a:t>
            </a:r>
            <a:r>
              <a:rPr lang="en-US" sz="1800"/>
              <a:t> who is invited. Compare the opt-in panels from last week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Margin of sampling error: ±4.1 percentage points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But only </a:t>
            </a:r>
            <a:r>
              <a:rPr lang="en-US" sz="1800" b="1">
                <a:solidFill>
                  <a:srgbClr val="C00000"/>
                </a:solidFill>
              </a:rPr>
              <a:t>10.3%</a:t>
            </a:r>
            <a:r>
              <a:rPr lang="en-US" sz="1800"/>
              <a:t> of invited panel members completed this survey (AAPOR response rate 3)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One finding: only 37% say it is easy to know whether the information they see is true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800"/>
              <a:t>Read more:  </a:t>
            </a:r>
            <a:r>
              <a:rPr lang="en-US" sz="1800">
                <a:hlinkClick r:id="rId2"/>
              </a:rPr>
              <a:t>Project page</a:t>
            </a:r>
            <a:r>
              <a:rPr lang="en-US" sz="1800"/>
              <a:t>   ·   </a:t>
            </a:r>
            <a:r>
              <a:rPr lang="en-US" sz="1800">
                <a:hlinkClick r:id="rId3"/>
              </a:rPr>
              <a:t>Full report (PDF; methods on p. 42)</a:t>
            </a:r>
            <a:r>
              <a:rPr lang="en-US" sz="1800"/>
              <a:t>   ·   </a:t>
            </a:r>
            <a:r>
              <a:rPr lang="en-US" sz="1800">
                <a:hlinkClick r:id="rId4"/>
              </a:rPr>
              <a:t>How AmeriSpeak recruits</a:t>
            </a: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74C1D-1F63-D1A7-A8B5-4D9ED63F9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C3BB19-99C5-A15E-0994-925F510AD14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AP-NORC Center for Public Affairs Research and USAFacts (2026); NORC, About AmeriSpeak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B625B840-F08E-A114-087B-9C7BEB5AE84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71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D161F-5CC3-0228-A1EC-14031141E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In the news: light at night, over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8FA8C-17DF-52E0-BAB1-41BC3515C0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79600"/>
            <a:ext cx="10668000" cy="4038600"/>
          </a:xfrm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UK Biobank: about 500,000 UK adults aged 40–69 who agreed to join in 2006–2010, then followed through their health records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2013–2015: 103,615 of them wore a wrist sensor with a light meter for 7 days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Removed: unreliable sensor data, 2,770 night-shift workers, anyone with heart disease already, anyone without a later heart MRI → 11,071 people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About 3 years later each had an MRI of their heart; hospital and death records were followed for up to 10 years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 b="1">
                <a:solidFill>
                  <a:srgbClr val="C00000"/>
                </a:solidFill>
              </a:rPr>
              <a:t>Longitudinal</a:t>
            </a:r>
            <a:r>
              <a:rPr lang="en-US" sz="1800"/>
              <a:t>: the same people measured more than once - night light first, the heart later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 b="1">
                <a:solidFill>
                  <a:srgbClr val="C00000"/>
                </a:solidFill>
              </a:rPr>
              <a:t>Not random</a:t>
            </a:r>
            <a:r>
              <a:rPr lang="en-US" sz="1800"/>
              <a:t>: the people who agreed to join are mostly White and healthier than the UK population (the authors say so)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Result: more light above 3 lux at night went with thicker heart walls and weaker pumping. Did the light cause it? We come back to that later today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800"/>
              <a:t>Read more:  </a:t>
            </a:r>
            <a:r>
              <a:rPr lang="en-US" sz="1800">
                <a:hlinkClick r:id="rId2"/>
              </a:rPr>
              <a:t>ESC press release</a:t>
            </a:r>
            <a:r>
              <a:rPr lang="en-US" sz="1800"/>
              <a:t>   ·   </a:t>
            </a:r>
            <a:r>
              <a:rPr lang="en-US" sz="1800">
                <a:hlinkClick r:id="rId3"/>
              </a:rPr>
              <a:t>Dai et al. (2026), European Heart Journal</a:t>
            </a: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7D330-D6B6-7F56-F0A8-EFBE475B3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8CAB-5750-BA19-EF36-86A6D6DD977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Dai, Dai, Heianza and Qi (2026), European Heart Journal; ESC press release (2026)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6BC8A18B-078A-79EE-46E7-00BF009A3B9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612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97E2-4E3E-168E-D9EF-BE86DD21F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Systematic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44AB4-3472-45D6-45C0-B84299A6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DA281-DC4B-F536-974A-7668B2AF62C6}"/>
              </a:ext>
            </a:extLst>
          </p:cNvPr>
          <p:cNvSpPr txBox="1"/>
          <p:nvPr/>
        </p:nvSpPr>
        <p:spPr>
          <a:xfrm>
            <a:off x="762000" y="18415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1DC53-F5E2-B64C-85E7-BE250E06A5B0}"/>
              </a:ext>
            </a:extLst>
          </p:cNvPr>
          <p:cNvSpPr txBox="1"/>
          <p:nvPr/>
        </p:nvSpPr>
        <p:spPr>
          <a:xfrm>
            <a:off x="3784600" y="18414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pick a random starting point among the first k units of an ordered list, then take every kth unit after 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71F7A-F91D-D57F-1674-50E9AF83A26F}"/>
              </a:ext>
            </a:extLst>
          </p:cNvPr>
          <p:cNvSpPr txBox="1"/>
          <p:nvPr/>
        </p:nvSpPr>
        <p:spPr>
          <a:xfrm>
            <a:off x="762000" y="25323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k = N/n = 100/20 = 5.  Random start = 2, so we take list positions 2, 7, 12, 17, ... , 97</a:t>
            </a:r>
          </a:p>
        </p:txBody>
      </p:sp>
      <p:pic>
        <p:nvPicPr>
          <p:cNvPr id="9" name="l8_design_systematic.png">
            <a:extLst>
              <a:ext uri="{FF2B5EF4-FFF2-40B4-BE49-F238E27FC236}">
                <a16:creationId xmlns:a16="http://schemas.microsoft.com/office/drawing/2014/main" id="{85D54DE1-2786-33F5-0EF9-7F4D43CDC65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8620"/>
            <a:ext cx="10668000" cy="2921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E7C95CC-2585-95F4-F078-4DC6534EB4AC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like an SRS - unless the list has a repeating pattern that lines up with k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F33DF17-F38C-5CEA-9FDD-F067BB8A13E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28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E805-04AC-8627-66AE-26DA578A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Stratified random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406A2-7F5B-24F5-5E49-5056AD0D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2458B-0AA1-E8C9-39EE-CA982E9119F6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35368-2E5B-AF0E-01AC-9C12A4355760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groups of units that are alike, formed BEFORE sampling - class year, region, age group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90EB5-C42D-BF95-5B7C-4469ECC019FC}"/>
              </a:ext>
            </a:extLst>
          </p:cNvPr>
          <p:cNvSpPr txBox="1"/>
          <p:nvPr/>
        </p:nvSpPr>
        <p:spPr>
          <a:xfrm>
            <a:off x="571500" y="27762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CF9-8285-D541-7330-1790862F3580}"/>
              </a:ext>
            </a:extLst>
          </p:cNvPr>
          <p:cNvSpPr txBox="1"/>
          <p:nvPr/>
        </p:nvSpPr>
        <p:spPr>
          <a:xfrm>
            <a:off x="850900" y="30454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separate SRS inside every stratum, combined into one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FC2DD-65F2-EFF3-93FB-D22279D7CC17}"/>
              </a:ext>
            </a:extLst>
          </p:cNvPr>
          <p:cNvSpPr txBox="1"/>
          <p:nvPr/>
        </p:nvSpPr>
        <p:spPr>
          <a:xfrm>
            <a:off x="571500" y="34671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proportional allocation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562EC6-6104-9EFC-9213-8793181910F3}"/>
              </a:ext>
            </a:extLst>
          </p:cNvPr>
          <p:cNvSpPr txBox="1"/>
          <p:nvPr/>
        </p:nvSpPr>
        <p:spPr>
          <a:xfrm>
            <a:off x="850900" y="373634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stratum gets its share of n: 40, 30, 20, 10 students -&gt; 8, 6, 4,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D03EC-98B8-EFA6-7B19-7ACF3DF1AE45}"/>
              </a:ext>
            </a:extLst>
          </p:cNvPr>
          <p:cNvSpPr txBox="1"/>
          <p:nvPr/>
        </p:nvSpPr>
        <p:spPr>
          <a:xfrm>
            <a:off x="571500" y="415798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Every group is guaranteed a place - no more 2 juniors by bad luck</a:t>
            </a:r>
          </a:p>
        </p:txBody>
      </p:sp>
      <p:pic>
        <p:nvPicPr>
          <p:cNvPr id="13" name="l8_design_stratified.png">
            <a:extLst>
              <a:ext uri="{FF2B5EF4-FFF2-40B4-BE49-F238E27FC236}">
                <a16:creationId xmlns:a16="http://schemas.microsoft.com/office/drawing/2014/main" id="{178531D0-F711-51C4-33D6-2FDDC352EC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E7A1A481-EFE9-E2B6-2D31-F3B3EDED8C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0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725DE-1FA3-4673-C2B0-0E94FC359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Proportional allocation with real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CCAB8-7CC5-6423-8BF9-48B0DE638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BF07B-2425-181A-F030-3292A7D90694}"/>
              </a:ext>
            </a:extLst>
          </p:cNvPr>
          <p:cNvSpPr txBox="1"/>
          <p:nvPr/>
        </p:nvSpPr>
        <p:spPr>
          <a:xfrm>
            <a:off x="762000" y="1905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heights.csv (on the course Data page) has N = 379 people: 262 female and 117 male. Stratify by sex for a sample of n = 30: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F1A7F7-FF53-53DE-3812-9D91CAFBEE64}"/>
              </a:ext>
            </a:extLst>
          </p:cNvPr>
          <p:cNvSpPr txBox="1"/>
          <p:nvPr/>
        </p:nvSpPr>
        <p:spPr>
          <a:xfrm>
            <a:off x="762000" y="23266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female:  30 x 262/379 = 20.74, so 21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male:    30 x 117/379 =  9.26, so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594E7-6F89-A1AE-A32B-8ED7F5BA9252}"/>
              </a:ext>
            </a:extLst>
          </p:cNvPr>
          <p:cNvSpPr txBox="1"/>
          <p:nvPr/>
        </p:nvSpPr>
        <p:spPr>
          <a:xfrm>
            <a:off x="762000" y="29921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Then an SRS of 21 of the women, and a separate SRS of 9 of the men</a:t>
            </a:r>
          </a:p>
        </p:txBody>
      </p:sp>
      <p:pic>
        <p:nvPicPr>
          <p:cNvPr id="9" name="l8_heights_allocation.png">
            <a:extLst>
              <a:ext uri="{FF2B5EF4-FFF2-40B4-BE49-F238E27FC236}">
                <a16:creationId xmlns:a16="http://schemas.microsoft.com/office/drawing/2014/main" id="{000F477B-2346-0354-C917-1E180135AD2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318000"/>
            <a:ext cx="9144000" cy="190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5D097974-5BD2-F5B9-C5D0-CD0FE599CFD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A24FB-BD5C-3549-431E-3F17F518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2884-959E-CB8B-5FA3-97B069536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F9CE6-6733-CCDC-DB25-6ADD4D505A74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34A82-F53C-CCF8-F734-06E4B9082CAB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occurs naturally - a dorm, a classroom, a city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11F32-4B84-C7C5-F75A-7E2D88B68E4D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65F1E-DEDA-651C-46A2-16C3A2709A8F}"/>
              </a:ext>
            </a:extLst>
          </p:cNvPr>
          <p:cNvSpPr txBox="1"/>
          <p:nvPr/>
        </p:nvSpPr>
        <p:spPr>
          <a:xfrm>
            <a:off x="850900" y="31216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clusters, then measure EVERY unit in the clusters chosen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51A1B6-C462-31CF-AB24-A95A9FB20086}"/>
              </a:ext>
            </a:extLst>
          </p:cNvPr>
          <p:cNvSpPr txBox="1"/>
          <p:nvPr/>
        </p:nvSpPr>
        <p:spPr>
          <a:xfrm>
            <a:off x="571500" y="3619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needs a list of clusters, not of every person - and far less travel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6AFF6-DC4E-E6F1-4F31-409AF24F39C2}"/>
              </a:ext>
            </a:extLst>
          </p:cNvPr>
          <p:cNvSpPr txBox="1"/>
          <p:nvPr/>
        </p:nvSpPr>
        <p:spPr>
          <a:xfrm>
            <a:off x="571500" y="40665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best when each cluster is a mini-population: mixed inside, like each column here</a:t>
            </a:r>
          </a:p>
        </p:txBody>
      </p:sp>
      <p:pic>
        <p:nvPicPr>
          <p:cNvPr id="12" name="l8_design_cluster.png">
            <a:extLst>
              <a:ext uri="{FF2B5EF4-FFF2-40B4-BE49-F238E27FC236}">
                <a16:creationId xmlns:a16="http://schemas.microsoft.com/office/drawing/2014/main" id="{EE65C59B-8E58-2252-225A-73C8E4131E9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3788119E-74CF-C022-F71C-4A28886659F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6049-F16C-76DD-D687-979A5EA6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Two-stage 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AEF1C-2E72-AA8C-7F8D-52E42EAF8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0E76D-76B9-65AF-3D0A-CEA7CF54B198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two-stage cluster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7B30FB-A637-0871-AD41-355647816C77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stage 1: an SRS of clusters.  Stage 2: an SRS of units inside each chosen cluster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A80A2-F776-CC7D-F274-4DD8D2949385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Here: 4 of the 10 columns, then 5 students in each, n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A3B2B-7F32-FCEE-6C85-137E9FC671C7}"/>
              </a:ext>
            </a:extLst>
          </p:cNvPr>
          <p:cNvSpPr txBox="1"/>
          <p:nvPr/>
        </p:nvSpPr>
        <p:spPr>
          <a:xfrm>
            <a:off x="571500" y="329945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Exit polls work this way: sample polling places, then interview every nth voter leaving each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63B701-CECB-5097-5529-4525B1F0656F}"/>
              </a:ext>
            </a:extLst>
          </p:cNvPr>
          <p:cNvSpPr txBox="1"/>
          <p:nvPr/>
        </p:nvSpPr>
        <p:spPr>
          <a:xfrm>
            <a:off x="571500" y="39903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National surveys such as NHANES stack it all: strata, clusters inside strata, households inside clusters</a:t>
            </a:r>
          </a:p>
        </p:txBody>
      </p:sp>
      <p:pic>
        <p:nvPicPr>
          <p:cNvPr id="11" name="l8_design_two_stage.png">
            <a:extLst>
              <a:ext uri="{FF2B5EF4-FFF2-40B4-BE49-F238E27FC236}">
                <a16:creationId xmlns:a16="http://schemas.microsoft.com/office/drawing/2014/main" id="{FFD9DA9A-8CC3-2C6C-1F81-A2A41E0E4D7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F0524DA0-2144-8157-3A1C-7AFFB817194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3D759-6589-044E-A5F4-2A25AB5E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Strata vs.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72818-8AA4-8C8E-31B7-9C3197656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pic>
        <p:nvPicPr>
          <p:cNvPr id="6" name="l8_three_designs.png">
            <a:extLst>
              <a:ext uri="{FF2B5EF4-FFF2-40B4-BE49-F238E27FC236}">
                <a16:creationId xmlns:a16="http://schemas.microsoft.com/office/drawing/2014/main" id="{A68FD79A-6305-EA61-8669-76C7430B6E8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752600"/>
            <a:ext cx="10922000" cy="4191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BCF5F1-3ED6-FA54-061E-593F582EE09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1F3864"/>
                </a:solidFill>
              </a:rPr>
              <a:t>Strata: alike inside - sample from EVERY one.     Clusters: mixed inside - sample SOME, whole.</a:t>
            </a:r>
          </a:p>
        </p:txBody>
      </p:sp>
    </p:spTree>
    <p:extLst>
      <p:ext uri="{BB962C8B-B14F-4D97-AF65-F5344CB8AC3E}">
        <p14:creationId xmlns:p14="http://schemas.microsoft.com/office/powerpoint/2010/main" val="346471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23A8B403-CAA9-6BE3-A2D6-370954658E26}"/>
              </a:ext>
            </a:extLst>
          </p:cNvPr>
          <p:cNvSpPr/>
          <p:nvPr/>
        </p:nvSpPr>
        <p:spPr>
          <a:xfrm>
            <a:off x="762000" y="430022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DB226C1-EB15-02C4-2DDA-EF28B380F4E6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93D69B-6061-5D41-654C-F51E8969D956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64EEC-AEDC-13FC-C31B-557FD7F6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kinds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1CC95-C9A5-3048-6EE3-083C5E102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D3F9A6-81F3-EE4F-08F3-DA677F1891CD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A014A0-7484-60C9-7401-F6A703F6FC4E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natural gap between a sample and the population, caused by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every sample has some - a larger sample makes it smaller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63AAF-CDBB-FC92-3E67-2DC3B2E0D3FE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nonsampling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40826-8BB7-EE20-2E4D-41CD635218F6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errors that do not come from chance - biased methods, bad questions, data-entry mistakes, faulty instruments</a:t>
            </a:r>
          </a:p>
          <a:p>
            <a:r>
              <a:rPr lang="en-US" i="1">
                <a:solidFill>
                  <a:srgbClr val="595959"/>
                </a:solidFill>
              </a:rPr>
              <a:t>a larger sample does not make these smaller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633517-E064-B119-4728-E6FDE708798C}"/>
              </a:ext>
            </a:extLst>
          </p:cNvPr>
          <p:cNvSpPr txBox="1"/>
          <p:nvPr/>
        </p:nvSpPr>
        <p:spPr>
          <a:xfrm>
            <a:off x="914400" y="44018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bias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A1AE1-9AED-46DD-25B7-2E2B1AA57C4A}"/>
              </a:ext>
            </a:extLst>
          </p:cNvPr>
          <p:cNvSpPr txBox="1"/>
          <p:nvPr/>
        </p:nvSpPr>
        <p:spPr>
          <a:xfrm>
            <a:off x="4013200" y="440182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some members of the population are less likely to be chosen than others</a:t>
            </a:r>
          </a:p>
          <a:p>
            <a:r>
              <a:rPr lang="en-US" i="1">
                <a:solidFill>
                  <a:srgbClr val="595959"/>
                </a:solidFill>
              </a:rPr>
              <a:t>convenience and voluntary response samples, or a frame that leaves people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E118F2C-5AC8-29C7-6207-F3DA63B7D96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7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DD5BB63E-3EA2-F0FB-5E89-A169F5F63425}"/>
              </a:ext>
            </a:extLst>
          </p:cNvPr>
          <p:cNvSpPr/>
          <p:nvPr/>
        </p:nvSpPr>
        <p:spPr>
          <a:xfrm>
            <a:off x="762000" y="42087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C8545C68-728D-3DBC-8856-E53F52C1B3D9}"/>
              </a:ext>
            </a:extLst>
          </p:cNvPr>
          <p:cNvSpPr/>
          <p:nvPr/>
        </p:nvSpPr>
        <p:spPr>
          <a:xfrm>
            <a:off x="762000" y="32537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4AA8FAE9-8DC7-B2A0-44CD-52960C69B86E}"/>
              </a:ext>
            </a:extLst>
          </p:cNvPr>
          <p:cNvSpPr/>
          <p:nvPr/>
        </p:nvSpPr>
        <p:spPr>
          <a:xfrm>
            <a:off x="762000" y="2298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C7FE2-DED0-DF94-72E3-76FCDB23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common nonsampling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7756A-EA9C-ACC1-25C6-DB720DDD8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B3F2F-0B42-8831-992A-4E3802B15C93}"/>
              </a:ext>
            </a:extLst>
          </p:cNvPr>
          <p:cNvSpPr txBox="1"/>
          <p:nvPr/>
        </p:nvSpPr>
        <p:spPr>
          <a:xfrm>
            <a:off x="762000" y="1841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Even a perfectly random design can end up biased: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08314-0CC3-5177-9B67-07586A023635}"/>
              </a:ext>
            </a:extLst>
          </p:cNvPr>
          <p:cNvSpPr txBox="1"/>
          <p:nvPr/>
        </p:nvSpPr>
        <p:spPr>
          <a:xfrm>
            <a:off x="914400" y="2400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undercoverage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D2D80-EC4C-68D9-D43B-33D78AF08FD1}"/>
              </a:ext>
            </a:extLst>
          </p:cNvPr>
          <p:cNvSpPr txBox="1"/>
          <p:nvPr/>
        </p:nvSpPr>
        <p:spPr>
          <a:xfrm>
            <a:off x="4013200" y="2400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sampling frame leaves part of the population out</a:t>
            </a:r>
          </a:p>
          <a:p>
            <a:r>
              <a:rPr lang="en-US" i="1">
                <a:solidFill>
                  <a:srgbClr val="595959"/>
                </a:solidFill>
              </a:rPr>
              <a:t>students who are not on the list you sampled from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58AC8D-1C6E-890A-F148-8C98005A5368}"/>
              </a:ext>
            </a:extLst>
          </p:cNvPr>
          <p:cNvSpPr txBox="1"/>
          <p:nvPr/>
        </p:nvSpPr>
        <p:spPr>
          <a:xfrm>
            <a:off x="914400" y="33553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A4A44-B99B-F127-11E3-A826DA55FCF2}"/>
              </a:ext>
            </a:extLst>
          </p:cNvPr>
          <p:cNvSpPr txBox="1"/>
          <p:nvPr/>
        </p:nvSpPr>
        <p:spPr>
          <a:xfrm>
            <a:off x="4013200" y="33553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who are chosen cannot be reached, or refuse to answer</a:t>
            </a:r>
          </a:p>
          <a:p>
            <a:r>
              <a:rPr lang="en-US" i="1">
                <a:solidFill>
                  <a:srgbClr val="595959"/>
                </a:solidFill>
              </a:rPr>
              <a:t>a problem when the people who do not answer differ from those who do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C9A0E-3FF6-5F4F-388B-DDF252F3F7BD}"/>
              </a:ext>
            </a:extLst>
          </p:cNvPr>
          <p:cNvSpPr txBox="1"/>
          <p:nvPr/>
        </p:nvSpPr>
        <p:spPr>
          <a:xfrm>
            <a:off x="914400" y="4310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bias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3CE1B-C94D-3503-4E43-FC5847C34E55}"/>
              </a:ext>
            </a:extLst>
          </p:cNvPr>
          <p:cNvSpPr txBox="1"/>
          <p:nvPr/>
        </p:nvSpPr>
        <p:spPr>
          <a:xfrm>
            <a:off x="4013200" y="43103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answers themselves are wrong</a:t>
            </a:r>
          </a:p>
          <a:p>
            <a:r>
              <a:rPr lang="en-US" i="1">
                <a:solidFill>
                  <a:srgbClr val="595959"/>
                </a:solidFill>
              </a:rPr>
              <a:t>leading or confusing questions, sensitive topics, wanting to please the interviewer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618AECC-D5FC-BBC6-16CC-A46A88B0572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69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C30F-FE23-34A2-8070-9BE65D2D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Nonresponse: when nobody picks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E6F44-2A76-793A-043A-08A9FB8E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ADB7B-1189-1655-8200-D65A4A1F9291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Pew Research Center reached 36% of the people it called for its phone surveys in 1997. By 2018 it reached 6%.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F050F-9CE6-CDAA-2EA3-4E0A75A555B8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Does a 6% response rate automatically make a survey biased?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BAA9D-EED2-9FEE-FC7C-BEBC1EB5614F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only if the people who answer differ from the people who do not. The trouble is that you usually cannot check.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9F6C6-619A-EC51-149D-30AF04709744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In 2020, national polls in the final two weeks overstated Biden's margin by 3.9 points on average - the largest error in 40 years. What could cause that?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4CF00F-69F2-2D2C-C726-EC572859921B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pollsters' own task force concluded that at least some of the error came from nonresponse: the people who answered differed from those who did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85E25-6555-D74C-5812-4A01CD2716EB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Pew Research Center (2019); AAPOR Task Force on 2020 Pre-Election Polling (2021)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5388C1-F6C9-2CC5-12C3-4EE502AE9F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7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4FB8-131C-CD66-6D35-E547EB1D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Question wording: same law, two names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02B64-5B6B-DDCB-7308-2F771CFD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6F6AE-F7DC-E672-67CB-83C138622793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In September 2013, CNBC asked half of its poll respondents about “Obamacare” and the other half about “the Affordable Care Act” - the same law.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5BCC4-EDEE-8F47-EF6A-B7F45B3442CD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Which name do you think drew more opposition?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055AB-3BD9-15C6-4864-B93CE66D179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Obamacare: 46% opposed it, against 37% for the Affordable Care 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846B4-5FEC-6BAC-D100-DCC8A67EEF9F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So did fewer people support Obamacare, too?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6C3AE-0131-5C64-FEE7-521026B9665D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- 29% supported Obamacare and 22% the ACA. 30% said they did not know about the ACA, but only 12% about Obamacare.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4738A-850C-94A5-8BF5-8D7B9ABAF140}"/>
              </a:ext>
            </a:extLst>
          </p:cNvPr>
          <p:cNvSpPr txBox="1"/>
          <p:nvPr/>
        </p:nvSpPr>
        <p:spPr>
          <a:xfrm>
            <a:off x="762000" y="4386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this tell you about survey 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9BA77-C486-61E6-94C8-0A8BBAFA0E6E}"/>
              </a:ext>
            </a:extLst>
          </p:cNvPr>
          <p:cNvSpPr txBox="1"/>
          <p:nvPr/>
        </p:nvSpPr>
        <p:spPr>
          <a:xfrm>
            <a:off x="1117600" y="46812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words in a question change the answers. A familiar, politically loaded name pulled people off the fence.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33F665-24AD-B31C-EFB7-2CA4D78C0A26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 (September 27, 2013); Harvard Political Review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973C24F-319A-12C4-D3F2-B67CE41050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4581-A7B8-058F-CE00-7D2789AD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name the sampling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DB3-321E-5463-C253-6D7E97AC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274E0-0312-B057-A4C4-76E1E2E044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reporter interviews the first 50 students who walk out of the Idaho Student Union Building.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BA503-495C-07C2-CB72-E174ACD67A25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only students who happen to pass the SUB can be chosen.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BAA32-B5BB-1FA1-716F-2D93D0A390FB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 numbers every enrolled student, and a computer picks 200 of the numbers at random.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76B3F-5477-00E3-27D5-828B6BE3AB4E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43331-0DAF-78F9-4749-53B896EBE422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principal polls 50 first-years, 50 sophomores, 50 juniors and 50 seniors, chosen at random within each year.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9D8FD-2696-7FAE-6F81-0D2CA68A2BE1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 - the class years are the strata.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0E4CB-A494-2804-FF46-F58AA4F79F9E}"/>
              </a:ext>
            </a:extLst>
          </p:cNvPr>
          <p:cNvSpPr txBox="1"/>
          <p:nvPr/>
        </p:nvSpPr>
        <p:spPr>
          <a:xfrm>
            <a:off x="762000" y="4218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5 of the 40 apartment buildings in town are chosen at random, and every household in them is surveyed.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09785-9111-F45E-6739-FD1FCD7CFB62}"/>
              </a:ext>
            </a:extLst>
          </p:cNvPr>
          <p:cNvSpPr txBox="1"/>
          <p:nvPr/>
        </p:nvSpPr>
        <p:spPr>
          <a:xfrm>
            <a:off x="1117600" y="4513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 - the buildings are the clusters.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2B130-480D-FFEA-63DC-70CD80DD6359}"/>
              </a:ext>
            </a:extLst>
          </p:cNvPr>
          <p:cNvSpPr txBox="1"/>
          <p:nvPr/>
        </p:nvSpPr>
        <p:spPr>
          <a:xfrm>
            <a:off x="762000" y="5011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5.</a:t>
            </a:r>
            <a:r>
              <a:rPr lang="en-US" sz="1600">
                <a:solidFill>
                  <a:srgbClr val="000000"/>
                </a:solidFill>
              </a:rPr>
              <a:t>  A medical researcher interviews every third patient on a hospital list, starting from a randomly chosen one of the first three.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ABF5D8-B607-D737-5983-9B9364B7B05E}"/>
              </a:ext>
            </a:extLst>
          </p:cNvPr>
          <p:cNvSpPr txBox="1"/>
          <p:nvPr/>
        </p:nvSpPr>
        <p:spPr>
          <a:xfrm>
            <a:off x="1117600" y="5306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sample, with k = 3.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DCB1E00-6304-AA9E-D05E-EAC6156E4E0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move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>
                <a:solidFill>
                  <a:srgbClr val="000000"/>
                </a:solidFill>
              </a:rPr>
              <a:t>not the hormones, lowered their heart risk. Random assignment balanced those differences out.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AF1E-8589-CA56-2E20-310C69FE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Back to light at night and the heart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5A37-0A40-9416-1F1A-D02A04EF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A0F3E-BC1C-AB3C-7C49-4F27FBFE7DC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Recall the UK Biobank study from slide 6: 11,071 adults wore a wrist light sensor for 7 days in 2013-2015, then had a heart MRI about 3 years later.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D82CE-DE26-541E-BE77-216218034116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Is this an observational study or an experiment?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8CA01-16A8-B0CA-E9BB-3617458ABCF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Observational. Nobody was assigned a bright or a dark bedroom - the light people already had was measured.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BB752-313E-E3BB-C8C6-DE8F8D78217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People with the most light above 3 lux had 1.5% thicker heart walls than people with none. Did the light cause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F69E3-89A7-0A3C-BBC9-7A78B36DF97D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This study cannot tell us. It shows an association - the authors say their design cannot establish cause.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917509-9C7A-F531-8F14-27897C39BE49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press release was titled “Too much light at night changes the shape and working of the heart.” Fair?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195F8-8C3F-F2C2-86AF-1FB585FE33AE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 goes too far. The paper says more night light was associated with these changes, not that it changed the heart.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609FA-BB60-2749-A121-ABA24D881BC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Journal; ESC press release (2026)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4D05FFE-5C77-3343-F6ED-D73A8174B6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3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C2DC-B562-4055-A05F-8710B472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Light at night: how strong is the evidence?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B145-B9E0-9EDE-7846-E574CD9C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AEBD8-9C55-5C87-F654-606BB91A9C10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The authors adjusted for age, smoking, physical activity, BMI, air pollution, deprivation and more. The heart changes grew steadily as night light went 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5382-396D-E973-8156-DC5F1BD9BB9E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adjusted for many variables. Is that as good as random assignment?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A6341D-833D-A973-E4BF-28891FD5C0E1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Adjusting only handles what was measured. Traffic noise was not, and the editorial says it could confound.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A17D4-67C2-6627-E29A-DF60916A80D5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Which features from the smoking evidence does this study have? What is it missing?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4B5EC4-D245-95DB-F64C-842A74A83A0B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Time order, a dose-response and a plausible link (shorter sleep). Missing: many studies finding it again.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03FFF-2F51-C42D-11A4-AF232C48DCA4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participants were volunteers, mostly White and healthier than average. Who can we generalize 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E4E28-6180-4AD7-A8E4-C0D783A498E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people like them. Volunteers are not a random sample of any population.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E55E86-0C35-38F8-CFD9-DADE4335E1C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2CA0A45-4556-612D-4893-11505401BA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9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CEAD-BED6-366D-B1C7-78228E9B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design the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598-F929-FBEF-0FCD-3842D923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F5A54-3217-1980-49D5-537B627C1769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You want to know whether texting slows how quickly a driver reacts when the car ahead brakes.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77CB1-5024-41A2-F8A3-6B89CE2AF015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explanatory variable, the response variable, and the treatments?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81DEAB-C346-C1FC-6F30-AE7180E156BE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Explanatory: texting or not. Response: reaction time. Treatments: driving while texting, and driving only.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D67D3-A732-4066-5E2D-00FF4E4A5E82}"/>
              </a:ext>
            </a:extLst>
          </p:cNvPr>
          <p:cNvSpPr txBox="1"/>
          <p:nvPr/>
        </p:nvSpPr>
        <p:spPr>
          <a:xfrm>
            <a:off x="762000" y="3106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Your partner wants to split drivers at random into a texting group and a driving-only group. Is there a better design?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BB92E-59CE-E9A9-9010-0BDBAD66B2A2}"/>
              </a:ext>
            </a:extLst>
          </p:cNvPr>
          <p:cNvSpPr txBox="1"/>
          <p:nvPr/>
        </p:nvSpPr>
        <p:spPr>
          <a:xfrm>
            <a:off x="1117600" y="3401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pairs: each driver does both, in a random order. Reaction times vary a lot between people, so compare each driver to themselves.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74C9-C009-AC02-9C35-B6BD2A0EFCDD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Can the study be blinded?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3EB21-B37F-C852-F822-D27D3318693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for the drivers - they know when they are texting. But the person measuring reaction times can be kept blind.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C9BE4-E6DE-D686-2782-B7D82B17E03C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Adapted from Introductory Statistics 2e (OpenStax), Section 1.4, Try It 1.21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C9AC535-E8E9-27B3-3BD7-A56C99861C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2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Ethics also means honest data. An investigation of psychologist Diederik Stapel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C0BD2-74EB-8BD3-2FA2-EDF53C0DB90C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choose a block where they already know many of the neighbors. What is the problem?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A2E9A-6FFD-CC4B-0BB8-6E3EE5F60F15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convenience sample - it is biased, and claiming it represents the community is misleading.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1BC9F-8DF7-4ADB-68EF-D1A416279CEB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Nobody is home at four houses, so they skip them and never go back. What is the problem?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C7D30-25A5-81AE-2894-7068B4D9B330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 - people who are not home, such as working families, may differ from the people who 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AC60D-581D-7FA4-26CF-042E9E2B03F5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Running late, they fill in four forms with answers copied from neighbors. What is the problem?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2DD0-5481-A2A7-66F2-84DB6CD15D72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Fabricated data. It is never acceptable, even when the answers look realistic.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B4AB3-AF76-E343-8E9D-F510689F4DA5}"/>
              </a:ext>
            </a:extLst>
          </p:cNvPr>
          <p:cNvSpPr txBox="1"/>
          <p:nvPr/>
        </p:nvSpPr>
        <p:spPr>
          <a:xfrm>
            <a:off x="762000" y="42189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Subjects complete mazes wearing a floral-scented mask and an unscented mask, in a random order. Can the subjects be blinded?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A5C4-59E4-103B-3E2C-908EA083FB6B}"/>
              </a:ext>
            </a:extLst>
          </p:cNvPr>
          <p:cNvSpPr txBox="1"/>
          <p:nvPr/>
        </p:nvSpPr>
        <p:spPr>
          <a:xfrm>
            <a:off x="1117600" y="4757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they can smell the flowers. But the researchers timing the mazes can be blinded. (Textbook Example 1.20)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4354</Words>
  <Application>Microsoft Office PowerPoint</Application>
  <PresentationFormat>Widescreen</PresentationFormat>
  <Paragraphs>365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Calibri Light</vt:lpstr>
      <vt:lpstr>Consolas</vt:lpstr>
      <vt:lpstr>Office Theme</vt:lpstr>
      <vt:lpstr>Lecture 9 Sampling, Experiments and Causation</vt:lpstr>
      <vt:lpstr>Review</vt:lpstr>
      <vt:lpstr>Review</vt:lpstr>
      <vt:lpstr>A bigger sample does not fix bias</vt:lpstr>
      <vt:lpstr>In the news: how a national poll samples</vt:lpstr>
      <vt:lpstr>In the news: light at night, over time</vt:lpstr>
      <vt:lpstr>Systematic sample</vt:lpstr>
      <vt:lpstr>Stratified random sample</vt:lpstr>
      <vt:lpstr>Proportional allocation with real data</vt:lpstr>
      <vt:lpstr>Cluster sample</vt:lpstr>
      <vt:lpstr>Two-stage cluster sample</vt:lpstr>
      <vt:lpstr>Strata vs. clusters</vt:lpstr>
      <vt:lpstr>Two kinds of error</vt:lpstr>
      <vt:lpstr>Three common nonsampling errors</vt:lpstr>
      <vt:lpstr>Nonresponse: when nobody picks up</vt:lpstr>
      <vt:lpstr>Question wording: same law, two names</vt:lpstr>
      <vt:lpstr>Practice: name the sampling design</vt:lpstr>
      <vt:lpstr>Your course project: Part 3</vt:lpstr>
      <vt:lpstr>Part 2 Experiments and Causation</vt:lpstr>
      <vt:lpstr>Observational studies and experiments</vt:lpstr>
      <vt:lpstr>Association is not causation</vt:lpstr>
      <vt:lpstr>Hormone therapy and heart disease</vt:lpstr>
      <vt:lpstr>Can we claim cause without an experiment?</vt:lpstr>
      <vt:lpstr>Back to light at night and the heart</vt:lpstr>
      <vt:lpstr>Light at night: how strong is the evidence?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Practice: design the study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353</cp:revision>
  <dcterms:created xsi:type="dcterms:W3CDTF">2023-08-05T23:57:41Z</dcterms:created>
  <dcterms:modified xsi:type="dcterms:W3CDTF">2026-09-21T18:01:46Z</dcterms:modified>
</cp:coreProperties>
</file>