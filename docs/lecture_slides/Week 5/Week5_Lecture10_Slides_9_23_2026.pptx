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84" r:id="rId3"/>
    <p:sldId id="285" r:id="rId4"/>
    <p:sldId id="286" r:id="rId5"/>
    <p:sldId id="287" r:id="rId6"/>
    <p:sldId id="288" r:id="rId7"/>
    <p:sldId id="289" r:id="rId8"/>
    <p:sldId id="290" r:id="rId9"/>
    <p:sldId id="291" r:id="rId10"/>
    <p:sldId id="314" r:id="rId11"/>
    <p:sldId id="292" r:id="rId12"/>
    <p:sldId id="310" r:id="rId13"/>
    <p:sldId id="311" r:id="rId14"/>
    <p:sldId id="293" r:id="rId15"/>
    <p:sldId id="294" r:id="rId16"/>
    <p:sldId id="295" r:id="rId17"/>
    <p:sldId id="296" r:id="rId18"/>
    <p:sldId id="297" r:id="rId19"/>
    <p:sldId id="298" r:id="rId20"/>
    <p:sldId id="299" r:id="rId21"/>
    <p:sldId id="300" r:id="rId22"/>
    <p:sldId id="301" r:id="rId23"/>
    <p:sldId id="302" r:id="rId24"/>
    <p:sldId id="303" r:id="rId25"/>
    <p:sldId id="304" r:id="rId26"/>
    <p:sldId id="305" r:id="rId27"/>
    <p:sldId id="306" r:id="rId28"/>
    <p:sldId id="307" r:id="rId29"/>
    <p:sldId id="308" r:id="rId3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76" d="100"/>
          <a:sy n="76" d="100"/>
        </p:scale>
        <p:origin x="682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B821C1-92D8-0827-CE2B-80FEA840C2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F4EA748-2C8E-5D78-5734-D9BCC16ECD0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A15553-DE39-3C41-4AFF-70F29A86EA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72837C-8079-1B7F-0DCF-61C39ED303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95E205-162F-206E-F4C6-EB23D9DC15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58746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E13490-30A7-12A6-2775-77578A346E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37B95F-B119-D057-5670-8EC21A84E5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AD001D-CEFB-FD30-FB40-0BEA5B52DC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D3377D-E7F3-D264-FB03-A4AF3E3364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F48992-A907-9503-F005-BAA8A33CEA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08035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96B320-EDC1-EDD2-5F4C-2A675BD0CA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F58A940-1637-AC6F-0247-A5E578765F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B2A479-CAFF-245E-F61F-3D6F3E5C88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324E38-70F9-0CAE-F19E-6DDE60057A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E74C88-12BC-0657-008B-8419B1E10F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10999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F02A09-336F-FDC8-F0C1-F84E09726A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5F6849-08AF-456F-8C3C-E6DE37B3B9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F7E5562-6B4C-F11F-DF48-D254599EAA1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A69C05-114E-11FE-5C76-D6F191757A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E71C5D0-A8D9-EEF2-15E4-CE74A390A8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9944C5-75A0-666E-C3DD-6839AB176F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5107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AEC19E-080C-F794-EB45-FB4903CDDA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85744A-FDBE-87AE-7AF1-3AC154DB2C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31970E4-B2B1-0370-3C26-0D1A5A0023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FA4F036-B8A8-878F-A1CB-05DAE580152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78B7F82-EBC0-322A-130D-972F39800FB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A21A5BB-D71E-872F-6F0E-2279BE484D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6C56747-8CBE-BF00-C39A-F442E724C4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0E2C14A-6287-B5B6-C760-7F506FD876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4364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DE9713-B0F2-9D1D-23FC-F5900F773F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36FC7EC-16C8-C311-316C-6D99B4F995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4FE4DA7-A4C5-460E-592C-CEF23DF381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76F3F89-7820-6BF8-A747-E433ED21AA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32440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7EAD0FD-7A61-970C-10A9-76E2B39DAF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9F95651-C89A-3C9B-3D47-F7E5CAF6B2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509228-92F1-54DE-D9B2-4AC018D50B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03032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03F474-02F7-A264-4B8D-717F5EB00F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FA8C9F-750F-7D81-0E80-7FBCDEBEBC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A0A1C0B-C510-B118-D8FA-12722456A8B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94604E-EC60-44AD-4B70-12B2B49AEB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922C4B9-91B9-9E0E-9278-1C0433768A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021E60F-F796-8B15-08E9-61BA30F0DF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35051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0E564D-22A0-8A8D-C6FE-D62998433E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9713DEA-5246-B946-AFE4-3B305BCDB14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D4208CC-31DD-00AF-BFC4-37F7B4BF3C2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777E30D-B05F-B2CA-9A3C-E01E2B6B0D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9E08FCE-463A-D1B2-8A60-3B67442025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4438537-A621-46D4-781D-4E36BF8362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32425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B105C2-17EC-1173-1FC9-8A7FC1018F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96BBB4A-325C-1F27-06A3-6F4F1A8F5CE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9A6F55-A1EF-6AEC-99F0-DBF50F5EBF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A1FD1D-86F4-EDE3-1CCE-ADED2161B9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DE0593-ABE9-0E50-7A75-9252A5A1F0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39657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487FF77-0DAD-7CA9-B02D-208C0204890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59298FA-F111-2C9C-551D-A1F30B2394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F1B556-1ED0-55E4-9235-352E1A162B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882561-BD16-4A95-ACA1-5204E478F2FE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44A71E-8AC3-EA68-1DCB-99E68A4657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B1CF60-74F8-B2C5-26C3-77536C36C6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33660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818B48B-0371-7ADD-E5C3-345B4D6CBF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2BB5A92-73C5-8CE0-7C84-BE7902E6003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35212B-F67A-E417-B1FE-C389458DF26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6882561-BD16-4A95-ACA1-5204E478F2FE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C9799A-D006-E28E-8EED-4BE2AFCB8D3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069CB4-3B3A-FD13-F7E0-B4A0F347673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80A81DD-F10A-4B1C-963A-0ABBB48658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50919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2F151A-3AFE-974F-DDC4-9B99389C348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2"/>
            <a:ext cx="9144000" cy="4105419"/>
          </a:xfrm>
        </p:spPr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Lecture 10</a:t>
            </a:r>
            <a:br>
              <a:rPr lang="en-US">
                <a:solidFill>
                  <a:srgbClr val="1F3864"/>
                </a:solidFill>
              </a:rPr>
            </a:br>
            <a:r>
              <a:rPr lang="en-US">
                <a:solidFill>
                  <a:srgbClr val="1F3864"/>
                </a:solidFill>
              </a:rPr>
              <a:t>Experiments and Causation</a:t>
            </a:r>
            <a:endParaRPr lang="en-US" dirty="0">
              <a:solidFill>
                <a:srgbClr val="1F386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371534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2BC30F-FE23-34A2-8070-9BE65D2DF0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Nonresponse: when nobody picks up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7E6F44-2A76-793A-043A-08A9FB8E26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2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22ADB7B-1189-1655-8200-D65A4A1F9291}"/>
              </a:ext>
            </a:extLst>
          </p:cNvPr>
          <p:cNvSpPr txBox="1"/>
          <p:nvPr/>
        </p:nvSpPr>
        <p:spPr>
          <a:xfrm>
            <a:off x="762000" y="184150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>
              <a:spcAft>
                <a:spcPts val="400"/>
              </a:spcAft>
            </a:pPr>
            <a:r>
              <a:rPr lang="en-US" sz="1600">
                <a:solidFill>
                  <a:srgbClr val="000000"/>
                </a:solidFill>
              </a:rPr>
              <a:t>Pew Research Center reached 36% of the people it called for its phone surveys in 1997. By 2018 it reached 6%.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D8F050F-9CE6-CDAA-2EA3-4E0A75A555B8}"/>
              </a:ext>
            </a:extLst>
          </p:cNvPr>
          <p:cNvSpPr txBox="1"/>
          <p:nvPr/>
        </p:nvSpPr>
        <p:spPr>
          <a:xfrm>
            <a:off x="762000" y="231394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1.</a:t>
            </a:r>
            <a:r>
              <a:rPr lang="en-US" sz="1600">
                <a:solidFill>
                  <a:srgbClr val="000000"/>
                </a:solidFill>
              </a:rPr>
              <a:t>  Does a 6% response rate automatically make a survey biased?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9EBAA9D-EED2-9FEE-FC7C-BEBC1EB5614F}"/>
              </a:ext>
            </a:extLst>
          </p:cNvPr>
          <p:cNvSpPr txBox="1"/>
          <p:nvPr/>
        </p:nvSpPr>
        <p:spPr>
          <a:xfrm>
            <a:off x="1117600" y="2608580"/>
            <a:ext cx="103124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No - only if the people who answer differ from the people who do not. The trouble is that you usually cannot check.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859F6C6-619A-EC51-149D-30AF04709744}"/>
              </a:ext>
            </a:extLst>
          </p:cNvPr>
          <p:cNvSpPr txBox="1"/>
          <p:nvPr/>
        </p:nvSpPr>
        <p:spPr>
          <a:xfrm>
            <a:off x="762000" y="3106419"/>
            <a:ext cx="106680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2.</a:t>
            </a:r>
            <a:r>
              <a:rPr lang="en-US" sz="1600">
                <a:solidFill>
                  <a:srgbClr val="000000"/>
                </a:solidFill>
              </a:rPr>
              <a:t>  In 2020, national polls in the final two weeks overstated Biden's margin by 3.9 points on average - the largest error in 40 years. What could cause that?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D4CF00F-69F2-2D2C-C726-EC572859921B}"/>
              </a:ext>
            </a:extLst>
          </p:cNvPr>
          <p:cNvSpPr txBox="1"/>
          <p:nvPr/>
        </p:nvSpPr>
        <p:spPr>
          <a:xfrm>
            <a:off x="1117600" y="3644899"/>
            <a:ext cx="103124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The pollsters' own task force concluded that at least some of the error came from nonresponse: the people who answered differed from those who did not.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E885E25-6555-D74C-5812-4A01CD2716EB}"/>
              </a:ext>
            </a:extLst>
          </p:cNvPr>
          <p:cNvSpPr txBox="1"/>
          <p:nvPr/>
        </p:nvSpPr>
        <p:spPr>
          <a:xfrm>
            <a:off x="762000" y="604520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r"/>
            <a:r>
              <a:rPr lang="en-US" sz="1600" i="1">
                <a:solidFill>
                  <a:srgbClr val="595959"/>
                </a:solidFill>
              </a:rPr>
              <a:t>Sources: Pew Research Center (2019); AAPOR Task Force on 2020 Pre-Election Polling (2021)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185388C1-F6C9-2CC5-12C3-4EE502AE9F3C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60766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9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884FB8-131C-CD66-6D35-E547EB1DE8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Question wording: same law, two names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102B64-5B6B-DDCB-7308-2F771CFD29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3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1B6F6AE-F7DC-E672-67CB-83C138622793}"/>
              </a:ext>
            </a:extLst>
          </p:cNvPr>
          <p:cNvSpPr txBox="1"/>
          <p:nvPr/>
        </p:nvSpPr>
        <p:spPr>
          <a:xfrm>
            <a:off x="762000" y="1841499"/>
            <a:ext cx="106680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>
              <a:spcAft>
                <a:spcPts val="400"/>
              </a:spcAft>
            </a:pPr>
            <a:r>
              <a:rPr lang="en-US" sz="1600">
                <a:solidFill>
                  <a:srgbClr val="000000"/>
                </a:solidFill>
              </a:rPr>
              <a:t>In September 2013, CNBC asked half of its poll respondents about “Obamacare” and the other half about “the Affordable Care Act” - the same law.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D85BCC4-EDEE-8F47-EF6A-B7F45B3442CD}"/>
              </a:ext>
            </a:extLst>
          </p:cNvPr>
          <p:cNvSpPr txBox="1"/>
          <p:nvPr/>
        </p:nvSpPr>
        <p:spPr>
          <a:xfrm>
            <a:off x="762000" y="255778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1.</a:t>
            </a:r>
            <a:r>
              <a:rPr lang="en-US" sz="1600">
                <a:solidFill>
                  <a:srgbClr val="000000"/>
                </a:solidFill>
              </a:rPr>
              <a:t>  Which name do you think drew more opposition?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B3055AB-3BD9-15C6-4864-B93CE66D179E}"/>
              </a:ext>
            </a:extLst>
          </p:cNvPr>
          <p:cNvSpPr txBox="1"/>
          <p:nvPr/>
        </p:nvSpPr>
        <p:spPr>
          <a:xfrm>
            <a:off x="1117600" y="2852420"/>
            <a:ext cx="103124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Obamacare: 46% opposed it, against 37% for the Affordable Care Act.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E2846B4-5FEC-6BAC-D100-DCC8A67EEF9F}"/>
              </a:ext>
            </a:extLst>
          </p:cNvPr>
          <p:cNvSpPr txBox="1"/>
          <p:nvPr/>
        </p:nvSpPr>
        <p:spPr>
          <a:xfrm>
            <a:off x="762000" y="335026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2.</a:t>
            </a:r>
            <a:r>
              <a:rPr lang="en-US" sz="1600">
                <a:solidFill>
                  <a:srgbClr val="000000"/>
                </a:solidFill>
              </a:rPr>
              <a:t>  So did fewer people support Obamacare, too?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326C3AE-0131-5C64-FEE7-521026B9665D}"/>
              </a:ext>
            </a:extLst>
          </p:cNvPr>
          <p:cNvSpPr txBox="1"/>
          <p:nvPr/>
        </p:nvSpPr>
        <p:spPr>
          <a:xfrm>
            <a:off x="1117600" y="3644899"/>
            <a:ext cx="103124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No - 29% supported Obamacare and 22% the ACA. 30% said they did not know about the ACA, but only 12% about Obamacare.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144738A-850C-94A5-8BF5-8D7B9ABAF140}"/>
              </a:ext>
            </a:extLst>
          </p:cNvPr>
          <p:cNvSpPr txBox="1"/>
          <p:nvPr/>
        </p:nvSpPr>
        <p:spPr>
          <a:xfrm>
            <a:off x="762000" y="438658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3.</a:t>
            </a:r>
            <a:r>
              <a:rPr lang="en-US" sz="1600">
                <a:solidFill>
                  <a:srgbClr val="000000"/>
                </a:solidFill>
              </a:rPr>
              <a:t>  What does this tell you about survey questions?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B99BA77-C486-61E6-94C8-0A8BBAFA0E6E}"/>
              </a:ext>
            </a:extLst>
          </p:cNvPr>
          <p:cNvSpPr txBox="1"/>
          <p:nvPr/>
        </p:nvSpPr>
        <p:spPr>
          <a:xfrm>
            <a:off x="1117600" y="4681220"/>
            <a:ext cx="103124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The words in a question change the answers. A familiar, politically loaded name pulled people off the fence.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C33F665-24AD-B31C-EFB7-2CA4D78C0A26}"/>
              </a:ext>
            </a:extLst>
          </p:cNvPr>
          <p:cNvSpPr txBox="1"/>
          <p:nvPr/>
        </p:nvSpPr>
        <p:spPr>
          <a:xfrm>
            <a:off x="762000" y="604520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r"/>
            <a:r>
              <a:rPr lang="en-US" sz="1600" i="1">
                <a:solidFill>
                  <a:srgbClr val="595959"/>
                </a:solidFill>
              </a:rPr>
              <a:t>Sources: NBC News (September 27, 2013); Harvard Political Review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3973C24F-319A-12C4-D3F2-B67CE4105031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8838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9" grpId="0"/>
      <p:bldP spid="1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064581-A7B8-058F-CE00-7D2789AD21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Practice: name the sampling design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DBFDB3-321E-5463-C253-6D7E97AC7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4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7A274E0-0312-B057-A4C4-76E1E2E0445B}"/>
              </a:ext>
            </a:extLst>
          </p:cNvPr>
          <p:cNvSpPr txBox="1"/>
          <p:nvPr/>
        </p:nvSpPr>
        <p:spPr>
          <a:xfrm>
            <a:off x="762000" y="184150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1.</a:t>
            </a:r>
            <a:r>
              <a:rPr lang="en-US" sz="1600">
                <a:solidFill>
                  <a:srgbClr val="000000"/>
                </a:solidFill>
              </a:rPr>
              <a:t>  A reporter interviews the first 50 students who walk out of the Idaho Student Union Building.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85BA503-495C-07C2-CB72-E174ACD67A25}"/>
              </a:ext>
            </a:extLst>
          </p:cNvPr>
          <p:cNvSpPr txBox="1"/>
          <p:nvPr/>
        </p:nvSpPr>
        <p:spPr>
          <a:xfrm>
            <a:off x="1117600" y="2136140"/>
            <a:ext cx="103124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Convenience sample - only students who happen to pass the SUB can be chosen.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D2BAA32-B5BB-1FA1-716F-2D93D0A390FB}"/>
              </a:ext>
            </a:extLst>
          </p:cNvPr>
          <p:cNvSpPr txBox="1"/>
          <p:nvPr/>
        </p:nvSpPr>
        <p:spPr>
          <a:xfrm>
            <a:off x="762000" y="263398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2.</a:t>
            </a:r>
            <a:r>
              <a:rPr lang="en-US" sz="1600">
                <a:solidFill>
                  <a:srgbClr val="000000"/>
                </a:solidFill>
              </a:rPr>
              <a:t>  The registrar numbers every enrolled student, and a computer picks 200 of the numbers at random.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6F76B3F-5477-00E3-27D5-828B6BE3AB4E}"/>
              </a:ext>
            </a:extLst>
          </p:cNvPr>
          <p:cNvSpPr txBox="1"/>
          <p:nvPr/>
        </p:nvSpPr>
        <p:spPr>
          <a:xfrm>
            <a:off x="1117600" y="2928620"/>
            <a:ext cx="103124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Simple random sample.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8F43331-0DAF-78F9-4749-53B896EBE422}"/>
              </a:ext>
            </a:extLst>
          </p:cNvPr>
          <p:cNvSpPr txBox="1"/>
          <p:nvPr/>
        </p:nvSpPr>
        <p:spPr>
          <a:xfrm>
            <a:off x="762000" y="342646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3.</a:t>
            </a:r>
            <a:r>
              <a:rPr lang="en-US" sz="1600">
                <a:solidFill>
                  <a:srgbClr val="000000"/>
                </a:solidFill>
              </a:rPr>
              <a:t>  A principal polls 50 first-years, 50 sophomores, 50 juniors and 50 seniors, chosen at random within each year.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9C9D8FD-2696-7FAE-6F81-0D2CA68A2BE1}"/>
              </a:ext>
            </a:extLst>
          </p:cNvPr>
          <p:cNvSpPr txBox="1"/>
          <p:nvPr/>
        </p:nvSpPr>
        <p:spPr>
          <a:xfrm>
            <a:off x="1117600" y="3721100"/>
            <a:ext cx="103124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Stratified random sample - the class years are the strata.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860E4CB-A494-2804-FF46-F58AA4F79F9E}"/>
              </a:ext>
            </a:extLst>
          </p:cNvPr>
          <p:cNvSpPr txBox="1"/>
          <p:nvPr/>
        </p:nvSpPr>
        <p:spPr>
          <a:xfrm>
            <a:off x="762000" y="421894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4.</a:t>
            </a:r>
            <a:r>
              <a:rPr lang="en-US" sz="1600">
                <a:solidFill>
                  <a:srgbClr val="000000"/>
                </a:solidFill>
              </a:rPr>
              <a:t>  5 of the 40 apartment buildings in town are chosen at random, and every household in them is surveyed.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B609785-9111-F45E-6739-FD1FCD7CFB62}"/>
              </a:ext>
            </a:extLst>
          </p:cNvPr>
          <p:cNvSpPr txBox="1"/>
          <p:nvPr/>
        </p:nvSpPr>
        <p:spPr>
          <a:xfrm>
            <a:off x="1117600" y="4513580"/>
            <a:ext cx="103124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Cluster sample - the buildings are the clusters.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2C2B130-480D-FFEA-63DC-70CD80DD6359}"/>
              </a:ext>
            </a:extLst>
          </p:cNvPr>
          <p:cNvSpPr txBox="1"/>
          <p:nvPr/>
        </p:nvSpPr>
        <p:spPr>
          <a:xfrm>
            <a:off x="762000" y="501142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5.</a:t>
            </a:r>
            <a:r>
              <a:rPr lang="en-US" sz="1600">
                <a:solidFill>
                  <a:srgbClr val="000000"/>
                </a:solidFill>
              </a:rPr>
              <a:t>  A medical researcher interviews every third patient on a hospital list, starting from a randomly chosen one of the first three.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2ABF5D8-B607-D737-5983-9B9364B7B05E}"/>
              </a:ext>
            </a:extLst>
          </p:cNvPr>
          <p:cNvSpPr txBox="1"/>
          <p:nvPr/>
        </p:nvSpPr>
        <p:spPr>
          <a:xfrm>
            <a:off x="1117600" y="5306060"/>
            <a:ext cx="103124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Systematic sample, with k = 3.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3DCB1E00-6304-AA9E-D05E-EAC6156E4E0A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49762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31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32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33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34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39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40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41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42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8" grpId="0"/>
      <p:bldP spid="10" grpId="0"/>
      <p:bldP spid="12" grpId="0"/>
      <p:bldP spid="1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ody card">
            <a:extLst>
              <a:ext uri="{FF2B5EF4-FFF2-40B4-BE49-F238E27FC236}">
                <a16:creationId xmlns:a16="http://schemas.microsoft.com/office/drawing/2014/main" id="{00CE20B6-38A7-15FC-A780-9236ED5B251A}"/>
              </a:ext>
            </a:extLst>
          </p:cNvPr>
          <p:cNvSpPr/>
          <p:nvPr/>
        </p:nvSpPr>
        <p:spPr>
          <a:xfrm>
            <a:off x="635000" y="1752600"/>
            <a:ext cx="10922000" cy="2286000"/>
          </a:xfrm>
          <a:prstGeom prst="roundRect">
            <a:avLst>
              <a:gd name="adj" fmla="val 3000"/>
            </a:avLst>
          </a:prstGeom>
          <a:solidFill>
            <a:srgbClr val="F2F6FC"/>
          </a:solidFill>
          <a:ln w="19050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9963740-143A-20EF-58DF-B74D9BEEB5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Your course project: Part 3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E86C05-48F2-7DC9-0EF2-19875F8959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2000" y="1905000"/>
            <a:ext cx="10668000" cy="4064000"/>
          </a:xfrm>
        </p:spPr>
        <p:txBody>
          <a:bodyPr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Part 3</a:t>
            </a:r>
            <a:r>
              <a:rPr lang="en-US" sz="1600"/>
              <a:t> asks you to draw a sample of 20 to 30 observations from your dataset</a:t>
            </a:r>
          </a:p>
          <a:p>
            <a:r>
              <a:rPr lang="en-US" sz="1600"/>
              <a:t>Pick a design: simple random, systematic, stratified or cluster sampling</a:t>
            </a:r>
          </a:p>
          <a:p>
            <a:r>
              <a:rPr lang="en-US" sz="1600"/>
              <a:t>Say exactly how you drew it - the method, n, and the tool - so someone else could repeat it</a:t>
            </a:r>
          </a:p>
          <a:p>
            <a:r>
              <a:rPr lang="en-US" sz="1600"/>
              <a:t>Justify the choice for YOUR data: is there a natural group to stratify on? natural clusters?</a:t>
            </a:r>
          </a:p>
          <a:p>
            <a:r>
              <a:rPr lang="en-US" sz="1600"/>
              <a:t>Name any bias your method could introduce</a:t>
            </a:r>
          </a:p>
          <a:p>
            <a:r>
              <a:rPr lang="en-US" sz="1600" b="1">
                <a:solidFill>
                  <a:srgbClr val="C00000"/>
                </a:solidFill>
              </a:rPr>
              <a:t>Steps 1 to 4</a:t>
            </a:r>
            <a:r>
              <a:rPr lang="en-US" sz="1600"/>
              <a:t> of the project can be started as soon as this lecture is finished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C69CF3-35F0-165A-7204-570EF6498B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5</a:t>
            </a:fld>
            <a:endParaRPr lang="en-US" sz="1600"/>
          </a:p>
        </p:txBody>
      </p:sp>
      <p:sp>
        <p:nvSpPr>
          <p:cNvPr id="5" name="Title rule">
            <a:extLst>
              <a:ext uri="{FF2B5EF4-FFF2-40B4-BE49-F238E27FC236}">
                <a16:creationId xmlns:a16="http://schemas.microsoft.com/office/drawing/2014/main" id="{14587468-C3E1-89FF-09F9-A150441DB070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708147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2B5552-A4BF-1448-5C51-D2350D33A4B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Part 2</a:t>
            </a:r>
            <a:br>
              <a:rPr lang="en-US">
                <a:solidFill>
                  <a:srgbClr val="1F3864"/>
                </a:solidFill>
              </a:rPr>
            </a:br>
            <a:r>
              <a:rPr lang="en-US">
                <a:solidFill>
                  <a:srgbClr val="1F3864"/>
                </a:solidFill>
              </a:rPr>
              <a:t>Experiments and Causation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B0AEAD4-41B8-DB7F-DFB2-FA8D0099CF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6</a:t>
            </a:fld>
            <a:endParaRPr lang="en-US" sz="1600"/>
          </a:p>
        </p:txBody>
      </p:sp>
    </p:spTree>
    <p:extLst>
      <p:ext uri="{BB962C8B-B14F-4D97-AF65-F5344CB8AC3E}">
        <p14:creationId xmlns:p14="http://schemas.microsoft.com/office/powerpoint/2010/main" val="352052217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Definition card">
            <a:extLst>
              <a:ext uri="{FF2B5EF4-FFF2-40B4-BE49-F238E27FC236}">
                <a16:creationId xmlns:a16="http://schemas.microsoft.com/office/drawing/2014/main" id="{BA60B263-976A-5CE5-8272-06ECCD1782D2}"/>
              </a:ext>
            </a:extLst>
          </p:cNvPr>
          <p:cNvSpPr/>
          <p:nvPr/>
        </p:nvSpPr>
        <p:spPr>
          <a:xfrm>
            <a:off x="762000" y="4490720"/>
            <a:ext cx="10668000" cy="828040"/>
          </a:xfrm>
          <a:prstGeom prst="roundRect">
            <a:avLst>
              <a:gd name="adj" fmla="val 12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Definition card">
            <a:extLst>
              <a:ext uri="{FF2B5EF4-FFF2-40B4-BE49-F238E27FC236}">
                <a16:creationId xmlns:a16="http://schemas.microsoft.com/office/drawing/2014/main" id="{73797005-D6BA-BE76-B18D-7DB36CA669FC}"/>
              </a:ext>
            </a:extLst>
          </p:cNvPr>
          <p:cNvSpPr/>
          <p:nvPr/>
        </p:nvSpPr>
        <p:spPr>
          <a:xfrm>
            <a:off x="762000" y="3586480"/>
            <a:ext cx="10668000" cy="828040"/>
          </a:xfrm>
          <a:prstGeom prst="roundRect">
            <a:avLst>
              <a:gd name="adj" fmla="val 12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Definition card">
            <a:extLst>
              <a:ext uri="{FF2B5EF4-FFF2-40B4-BE49-F238E27FC236}">
                <a16:creationId xmlns:a16="http://schemas.microsoft.com/office/drawing/2014/main" id="{069840F7-0E13-9381-8D34-7E063722E17D}"/>
              </a:ext>
            </a:extLst>
          </p:cNvPr>
          <p:cNvSpPr/>
          <p:nvPr/>
        </p:nvSpPr>
        <p:spPr>
          <a:xfrm>
            <a:off x="762000" y="2682240"/>
            <a:ext cx="10668000" cy="828040"/>
          </a:xfrm>
          <a:prstGeom prst="roundRect">
            <a:avLst>
              <a:gd name="adj" fmla="val 12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Definition card">
            <a:extLst>
              <a:ext uri="{FF2B5EF4-FFF2-40B4-BE49-F238E27FC236}">
                <a16:creationId xmlns:a16="http://schemas.microsoft.com/office/drawing/2014/main" id="{E51AF47B-0951-E409-02DA-7B830ECEC321}"/>
              </a:ext>
            </a:extLst>
          </p:cNvPr>
          <p:cNvSpPr/>
          <p:nvPr/>
        </p:nvSpPr>
        <p:spPr>
          <a:xfrm>
            <a:off x="762000" y="1778000"/>
            <a:ext cx="10668000" cy="828040"/>
          </a:xfrm>
          <a:prstGeom prst="roundRect">
            <a:avLst>
              <a:gd name="adj" fmla="val 12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5FA2C48-23E4-4878-293C-39723AFED5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Observational studies and experiments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06904D-CB03-8A6F-22D8-860FA1416B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7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DFB3D1F-9CFB-F8B7-A4BB-31E30E9ABF20}"/>
              </a:ext>
            </a:extLst>
          </p:cNvPr>
          <p:cNvSpPr txBox="1"/>
          <p:nvPr/>
        </p:nvSpPr>
        <p:spPr>
          <a:xfrm>
            <a:off x="914400" y="1879600"/>
            <a:ext cx="30226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b="1">
                <a:solidFill>
                  <a:srgbClr val="C00000"/>
                </a:solidFill>
              </a:rPr>
              <a:t>response variable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22D33E3-5943-711A-B3A7-4F7C76D2D91F}"/>
              </a:ext>
            </a:extLst>
          </p:cNvPr>
          <p:cNvSpPr txBox="1"/>
          <p:nvPr/>
        </p:nvSpPr>
        <p:spPr>
          <a:xfrm>
            <a:off x="4013200" y="1879599"/>
            <a:ext cx="7264400" cy="6502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>
                <a:solidFill>
                  <a:srgbClr val="000000"/>
                </a:solidFill>
              </a:rPr>
              <a:t>the outcome we measure</a:t>
            </a:r>
          </a:p>
          <a:p>
            <a:r>
              <a:rPr lang="en-US" i="1">
                <a:solidFill>
                  <a:srgbClr val="595959"/>
                </a:solidFill>
              </a:rPr>
              <a:t>heart disease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7A1B318-B44F-515D-1570-E10C21509C1A}"/>
              </a:ext>
            </a:extLst>
          </p:cNvPr>
          <p:cNvSpPr txBox="1"/>
          <p:nvPr/>
        </p:nvSpPr>
        <p:spPr>
          <a:xfrm>
            <a:off x="914400" y="2783840"/>
            <a:ext cx="30226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b="1">
                <a:solidFill>
                  <a:srgbClr val="C00000"/>
                </a:solidFill>
              </a:rPr>
              <a:t>explanatory variable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48F129D-9E98-47B7-99C4-3797F7604661}"/>
              </a:ext>
            </a:extLst>
          </p:cNvPr>
          <p:cNvSpPr txBox="1"/>
          <p:nvPr/>
        </p:nvSpPr>
        <p:spPr>
          <a:xfrm>
            <a:off x="4013200" y="2783839"/>
            <a:ext cx="7264400" cy="6502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>
                <a:solidFill>
                  <a:srgbClr val="000000"/>
                </a:solidFill>
              </a:rPr>
              <a:t>the variable we think explains or influences the response</a:t>
            </a:r>
          </a:p>
          <a:p>
            <a:r>
              <a:rPr lang="en-US" i="1">
                <a:solidFill>
                  <a:srgbClr val="595959"/>
                </a:solidFill>
              </a:rPr>
              <a:t>hormone therapy (yes or no)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B25F996-D838-8944-A200-71D57A7B9D53}"/>
              </a:ext>
            </a:extLst>
          </p:cNvPr>
          <p:cNvSpPr txBox="1"/>
          <p:nvPr/>
        </p:nvSpPr>
        <p:spPr>
          <a:xfrm>
            <a:off x="914400" y="3688080"/>
            <a:ext cx="30226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b="1">
                <a:solidFill>
                  <a:srgbClr val="C00000"/>
                </a:solidFill>
              </a:rPr>
              <a:t>observational study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3CDA115-0F9C-A8C1-A8EF-9F1BE5A2D48E}"/>
              </a:ext>
            </a:extLst>
          </p:cNvPr>
          <p:cNvSpPr txBox="1"/>
          <p:nvPr/>
        </p:nvSpPr>
        <p:spPr>
          <a:xfrm>
            <a:off x="4013200" y="3688079"/>
            <a:ext cx="7264400" cy="6502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>
                <a:solidFill>
                  <a:srgbClr val="000000"/>
                </a:solidFill>
              </a:rPr>
              <a:t>observe individuals and measure variables, without influencing anything</a:t>
            </a:r>
          </a:p>
          <a:p>
            <a:r>
              <a:rPr lang="en-US" i="1">
                <a:solidFill>
                  <a:srgbClr val="595959"/>
                </a:solidFill>
              </a:rPr>
              <a:t>survey women about the hormones they chose to take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E02C101-798C-B303-319A-F4AB6DA42C79}"/>
              </a:ext>
            </a:extLst>
          </p:cNvPr>
          <p:cNvSpPr txBox="1"/>
          <p:nvPr/>
        </p:nvSpPr>
        <p:spPr>
          <a:xfrm>
            <a:off x="914400" y="4592320"/>
            <a:ext cx="30226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b="1">
                <a:solidFill>
                  <a:srgbClr val="C00000"/>
                </a:solidFill>
              </a:rPr>
              <a:t>experiment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EE91DFC-44B2-46A4-A39A-1243F86B104A}"/>
              </a:ext>
            </a:extLst>
          </p:cNvPr>
          <p:cNvSpPr txBox="1"/>
          <p:nvPr/>
        </p:nvSpPr>
        <p:spPr>
          <a:xfrm>
            <a:off x="4013200" y="4592319"/>
            <a:ext cx="7264400" cy="6502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>
                <a:solidFill>
                  <a:srgbClr val="000000"/>
                </a:solidFill>
              </a:rPr>
              <a:t>the researcher deliberately assigns treatments, then measures the response</a:t>
            </a:r>
          </a:p>
          <a:p>
            <a:r>
              <a:rPr lang="en-US" i="1">
                <a:solidFill>
                  <a:srgbClr val="595959"/>
                </a:solidFill>
              </a:rPr>
              <a:t>randomly assign women to hormones or a placebo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2C15352-59F5-E396-6639-A433A1F79951}"/>
              </a:ext>
            </a:extLst>
          </p:cNvPr>
          <p:cNvSpPr txBox="1"/>
          <p:nvPr/>
        </p:nvSpPr>
        <p:spPr>
          <a:xfrm>
            <a:off x="762000" y="542036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1F3864"/>
                </a:solidFill>
              </a:rPr>
              <a:t>Ask: who decided which group each unit ended up in? The units themselves -&gt; observational. The researcher -&gt; experiment.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B7F0848F-4234-6352-776D-6A856730F931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46639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31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32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33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34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39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40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41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42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9" grpId="0"/>
      <p:bldP spid="12" grpId="0"/>
      <p:bldP spid="15" grpId="0"/>
      <p:bldP spid="17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5BF846-6815-E010-8F4E-0E679E8414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Association is not causation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966D85-78FC-A3ED-348A-07D5FD0BDF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8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5D88A43-C5A7-802F-BDBD-CCE30CC783EF}"/>
              </a:ext>
            </a:extLst>
          </p:cNvPr>
          <p:cNvSpPr txBox="1"/>
          <p:nvPr/>
        </p:nvSpPr>
        <p:spPr>
          <a:xfrm>
            <a:off x="571500" y="1841500"/>
            <a:ext cx="5334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association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7324555-BA7F-CDD8-B0F1-68F3508220D3}"/>
              </a:ext>
            </a:extLst>
          </p:cNvPr>
          <p:cNvSpPr txBox="1"/>
          <p:nvPr/>
        </p:nvSpPr>
        <p:spPr>
          <a:xfrm>
            <a:off x="850900" y="2110740"/>
            <a:ext cx="50546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two variables move together in the data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9AEEA9D-6F6C-F4AB-EC91-DDB4B28CCAA3}"/>
              </a:ext>
            </a:extLst>
          </p:cNvPr>
          <p:cNvSpPr txBox="1"/>
          <p:nvPr/>
        </p:nvSpPr>
        <p:spPr>
          <a:xfrm>
            <a:off x="571500" y="2532380"/>
            <a:ext cx="5334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causation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AEF420A-5F7F-DABA-6144-A5522D27D0DF}"/>
              </a:ext>
            </a:extLst>
          </p:cNvPr>
          <p:cNvSpPr txBox="1"/>
          <p:nvPr/>
        </p:nvSpPr>
        <p:spPr>
          <a:xfrm>
            <a:off x="850900" y="2801620"/>
            <a:ext cx="50546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changing one variable would change the other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D296CCB-5F2E-7A85-75DB-483DA92E48F9}"/>
              </a:ext>
            </a:extLst>
          </p:cNvPr>
          <p:cNvSpPr txBox="1"/>
          <p:nvPr/>
        </p:nvSpPr>
        <p:spPr>
          <a:xfrm>
            <a:off x="571500" y="3223260"/>
            <a:ext cx="5334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lurking variable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D1A6BA3-C0B9-84D6-D5F1-8F2A8EC788BC}"/>
              </a:ext>
            </a:extLst>
          </p:cNvPr>
          <p:cNvSpPr txBox="1"/>
          <p:nvPr/>
        </p:nvSpPr>
        <p:spPr>
          <a:xfrm>
            <a:off x="850900" y="3492499"/>
            <a:ext cx="50546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a variable not in the study that influences both the explanatory and the response variable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96F8AA2-EB6E-B099-A9C7-80584E6C21C7}"/>
              </a:ext>
            </a:extLst>
          </p:cNvPr>
          <p:cNvSpPr txBox="1"/>
          <p:nvPr/>
        </p:nvSpPr>
        <p:spPr>
          <a:xfrm>
            <a:off x="571500" y="4157980"/>
            <a:ext cx="5334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confounded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B9E3446-E4E6-ABA6-1DE4-FE0D3ACC824E}"/>
              </a:ext>
            </a:extLst>
          </p:cNvPr>
          <p:cNvSpPr txBox="1"/>
          <p:nvPr/>
        </p:nvSpPr>
        <p:spPr>
          <a:xfrm>
            <a:off x="850900" y="4427219"/>
            <a:ext cx="50546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two variables whose effects on the response cannot be separated</a:t>
            </a:r>
          </a:p>
        </p:txBody>
      </p:sp>
      <p:pic>
        <p:nvPicPr>
          <p:cNvPr id="14" name="l8_confounding.png">
            <a:extLst>
              <a:ext uri="{FF2B5EF4-FFF2-40B4-BE49-F238E27FC236}">
                <a16:creationId xmlns:a16="http://schemas.microsoft.com/office/drawing/2014/main" id="{DA6A759B-A5B3-3C3F-6E71-07F7A5735248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21400" y="1905000"/>
            <a:ext cx="5842000" cy="3175000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29DCA095-5637-5F84-8712-02A1A02FE668}"/>
              </a:ext>
            </a:extLst>
          </p:cNvPr>
          <p:cNvSpPr txBox="1"/>
          <p:nvPr/>
        </p:nvSpPr>
        <p:spPr>
          <a:xfrm>
            <a:off x="6121400" y="5206999"/>
            <a:ext cx="58420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Ice cream sales and drownings rise together. The lurking variable: hot weather. The association is real - the causal story is not.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DB65428A-4306-892C-0D7E-F8DB58E21C63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62312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31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32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33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34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39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40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41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42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8" grpId="0"/>
      <p:bldP spid="10" grpId="0"/>
      <p:bldP spid="12" grpId="0"/>
      <p:bldP spid="15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B9E750-8300-9D79-C9E6-2C0668028F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Hormone therapy and heart disease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E14074-70FD-4EAD-C2F1-B98283C2A6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9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BB82DF3-CBCF-F4EF-48A6-C0BAE1D72E7D}"/>
              </a:ext>
            </a:extLst>
          </p:cNvPr>
          <p:cNvSpPr txBox="1"/>
          <p:nvPr/>
        </p:nvSpPr>
        <p:spPr>
          <a:xfrm>
            <a:off x="762000" y="1905000"/>
            <a:ext cx="10668000" cy="1631216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>
              <a:spcAft>
                <a:spcPts val="800"/>
              </a:spcAft>
            </a:pPr>
            <a:r>
              <a:rPr lang="en-US" sz="1600">
                <a:solidFill>
                  <a:srgbClr val="000000"/>
                </a:solidFill>
              </a:rPr>
              <a:t>Large observational studies, such as the Nurses' Health Study, found that women who took hormone therapy after menopause had less heart disease</a:t>
            </a:r>
          </a:p>
          <a:p>
            <a:pPr>
              <a:spcAft>
                <a:spcPts val="800"/>
              </a:spcAft>
            </a:pPr>
            <a:r>
              <a:rPr lang="en-US" sz="1600">
                <a:solidFill>
                  <a:srgbClr val="000000"/>
                </a:solidFill>
              </a:rPr>
              <a:t>The Women's Health Initiative then randomly assigned 16,608 women aged 50 to 79 to estrogen plus progestin or a placebo</a:t>
            </a:r>
          </a:p>
          <a:p>
            <a:pPr>
              <a:spcAft>
                <a:spcPts val="800"/>
              </a:spcAft>
            </a:pPr>
            <a:r>
              <a:rPr lang="en-US" sz="1600">
                <a:solidFill>
                  <a:srgbClr val="000000"/>
                </a:solidFill>
              </a:rPr>
              <a:t>It was stopped early in 2002 because the risks outweighed the benefits: more breast cancer, and MORE heart disease, not less</a:t>
            </a:r>
          </a:p>
          <a:p>
            <a:pPr>
              <a:spcAft>
                <a:spcPts val="800"/>
              </a:spcAft>
            </a:pPr>
            <a:r>
              <a:rPr lang="en-US" sz="1600" b="1">
                <a:solidFill>
                  <a:srgbClr val="1F3864"/>
                </a:solidFill>
              </a:rPr>
              <a:t>Why did the observational studies point the wrong way?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BBE0274B-59F9-AB74-8F9A-ACCE67441A4E}"/>
              </a:ext>
            </a:extLst>
          </p:cNvPr>
          <p:cNvSpPr/>
          <p:nvPr/>
        </p:nvSpPr>
        <p:spPr>
          <a:xfrm>
            <a:off x="762000" y="4597400"/>
            <a:ext cx="10668000" cy="1320800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52400" tIns="76200" rIns="152400" bIns="76200" rtlCol="0" anchor="ctr"/>
          <a:lstStyle/>
          <a:p>
            <a:r>
              <a:rPr lang="en-US" sz="1600" b="1">
                <a:solidFill>
                  <a:srgbClr val="C00000"/>
                </a:solidFill>
              </a:rPr>
              <a:t>Lurking variables.</a:t>
            </a:r>
          </a:p>
          <a:p>
            <a:r>
              <a:rPr lang="en-US" sz="1600">
                <a:solidFill>
                  <a:srgbClr val="000000"/>
                </a:solidFill>
              </a:rPr>
              <a:t>Women who chose hormone therapy tended to be wealthier, better educated and healthier to start with - and that,</a:t>
            </a:r>
          </a:p>
          <a:p>
            <a:r>
              <a:rPr lang="en-US" sz="1600">
                <a:solidFill>
                  <a:srgbClr val="000000"/>
                </a:solidFill>
              </a:rPr>
              <a:t>not the hormones, lowered their heart risk. Random assignment balanced those differences out.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9830291-3BFE-7470-EF0A-843217C4F363}"/>
              </a:ext>
            </a:extLst>
          </p:cNvPr>
          <p:cNvSpPr txBox="1"/>
          <p:nvPr/>
        </p:nvSpPr>
        <p:spPr>
          <a:xfrm>
            <a:off x="762000" y="604520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r"/>
            <a:r>
              <a:rPr lang="en-US" sz="1600" i="1">
                <a:solidFill>
                  <a:srgbClr val="595959"/>
                </a:solidFill>
              </a:rPr>
              <a:t>Source: Writing Group for the WHI Investigators (2002), JAMA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88B02BED-2AE5-639A-9FB5-0563AC06183F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78354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B9E750-8300-9D79-C9E6-2C0668028F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Coffee and the risk of death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E14074-70FD-4EAD-C2F1-B98283C2A6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10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BB82DF3-CBCF-F4EF-48A6-C0BAE1D72E7D}"/>
              </a:ext>
            </a:extLst>
          </p:cNvPr>
          <p:cNvSpPr txBox="1"/>
          <p:nvPr/>
        </p:nvSpPr>
        <p:spPr>
          <a:xfrm>
            <a:off x="762000" y="1905000"/>
            <a:ext cx="10668000" cy="1631216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>
              <a:spcAft>
                <a:spcPts val="800"/>
              </a:spcAft>
            </a:pPr>
            <a:r>
              <a:rPr lang="en-US" sz="1600">
                <a:solidFill>
                  <a:srgbClr val="000000"/>
                </a:solidFill>
              </a:rPr>
              <a:t>The NIH-AARP study followed 402,260 adults aged 50 to 71 from 1995 to 2008. Before adjusting for anything but age, men who drank 6+ cups of coffee a day had a 60% HIGHER risk of death than men who drank none</a:t>
            </a:r>
          </a:p>
          <a:p>
            <a:pPr>
              <a:spcAft>
                <a:spcPts val="800"/>
              </a:spcAft>
            </a:pPr>
            <a:r>
              <a:rPr lang="en-US" sz="1600">
                <a:solidFill>
                  <a:srgbClr val="000000"/>
                </a:solidFill>
              </a:rPr>
              <a:t>But 35% of those heavy coffee drinkers smoked, compared with 5% of the men who drank no coffee</a:t>
            </a:r>
          </a:p>
          <a:p>
            <a:pPr>
              <a:spcAft>
                <a:spcPts val="800"/>
              </a:spcAft>
            </a:pPr>
            <a:r>
              <a:rPr lang="en-US" sz="1600">
                <a:solidFill>
                  <a:srgbClr val="000000"/>
                </a:solidFill>
              </a:rPr>
              <a:t>After adjusting for smoking and other factors, the same men had a 10% LOWER risk of death - and fewer deaths from heart disease</a:t>
            </a:r>
          </a:p>
          <a:p>
            <a:pPr>
              <a:spcAft>
                <a:spcPts val="800"/>
              </a:spcAft>
            </a:pPr>
            <a:r>
              <a:rPr lang="en-US" sz="1600" b="1">
                <a:solidFill>
                  <a:srgbClr val="1F3864"/>
                </a:solidFill>
              </a:rPr>
              <a:t>Why did the coffee effect flip?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BBE0274B-59F9-AB74-8F9A-ACCE67441A4E}"/>
              </a:ext>
            </a:extLst>
          </p:cNvPr>
          <p:cNvSpPr/>
          <p:nvPr/>
        </p:nvSpPr>
        <p:spPr>
          <a:xfrm>
            <a:off x="762000" y="4597400"/>
            <a:ext cx="10668000" cy="1320800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52400" tIns="76200" rIns="152400" bIns="76200" rtlCol="0" anchor="ctr"/>
          <a:lstStyle/>
          <a:p>
            <a:r>
              <a:rPr lang="en-US" sz="1600" b="1">
                <a:solidFill>
                  <a:srgbClr val="C00000"/>
                </a:solidFill>
              </a:rPr>
              <a:t>Lurking variable: smoking.</a:t>
            </a:r>
          </a:p>
          <a:p>
            <a:r>
              <a:rPr lang="en-US" sz="1600">
                <a:solidFill>
                  <a:srgbClr val="000000"/>
                </a:solidFill>
              </a:rPr>
              <a:t>Heavy coffee drinkers smoked far more, and smoking - not coffee - raised their risk. Even after adjusting, the authors say they cannot tell whether coffee itself helps.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9830291-3BFE-7470-EF0A-843217C4F363}"/>
              </a:ext>
            </a:extLst>
          </p:cNvPr>
          <p:cNvSpPr txBox="1"/>
          <p:nvPr/>
        </p:nvSpPr>
        <p:spPr>
          <a:xfrm>
            <a:off x="762000" y="604520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r"/>
            <a:r>
              <a:rPr lang="en-US" sz="1600" i="1">
                <a:solidFill>
                  <a:srgbClr val="595959"/>
                </a:solidFill>
              </a:rPr>
              <a:t>Source: Freedman et al. (2012), New England Journal of Medicine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88B02BED-2AE5-639A-9FB5-0563AC06183F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18426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49C90A-874C-9408-C3AA-9D7B0825B4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Can we claim cause without an experiment?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680207-1BC0-55AF-A06B-5004730EF1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2000" y="1905000"/>
            <a:ext cx="10668000" cy="4064000"/>
          </a:xfrm>
        </p:spPr>
        <p:txBody>
          <a:bodyPr>
            <a:noAutofit/>
          </a:bodyPr>
          <a:lstStyle/>
          <a:p>
            <a:r>
              <a:rPr lang="en-US" sz="1600"/>
              <a:t>Nobody can randomly assign people to smoke for thirty years - or randomly assign their birth order</a:t>
            </a:r>
          </a:p>
          <a:p>
            <a:r>
              <a:rPr lang="en-US" sz="1600"/>
              <a:t>Yet we are confident that smoking causes lung cancer. Decades of observational studies found:</a:t>
            </a:r>
          </a:p>
          <a:p>
            <a:pPr lvl="1"/>
            <a:r>
              <a:rPr lang="en-US" sz="1600"/>
              <a:t>a strong association, found again and again in different populations</a:t>
            </a:r>
          </a:p>
          <a:p>
            <a:pPr lvl="1"/>
            <a:r>
              <a:rPr lang="en-US" sz="1600"/>
              <a:t>a dose-response pattern: the more cigarettes, the higher the risk</a:t>
            </a:r>
          </a:p>
          <a:p>
            <a:pPr lvl="1"/>
            <a:r>
              <a:rPr lang="en-US" sz="1600"/>
              <a:t>the right order in time: the smoking comes before the cancer</a:t>
            </a:r>
          </a:p>
          <a:p>
            <a:pPr lvl="1"/>
            <a:r>
              <a:rPr lang="en-US" sz="1600"/>
              <a:t>a plausible biological explanation, backed by laboratory evidence</a:t>
            </a:r>
          </a:p>
          <a:p>
            <a:r>
              <a:rPr lang="en-US" sz="1600"/>
              <a:t>The 2014 Surgeon General's report: smoking causes at least 480,000 premature U.S. deaths a year, about 127,700 of them from lung cancer</a:t>
            </a:r>
          </a:p>
          <a:p>
            <a:r>
              <a:rPr lang="en-US" sz="1600"/>
              <a:t>Without an experiment, a causal claim needs this much evidence - </a:t>
            </a:r>
            <a:r>
              <a:rPr lang="en-US" sz="1600" b="1">
                <a:solidFill>
                  <a:srgbClr val="C00000"/>
                </a:solidFill>
              </a:rPr>
              <a:t>never one study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D729E7-FFA2-29BB-2354-01F49A3A94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11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2A0B40C-8745-6E52-D76C-46CA53ABD2E4}"/>
              </a:ext>
            </a:extLst>
          </p:cNvPr>
          <p:cNvSpPr txBox="1"/>
          <p:nvPr/>
        </p:nvSpPr>
        <p:spPr>
          <a:xfrm>
            <a:off x="762000" y="604520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r"/>
            <a:r>
              <a:rPr lang="en-US" sz="1600" i="1">
                <a:solidFill>
                  <a:srgbClr val="595959"/>
                </a:solidFill>
              </a:rPr>
              <a:t>Source: U.S. Department of Health and Human Services (2014)</a:t>
            </a:r>
          </a:p>
        </p:txBody>
      </p:sp>
      <p:sp>
        <p:nvSpPr>
          <p:cNvPr id="6" name="Title rule">
            <a:extLst>
              <a:ext uri="{FF2B5EF4-FFF2-40B4-BE49-F238E27FC236}">
                <a16:creationId xmlns:a16="http://schemas.microsoft.com/office/drawing/2014/main" id="{1939F72A-BEBD-8766-65C6-B4203F49E6A9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760726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22AF1E-8589-CA56-2E20-310C69FEA1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Back to light at night and the heart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015A37-0A40-9416-1F1A-D02A04EF80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12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D5A0F3E-BC1C-AB3C-7C49-4F27FBFE7DC9}"/>
              </a:ext>
            </a:extLst>
          </p:cNvPr>
          <p:cNvSpPr txBox="1"/>
          <p:nvPr/>
        </p:nvSpPr>
        <p:spPr>
          <a:xfrm>
            <a:off x="762000" y="1841499"/>
            <a:ext cx="106680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>
              <a:spcAft>
                <a:spcPts val="400"/>
              </a:spcAft>
            </a:pPr>
            <a:r>
              <a:rPr lang="en-US" sz="1600">
                <a:solidFill>
                  <a:srgbClr val="000000"/>
                </a:solidFill>
              </a:rPr>
              <a:t>Recall the UK Biobank light-at-night study from Monday: 11,071 adults wore a wrist light sensor for 7 days in 2013-2015, then had a heart MRI about 3 years later.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57D82CE-DE26-541E-BE77-216218034116}"/>
              </a:ext>
            </a:extLst>
          </p:cNvPr>
          <p:cNvSpPr txBox="1"/>
          <p:nvPr/>
        </p:nvSpPr>
        <p:spPr>
          <a:xfrm>
            <a:off x="762000" y="255778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1.</a:t>
            </a:r>
            <a:r>
              <a:rPr lang="en-US" sz="1600">
                <a:solidFill>
                  <a:srgbClr val="000000"/>
                </a:solidFill>
              </a:rPr>
              <a:t>  Is this an observational study or an experiment?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FC8CA01-16A8-B0CA-E9BB-3617458ABCFE}"/>
              </a:ext>
            </a:extLst>
          </p:cNvPr>
          <p:cNvSpPr txBox="1"/>
          <p:nvPr/>
        </p:nvSpPr>
        <p:spPr>
          <a:xfrm>
            <a:off x="1117600" y="2852420"/>
            <a:ext cx="103124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Observational. Nobody was assigned a bright or a dark bedroom - the light people already had was measured.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54BB752-313E-E3BB-C8C6-DE8F8D782176}"/>
              </a:ext>
            </a:extLst>
          </p:cNvPr>
          <p:cNvSpPr txBox="1"/>
          <p:nvPr/>
        </p:nvSpPr>
        <p:spPr>
          <a:xfrm>
            <a:off x="762000" y="335026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2.</a:t>
            </a:r>
            <a:r>
              <a:rPr lang="en-US" sz="1600">
                <a:solidFill>
                  <a:srgbClr val="000000"/>
                </a:solidFill>
              </a:rPr>
              <a:t>  People with the most light above 3 lux had 1.5% thicker heart walls than people with none. Did the light cause it?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BCF69E3-89A7-0A3C-BBC9-7A78B36DF97D}"/>
              </a:ext>
            </a:extLst>
          </p:cNvPr>
          <p:cNvSpPr txBox="1"/>
          <p:nvPr/>
        </p:nvSpPr>
        <p:spPr>
          <a:xfrm>
            <a:off x="1117600" y="3644900"/>
            <a:ext cx="103124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This study cannot tell us. It shows an association - the authors say their design cannot establish cause.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6917509-9C7A-F531-8F14-27897C39BE49}"/>
              </a:ext>
            </a:extLst>
          </p:cNvPr>
          <p:cNvSpPr txBox="1"/>
          <p:nvPr/>
        </p:nvSpPr>
        <p:spPr>
          <a:xfrm>
            <a:off x="762000" y="414274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3.</a:t>
            </a:r>
            <a:r>
              <a:rPr lang="en-US" sz="1600">
                <a:solidFill>
                  <a:srgbClr val="000000"/>
                </a:solidFill>
              </a:rPr>
              <a:t>  The press release was titled “Too much light at night changes the shape and working of the heart.” Fair?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D9195F8-8C3F-F2C2-86AF-1FB585FE33AE}"/>
              </a:ext>
            </a:extLst>
          </p:cNvPr>
          <p:cNvSpPr txBox="1"/>
          <p:nvPr/>
        </p:nvSpPr>
        <p:spPr>
          <a:xfrm>
            <a:off x="1117600" y="4437380"/>
            <a:ext cx="103124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It goes too far. The paper says more night light was associated with these changes, not that it changed the heart.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D8609FA-BB60-2749-A121-ABA24D881BCD}"/>
              </a:ext>
            </a:extLst>
          </p:cNvPr>
          <p:cNvSpPr txBox="1"/>
          <p:nvPr/>
        </p:nvSpPr>
        <p:spPr>
          <a:xfrm>
            <a:off x="762000" y="604520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r"/>
            <a:r>
              <a:rPr lang="en-US" sz="1600" i="1">
                <a:solidFill>
                  <a:srgbClr val="595959"/>
                </a:solidFill>
              </a:rPr>
              <a:t>Sources: Dai et al. (2026) and Münzel, Kuntic and Daiber (2026), European Heart Journal; ESC press release (2026)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44D05FFE-5C77-3343-F6ED-D73A8174B663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39350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9" grpId="0"/>
      <p:bldP spid="11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41C2DC-B562-4055-A05F-8710B472DC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Light at night: how strong is the evidence?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E2B145-B9E0-9EDE-7846-E574CD9CB5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13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64AEBD8-9C55-5C87-F654-606BB91A9C10}"/>
              </a:ext>
            </a:extLst>
          </p:cNvPr>
          <p:cNvSpPr txBox="1"/>
          <p:nvPr/>
        </p:nvSpPr>
        <p:spPr>
          <a:xfrm>
            <a:off x="762000" y="1841499"/>
            <a:ext cx="106680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>
              <a:spcAft>
                <a:spcPts val="400"/>
              </a:spcAft>
            </a:pPr>
            <a:r>
              <a:rPr lang="en-US" sz="1600">
                <a:solidFill>
                  <a:srgbClr val="000000"/>
                </a:solidFill>
              </a:rPr>
              <a:t>The authors adjusted for age, smoking, physical activity, BMI, air pollution, deprivation and more. The heart changes grew steadily as night light went up.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3AA5382-396D-E973-8156-DC5F1BD9BB9E}"/>
              </a:ext>
            </a:extLst>
          </p:cNvPr>
          <p:cNvSpPr txBox="1"/>
          <p:nvPr/>
        </p:nvSpPr>
        <p:spPr>
          <a:xfrm>
            <a:off x="762000" y="255778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1.</a:t>
            </a:r>
            <a:r>
              <a:rPr lang="en-US" sz="1600">
                <a:solidFill>
                  <a:srgbClr val="000000"/>
                </a:solidFill>
              </a:rPr>
              <a:t>  They adjusted for many variables. Is that as good as random assignment?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DA6341D-833D-A973-E4BF-28891FD5C0E1}"/>
              </a:ext>
            </a:extLst>
          </p:cNvPr>
          <p:cNvSpPr txBox="1"/>
          <p:nvPr/>
        </p:nvSpPr>
        <p:spPr>
          <a:xfrm>
            <a:off x="1117600" y="2852420"/>
            <a:ext cx="103124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No. Adjusting only handles what was measured. Traffic noise was not, and the editorial says it could confound.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8FA17D4-67C2-6627-E29A-DF60916A80D5}"/>
              </a:ext>
            </a:extLst>
          </p:cNvPr>
          <p:cNvSpPr txBox="1"/>
          <p:nvPr/>
        </p:nvSpPr>
        <p:spPr>
          <a:xfrm>
            <a:off x="762000" y="335026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2.</a:t>
            </a:r>
            <a:r>
              <a:rPr lang="en-US" sz="1600">
                <a:solidFill>
                  <a:srgbClr val="000000"/>
                </a:solidFill>
              </a:rPr>
              <a:t>  Which features from the smoking evidence does this study have? What is it missing?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E4B5EC4-D245-95DB-F64C-842A74A83A0B}"/>
              </a:ext>
            </a:extLst>
          </p:cNvPr>
          <p:cNvSpPr txBox="1"/>
          <p:nvPr/>
        </p:nvSpPr>
        <p:spPr>
          <a:xfrm>
            <a:off x="1117600" y="3644900"/>
            <a:ext cx="103124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Time order, a dose-response and a plausible link (shorter sleep). Missing: many studies finding it again.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9303FFF-2F51-C42D-11A4-AF232C48DCA4}"/>
              </a:ext>
            </a:extLst>
          </p:cNvPr>
          <p:cNvSpPr txBox="1"/>
          <p:nvPr/>
        </p:nvSpPr>
        <p:spPr>
          <a:xfrm>
            <a:off x="762000" y="414274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3.</a:t>
            </a:r>
            <a:r>
              <a:rPr lang="en-US" sz="1600">
                <a:solidFill>
                  <a:srgbClr val="000000"/>
                </a:solidFill>
              </a:rPr>
              <a:t>  The participants were volunteers, mostly White and healthier than average. Who can we generalize to?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48E4E28-6180-4AD7-A8E4-C0D783A498E4}"/>
              </a:ext>
            </a:extLst>
          </p:cNvPr>
          <p:cNvSpPr txBox="1"/>
          <p:nvPr/>
        </p:nvSpPr>
        <p:spPr>
          <a:xfrm>
            <a:off x="1117600" y="4437380"/>
            <a:ext cx="103124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Only people like them. Volunteers are not a random sample of any population.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DE55E86-0C35-38F8-CFD9-DADE4335E1C9}"/>
              </a:ext>
            </a:extLst>
          </p:cNvPr>
          <p:cNvSpPr txBox="1"/>
          <p:nvPr/>
        </p:nvSpPr>
        <p:spPr>
          <a:xfrm>
            <a:off x="762000" y="604520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r"/>
            <a:r>
              <a:rPr lang="en-US" sz="1600" i="1">
                <a:solidFill>
                  <a:srgbClr val="595959"/>
                </a:solidFill>
              </a:rPr>
              <a:t>Sources: Dai et al. (2026) and Münzel, Kuntic and Daiber (2026), European Heart Journal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B2CA0A45-4556-612D-4893-11505401BA1E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29971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9" grpId="0"/>
      <p:bldP spid="11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Definition card">
            <a:extLst>
              <a:ext uri="{FF2B5EF4-FFF2-40B4-BE49-F238E27FC236}">
                <a16:creationId xmlns:a16="http://schemas.microsoft.com/office/drawing/2014/main" id="{5B6B4083-6A76-3AB1-6E4E-BD2ABB06907C}"/>
              </a:ext>
            </a:extLst>
          </p:cNvPr>
          <p:cNvSpPr/>
          <p:nvPr/>
        </p:nvSpPr>
        <p:spPr>
          <a:xfrm>
            <a:off x="762000" y="4584700"/>
            <a:ext cx="10668000" cy="558800"/>
          </a:xfrm>
          <a:prstGeom prst="roundRect">
            <a:avLst>
              <a:gd name="adj" fmla="val 12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Definition card">
            <a:extLst>
              <a:ext uri="{FF2B5EF4-FFF2-40B4-BE49-F238E27FC236}">
                <a16:creationId xmlns:a16="http://schemas.microsoft.com/office/drawing/2014/main" id="{728E254B-B963-8B15-E6D8-B608C62B921F}"/>
              </a:ext>
            </a:extLst>
          </p:cNvPr>
          <p:cNvSpPr/>
          <p:nvPr/>
        </p:nvSpPr>
        <p:spPr>
          <a:xfrm>
            <a:off x="762000" y="3898900"/>
            <a:ext cx="10668000" cy="558800"/>
          </a:xfrm>
          <a:prstGeom prst="roundRect">
            <a:avLst>
              <a:gd name="adj" fmla="val 12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Definition card">
            <a:extLst>
              <a:ext uri="{FF2B5EF4-FFF2-40B4-BE49-F238E27FC236}">
                <a16:creationId xmlns:a16="http://schemas.microsoft.com/office/drawing/2014/main" id="{56B8FF7B-CD8F-BC90-921C-D691BD6A67E6}"/>
              </a:ext>
            </a:extLst>
          </p:cNvPr>
          <p:cNvSpPr/>
          <p:nvPr/>
        </p:nvSpPr>
        <p:spPr>
          <a:xfrm>
            <a:off x="762000" y="3213100"/>
            <a:ext cx="10668000" cy="558800"/>
          </a:xfrm>
          <a:prstGeom prst="roundRect">
            <a:avLst>
              <a:gd name="adj" fmla="val 12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Definition card">
            <a:extLst>
              <a:ext uri="{FF2B5EF4-FFF2-40B4-BE49-F238E27FC236}">
                <a16:creationId xmlns:a16="http://schemas.microsoft.com/office/drawing/2014/main" id="{4A85B32D-EFA9-B551-D206-9D3E66E3F717}"/>
              </a:ext>
            </a:extLst>
          </p:cNvPr>
          <p:cNvSpPr/>
          <p:nvPr/>
        </p:nvSpPr>
        <p:spPr>
          <a:xfrm>
            <a:off x="762000" y="2527300"/>
            <a:ext cx="10668000" cy="558800"/>
          </a:xfrm>
          <a:prstGeom prst="roundRect">
            <a:avLst>
              <a:gd name="adj" fmla="val 12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Definition card">
            <a:extLst>
              <a:ext uri="{FF2B5EF4-FFF2-40B4-BE49-F238E27FC236}">
                <a16:creationId xmlns:a16="http://schemas.microsoft.com/office/drawing/2014/main" id="{A388A91A-393F-5A40-E3CF-608DDC8059D1}"/>
              </a:ext>
            </a:extLst>
          </p:cNvPr>
          <p:cNvSpPr/>
          <p:nvPr/>
        </p:nvSpPr>
        <p:spPr>
          <a:xfrm>
            <a:off x="762000" y="1841500"/>
            <a:ext cx="10668000" cy="558800"/>
          </a:xfrm>
          <a:prstGeom prst="roundRect">
            <a:avLst>
              <a:gd name="adj" fmla="val 12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B7F31B9-1873-4E71-A9F4-6BEDD3C38D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The language of experiments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DEA6BA-8F68-5854-36C7-853E531DEB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14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1900F10-CA11-2A25-8C44-81AF34F24A47}"/>
              </a:ext>
            </a:extLst>
          </p:cNvPr>
          <p:cNvSpPr txBox="1"/>
          <p:nvPr/>
        </p:nvSpPr>
        <p:spPr>
          <a:xfrm>
            <a:off x="914400" y="1943100"/>
            <a:ext cx="30226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b="1">
                <a:solidFill>
                  <a:srgbClr val="C00000"/>
                </a:solidFill>
              </a:rPr>
              <a:t>experimental units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89862C4-1503-054A-E3F5-C010116F1698}"/>
              </a:ext>
            </a:extLst>
          </p:cNvPr>
          <p:cNvSpPr txBox="1"/>
          <p:nvPr/>
        </p:nvSpPr>
        <p:spPr>
          <a:xfrm>
            <a:off x="4013200" y="1943100"/>
            <a:ext cx="72644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>
                <a:solidFill>
                  <a:srgbClr val="000000"/>
                </a:solidFill>
              </a:rPr>
              <a:t>the individuals or objects the treatments are applied to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C96D211-16DE-824A-0C3A-1EABE54E5A1C}"/>
              </a:ext>
            </a:extLst>
          </p:cNvPr>
          <p:cNvSpPr txBox="1"/>
          <p:nvPr/>
        </p:nvSpPr>
        <p:spPr>
          <a:xfrm>
            <a:off x="914400" y="2628900"/>
            <a:ext cx="30226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b="1">
                <a:solidFill>
                  <a:srgbClr val="C00000"/>
                </a:solidFill>
              </a:rPr>
              <a:t>subjects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8AA2096-A3E1-2E74-6B4B-55BEC2D4DA9D}"/>
              </a:ext>
            </a:extLst>
          </p:cNvPr>
          <p:cNvSpPr txBox="1"/>
          <p:nvPr/>
        </p:nvSpPr>
        <p:spPr>
          <a:xfrm>
            <a:off x="4013200" y="2628900"/>
            <a:ext cx="72644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>
                <a:solidFill>
                  <a:srgbClr val="000000"/>
                </a:solidFill>
              </a:rPr>
              <a:t>experimental units that are people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936A0A0-6B40-F51C-D006-7E6530D26A22}"/>
              </a:ext>
            </a:extLst>
          </p:cNvPr>
          <p:cNvSpPr txBox="1"/>
          <p:nvPr/>
        </p:nvSpPr>
        <p:spPr>
          <a:xfrm>
            <a:off x="914400" y="3314700"/>
            <a:ext cx="30226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b="1">
                <a:solidFill>
                  <a:srgbClr val="C00000"/>
                </a:solidFill>
              </a:rPr>
              <a:t>factor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EB905AE-3467-B06B-3986-9E632C2A8492}"/>
              </a:ext>
            </a:extLst>
          </p:cNvPr>
          <p:cNvSpPr txBox="1"/>
          <p:nvPr/>
        </p:nvSpPr>
        <p:spPr>
          <a:xfrm>
            <a:off x="4013200" y="3314700"/>
            <a:ext cx="72644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>
                <a:solidFill>
                  <a:srgbClr val="000000"/>
                </a:solidFill>
              </a:rPr>
              <a:t>an explanatory variable the researcher controls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6B1DD15-BDEF-1360-23DE-61EE06C8C957}"/>
              </a:ext>
            </a:extLst>
          </p:cNvPr>
          <p:cNvSpPr txBox="1"/>
          <p:nvPr/>
        </p:nvSpPr>
        <p:spPr>
          <a:xfrm>
            <a:off x="914400" y="4000500"/>
            <a:ext cx="30226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b="1">
                <a:solidFill>
                  <a:srgbClr val="C00000"/>
                </a:solidFill>
              </a:rPr>
              <a:t>levels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E4EB79A-241B-7774-AEC9-725D191F6A33}"/>
              </a:ext>
            </a:extLst>
          </p:cNvPr>
          <p:cNvSpPr txBox="1"/>
          <p:nvPr/>
        </p:nvSpPr>
        <p:spPr>
          <a:xfrm>
            <a:off x="4013200" y="4000500"/>
            <a:ext cx="72644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>
                <a:solidFill>
                  <a:srgbClr val="000000"/>
                </a:solidFill>
              </a:rPr>
              <a:t>the specific values a factor is set to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4BD3C7A-A136-6A70-0060-76FF802CDFEA}"/>
              </a:ext>
            </a:extLst>
          </p:cNvPr>
          <p:cNvSpPr txBox="1"/>
          <p:nvPr/>
        </p:nvSpPr>
        <p:spPr>
          <a:xfrm>
            <a:off x="914400" y="4686300"/>
            <a:ext cx="30226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b="1">
                <a:solidFill>
                  <a:srgbClr val="C00000"/>
                </a:solidFill>
              </a:rPr>
              <a:t>treatment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DE00C68-AFE6-C72F-A7FD-81B4E594114A}"/>
              </a:ext>
            </a:extLst>
          </p:cNvPr>
          <p:cNvSpPr txBox="1"/>
          <p:nvPr/>
        </p:nvSpPr>
        <p:spPr>
          <a:xfrm>
            <a:off x="4013200" y="4686300"/>
            <a:ext cx="72644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>
                <a:solidFill>
                  <a:srgbClr val="000000"/>
                </a:solidFill>
              </a:rPr>
              <a:t>the condition a unit receives: one combination of factor levels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AE184CCB-0A67-C2ED-C2C8-658794788513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32807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31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32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33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34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39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40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41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42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9" grpId="0"/>
      <p:bldP spid="12" grpId="0"/>
      <p:bldP spid="15" grpId="0"/>
      <p:bldP spid="18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239F2B-D79C-B061-7D7C-D0E3E9E9F7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Example: the VITAL trial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0869749-915A-A889-6AF8-EEE3DE2B6C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15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154EC98-752B-E4E1-3A6C-D7C162824379}"/>
              </a:ext>
            </a:extLst>
          </p:cNvPr>
          <p:cNvSpPr txBox="1"/>
          <p:nvPr/>
        </p:nvSpPr>
        <p:spPr>
          <a:xfrm>
            <a:off x="762000" y="1841499"/>
            <a:ext cx="106680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>
              <a:spcAft>
                <a:spcPts val="400"/>
              </a:spcAft>
            </a:pPr>
            <a:r>
              <a:rPr lang="en-US" sz="1600">
                <a:solidFill>
                  <a:srgbClr val="000000"/>
                </a:solidFill>
              </a:rPr>
              <a:t>VITAL randomly assigned 25,871 U.S. adults to vitamin D (2,000 IU a day) or a placebo, AND to omega-3 fish oil (1 g a day) or a placebo, then followed them for about 5 years.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EA24511-5DA8-139E-D168-B30F6FC9D645}"/>
              </a:ext>
            </a:extLst>
          </p:cNvPr>
          <p:cNvSpPr txBox="1"/>
          <p:nvPr/>
        </p:nvSpPr>
        <p:spPr>
          <a:xfrm>
            <a:off x="762000" y="255778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1.</a:t>
            </a:r>
            <a:r>
              <a:rPr lang="en-US" sz="1600">
                <a:solidFill>
                  <a:srgbClr val="000000"/>
                </a:solidFill>
              </a:rPr>
              <a:t>  What are the experimental units - and what do we call them?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6AD3336-BE2D-C5F7-C1A2-C937A4C032A2}"/>
              </a:ext>
            </a:extLst>
          </p:cNvPr>
          <p:cNvSpPr txBox="1"/>
          <p:nvPr/>
        </p:nvSpPr>
        <p:spPr>
          <a:xfrm>
            <a:off x="1117600" y="2852420"/>
            <a:ext cx="103124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The 25,871 adults. They are people, so they are subjects.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E03E08D-862C-AF03-64BB-BE6B12D52B9E}"/>
              </a:ext>
            </a:extLst>
          </p:cNvPr>
          <p:cNvSpPr txBox="1"/>
          <p:nvPr/>
        </p:nvSpPr>
        <p:spPr>
          <a:xfrm>
            <a:off x="762000" y="335026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2.</a:t>
            </a:r>
            <a:r>
              <a:rPr lang="en-US" sz="1600">
                <a:solidFill>
                  <a:srgbClr val="000000"/>
                </a:solidFill>
              </a:rPr>
              <a:t>  What are the factors, and how many levels does each have?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193DCC8-196D-E1A6-C6DA-904079F554A1}"/>
              </a:ext>
            </a:extLst>
          </p:cNvPr>
          <p:cNvSpPr txBox="1"/>
          <p:nvPr/>
        </p:nvSpPr>
        <p:spPr>
          <a:xfrm>
            <a:off x="1117600" y="3644900"/>
            <a:ext cx="103124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Vitamin D and omega-3 - 2 levels each (the supplement or a placebo).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0E25D4A-4773-05CB-3292-48B30A495FCF}"/>
              </a:ext>
            </a:extLst>
          </p:cNvPr>
          <p:cNvSpPr txBox="1"/>
          <p:nvPr/>
        </p:nvSpPr>
        <p:spPr>
          <a:xfrm>
            <a:off x="762000" y="414274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3.</a:t>
            </a:r>
            <a:r>
              <a:rPr lang="en-US" sz="1600">
                <a:solidFill>
                  <a:srgbClr val="000000"/>
                </a:solidFill>
              </a:rPr>
              <a:t>  How many treatments are there?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3F8927A-06B7-68FB-674D-7CEEB23B0E4F}"/>
              </a:ext>
            </a:extLst>
          </p:cNvPr>
          <p:cNvSpPr txBox="1"/>
          <p:nvPr/>
        </p:nvSpPr>
        <p:spPr>
          <a:xfrm>
            <a:off x="1117600" y="4437380"/>
            <a:ext cx="103124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2 x 2 = 4: vitamin D + omega-3, vitamin D + placebo, placebo + omega-3, placebo + placebo.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3AC598D-D11F-462C-0B3E-1312AD123B2D}"/>
              </a:ext>
            </a:extLst>
          </p:cNvPr>
          <p:cNvSpPr txBox="1"/>
          <p:nvPr/>
        </p:nvSpPr>
        <p:spPr>
          <a:xfrm>
            <a:off x="762000" y="493522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4.</a:t>
            </a:r>
            <a:r>
              <a:rPr lang="en-US" sz="1600">
                <a:solidFill>
                  <a:srgbClr val="000000"/>
                </a:solidFill>
              </a:rPr>
              <a:t>  What happened?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E32CBC3-2896-472B-A54A-0EF0CDD6FDC6}"/>
              </a:ext>
            </a:extLst>
          </p:cNvPr>
          <p:cNvSpPr txBox="1"/>
          <p:nvPr/>
        </p:nvSpPr>
        <p:spPr>
          <a:xfrm>
            <a:off x="1117600" y="5229860"/>
            <a:ext cx="103124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Neither supplement lowered the rate of invasive cancer or of major cardiovascular events.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A15CB9B-7BE5-0C0D-696A-48328ABA1439}"/>
              </a:ext>
            </a:extLst>
          </p:cNvPr>
          <p:cNvSpPr txBox="1"/>
          <p:nvPr/>
        </p:nvSpPr>
        <p:spPr>
          <a:xfrm>
            <a:off x="762000" y="604520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r"/>
            <a:r>
              <a:rPr lang="en-US" sz="1600" i="1">
                <a:solidFill>
                  <a:srgbClr val="595959"/>
                </a:solidFill>
              </a:rPr>
              <a:t>Source: Manson et al. (2019), New England Journal of Medicine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33842B88-3FD8-7BBF-86D4-D79A31D0D324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00703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31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32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33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34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9" grpId="0"/>
      <p:bldP spid="11" grpId="0"/>
      <p:bldP spid="13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Definition card">
            <a:extLst>
              <a:ext uri="{FF2B5EF4-FFF2-40B4-BE49-F238E27FC236}">
                <a16:creationId xmlns:a16="http://schemas.microsoft.com/office/drawing/2014/main" id="{527CC9D9-A452-0F04-D7C0-F8B69F5FD4C0}"/>
              </a:ext>
            </a:extLst>
          </p:cNvPr>
          <p:cNvSpPr/>
          <p:nvPr/>
        </p:nvSpPr>
        <p:spPr>
          <a:xfrm>
            <a:off x="762000" y="3751580"/>
            <a:ext cx="10668000" cy="828040"/>
          </a:xfrm>
          <a:prstGeom prst="roundRect">
            <a:avLst>
              <a:gd name="adj" fmla="val 12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Definition card">
            <a:extLst>
              <a:ext uri="{FF2B5EF4-FFF2-40B4-BE49-F238E27FC236}">
                <a16:creationId xmlns:a16="http://schemas.microsoft.com/office/drawing/2014/main" id="{14A0377C-BFF0-B79A-19D7-981494C77764}"/>
              </a:ext>
            </a:extLst>
          </p:cNvPr>
          <p:cNvSpPr/>
          <p:nvPr/>
        </p:nvSpPr>
        <p:spPr>
          <a:xfrm>
            <a:off x="762000" y="2796540"/>
            <a:ext cx="10668000" cy="828040"/>
          </a:xfrm>
          <a:prstGeom prst="roundRect">
            <a:avLst>
              <a:gd name="adj" fmla="val 12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Definition card">
            <a:extLst>
              <a:ext uri="{FF2B5EF4-FFF2-40B4-BE49-F238E27FC236}">
                <a16:creationId xmlns:a16="http://schemas.microsoft.com/office/drawing/2014/main" id="{646E8175-71AD-D653-1B18-4535B9169AC0}"/>
              </a:ext>
            </a:extLst>
          </p:cNvPr>
          <p:cNvSpPr/>
          <p:nvPr/>
        </p:nvSpPr>
        <p:spPr>
          <a:xfrm>
            <a:off x="762000" y="1841500"/>
            <a:ext cx="10668000" cy="828040"/>
          </a:xfrm>
          <a:prstGeom prst="roundRect">
            <a:avLst>
              <a:gd name="adj" fmla="val 12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0D8048B-F56E-F853-6D78-C470559476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Principles of experimental design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2E4708-CDE4-49E1-2123-2142A283F4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16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D8215F6-8FCE-DFDC-A690-266976110908}"/>
              </a:ext>
            </a:extLst>
          </p:cNvPr>
          <p:cNvSpPr txBox="1"/>
          <p:nvPr/>
        </p:nvSpPr>
        <p:spPr>
          <a:xfrm>
            <a:off x="914400" y="1943100"/>
            <a:ext cx="30226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b="1">
                <a:solidFill>
                  <a:srgbClr val="C00000"/>
                </a:solidFill>
              </a:rPr>
              <a:t>control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FCBEDF8-CA87-BB2E-E7CC-E75E0EBDCEEF}"/>
              </a:ext>
            </a:extLst>
          </p:cNvPr>
          <p:cNvSpPr txBox="1"/>
          <p:nvPr/>
        </p:nvSpPr>
        <p:spPr>
          <a:xfrm>
            <a:off x="4013200" y="1943099"/>
            <a:ext cx="7264400" cy="6502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>
                <a:solidFill>
                  <a:srgbClr val="000000"/>
                </a:solidFill>
              </a:rPr>
              <a:t>compare the treatment against a control group, so the treatment is the only systematic difference between the groups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2115D86-8FC4-38CD-E9E4-1D9C20B84007}"/>
              </a:ext>
            </a:extLst>
          </p:cNvPr>
          <p:cNvSpPr txBox="1"/>
          <p:nvPr/>
        </p:nvSpPr>
        <p:spPr>
          <a:xfrm>
            <a:off x="914400" y="2898140"/>
            <a:ext cx="30226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b="1">
                <a:solidFill>
                  <a:srgbClr val="C00000"/>
                </a:solidFill>
              </a:rPr>
              <a:t>random assignment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5A3CF75-0947-A75D-A911-27285F7282DC}"/>
              </a:ext>
            </a:extLst>
          </p:cNvPr>
          <p:cNvSpPr txBox="1"/>
          <p:nvPr/>
        </p:nvSpPr>
        <p:spPr>
          <a:xfrm>
            <a:off x="4013200" y="2898139"/>
            <a:ext cx="7264400" cy="6502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>
                <a:solidFill>
                  <a:srgbClr val="000000"/>
                </a:solidFill>
              </a:rPr>
              <a:t>let chance assign units to treatments - it balances the lurking variables we know about AND the ones we do not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B2A74FA-ACCD-0444-2FD1-C5FE41F3DEBE}"/>
              </a:ext>
            </a:extLst>
          </p:cNvPr>
          <p:cNvSpPr txBox="1"/>
          <p:nvPr/>
        </p:nvSpPr>
        <p:spPr>
          <a:xfrm>
            <a:off x="914400" y="3853180"/>
            <a:ext cx="30226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b="1">
                <a:solidFill>
                  <a:srgbClr val="C00000"/>
                </a:solidFill>
              </a:rPr>
              <a:t>replication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1E8E4AF-B0A9-AA0C-9A85-E8AD8B4D0E1E}"/>
              </a:ext>
            </a:extLst>
          </p:cNvPr>
          <p:cNvSpPr txBox="1"/>
          <p:nvPr/>
        </p:nvSpPr>
        <p:spPr>
          <a:xfrm>
            <a:off x="4013200" y="3853179"/>
            <a:ext cx="7264400" cy="6502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>
                <a:solidFill>
                  <a:srgbClr val="000000"/>
                </a:solidFill>
              </a:rPr>
              <a:t>put enough units in each group that chance differences between the groups average out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0FBAB81F-3E0F-CC4A-57E6-BF5693CD09FE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37438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9" grpId="0"/>
      <p:bldP spid="12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Definition card">
            <a:extLst>
              <a:ext uri="{FF2B5EF4-FFF2-40B4-BE49-F238E27FC236}">
                <a16:creationId xmlns:a16="http://schemas.microsoft.com/office/drawing/2014/main" id="{0986321D-DD51-CC3D-7DD0-2F9B636F6666}"/>
              </a:ext>
            </a:extLst>
          </p:cNvPr>
          <p:cNvSpPr/>
          <p:nvPr/>
        </p:nvSpPr>
        <p:spPr>
          <a:xfrm>
            <a:off x="762000" y="4711700"/>
            <a:ext cx="10668000" cy="828040"/>
          </a:xfrm>
          <a:prstGeom prst="roundRect">
            <a:avLst>
              <a:gd name="adj" fmla="val 12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Definition card">
            <a:extLst>
              <a:ext uri="{FF2B5EF4-FFF2-40B4-BE49-F238E27FC236}">
                <a16:creationId xmlns:a16="http://schemas.microsoft.com/office/drawing/2014/main" id="{3240A742-6545-D275-21CB-933A9D3A95BD}"/>
              </a:ext>
            </a:extLst>
          </p:cNvPr>
          <p:cNvSpPr/>
          <p:nvPr/>
        </p:nvSpPr>
        <p:spPr>
          <a:xfrm>
            <a:off x="762000" y="4025900"/>
            <a:ext cx="10668000" cy="558800"/>
          </a:xfrm>
          <a:prstGeom prst="roundRect">
            <a:avLst>
              <a:gd name="adj" fmla="val 12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Definition card">
            <a:extLst>
              <a:ext uri="{FF2B5EF4-FFF2-40B4-BE49-F238E27FC236}">
                <a16:creationId xmlns:a16="http://schemas.microsoft.com/office/drawing/2014/main" id="{748393A2-618F-1098-18D2-B69CA52BD216}"/>
              </a:ext>
            </a:extLst>
          </p:cNvPr>
          <p:cNvSpPr/>
          <p:nvPr/>
        </p:nvSpPr>
        <p:spPr>
          <a:xfrm>
            <a:off x="762000" y="2796540"/>
            <a:ext cx="10668000" cy="1102360"/>
          </a:xfrm>
          <a:prstGeom prst="roundRect">
            <a:avLst>
              <a:gd name="adj" fmla="val 12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Definition card">
            <a:extLst>
              <a:ext uri="{FF2B5EF4-FFF2-40B4-BE49-F238E27FC236}">
                <a16:creationId xmlns:a16="http://schemas.microsoft.com/office/drawing/2014/main" id="{AD35FDEF-A6C9-D92F-1656-6ED66949569F}"/>
              </a:ext>
            </a:extLst>
          </p:cNvPr>
          <p:cNvSpPr/>
          <p:nvPr/>
        </p:nvSpPr>
        <p:spPr>
          <a:xfrm>
            <a:off x="762000" y="1841500"/>
            <a:ext cx="10668000" cy="828040"/>
          </a:xfrm>
          <a:prstGeom prst="roundRect">
            <a:avLst>
              <a:gd name="adj" fmla="val 12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9AA9945-18E2-A815-CD09-6E30DA8CC8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Placebos and blinding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D39166-75E8-99F6-EF42-55FFE56364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17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F914461-1C87-49C0-A9DA-02B03CA129A0}"/>
              </a:ext>
            </a:extLst>
          </p:cNvPr>
          <p:cNvSpPr txBox="1"/>
          <p:nvPr/>
        </p:nvSpPr>
        <p:spPr>
          <a:xfrm>
            <a:off x="914400" y="1943100"/>
            <a:ext cx="30226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b="1">
                <a:solidFill>
                  <a:srgbClr val="C00000"/>
                </a:solidFill>
              </a:rPr>
              <a:t>placebo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E0A0659-C886-4CB8-B25B-5E2B59B4990B}"/>
              </a:ext>
            </a:extLst>
          </p:cNvPr>
          <p:cNvSpPr txBox="1"/>
          <p:nvPr/>
        </p:nvSpPr>
        <p:spPr>
          <a:xfrm>
            <a:off x="4013200" y="1943099"/>
            <a:ext cx="7264400" cy="6502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>
                <a:solidFill>
                  <a:srgbClr val="000000"/>
                </a:solidFill>
              </a:rPr>
              <a:t>an inactive treatment that looks exactly like the real one</a:t>
            </a:r>
          </a:p>
          <a:p>
            <a:r>
              <a:rPr lang="en-US" i="1">
                <a:solidFill>
                  <a:srgbClr val="595959"/>
                </a:solidFill>
              </a:rPr>
              <a:t>a sugar pill, or a saline injection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93E6C15-B051-DA6B-FC50-75C45B601985}"/>
              </a:ext>
            </a:extLst>
          </p:cNvPr>
          <p:cNvSpPr txBox="1"/>
          <p:nvPr/>
        </p:nvSpPr>
        <p:spPr>
          <a:xfrm>
            <a:off x="914400" y="2898140"/>
            <a:ext cx="30226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b="1">
                <a:solidFill>
                  <a:srgbClr val="C00000"/>
                </a:solidFill>
              </a:rPr>
              <a:t>placebo effect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311B553-B0DF-9622-DF06-AFFDA7ADF708}"/>
              </a:ext>
            </a:extLst>
          </p:cNvPr>
          <p:cNvSpPr txBox="1"/>
          <p:nvPr/>
        </p:nvSpPr>
        <p:spPr>
          <a:xfrm>
            <a:off x="4013200" y="2898140"/>
            <a:ext cx="7264400" cy="92456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>
                <a:solidFill>
                  <a:srgbClr val="000000"/>
                </a:solidFill>
              </a:rPr>
              <a:t>people often improve simply because they believe they are being treated</a:t>
            </a:r>
          </a:p>
          <a:p>
            <a:r>
              <a:rPr lang="en-US" i="1">
                <a:solidFill>
                  <a:srgbClr val="595959"/>
                </a:solidFill>
              </a:rPr>
              <a:t>in one study, believing you had taken a performance drug worked almost as well as the drug itself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D588549-1922-B620-2B4E-9464BCE53BB2}"/>
              </a:ext>
            </a:extLst>
          </p:cNvPr>
          <p:cNvSpPr txBox="1"/>
          <p:nvPr/>
        </p:nvSpPr>
        <p:spPr>
          <a:xfrm>
            <a:off x="914400" y="4127500"/>
            <a:ext cx="30226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b="1">
                <a:solidFill>
                  <a:srgbClr val="C00000"/>
                </a:solidFill>
              </a:rPr>
              <a:t>blinding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D5D28C7-3333-6E48-704B-CF3132518528}"/>
              </a:ext>
            </a:extLst>
          </p:cNvPr>
          <p:cNvSpPr txBox="1"/>
          <p:nvPr/>
        </p:nvSpPr>
        <p:spPr>
          <a:xfrm>
            <a:off x="4013200" y="4127500"/>
            <a:ext cx="72644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>
                <a:solidFill>
                  <a:srgbClr val="000000"/>
                </a:solidFill>
              </a:rPr>
              <a:t>the subjects do not know which treatment they received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5CD5F34-944C-50F9-7B04-0A433180EADC}"/>
              </a:ext>
            </a:extLst>
          </p:cNvPr>
          <p:cNvSpPr txBox="1"/>
          <p:nvPr/>
        </p:nvSpPr>
        <p:spPr>
          <a:xfrm>
            <a:off x="914400" y="4813300"/>
            <a:ext cx="30226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b="1">
                <a:solidFill>
                  <a:srgbClr val="C00000"/>
                </a:solidFill>
              </a:rPr>
              <a:t>double-blind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5F50005-2E1E-E3B6-F676-29A98A6D4792}"/>
              </a:ext>
            </a:extLst>
          </p:cNvPr>
          <p:cNvSpPr txBox="1"/>
          <p:nvPr/>
        </p:nvSpPr>
        <p:spPr>
          <a:xfrm>
            <a:off x="4013200" y="4813299"/>
            <a:ext cx="7264400" cy="6502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>
                <a:solidFill>
                  <a:srgbClr val="000000"/>
                </a:solidFill>
              </a:rPr>
              <a:t>neither the subjects nor the researchers working with them know who received what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E11A2D97-48DE-89D2-6522-EBF2B2D53551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21021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31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32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33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34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9" grpId="0"/>
      <p:bldP spid="12" grpId="0"/>
      <p:bldP spid="15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615B16-617F-F91A-E768-60685CC2F6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The 2020 Pfizer-BioNTech vaccine trial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73F39A-FB57-1204-AB85-BFED908622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18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E9C21BD-9532-392A-1ADC-7094172C5BC4}"/>
              </a:ext>
            </a:extLst>
          </p:cNvPr>
          <p:cNvSpPr txBox="1"/>
          <p:nvPr/>
        </p:nvSpPr>
        <p:spPr>
          <a:xfrm>
            <a:off x="762000" y="1841499"/>
            <a:ext cx="10668000" cy="83312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>
              <a:spcAft>
                <a:spcPts val="400"/>
              </a:spcAft>
            </a:pPr>
            <a:r>
              <a:rPr lang="en-US" sz="1600">
                <a:solidFill>
                  <a:srgbClr val="000000"/>
                </a:solidFill>
              </a:rPr>
              <a:t>43,548 people were randomly assigned, half and half, to two shots of the COVID-19 vaccine or two shots of a saline placebo. Participants and the staff assessing them did not know who got which. Afterwards: 8 COVID-19 cases in the vaccine group, 162 in the placebo group.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B3BEC6E-F862-FBAF-E1D5-A21B197591D4}"/>
              </a:ext>
            </a:extLst>
          </p:cNvPr>
          <p:cNvSpPr txBox="1"/>
          <p:nvPr/>
        </p:nvSpPr>
        <p:spPr>
          <a:xfrm>
            <a:off x="762000" y="280162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1.</a:t>
            </a:r>
            <a:r>
              <a:rPr lang="en-US" sz="1600">
                <a:solidFill>
                  <a:srgbClr val="000000"/>
                </a:solidFill>
              </a:rPr>
              <a:t>  Why give the control group a saline shot instead of no shot at all?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3374361-B6BF-56E2-BB7E-9C77E3EAFA32}"/>
              </a:ext>
            </a:extLst>
          </p:cNvPr>
          <p:cNvSpPr txBox="1"/>
          <p:nvPr/>
        </p:nvSpPr>
        <p:spPr>
          <a:xfrm>
            <a:off x="1117600" y="3096259"/>
            <a:ext cx="103124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So both groups have the same experience. A difference in cases can then only come from the vaccine, not from expectations.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F14AA95-81B2-0E2E-FE21-D50E35C6D672}"/>
              </a:ext>
            </a:extLst>
          </p:cNvPr>
          <p:cNvSpPr txBox="1"/>
          <p:nvPr/>
        </p:nvSpPr>
        <p:spPr>
          <a:xfrm>
            <a:off x="762000" y="383794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2.</a:t>
            </a:r>
            <a:r>
              <a:rPr lang="en-US" sz="1600">
                <a:solidFill>
                  <a:srgbClr val="000000"/>
                </a:solidFill>
              </a:rPr>
              <a:t>  Why randomize, instead of letting people choose whether to get the vaccine?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48161EE-C1D2-5729-30B3-60F805D911B5}"/>
              </a:ext>
            </a:extLst>
          </p:cNvPr>
          <p:cNvSpPr txBox="1"/>
          <p:nvPr/>
        </p:nvSpPr>
        <p:spPr>
          <a:xfrm>
            <a:off x="1117600" y="4132580"/>
            <a:ext cx="103124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People who choose a new vaccine may also be more careful in other ways - a lurking variable. Randomizing balances it.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CC07AEF-2F3C-5F98-7416-32548ECBAE2D}"/>
              </a:ext>
            </a:extLst>
          </p:cNvPr>
          <p:cNvSpPr txBox="1"/>
          <p:nvPr/>
        </p:nvSpPr>
        <p:spPr>
          <a:xfrm>
            <a:off x="762000" y="463042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3.</a:t>
            </a:r>
            <a:r>
              <a:rPr lang="en-US" sz="1600">
                <a:solidFill>
                  <a:srgbClr val="000000"/>
                </a:solidFill>
              </a:rPr>
              <a:t>  What does 8 cases versus 162 suggest?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0B0D47C-2CA4-17F0-F93D-EF0EDE1376BA}"/>
              </a:ext>
            </a:extLst>
          </p:cNvPr>
          <p:cNvSpPr txBox="1"/>
          <p:nvPr/>
        </p:nvSpPr>
        <p:spPr>
          <a:xfrm>
            <a:off x="1117600" y="4925060"/>
            <a:ext cx="103124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The vaccine group had about 95% fewer cases - and because of the design, we can credit that to the vaccine.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E919372-51FF-D9A9-4502-CC2DDA37DE5F}"/>
              </a:ext>
            </a:extLst>
          </p:cNvPr>
          <p:cNvSpPr txBox="1"/>
          <p:nvPr/>
        </p:nvSpPr>
        <p:spPr>
          <a:xfrm>
            <a:off x="762000" y="604520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r"/>
            <a:r>
              <a:rPr lang="en-US" sz="1600" i="1">
                <a:solidFill>
                  <a:srgbClr val="595959"/>
                </a:solidFill>
              </a:rPr>
              <a:t>Source: Polack et al. (2020), New England Journal of Medicine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3E52C4A4-CBD4-248B-5876-3F7BDD6EBABB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73362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9" grpId="0"/>
      <p:bldP spid="1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8D30B1-1864-30EF-7EAB-9BEE656C00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A placebo surgery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875068-D051-44AE-498E-1BEBEDE3A7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19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F4C9AC6-4D0C-1228-AAA9-21B804DFEE48}"/>
              </a:ext>
            </a:extLst>
          </p:cNvPr>
          <p:cNvSpPr txBox="1"/>
          <p:nvPr/>
        </p:nvSpPr>
        <p:spPr>
          <a:xfrm>
            <a:off x="762000" y="1905000"/>
            <a:ext cx="10668000" cy="1631216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>
              <a:spcAft>
                <a:spcPts val="800"/>
              </a:spcAft>
            </a:pPr>
            <a:r>
              <a:rPr lang="en-US" sz="1600">
                <a:solidFill>
                  <a:srgbClr val="000000"/>
                </a:solidFill>
              </a:rPr>
              <a:t>Arthroscopic knee surgery for arthritis was common, and patients said it helped</a:t>
            </a:r>
          </a:p>
          <a:p>
            <a:pPr>
              <a:spcAft>
                <a:spcPts val="800"/>
              </a:spcAft>
            </a:pPr>
            <a:r>
              <a:rPr lang="en-US" sz="1600">
                <a:solidFill>
                  <a:srgbClr val="000000"/>
                </a:solidFill>
              </a:rPr>
              <a:t>Moseley and colleagues (2002) randomly assigned 180 patients with knee osteoarthritis to two real arthroscopic procedures, or to placebo surgery - skin incisions only, with no instruments inserted</a:t>
            </a:r>
          </a:p>
          <a:p>
            <a:pPr>
              <a:spcAft>
                <a:spcPts val="800"/>
              </a:spcAft>
            </a:pPr>
            <a:r>
              <a:rPr lang="en-US" sz="1600">
                <a:solidFill>
                  <a:srgbClr val="000000"/>
                </a:solidFill>
              </a:rPr>
              <a:t>Patients, and the staff who assessed their pain, did not know who got which</a:t>
            </a:r>
          </a:p>
          <a:p>
            <a:pPr>
              <a:spcAft>
                <a:spcPts val="800"/>
              </a:spcAft>
            </a:pPr>
            <a:r>
              <a:rPr lang="en-US" sz="1600" b="1">
                <a:solidFill>
                  <a:srgbClr val="1F3864"/>
                </a:solidFill>
              </a:rPr>
              <a:t>Over two years, which group reported the most improvement?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430B310F-DAC4-4E75-0390-F480FCCED58F}"/>
              </a:ext>
            </a:extLst>
          </p:cNvPr>
          <p:cNvSpPr/>
          <p:nvPr/>
        </p:nvSpPr>
        <p:spPr>
          <a:xfrm>
            <a:off x="762000" y="4597400"/>
            <a:ext cx="10668000" cy="1320800"/>
          </a:xfrm>
          <a:prstGeom prst="roundRect">
            <a:avLst>
              <a:gd name="adj" fmla="val 4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52400" tIns="76200" rIns="152400" bIns="76200" rtlCol="0" anchor="ctr"/>
          <a:lstStyle/>
          <a:p>
            <a:r>
              <a:rPr lang="en-US" sz="1600" b="1">
                <a:solidFill>
                  <a:srgbClr val="C00000"/>
                </a:solidFill>
              </a:rPr>
              <a:t>None of them.</a:t>
            </a:r>
          </a:p>
          <a:p>
            <a:r>
              <a:rPr lang="en-US" sz="1600">
                <a:solidFill>
                  <a:srgbClr val="000000"/>
                </a:solidFill>
              </a:rPr>
              <a:t>The placebo group did as well as both surgery groups on pain and function. The benefit came from believing</a:t>
            </a:r>
          </a:p>
          <a:p>
            <a:r>
              <a:rPr lang="en-US" sz="1600">
                <a:solidFill>
                  <a:srgbClr val="000000"/>
                </a:solidFill>
              </a:rPr>
              <a:t>you had surgery - and without a placebo group and blinding, nobody would have known.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9606FF6-2B22-36E5-8DCE-A56C8CF16F63}"/>
              </a:ext>
            </a:extLst>
          </p:cNvPr>
          <p:cNvSpPr txBox="1"/>
          <p:nvPr/>
        </p:nvSpPr>
        <p:spPr>
          <a:xfrm>
            <a:off x="762000" y="604520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r"/>
            <a:r>
              <a:rPr lang="en-US" sz="1600" i="1">
                <a:solidFill>
                  <a:srgbClr val="595959"/>
                </a:solidFill>
              </a:rPr>
              <a:t>Source: Moseley et al. (2002), New England Journal of Medicine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30656AA8-9645-F028-C769-A313710853CC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5769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7DFFFD-794F-2D51-6BF6-99175D91AD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Completely randomized design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4F55A9-BBE0-BEF2-E763-410F3F2D8A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20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FB25ADE-6103-7A0C-04BB-BDC5C6DAFA8D}"/>
              </a:ext>
            </a:extLst>
          </p:cNvPr>
          <p:cNvSpPr txBox="1"/>
          <p:nvPr/>
        </p:nvSpPr>
        <p:spPr>
          <a:xfrm>
            <a:off x="762000" y="1841500"/>
            <a:ext cx="3556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completely randomized design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A944CA3-DDEF-F323-A745-E769C814FD58}"/>
              </a:ext>
            </a:extLst>
          </p:cNvPr>
          <p:cNvSpPr txBox="1"/>
          <p:nvPr/>
        </p:nvSpPr>
        <p:spPr>
          <a:xfrm>
            <a:off x="4419600" y="1841500"/>
            <a:ext cx="70104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every unit is assigned to a treatment completely at random - the simplest design</a:t>
            </a:r>
          </a:p>
        </p:txBody>
      </p:sp>
      <p:pic>
        <p:nvPicPr>
          <p:cNvPr id="8" name="l8_crd.png">
            <a:extLst>
              <a:ext uri="{FF2B5EF4-FFF2-40B4-BE49-F238E27FC236}">
                <a16:creationId xmlns:a16="http://schemas.microsoft.com/office/drawing/2014/main" id="{3FC0221E-5D8D-7C80-A7E6-B2E075C913A7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000" y="2415540"/>
            <a:ext cx="10668000" cy="31750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82EA08B7-5DFB-36CD-640D-6116218D8A8F}"/>
              </a:ext>
            </a:extLst>
          </p:cNvPr>
          <p:cNvSpPr txBox="1"/>
          <p:nvPr/>
        </p:nvSpPr>
        <p:spPr>
          <a:xfrm>
            <a:off x="762000" y="596900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The Pfizer-BioNTech vaccine trial was a completely randomized design with two groups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9CF4558A-F54B-AF72-380B-784DCD25734D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76425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063B3A-82BB-BE51-84B8-B8AF27E3C5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Randomized block design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37082B3-3A15-6187-05D8-948D87958D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21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98D7313-2EFA-DDCC-83CD-016A2EA319DF}"/>
              </a:ext>
            </a:extLst>
          </p:cNvPr>
          <p:cNvSpPr txBox="1"/>
          <p:nvPr/>
        </p:nvSpPr>
        <p:spPr>
          <a:xfrm>
            <a:off x="762000" y="1841500"/>
            <a:ext cx="3175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block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E68491B-42D0-6F62-D1EB-414351AE3540}"/>
              </a:ext>
            </a:extLst>
          </p:cNvPr>
          <p:cNvSpPr txBox="1"/>
          <p:nvPr/>
        </p:nvSpPr>
        <p:spPr>
          <a:xfrm>
            <a:off x="4038600" y="1841499"/>
            <a:ext cx="73914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a group of units that are alike in a way that affects the response, formed BEFORE treatments are assigned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1111355-2EF9-878B-BBF5-3AD598A60D7B}"/>
              </a:ext>
            </a:extLst>
          </p:cNvPr>
          <p:cNvSpPr txBox="1"/>
          <p:nvPr/>
        </p:nvSpPr>
        <p:spPr>
          <a:xfrm>
            <a:off x="762000" y="2506980"/>
            <a:ext cx="3175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randomized block design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94EE7E9-B4FA-AE7D-2F32-7824F8BEBECC}"/>
              </a:ext>
            </a:extLst>
          </p:cNvPr>
          <p:cNvSpPr txBox="1"/>
          <p:nvPr/>
        </p:nvSpPr>
        <p:spPr>
          <a:xfrm>
            <a:off x="4038600" y="2506979"/>
            <a:ext cx="7391400" cy="83312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randomize treatments separately inside each block, then compare treatments within blocks</a:t>
            </a:r>
          </a:p>
          <a:p>
            <a:r>
              <a:rPr lang="en-US" sz="1600" i="1">
                <a:solidFill>
                  <a:srgbClr val="595959"/>
                </a:solidFill>
              </a:rPr>
              <a:t>blocking is to experiments what stratifying is to sampling</a:t>
            </a:r>
          </a:p>
        </p:txBody>
      </p:sp>
      <p:pic>
        <p:nvPicPr>
          <p:cNvPr id="10" name="l8_rcbd.png">
            <a:extLst>
              <a:ext uri="{FF2B5EF4-FFF2-40B4-BE49-F238E27FC236}">
                <a16:creationId xmlns:a16="http://schemas.microsoft.com/office/drawing/2014/main" id="{4D9C6247-9EE5-17B5-FA09-387DA7C382E5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000" y="3429000"/>
            <a:ext cx="10668000" cy="2870200"/>
          </a:xfrm>
          <a:prstGeom prst="rect">
            <a:avLst/>
          </a:prstGeom>
        </p:spPr>
      </p:pic>
      <p:sp>
        <p:nvSpPr>
          <p:cNvPr id="3" name="Title rule">
            <a:extLst>
              <a:ext uri="{FF2B5EF4-FFF2-40B4-BE49-F238E27FC236}">
                <a16:creationId xmlns:a16="http://schemas.microsoft.com/office/drawing/2014/main" id="{683653CB-384B-87DB-C6CB-FB5F26D39118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46007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8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E825F3-CA5C-D321-A12F-235D7E6C10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Matched pairs design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2F5803-1B77-5AE0-EEB8-17B8E3F972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22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2C3E119-33DB-B84A-C9CB-1DA41099D1A1}"/>
              </a:ext>
            </a:extLst>
          </p:cNvPr>
          <p:cNvSpPr txBox="1"/>
          <p:nvPr/>
        </p:nvSpPr>
        <p:spPr>
          <a:xfrm>
            <a:off x="762000" y="1841500"/>
            <a:ext cx="3175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matched pairs design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77D380C-8635-8A53-300D-33D0068157E3}"/>
              </a:ext>
            </a:extLst>
          </p:cNvPr>
          <p:cNvSpPr txBox="1"/>
          <p:nvPr/>
        </p:nvSpPr>
        <p:spPr>
          <a:xfrm>
            <a:off x="4038600" y="1841499"/>
            <a:ext cx="7391400" cy="83312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a block design where every block is a pair of very similar units, and a coin flip decides which one gets each treatment</a:t>
            </a:r>
          </a:p>
          <a:p>
            <a:r>
              <a:rPr lang="en-US" sz="1600" i="1">
                <a:solidFill>
                  <a:srgbClr val="595959"/>
                </a:solidFill>
              </a:rPr>
              <a:t>or each subject is their own pair, receiving both treatments in a random order</a:t>
            </a:r>
          </a:p>
        </p:txBody>
      </p:sp>
      <p:pic>
        <p:nvPicPr>
          <p:cNvPr id="8" name="l8_matched_pairs.png">
            <a:extLst>
              <a:ext uri="{FF2B5EF4-FFF2-40B4-BE49-F238E27FC236}">
                <a16:creationId xmlns:a16="http://schemas.microsoft.com/office/drawing/2014/main" id="{3439A8BA-7800-029C-E47E-C6620E508DFF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000" y="2852420"/>
            <a:ext cx="10668000" cy="29210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854AE21D-EF44-4EB5-7BCB-35F9FA4BF6CF}"/>
              </a:ext>
            </a:extLst>
          </p:cNvPr>
          <p:cNvSpPr txBox="1"/>
          <p:nvPr/>
        </p:nvSpPr>
        <p:spPr>
          <a:xfrm>
            <a:off x="762000" y="599440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Before-and-after data with no random order or control group is much weaker evidence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784C6B91-DD86-0BA1-4A71-C454C38471E5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6970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9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4220BC-F401-2AC4-1387-5CA1219B7E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What does randomization buy you?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A126EC-9647-D00A-626C-6261106C11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23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4B04C0C-E47B-20AC-31E4-94DC4C4ABB5F}"/>
              </a:ext>
            </a:extLst>
          </p:cNvPr>
          <p:cNvSpPr txBox="1"/>
          <p:nvPr/>
        </p:nvSpPr>
        <p:spPr>
          <a:xfrm>
            <a:off x="508000" y="2031999"/>
            <a:ext cx="36830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Random sampling</a:t>
            </a:r>
            <a:r>
              <a:rPr lang="en-US" sz="1600">
                <a:solidFill>
                  <a:srgbClr val="000000"/>
                </a:solidFill>
              </a:rPr>
              <a:t> lets you generalize from the sample to the population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4E720C4-0587-0E87-63EC-96B92E67C00D}"/>
              </a:ext>
            </a:extLst>
          </p:cNvPr>
          <p:cNvSpPr txBox="1"/>
          <p:nvPr/>
        </p:nvSpPr>
        <p:spPr>
          <a:xfrm>
            <a:off x="508000" y="2799079"/>
            <a:ext cx="36830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Random assignment</a:t>
            </a:r>
            <a:r>
              <a:rPr lang="en-US" sz="1600">
                <a:solidFill>
                  <a:srgbClr val="000000"/>
                </a:solidFill>
              </a:rPr>
              <a:t> lets you conclude cause and effect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5592FD8-9A4E-5BB8-6D38-E386520B604D}"/>
              </a:ext>
            </a:extLst>
          </p:cNvPr>
          <p:cNvSpPr txBox="1"/>
          <p:nvPr/>
        </p:nvSpPr>
        <p:spPr>
          <a:xfrm>
            <a:off x="508000" y="3566159"/>
            <a:ext cx="3683000" cy="83312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>
                <a:solidFill>
                  <a:srgbClr val="000000"/>
                </a:solidFill>
              </a:rPr>
              <a:t>Most studies have only one. A trial on volunteers shows a vaccine works - for people like those volunteers</a:t>
            </a:r>
          </a:p>
        </p:txBody>
      </p:sp>
      <p:pic>
        <p:nvPicPr>
          <p:cNvPr id="9" name="l8_sampling_vs_assignment.png">
            <a:extLst>
              <a:ext uri="{FF2B5EF4-FFF2-40B4-BE49-F238E27FC236}">
                <a16:creationId xmlns:a16="http://schemas.microsoft.com/office/drawing/2014/main" id="{155BFB16-B6F6-9547-0319-A28383F09920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18000" y="1854200"/>
            <a:ext cx="7747000" cy="4445000"/>
          </a:xfrm>
          <a:prstGeom prst="rect">
            <a:avLst/>
          </a:prstGeom>
        </p:spPr>
      </p:pic>
      <p:sp>
        <p:nvSpPr>
          <p:cNvPr id="3" name="Title rule">
            <a:extLst>
              <a:ext uri="{FF2B5EF4-FFF2-40B4-BE49-F238E27FC236}">
                <a16:creationId xmlns:a16="http://schemas.microsoft.com/office/drawing/2014/main" id="{1784CFE6-ACD1-AC71-8278-C12730A8BD57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2827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F4CEAD-BED6-366D-B1C7-78228E9BC9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Practice: design the study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354598-F929-FBEF-0FCD-3842D9238A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24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DAF5A54-3217-1980-49D5-537B627C1769}"/>
              </a:ext>
            </a:extLst>
          </p:cNvPr>
          <p:cNvSpPr txBox="1"/>
          <p:nvPr/>
        </p:nvSpPr>
        <p:spPr>
          <a:xfrm>
            <a:off x="762000" y="184150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>
              <a:spcAft>
                <a:spcPts val="400"/>
              </a:spcAft>
            </a:pPr>
            <a:r>
              <a:rPr lang="en-US" sz="1600">
                <a:solidFill>
                  <a:srgbClr val="000000"/>
                </a:solidFill>
              </a:rPr>
              <a:t>You want to know whether texting slows how quickly a driver reacts when the car ahead brakes.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2F77CB1-5024-41A2-F8A3-6B89CE2AF015}"/>
              </a:ext>
            </a:extLst>
          </p:cNvPr>
          <p:cNvSpPr txBox="1"/>
          <p:nvPr/>
        </p:nvSpPr>
        <p:spPr>
          <a:xfrm>
            <a:off x="762000" y="231394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1.</a:t>
            </a:r>
            <a:r>
              <a:rPr lang="en-US" sz="1600">
                <a:solidFill>
                  <a:srgbClr val="000000"/>
                </a:solidFill>
              </a:rPr>
              <a:t>  What are the explanatory variable, the response variable, and the treatments?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981DEAB-C346-C1FC-6F30-AE7180E156BE}"/>
              </a:ext>
            </a:extLst>
          </p:cNvPr>
          <p:cNvSpPr txBox="1"/>
          <p:nvPr/>
        </p:nvSpPr>
        <p:spPr>
          <a:xfrm>
            <a:off x="1117600" y="2608580"/>
            <a:ext cx="103124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Explanatory: texting or not. Response: reaction time. Treatments: driving while texting, and driving only.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DFD67D3-A732-4066-5E2D-00FF4E4A5E82}"/>
              </a:ext>
            </a:extLst>
          </p:cNvPr>
          <p:cNvSpPr txBox="1"/>
          <p:nvPr/>
        </p:nvSpPr>
        <p:spPr>
          <a:xfrm>
            <a:off x="762000" y="310642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2.</a:t>
            </a:r>
            <a:r>
              <a:rPr lang="en-US" sz="1600">
                <a:solidFill>
                  <a:srgbClr val="000000"/>
                </a:solidFill>
              </a:rPr>
              <a:t>  Your partner wants to split drivers at random into a texting group and a driving-only group. Is there a better design?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C0BB92E-59CE-E9A9-9010-0BDBAD66B2A2}"/>
              </a:ext>
            </a:extLst>
          </p:cNvPr>
          <p:cNvSpPr txBox="1"/>
          <p:nvPr/>
        </p:nvSpPr>
        <p:spPr>
          <a:xfrm>
            <a:off x="1117600" y="3401059"/>
            <a:ext cx="103124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Matched pairs: each driver does both, in a random order. Reaction times vary a lot between people, so compare each driver to themselves.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EF174C9-C009-AC02-9C35-B6BD2A0EFCDD}"/>
              </a:ext>
            </a:extLst>
          </p:cNvPr>
          <p:cNvSpPr txBox="1"/>
          <p:nvPr/>
        </p:nvSpPr>
        <p:spPr>
          <a:xfrm>
            <a:off x="762000" y="414274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3.</a:t>
            </a:r>
            <a:r>
              <a:rPr lang="en-US" sz="1600">
                <a:solidFill>
                  <a:srgbClr val="000000"/>
                </a:solidFill>
              </a:rPr>
              <a:t>  Can the study be blinded?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DF3EB21-B37F-C852-F822-D27D33186934}"/>
              </a:ext>
            </a:extLst>
          </p:cNvPr>
          <p:cNvSpPr txBox="1"/>
          <p:nvPr/>
        </p:nvSpPr>
        <p:spPr>
          <a:xfrm>
            <a:off x="1117600" y="4437380"/>
            <a:ext cx="103124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Not for the drivers - they know when they are texting. But the person measuring reaction times can be kept blind.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95C9BE4-E6DE-D686-2782-B7D82B17E03C}"/>
              </a:ext>
            </a:extLst>
          </p:cNvPr>
          <p:cNvSpPr txBox="1"/>
          <p:nvPr/>
        </p:nvSpPr>
        <p:spPr>
          <a:xfrm>
            <a:off x="762000" y="604520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r"/>
            <a:r>
              <a:rPr lang="en-US" sz="1600" i="1">
                <a:solidFill>
                  <a:srgbClr val="595959"/>
                </a:solidFill>
              </a:rPr>
              <a:t>Adapted from Introductory Statistics 2e (OpenStax), Section 1.4, Try It 1.21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0C9AC535-E8E9-27B3-3BD7-A56C99861CCC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72200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9" grpId="0"/>
      <p:bldP spid="11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8FBCDC-48E3-34D7-E16A-ED185680B6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Ethics: the Facebook experiment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7D343A-B691-3B93-BC2E-2BC7ADBAE7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25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03EF544-7BC1-830E-74B1-64EDAAE169AE}"/>
              </a:ext>
            </a:extLst>
          </p:cNvPr>
          <p:cNvSpPr txBox="1"/>
          <p:nvPr/>
        </p:nvSpPr>
        <p:spPr>
          <a:xfrm>
            <a:off x="762000" y="1841499"/>
            <a:ext cx="106680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>
              <a:spcAft>
                <a:spcPts val="400"/>
              </a:spcAft>
            </a:pPr>
            <a:r>
              <a:rPr lang="en-US" sz="1600">
                <a:solidFill>
                  <a:srgbClr val="000000"/>
                </a:solidFill>
              </a:rPr>
              <a:t>For one week in January 2012, Facebook changed the News Feeds of 689,003 users: some saw fewer positive posts, some fewer negative ones. The results were published in 2014. The users never knew.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73928F0-6402-96DA-08AE-79702CFCC1E5}"/>
              </a:ext>
            </a:extLst>
          </p:cNvPr>
          <p:cNvSpPr txBox="1"/>
          <p:nvPr/>
        </p:nvSpPr>
        <p:spPr>
          <a:xfrm>
            <a:off x="762000" y="255778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1.</a:t>
            </a:r>
            <a:r>
              <a:rPr lang="en-US" sz="1600">
                <a:solidFill>
                  <a:srgbClr val="000000"/>
                </a:solidFill>
              </a:rPr>
              <a:t>  Facebook said agreeing to its Data Use Policy counted as informed consent. Do you agree?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96B0234-5946-443E-D3EF-6B904164792E}"/>
              </a:ext>
            </a:extLst>
          </p:cNvPr>
          <p:cNvSpPr txBox="1"/>
          <p:nvPr/>
        </p:nvSpPr>
        <p:spPr>
          <a:xfrm>
            <a:off x="1117600" y="2852419"/>
            <a:ext cx="103124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The journal did not: its Expression of Concern said the study may not have met the principles of informed consent and the chance to opt out.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DBAFEBF-2B58-DFE7-62AD-B002E3656906}"/>
              </a:ext>
            </a:extLst>
          </p:cNvPr>
          <p:cNvSpPr txBox="1"/>
          <p:nvPr/>
        </p:nvSpPr>
        <p:spPr>
          <a:xfrm>
            <a:off x="762000" y="359410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2.</a:t>
            </a:r>
            <a:r>
              <a:rPr lang="en-US" sz="1600">
                <a:solidFill>
                  <a:srgbClr val="000000"/>
                </a:solidFill>
              </a:rPr>
              <a:t>  Why did no ethics board stop it?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7C5EB09-8181-01D4-0AE9-A06C5E9A6703}"/>
              </a:ext>
            </a:extLst>
          </p:cNvPr>
          <p:cNvSpPr txBox="1"/>
          <p:nvPr/>
        </p:nvSpPr>
        <p:spPr>
          <a:xfrm>
            <a:off x="1117600" y="3888739"/>
            <a:ext cx="103124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Facebook, a private company, was not bound by the federal rules. Cornell's board decided its researcher was not directly involved, so it did no review.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235831A-51A3-E82F-82A5-67061AA1A22E}"/>
              </a:ext>
            </a:extLst>
          </p:cNvPr>
          <p:cNvSpPr txBox="1"/>
          <p:nvPr/>
        </p:nvSpPr>
        <p:spPr>
          <a:xfrm>
            <a:off x="762000" y="463042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3.</a:t>
            </a:r>
            <a:r>
              <a:rPr lang="en-US" sz="1600">
                <a:solidFill>
                  <a:srgbClr val="000000"/>
                </a:solidFill>
              </a:rPr>
              <a:t>  What is the lesson?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EEE7946-5EA0-8B72-F855-AEB4B6636110}"/>
              </a:ext>
            </a:extLst>
          </p:cNvPr>
          <p:cNvSpPr txBox="1"/>
          <p:nvPr/>
        </p:nvSpPr>
        <p:spPr>
          <a:xfrm>
            <a:off x="1117600" y="4925060"/>
            <a:ext cx="103124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Clicking I agree on a terms-of-service page is not informed consent - even for a well-designed experiment.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D8E5BD3-1CF7-2352-2707-2D7DBFFA6EBD}"/>
              </a:ext>
            </a:extLst>
          </p:cNvPr>
          <p:cNvSpPr txBox="1"/>
          <p:nvPr/>
        </p:nvSpPr>
        <p:spPr>
          <a:xfrm>
            <a:off x="762000" y="604520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r"/>
            <a:r>
              <a:rPr lang="en-US" sz="1600" i="1">
                <a:solidFill>
                  <a:srgbClr val="595959"/>
                </a:solidFill>
              </a:rPr>
              <a:t>Sources: Kramer, Guillory and Hancock (2014), PNAS; PNAS Editorial Expression of Concern (2014)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2A19CE9B-6143-6D05-1FF1-AF917901111D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55840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9" grpId="0"/>
      <p:bldP spid="11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Definition card">
            <a:extLst>
              <a:ext uri="{FF2B5EF4-FFF2-40B4-BE49-F238E27FC236}">
                <a16:creationId xmlns:a16="http://schemas.microsoft.com/office/drawing/2014/main" id="{7BD18FF9-F244-4051-FAD0-50D9E3F9B913}"/>
              </a:ext>
            </a:extLst>
          </p:cNvPr>
          <p:cNvSpPr/>
          <p:nvPr/>
        </p:nvSpPr>
        <p:spPr>
          <a:xfrm>
            <a:off x="762000" y="3929380"/>
            <a:ext cx="10668000" cy="558800"/>
          </a:xfrm>
          <a:prstGeom prst="roundRect">
            <a:avLst>
              <a:gd name="adj" fmla="val 12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Definition card">
            <a:extLst>
              <a:ext uri="{FF2B5EF4-FFF2-40B4-BE49-F238E27FC236}">
                <a16:creationId xmlns:a16="http://schemas.microsoft.com/office/drawing/2014/main" id="{DA368FF5-4992-376F-150A-E28A94DE7BFC}"/>
              </a:ext>
            </a:extLst>
          </p:cNvPr>
          <p:cNvSpPr/>
          <p:nvPr/>
        </p:nvSpPr>
        <p:spPr>
          <a:xfrm>
            <a:off x="762000" y="3243580"/>
            <a:ext cx="10668000" cy="558800"/>
          </a:xfrm>
          <a:prstGeom prst="roundRect">
            <a:avLst>
              <a:gd name="adj" fmla="val 12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Definition card">
            <a:extLst>
              <a:ext uri="{FF2B5EF4-FFF2-40B4-BE49-F238E27FC236}">
                <a16:creationId xmlns:a16="http://schemas.microsoft.com/office/drawing/2014/main" id="{8CF68A3F-0FA8-8ECC-D7CB-0626410EEFD1}"/>
              </a:ext>
            </a:extLst>
          </p:cNvPr>
          <p:cNvSpPr/>
          <p:nvPr/>
        </p:nvSpPr>
        <p:spPr>
          <a:xfrm>
            <a:off x="762000" y="2557780"/>
            <a:ext cx="10668000" cy="558800"/>
          </a:xfrm>
          <a:prstGeom prst="roundRect">
            <a:avLst>
              <a:gd name="adj" fmla="val 12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46A45CA-C4F4-9D9F-D8E5-C79272808B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The Belmont Report: three principles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7DE2E0-7558-C45C-187E-016F1FE283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26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E1E51A2-1D0E-5639-923C-392124A5CB29}"/>
              </a:ext>
            </a:extLst>
          </p:cNvPr>
          <p:cNvSpPr txBox="1"/>
          <p:nvPr/>
        </p:nvSpPr>
        <p:spPr>
          <a:xfrm>
            <a:off x="762000" y="1841499"/>
            <a:ext cx="106680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i="1">
                <a:solidFill>
                  <a:srgbClr val="595959"/>
                </a:solidFill>
              </a:rPr>
              <a:t>Why the rules exist: in the U.S. Public Health Service syphilis study at Tuskegee (1932 to 1972), hundreds of Black men with syphilis were left untreated without informed consent. The Belmont Report (1979) followed.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A200ADF-E689-6E6A-E87D-5EB74130530C}"/>
              </a:ext>
            </a:extLst>
          </p:cNvPr>
          <p:cNvSpPr txBox="1"/>
          <p:nvPr/>
        </p:nvSpPr>
        <p:spPr>
          <a:xfrm>
            <a:off x="914400" y="2659380"/>
            <a:ext cx="30226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b="1">
                <a:solidFill>
                  <a:srgbClr val="C00000"/>
                </a:solidFill>
              </a:rPr>
              <a:t>respect for persons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50B713D-5F8F-97DD-C206-B99F1CEAC80A}"/>
              </a:ext>
            </a:extLst>
          </p:cNvPr>
          <p:cNvSpPr txBox="1"/>
          <p:nvPr/>
        </p:nvSpPr>
        <p:spPr>
          <a:xfrm>
            <a:off x="4013200" y="2659380"/>
            <a:ext cx="72644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>
                <a:solidFill>
                  <a:srgbClr val="000000"/>
                </a:solidFill>
              </a:rPr>
              <a:t>people decide for themselves whether to take part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B51F8F8-2547-3F26-8823-D9E427FFEBB9}"/>
              </a:ext>
            </a:extLst>
          </p:cNvPr>
          <p:cNvSpPr txBox="1"/>
          <p:nvPr/>
        </p:nvSpPr>
        <p:spPr>
          <a:xfrm>
            <a:off x="914400" y="3345180"/>
            <a:ext cx="30226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b="1">
                <a:solidFill>
                  <a:srgbClr val="C00000"/>
                </a:solidFill>
              </a:rPr>
              <a:t>beneficence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640F527-F153-AAE7-3F71-CB7DAEB38160}"/>
              </a:ext>
            </a:extLst>
          </p:cNvPr>
          <p:cNvSpPr txBox="1"/>
          <p:nvPr/>
        </p:nvSpPr>
        <p:spPr>
          <a:xfrm>
            <a:off x="4013200" y="3345180"/>
            <a:ext cx="72644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>
                <a:solidFill>
                  <a:srgbClr val="000000"/>
                </a:solidFill>
              </a:rPr>
              <a:t>do no harm: maximize the possible benefits and minimize the possible risks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2E5DBA7-1041-887E-1AA2-424094C359F1}"/>
              </a:ext>
            </a:extLst>
          </p:cNvPr>
          <p:cNvSpPr txBox="1"/>
          <p:nvPr/>
        </p:nvSpPr>
        <p:spPr>
          <a:xfrm>
            <a:off x="914400" y="4030980"/>
            <a:ext cx="30226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b="1">
                <a:solidFill>
                  <a:srgbClr val="C00000"/>
                </a:solidFill>
              </a:rPr>
              <a:t>justice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EB11E9C-DC32-C8BD-25C2-03DB4FF2BA76}"/>
              </a:ext>
            </a:extLst>
          </p:cNvPr>
          <p:cNvSpPr txBox="1"/>
          <p:nvPr/>
        </p:nvSpPr>
        <p:spPr>
          <a:xfrm>
            <a:off x="4013200" y="4030980"/>
            <a:ext cx="72644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>
                <a:solidFill>
                  <a:srgbClr val="000000"/>
                </a:solidFill>
              </a:rPr>
              <a:t>the burdens and benefits of research are shared fairly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102D1C2D-D027-E787-DF9B-D90AB9F6F919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32350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10" grpId="0"/>
      <p:bldP spid="13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Definition card">
            <a:extLst>
              <a:ext uri="{FF2B5EF4-FFF2-40B4-BE49-F238E27FC236}">
                <a16:creationId xmlns:a16="http://schemas.microsoft.com/office/drawing/2014/main" id="{8A4F3FCB-C7A9-82F3-8E10-9339C32AE6DF}"/>
              </a:ext>
            </a:extLst>
          </p:cNvPr>
          <p:cNvSpPr/>
          <p:nvPr/>
        </p:nvSpPr>
        <p:spPr>
          <a:xfrm>
            <a:off x="762000" y="3751580"/>
            <a:ext cx="10668000" cy="828040"/>
          </a:xfrm>
          <a:prstGeom prst="roundRect">
            <a:avLst>
              <a:gd name="adj" fmla="val 12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Definition card">
            <a:extLst>
              <a:ext uri="{FF2B5EF4-FFF2-40B4-BE49-F238E27FC236}">
                <a16:creationId xmlns:a16="http://schemas.microsoft.com/office/drawing/2014/main" id="{62506592-1FEC-CE15-6D30-62EAE03D82AD}"/>
              </a:ext>
            </a:extLst>
          </p:cNvPr>
          <p:cNvSpPr/>
          <p:nvPr/>
        </p:nvSpPr>
        <p:spPr>
          <a:xfrm>
            <a:off x="762000" y="2796540"/>
            <a:ext cx="10668000" cy="828040"/>
          </a:xfrm>
          <a:prstGeom prst="roundRect">
            <a:avLst>
              <a:gd name="adj" fmla="val 12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Definition card">
            <a:extLst>
              <a:ext uri="{FF2B5EF4-FFF2-40B4-BE49-F238E27FC236}">
                <a16:creationId xmlns:a16="http://schemas.microsoft.com/office/drawing/2014/main" id="{62CB8193-5F73-50AC-3051-4D642866D20A}"/>
              </a:ext>
            </a:extLst>
          </p:cNvPr>
          <p:cNvSpPr/>
          <p:nvPr/>
        </p:nvSpPr>
        <p:spPr>
          <a:xfrm>
            <a:off x="762000" y="1841500"/>
            <a:ext cx="10668000" cy="828040"/>
          </a:xfrm>
          <a:prstGeom prst="roundRect">
            <a:avLst>
              <a:gd name="adj" fmla="val 12000"/>
            </a:avLst>
          </a:prstGeom>
          <a:solidFill>
            <a:srgbClr val="F2F6FC"/>
          </a:solidFill>
          <a:ln w="158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4CC5247-8B4B-54C8-3455-0EB32B2992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Research ethics today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598EAA-E7F8-FC9B-8A28-8101A22738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27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38AF89E-601A-B5F9-2D65-135EBA0406FB}"/>
              </a:ext>
            </a:extLst>
          </p:cNvPr>
          <p:cNvSpPr txBox="1"/>
          <p:nvPr/>
        </p:nvSpPr>
        <p:spPr>
          <a:xfrm>
            <a:off x="914400" y="1943100"/>
            <a:ext cx="30226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b="1">
                <a:solidFill>
                  <a:srgbClr val="C00000"/>
                </a:solidFill>
              </a:rPr>
              <a:t>informed consent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C2C5DDB-F229-9070-C88A-A2681B8F3FF5}"/>
              </a:ext>
            </a:extLst>
          </p:cNvPr>
          <p:cNvSpPr txBox="1"/>
          <p:nvPr/>
        </p:nvSpPr>
        <p:spPr>
          <a:xfrm>
            <a:off x="4013200" y="1943099"/>
            <a:ext cx="7264400" cy="6502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>
                <a:solidFill>
                  <a:srgbClr val="000000"/>
                </a:solidFill>
              </a:rPr>
              <a:t>subjects are told the purpose, procedures and risks in advance, and can refuse or quit at any time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DBB26A7-0561-F122-F164-A6F6ADA86702}"/>
              </a:ext>
            </a:extLst>
          </p:cNvPr>
          <p:cNvSpPr txBox="1"/>
          <p:nvPr/>
        </p:nvSpPr>
        <p:spPr>
          <a:xfrm>
            <a:off x="914400" y="2898140"/>
            <a:ext cx="3022600" cy="381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b="1">
                <a:solidFill>
                  <a:srgbClr val="C00000"/>
                </a:solidFill>
              </a:rPr>
              <a:t>confidentiality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C2E6370-67AB-0ED8-7D3B-CC849A8AFECD}"/>
              </a:ext>
            </a:extLst>
          </p:cNvPr>
          <p:cNvSpPr txBox="1"/>
          <p:nvPr/>
        </p:nvSpPr>
        <p:spPr>
          <a:xfrm>
            <a:off x="4013200" y="2898139"/>
            <a:ext cx="7264400" cy="6502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>
                <a:solidFill>
                  <a:srgbClr val="000000"/>
                </a:solidFill>
              </a:rPr>
              <a:t>information about individuals is protected and never released in a form that identifies them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B12902B-5B96-ABFE-050C-EECF749813D9}"/>
              </a:ext>
            </a:extLst>
          </p:cNvPr>
          <p:cNvSpPr txBox="1"/>
          <p:nvPr/>
        </p:nvSpPr>
        <p:spPr>
          <a:xfrm>
            <a:off x="914400" y="3853179"/>
            <a:ext cx="3022600" cy="6502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b="1">
                <a:solidFill>
                  <a:srgbClr val="C00000"/>
                </a:solidFill>
              </a:rPr>
              <a:t>Institutional Review Board (IRB)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8934950-E37B-7F6C-1D87-713CC1B80B52}"/>
              </a:ext>
            </a:extLst>
          </p:cNvPr>
          <p:cNvSpPr txBox="1"/>
          <p:nvPr/>
        </p:nvSpPr>
        <p:spPr>
          <a:xfrm>
            <a:off x="4013200" y="3853179"/>
            <a:ext cx="7264400" cy="6502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>
                <a:solidFill>
                  <a:srgbClr val="000000"/>
                </a:solidFill>
              </a:rPr>
              <a:t>reviews and approves studies on human subjects before they start</a:t>
            </a:r>
          </a:p>
          <a:p>
            <a:r>
              <a:rPr lang="en-US" i="1">
                <a:solidFill>
                  <a:srgbClr val="595959"/>
                </a:solidFill>
              </a:rPr>
              <a:t>at UI, through the Office of Research Assurances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18159BBA-B771-78A5-3930-056EC59B3DC2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28056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9" grpId="0"/>
      <p:bldP spid="12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EE9C50-2180-9A09-7608-C08B3B78FF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Ethics: honest data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03678C-7C08-89CA-E3B2-CB2008D7B3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28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B8108D8-C022-6582-B6B8-EB2AE42F8E82}"/>
              </a:ext>
            </a:extLst>
          </p:cNvPr>
          <p:cNvSpPr txBox="1"/>
          <p:nvPr/>
        </p:nvSpPr>
        <p:spPr>
          <a:xfrm>
            <a:off x="762000" y="1841499"/>
            <a:ext cx="106680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>
              <a:spcAft>
                <a:spcPts val="400"/>
              </a:spcAft>
            </a:pPr>
            <a:r>
              <a:rPr lang="en-US" sz="1600">
                <a:solidFill>
                  <a:srgbClr val="000000"/>
                </a:solidFill>
              </a:rPr>
              <a:t>Ethics also means honest data. An investigation of psychologist Diederik Stapel found he had invented data: it tainted more than 55 of his papers and 10 PhD dissertations he supervised. A researcher is surveying households in a community: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ACC0BD2-74EB-8BD3-2FA2-EDF53C0DB90C}"/>
              </a:ext>
            </a:extLst>
          </p:cNvPr>
          <p:cNvSpPr txBox="1"/>
          <p:nvPr/>
        </p:nvSpPr>
        <p:spPr>
          <a:xfrm>
            <a:off x="762000" y="255778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1.</a:t>
            </a:r>
            <a:r>
              <a:rPr lang="en-US" sz="1600">
                <a:solidFill>
                  <a:srgbClr val="000000"/>
                </a:solidFill>
              </a:rPr>
              <a:t>  They choose a block where they already know many of the neighbors. What is the problem?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D3A2E9A-6FFD-CC4B-0BB8-6E3EE5F60F15}"/>
              </a:ext>
            </a:extLst>
          </p:cNvPr>
          <p:cNvSpPr txBox="1"/>
          <p:nvPr/>
        </p:nvSpPr>
        <p:spPr>
          <a:xfrm>
            <a:off x="1117600" y="2852420"/>
            <a:ext cx="103124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A convenience sample - it is biased, and claiming it represents the community is misleading.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761BC9F-8DF7-4ADB-68EF-D1A416279CEB}"/>
              </a:ext>
            </a:extLst>
          </p:cNvPr>
          <p:cNvSpPr txBox="1"/>
          <p:nvPr/>
        </p:nvSpPr>
        <p:spPr>
          <a:xfrm>
            <a:off x="762000" y="335026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2.</a:t>
            </a:r>
            <a:r>
              <a:rPr lang="en-US" sz="1600">
                <a:solidFill>
                  <a:srgbClr val="000000"/>
                </a:solidFill>
              </a:rPr>
              <a:t>  Nobody is home at four houses, so they skip them and never go back. What is the problem?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1EC7D30-25A5-81AE-2894-7068B4D9B330}"/>
              </a:ext>
            </a:extLst>
          </p:cNvPr>
          <p:cNvSpPr txBox="1"/>
          <p:nvPr/>
        </p:nvSpPr>
        <p:spPr>
          <a:xfrm>
            <a:off x="1117600" y="3644900"/>
            <a:ext cx="103124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Nonresponse - people who are not home, such as working families, may differ from the people who are.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0AAC60D-581D-7FA4-26CF-042E9E2B03F5}"/>
              </a:ext>
            </a:extLst>
          </p:cNvPr>
          <p:cNvSpPr txBox="1"/>
          <p:nvPr/>
        </p:nvSpPr>
        <p:spPr>
          <a:xfrm>
            <a:off x="762000" y="414274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3.</a:t>
            </a:r>
            <a:r>
              <a:rPr lang="en-US" sz="1600">
                <a:solidFill>
                  <a:srgbClr val="000000"/>
                </a:solidFill>
              </a:rPr>
              <a:t>  Running late, they fill in four forms with answers copied from neighbors. What is the problem?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8CD2DD0-5481-A2A7-66F2-84DB6CD15D72}"/>
              </a:ext>
            </a:extLst>
          </p:cNvPr>
          <p:cNvSpPr txBox="1"/>
          <p:nvPr/>
        </p:nvSpPr>
        <p:spPr>
          <a:xfrm>
            <a:off x="1117600" y="4437380"/>
            <a:ext cx="103124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Fabricated data. It is never acceptable, even when the answers look realistic.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CDC1D6A-F2F5-13CF-ACE8-FA96E392EA08}"/>
              </a:ext>
            </a:extLst>
          </p:cNvPr>
          <p:cNvSpPr txBox="1"/>
          <p:nvPr/>
        </p:nvSpPr>
        <p:spPr>
          <a:xfrm>
            <a:off x="762000" y="604520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algn="r"/>
            <a:r>
              <a:rPr lang="en-US" sz="1600" i="1">
                <a:solidFill>
                  <a:srgbClr val="595959"/>
                </a:solidFill>
              </a:rPr>
              <a:t>Source: Introductory Statistics 2e (OpenStax), Section 1.4 and Example 1.22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CD14A3EC-A9EF-F0CA-9E7C-BE87A5742DBA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144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9" grpId="0"/>
      <p:bldP spid="11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17AB41-6AD1-9EF2-7F95-46A9043996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>
                <a:solidFill>
                  <a:srgbClr val="1F3864"/>
                </a:solidFill>
              </a:rPr>
              <a:t>Practice: what design, and can it show cause?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D44AE5-98B5-B840-6B8A-D345C7C2E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1DD-F10A-4B1C-963A-0ABBB4865886}" type="slidenum">
              <a:rPr lang="en-US" sz="1600" smtClean="0"/>
              <a:t>29</a:t>
            </a:fld>
            <a:endParaRPr lang="en-US" sz="16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34AAE17-27CE-D7A3-C663-11BB48ACBF5B}"/>
              </a:ext>
            </a:extLst>
          </p:cNvPr>
          <p:cNvSpPr txBox="1"/>
          <p:nvPr/>
        </p:nvSpPr>
        <p:spPr>
          <a:xfrm>
            <a:off x="762000" y="184150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1.</a:t>
            </a:r>
            <a:r>
              <a:rPr lang="en-US" sz="1600">
                <a:solidFill>
                  <a:srgbClr val="000000"/>
                </a:solidFill>
              </a:rPr>
              <a:t>  A survey finds that people who own dogs have lower blood pressure than people who do not.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410A0F8-5E1E-9A1D-B64C-50827EE6C9B2}"/>
              </a:ext>
            </a:extLst>
          </p:cNvPr>
          <p:cNvSpPr txBox="1"/>
          <p:nvPr/>
        </p:nvSpPr>
        <p:spPr>
          <a:xfrm>
            <a:off x="1117600" y="2136140"/>
            <a:ext cx="103124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Observational - nobody was assigned a dog. Active people may both own dogs and have lower blood pressure.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7D3CD95-D52E-5227-B663-7C0A72677B6E}"/>
              </a:ext>
            </a:extLst>
          </p:cNvPr>
          <p:cNvSpPr txBox="1"/>
          <p:nvPr/>
        </p:nvSpPr>
        <p:spPr>
          <a:xfrm>
            <a:off x="762000" y="263398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2.</a:t>
            </a:r>
            <a:r>
              <a:rPr lang="en-US" sz="1600">
                <a:solidFill>
                  <a:srgbClr val="000000"/>
                </a:solidFill>
              </a:rPr>
              <a:t>  60 volunteers with insomnia are randomly split: 30 get melatonin, 30 get an identical-looking placebo.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CE3E601-601D-C6B1-8265-C079CB8C9269}"/>
              </a:ext>
            </a:extLst>
          </p:cNvPr>
          <p:cNvSpPr txBox="1"/>
          <p:nvPr/>
        </p:nvSpPr>
        <p:spPr>
          <a:xfrm>
            <a:off x="1117600" y="2928620"/>
            <a:ext cx="103124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Completely randomized experiment - it can show cause, for people like these volunteers.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B002BF4-8037-2F73-E27A-7A453477E389}"/>
              </a:ext>
            </a:extLst>
          </p:cNvPr>
          <p:cNvSpPr txBox="1"/>
          <p:nvPr/>
        </p:nvSpPr>
        <p:spPr>
          <a:xfrm>
            <a:off x="762000" y="3426460"/>
            <a:ext cx="106680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3.</a:t>
            </a:r>
            <a:r>
              <a:rPr lang="en-US" sz="1600">
                <a:solidFill>
                  <a:srgbClr val="000000"/>
                </a:solidFill>
              </a:rPr>
              <a:t>  In each of 4 greenhouses, tomato plants are randomly assigned to fertilizer A or fertilizer B.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0F3B3E3-D27C-E008-C93E-ED70BD2A4754}"/>
              </a:ext>
            </a:extLst>
          </p:cNvPr>
          <p:cNvSpPr txBox="1"/>
          <p:nvPr/>
        </p:nvSpPr>
        <p:spPr>
          <a:xfrm>
            <a:off x="1117600" y="3721100"/>
            <a:ext cx="103124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Randomized block design, with greenhouses as the blocks - it can show cause.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0AB4AB3-AF76-E343-8E9D-F510689F4DA5}"/>
              </a:ext>
            </a:extLst>
          </p:cNvPr>
          <p:cNvSpPr txBox="1"/>
          <p:nvPr/>
        </p:nvSpPr>
        <p:spPr>
          <a:xfrm>
            <a:off x="762000" y="4218939"/>
            <a:ext cx="10668000" cy="58928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 marL="304800" indent="-304800"/>
            <a:r>
              <a:rPr lang="en-US" sz="1600" b="1">
                <a:solidFill>
                  <a:srgbClr val="C00000"/>
                </a:solidFill>
              </a:rPr>
              <a:t>4.</a:t>
            </a:r>
            <a:r>
              <a:rPr lang="en-US" sz="1600">
                <a:solidFill>
                  <a:srgbClr val="000000"/>
                </a:solidFill>
              </a:rPr>
              <a:t>  Subjects complete mazes wearing a floral-scented mask and an unscented mask, in a random order. Can the subjects be blinded?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08CA5C4-59E4-103B-3E2C-908EA083FB6B}"/>
              </a:ext>
            </a:extLst>
          </p:cNvPr>
          <p:cNvSpPr txBox="1"/>
          <p:nvPr/>
        </p:nvSpPr>
        <p:spPr>
          <a:xfrm>
            <a:off x="1117600" y="4757420"/>
            <a:ext cx="10312400" cy="34544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r>
              <a:rPr lang="en-US" sz="1600" b="1">
                <a:solidFill>
                  <a:srgbClr val="C00000"/>
                </a:solidFill>
              </a:rPr>
              <a:t>No - they can smell the flowers. But the researchers timing the mazes can be blinded. (Textbook Example 1.20)</a:t>
            </a:r>
          </a:p>
        </p:txBody>
      </p:sp>
      <p:sp>
        <p:nvSpPr>
          <p:cNvPr id="3" name="Title rule">
            <a:extLst>
              <a:ext uri="{FF2B5EF4-FFF2-40B4-BE49-F238E27FC236}">
                <a16:creationId xmlns:a16="http://schemas.microsoft.com/office/drawing/2014/main" id="{B469CAAB-2B69-6863-7C28-0C5959E5734B}"/>
              </a:ext>
            </a:extLst>
          </p:cNvPr>
          <p:cNvSpPr/>
          <p:nvPr/>
        </p:nvSpPr>
        <p:spPr>
          <a:xfrm>
            <a:off x="838200" y="1600200"/>
            <a:ext cx="10515600" cy="38100"/>
          </a:xfrm>
          <a:prstGeom prst="rect">
            <a:avLst/>
          </a:prstGeom>
          <a:solidFill>
            <a:srgbClr val="4472C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60806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7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8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9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0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15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16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17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18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23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24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25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26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3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from="(-#ppt_w/2)" to="(#ppt_x)" calcmode="lin" valueType="num">
                                      <p:cBhvr>
                                        <p:cTn id="31" dur="6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  <p:anim from="0" to="-1.0" calcmode="lin" valueType="num">
                                      <p:cBhvr>
                                        <p:cTn id="32" dur="200" decel="5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xshear</p:attrName>
                                        </p:attrNameLst>
                                      </p:cBhvr>
                                    </p:anim>
                                    <p:animScale>
                                      <p:cBhvr>
                                        <p:cTn id="33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</p:cBhvr>
                                      <p:from x="100000" y="100000"/>
                                      <p:to x="80000" y="100000"/>
                                    </p:animScale>
                                    <p:anim by="(#ppt_h/3+#ppt_w*0.1)" calcmode="lin" valueType="num">
                                      <p:cBhvr additive="sum">
                                        <p:cTn id="34" dur="200" decel="100000" autoRev="1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8" grpId="0"/>
      <p:bldP spid="10" grpId="0"/>
      <p:bldP spid="12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2185</TotalTime>
  <Words>3264</Words>
  <Application>Microsoft Office PowerPoint</Application>
  <PresentationFormat>Widescreen</PresentationFormat>
  <Paragraphs>262</Paragraphs>
  <Slides>29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3" baseType="lpstr">
      <vt:lpstr>Arial</vt:lpstr>
      <vt:lpstr>Calibri</vt:lpstr>
      <vt:lpstr>Calibri Light</vt:lpstr>
      <vt:lpstr>Office Theme</vt:lpstr>
      <vt:lpstr>Lecture 10 Experiments and Causation</vt:lpstr>
      <vt:lpstr>Nonresponse: when nobody picks up</vt:lpstr>
      <vt:lpstr>Question wording: same law, two names</vt:lpstr>
      <vt:lpstr>Practice: name the sampling design</vt:lpstr>
      <vt:lpstr>Your course project: Part 3</vt:lpstr>
      <vt:lpstr>Part 2 Experiments and Causation</vt:lpstr>
      <vt:lpstr>Observational studies and experiments</vt:lpstr>
      <vt:lpstr>Association is not causation</vt:lpstr>
      <vt:lpstr>Hormone therapy and heart disease</vt:lpstr>
      <vt:lpstr>Coffee and the risk of death</vt:lpstr>
      <vt:lpstr>Can we claim cause without an experiment?</vt:lpstr>
      <vt:lpstr>Back to light at night and the heart</vt:lpstr>
      <vt:lpstr>Light at night: how strong is the evidence?</vt:lpstr>
      <vt:lpstr>The language of experiments</vt:lpstr>
      <vt:lpstr>Example: the VITAL trial</vt:lpstr>
      <vt:lpstr>Principles of experimental design</vt:lpstr>
      <vt:lpstr>Placebos and blinding</vt:lpstr>
      <vt:lpstr>The 2020 Pfizer-BioNTech vaccine trial</vt:lpstr>
      <vt:lpstr>A placebo surgery</vt:lpstr>
      <vt:lpstr>Completely randomized design</vt:lpstr>
      <vt:lpstr>Randomized block design</vt:lpstr>
      <vt:lpstr>Matched pairs design</vt:lpstr>
      <vt:lpstr>What does randomization buy you?</vt:lpstr>
      <vt:lpstr>Practice: design the study</vt:lpstr>
      <vt:lpstr>Ethics: the Facebook experiment</vt:lpstr>
      <vt:lpstr>The Belmont Report: three principles</vt:lpstr>
      <vt:lpstr>Research ethics today</vt:lpstr>
      <vt:lpstr>Ethics: honest data</vt:lpstr>
      <vt:lpstr>Practice: what design, and can it show cause?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Jarred Kvamme</dc:creator>
  <cp:lastModifiedBy>Jarred Kvamme</cp:lastModifiedBy>
  <cp:revision>358</cp:revision>
  <dcterms:created xsi:type="dcterms:W3CDTF">2023-08-05T23:57:41Z</dcterms:created>
  <dcterms:modified xsi:type="dcterms:W3CDTF">2026-09-22T22:23:12Z</dcterms:modified>
</cp:coreProperties>
</file>