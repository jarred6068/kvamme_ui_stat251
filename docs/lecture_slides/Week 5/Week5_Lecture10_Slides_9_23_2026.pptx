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56" r:id="rId3"/>
    <p:sldId id="257" r:id="rId4"/>
    <p:sldId id="315" r:id="rId5"/>
    <p:sldId id="287" r:id="rId6"/>
    <p:sldId id="288" r:id="rId7"/>
    <p:sldId id="289" r:id="rId8"/>
    <p:sldId id="290" r:id="rId9"/>
    <p:sldId id="291" r:id="rId10"/>
    <p:sldId id="314" r:id="rId11"/>
    <p:sldId id="292" r:id="rId12"/>
    <p:sldId id="310" r:id="rId13"/>
    <p:sldId id="311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4" r:id="rId25"/>
    <p:sldId id="305" r:id="rId26"/>
    <p:sldId id="306" r:id="rId27"/>
    <p:sldId id="307" r:id="rId28"/>
    <p:sldId id="30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0292-D21D-628F-C2B6-D90B9686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558800"/>
          </a:xfrm>
        </p:spPr>
        <p:txBody>
          <a:bodyPr anchor="ctr">
            <a:noAutofit/>
          </a:bodyPr>
          <a:lstStyle/>
          <a:p>
            <a:r>
              <a:rPr lang="en-US" sz="3200">
                <a:solidFill>
                  <a:srgbClr val="1F3864"/>
                </a:solidFill>
              </a:rPr>
              <a:t>Exam 1 results</a:t>
            </a:r>
          </a:p>
        </p:txBody>
      </p:sp>
      <p:pic>
        <p:nvPicPr>
          <p:cNvPr id="5" name="exam1_score_histogram.png">
            <a:extLst>
              <a:ext uri="{FF2B5EF4-FFF2-40B4-BE49-F238E27FC236}">
                <a16:creationId xmlns:a16="http://schemas.microsoft.com/office/drawing/2014/main" id="{291EB172-1D5E-D17F-5E3F-B22BD3C76D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3" y="711200"/>
            <a:ext cx="10075333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3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10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Experiments and Causation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</a:t>
            </a:r>
            <a:r>
              <a:rPr lang="en-US" b="1">
                <a:solidFill>
                  <a:srgbClr val="000000"/>
                </a:solidFill>
              </a:rPr>
              <a:t>   What is a stratified random sample?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Split the population into groups of similar units (strata), then take a separate SRS inside every stratum.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</a:t>
            </a:r>
            <a:r>
              <a:rPr lang="en-US" b="1">
                <a:solidFill>
                  <a:srgbClr val="000000"/>
                </a:solidFill>
              </a:rPr>
              <a:t>   What is a cluster sample?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Take an SRS of naturally occurring groups (clusters), then measure every unit in the clusters chosen.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</a:t>
            </a:r>
            <a:r>
              <a:rPr lang="en-US" b="1">
                <a:solidFill>
                  <a:srgbClr val="000000"/>
                </a:solidFill>
              </a:rPr>
              <a:t>   What is a two-stage cluster sample?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Stage 1: an SRS of clusters. Stage 2: an SRS of units inside each chosen cluster, not all of them.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1363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</a:t>
            </a:r>
            <a:r>
              <a:rPr lang="en-US" b="1">
                <a:solidFill>
                  <a:srgbClr val="000000"/>
                </a:solidFill>
              </a:rPr>
              <a:t>   What is undercoverage?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sampling frame leaves part of the population out, so those units cannot be chosen at all.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5</a:t>
            </a:r>
            <a:r>
              <a:rPr lang="en-US" b="1">
                <a:solidFill>
                  <a:srgbClr val="000000"/>
                </a:solidFill>
              </a:rPr>
              <a:t>   What is nonresponse?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People who were chosen cannot be reached, or they refuse to answer.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6</a:t>
            </a:r>
            <a:r>
              <a:rPr lang="en-US" b="1">
                <a:solidFill>
                  <a:srgbClr val="000000"/>
                </a:solidFill>
              </a:rPr>
              <a:t>   What is response bias?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answers themselves are wrong - leading questions, sensitive topics, or wanting to please the interviewer.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7346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00CE20B6-38A7-15FC-A780-9236ED5B251A}"/>
              </a:ext>
            </a:extLst>
          </p:cNvPr>
          <p:cNvSpPr/>
          <p:nvPr/>
        </p:nvSpPr>
        <p:spPr>
          <a:xfrm>
            <a:off x="635000" y="1752600"/>
            <a:ext cx="10922000" cy="22860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63740-143A-20EF-58DF-B74D9BEE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Your course project: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6C05-48F2-7DC9-0EF2-19875F895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Part 3</a:t>
            </a:r>
            <a:r>
              <a:rPr lang="en-US" sz="1600"/>
              <a:t> asks you to draw a sample of 20 to 30 observations from your dataset</a:t>
            </a:r>
          </a:p>
          <a:p>
            <a:r>
              <a:rPr lang="en-US" sz="1600"/>
              <a:t>Pick a design: simple random, systematic, stratified or cluster sampling</a:t>
            </a:r>
          </a:p>
          <a:p>
            <a:r>
              <a:rPr lang="en-US" sz="1600"/>
              <a:t>Say exactly how you drew it - the method, n, and the tool - so someone else could repeat it</a:t>
            </a:r>
          </a:p>
          <a:p>
            <a:r>
              <a:rPr lang="en-US" sz="1600"/>
              <a:t>Justify the choice for YOUR data: is there a natural group to stratify on? natural clusters?</a:t>
            </a:r>
          </a:p>
          <a:p>
            <a:r>
              <a:rPr lang="en-US" sz="1600"/>
              <a:t>Name any bias your method could introduce</a:t>
            </a:r>
          </a:p>
          <a:p>
            <a:r>
              <a:rPr lang="en-US" sz="1600" b="1">
                <a:solidFill>
                  <a:srgbClr val="C00000"/>
                </a:solidFill>
              </a:rPr>
              <a:t>Steps 1 to 4</a:t>
            </a:r>
            <a:r>
              <a:rPr lang="en-US" sz="1600"/>
              <a:t> of the project can be started as soon as this lecture is finished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9CF3-35F0-165A-7204-570EF649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14587468-C3E1-89FF-09F9-A150441DB07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8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5552-A4BF-1448-5C51-D2350D33A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Part 2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Experiments and Causation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0AEAD4-41B8-DB7F-DFB2-FA8D0099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2052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BA60B263-976A-5CE5-8272-06ECCD1782D2}"/>
              </a:ext>
            </a:extLst>
          </p:cNvPr>
          <p:cNvSpPr/>
          <p:nvPr/>
        </p:nvSpPr>
        <p:spPr>
          <a:xfrm>
            <a:off x="762000" y="449072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73797005-D6BA-BE76-B18D-7DB36CA669FC}"/>
              </a:ext>
            </a:extLst>
          </p:cNvPr>
          <p:cNvSpPr/>
          <p:nvPr/>
        </p:nvSpPr>
        <p:spPr>
          <a:xfrm>
            <a:off x="762000" y="35864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069840F7-0E13-9381-8D34-7E063722E17D}"/>
              </a:ext>
            </a:extLst>
          </p:cNvPr>
          <p:cNvSpPr/>
          <p:nvPr/>
        </p:nvSpPr>
        <p:spPr>
          <a:xfrm>
            <a:off x="762000" y="26822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E51AF47B-0951-E409-02DA-7B830ECEC321}"/>
              </a:ext>
            </a:extLst>
          </p:cNvPr>
          <p:cNvSpPr/>
          <p:nvPr/>
        </p:nvSpPr>
        <p:spPr>
          <a:xfrm>
            <a:off x="762000" y="17780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A2C48-23E4-4878-293C-39723AFE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Observational studies and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904D-CB03-8A6F-22D8-860FA141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B3D1F-9CFB-F8B7-A4BB-31E30E9ABF20}"/>
              </a:ext>
            </a:extLst>
          </p:cNvPr>
          <p:cNvSpPr txBox="1"/>
          <p:nvPr/>
        </p:nvSpPr>
        <p:spPr>
          <a:xfrm>
            <a:off x="914400" y="18796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response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D33E3-5943-711A-B3A7-4F7C76D2D91F}"/>
              </a:ext>
            </a:extLst>
          </p:cNvPr>
          <p:cNvSpPr txBox="1"/>
          <p:nvPr/>
        </p:nvSpPr>
        <p:spPr>
          <a:xfrm>
            <a:off x="4013200" y="18795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outcome we measure</a:t>
            </a:r>
          </a:p>
          <a:p>
            <a:r>
              <a:rPr lang="en-US" i="1">
                <a:solidFill>
                  <a:srgbClr val="595959"/>
                </a:solidFill>
              </a:rPr>
              <a:t>heart disease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1B318-B44F-515D-1570-E10C21509C1A}"/>
              </a:ext>
            </a:extLst>
          </p:cNvPr>
          <p:cNvSpPr txBox="1"/>
          <p:nvPr/>
        </p:nvSpPr>
        <p:spPr>
          <a:xfrm>
            <a:off x="914400" y="27838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explanatory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F129D-9E98-47B7-99C4-3797F7604661}"/>
              </a:ext>
            </a:extLst>
          </p:cNvPr>
          <p:cNvSpPr txBox="1"/>
          <p:nvPr/>
        </p:nvSpPr>
        <p:spPr>
          <a:xfrm>
            <a:off x="4013200" y="27838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variable we think explains or influences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hormone therapy (yes or no)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5F996-D838-8944-A200-71D57A7B9D53}"/>
              </a:ext>
            </a:extLst>
          </p:cNvPr>
          <p:cNvSpPr txBox="1"/>
          <p:nvPr/>
        </p:nvSpPr>
        <p:spPr>
          <a:xfrm>
            <a:off x="914400" y="36880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observational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DA115-0F9C-A8C1-A8EF-9F1BE5A2D48E}"/>
              </a:ext>
            </a:extLst>
          </p:cNvPr>
          <p:cNvSpPr txBox="1"/>
          <p:nvPr/>
        </p:nvSpPr>
        <p:spPr>
          <a:xfrm>
            <a:off x="4013200" y="36880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observe individuals and measure variables, without influencing anything</a:t>
            </a:r>
          </a:p>
          <a:p>
            <a:r>
              <a:rPr lang="en-US" i="1">
                <a:solidFill>
                  <a:srgbClr val="595959"/>
                </a:solidFill>
              </a:rPr>
              <a:t>survey women about the hormones they chose to take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02C101-798C-B303-319A-F4AB6DA42C79}"/>
              </a:ext>
            </a:extLst>
          </p:cNvPr>
          <p:cNvSpPr txBox="1"/>
          <p:nvPr/>
        </p:nvSpPr>
        <p:spPr>
          <a:xfrm>
            <a:off x="914400" y="45923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91DFC-44B2-46A4-A39A-1243F86B104A}"/>
              </a:ext>
            </a:extLst>
          </p:cNvPr>
          <p:cNvSpPr txBox="1"/>
          <p:nvPr/>
        </p:nvSpPr>
        <p:spPr>
          <a:xfrm>
            <a:off x="4013200" y="459231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researcher deliberately assigns treatments, then measures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randomly assign women to hormones or a placebo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15352-59F5-E396-6639-A433A1F79951}"/>
              </a:ext>
            </a:extLst>
          </p:cNvPr>
          <p:cNvSpPr txBox="1"/>
          <p:nvPr/>
        </p:nvSpPr>
        <p:spPr>
          <a:xfrm>
            <a:off x="762000" y="54203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Ask: who decided which group each unit ended up in? The units themselves -&gt; observational. The researcher -&gt; experiment.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7F0848F-4234-6352-776D-6A856730F93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6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F846-6815-E010-8F4E-0E679E84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Association is not causation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66D85-78FC-A3ED-348A-07D5FD0B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88A43-C5A7-802F-BDBD-CCE30CC783EF}"/>
              </a:ext>
            </a:extLst>
          </p:cNvPr>
          <p:cNvSpPr txBox="1"/>
          <p:nvPr/>
        </p:nvSpPr>
        <p:spPr>
          <a:xfrm>
            <a:off x="571500" y="184150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association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24555-BA7F-CDD8-B0F1-68F3508220D3}"/>
              </a:ext>
            </a:extLst>
          </p:cNvPr>
          <p:cNvSpPr txBox="1"/>
          <p:nvPr/>
        </p:nvSpPr>
        <p:spPr>
          <a:xfrm>
            <a:off x="850900" y="211074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two variables change together in the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EEA9D-6F6C-F4AB-EC91-DDB4B28CCAA3}"/>
              </a:ext>
            </a:extLst>
          </p:cNvPr>
          <p:cNvSpPr txBox="1"/>
          <p:nvPr/>
        </p:nvSpPr>
        <p:spPr>
          <a:xfrm>
            <a:off x="571500" y="25323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causation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F420A-5F7F-DABA-6144-A5522D27D0DF}"/>
              </a:ext>
            </a:extLst>
          </p:cNvPr>
          <p:cNvSpPr txBox="1"/>
          <p:nvPr/>
        </p:nvSpPr>
        <p:spPr>
          <a:xfrm>
            <a:off x="850900" y="280162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changing one variable would change the 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96CCB-5F2E-7A85-75DB-483DA92E48F9}"/>
              </a:ext>
            </a:extLst>
          </p:cNvPr>
          <p:cNvSpPr txBox="1"/>
          <p:nvPr/>
        </p:nvSpPr>
        <p:spPr>
          <a:xfrm>
            <a:off x="571500" y="322326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lurking 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A6BA3-C0B9-84D6-D5F1-8F2A8EC788BC}"/>
              </a:ext>
            </a:extLst>
          </p:cNvPr>
          <p:cNvSpPr txBox="1"/>
          <p:nvPr/>
        </p:nvSpPr>
        <p:spPr>
          <a:xfrm>
            <a:off x="850900" y="349249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variable not in the study that influences both the explanatory and the response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F8AA2-EB6E-B099-A9C7-80584E6C21C7}"/>
              </a:ext>
            </a:extLst>
          </p:cNvPr>
          <p:cNvSpPr txBox="1"/>
          <p:nvPr/>
        </p:nvSpPr>
        <p:spPr>
          <a:xfrm>
            <a:off x="571500" y="41579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confounded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9E3446-E4E6-ABA6-1DE4-FE0D3ACC824E}"/>
              </a:ext>
            </a:extLst>
          </p:cNvPr>
          <p:cNvSpPr txBox="1"/>
          <p:nvPr/>
        </p:nvSpPr>
        <p:spPr>
          <a:xfrm>
            <a:off x="850900" y="442721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two variables whose effects on the response cannot be separated</a:t>
            </a:r>
          </a:p>
        </p:txBody>
      </p:sp>
      <p:pic>
        <p:nvPicPr>
          <p:cNvPr id="14" name="l8_confounding.png">
            <a:extLst>
              <a:ext uri="{FF2B5EF4-FFF2-40B4-BE49-F238E27FC236}">
                <a16:creationId xmlns:a16="http://schemas.microsoft.com/office/drawing/2014/main" id="{DA6A759B-A5B3-3C3F-6E71-07F7A57352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00" y="1905000"/>
            <a:ext cx="5842000" cy="317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DCA095-5637-5F84-8712-02A1A02FE668}"/>
              </a:ext>
            </a:extLst>
          </p:cNvPr>
          <p:cNvSpPr txBox="1"/>
          <p:nvPr/>
        </p:nvSpPr>
        <p:spPr>
          <a:xfrm>
            <a:off x="6121400" y="5206999"/>
            <a:ext cx="5842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Ice cream sales and drownings rise together. The lurking variable: hot weather. The association is real - the causal story is not.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DB65428A-4306-892C-0D7E-F8DB58E21C6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E750-8300-9D79-C9E6-2C066802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Hormone therapy and heart disease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14074-70FD-4EAD-C2F1-B98283C2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2DF3-CBCF-F4EF-48A6-C0BAE1D72E7D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Large observational studies, such as the Nurses' Health Study, found that women who took hormone therapy after menopause had less heart disease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The Women's Health Initiative then randomly assigned 16,608 women aged 50 to 79 to estrogen plus progestin or a placebo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It was stopped early in 2002 because the risks outweighed the benefits: more breast cancer, and MORE heart disease, not less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Why did the observational studies point the wrong way?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E0274B-59F9-AB74-8F9A-ACCE67441A4E}"/>
              </a:ext>
            </a:extLst>
          </p:cNvPr>
          <p:cNvSpPr/>
          <p:nvPr/>
        </p:nvSpPr>
        <p:spPr>
          <a:xfrm>
            <a:off x="762000" y="3590290"/>
            <a:ext cx="10668000" cy="245491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 dirty="0">
                <a:solidFill>
                  <a:srgbClr val="C00000"/>
                </a:solidFill>
              </a:rPr>
              <a:t>Lurking variables.</a:t>
            </a:r>
          </a:p>
          <a:p>
            <a:r>
              <a:rPr lang="en-US" sz="1600" dirty="0">
                <a:solidFill>
                  <a:srgbClr val="000000"/>
                </a:solidFill>
              </a:rPr>
              <a:t>Women who chose hormone therapy tended to be wealthier, better educated and healthier to start with - and that,</a:t>
            </a:r>
          </a:p>
          <a:p>
            <a:r>
              <a:rPr lang="en-US" sz="1600" dirty="0">
                <a:solidFill>
                  <a:srgbClr val="000000"/>
                </a:solidFill>
              </a:rPr>
              <a:t>not the hormones, lowered their heart risk. Random assignment balanced those differences out in the 2002.</a:t>
            </a:r>
            <a:br>
              <a:rPr lang="en-US" sz="1600" dirty="0">
                <a:solidFill>
                  <a:srgbClr val="000000"/>
                </a:solidFill>
              </a:rPr>
            </a:b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The 2002 study however, did not have a representative population, nor did they consider dosage. This impacted their observations on cancer risk and heart disease risk. </a:t>
            </a:r>
            <a:br>
              <a:rPr lang="en-US" sz="1600" dirty="0">
                <a:solidFill>
                  <a:srgbClr val="000000"/>
                </a:solidFill>
              </a:rPr>
            </a:b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More recent research has shown that HRT lowers heart disease risk if taken, at an appropriate dosage, during perimenopause or within 10 years of menopause onset.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30291-3BFE-7470-EF0A-843217C4F3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Writing Group for the WHI Investigators (2002), JAMA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8B02BED-2AE5-639A-9FB5-0563AC06183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E750-8300-9D79-C9E6-2C066802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Coffee and the risk of death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14074-70FD-4EAD-C2F1-B98283C2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2DF3-CBCF-F4EF-48A6-C0BAE1D72E7D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The NIH-AARP study followed 402,260 adults aged 50 to 71 from 1995 to 2008. Before adjusting for anything but age, men who drank 6+ cups of coffee a day had a 60% HIGHER risk of death than men who drank none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But 35% of those heavy coffee drinkers smoked, compared with 5% of the men who drank no coffee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After adjusting for smoking and other factors, the same men had a 10% LOWER risk of death - and fewer deaths from heart disease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Since then, better-adjusted studies point the other way: 5+ cups a day went with less cirrhosis and liver cancer (UK Biobank, 2026), and the AHA (2026) finds coffee either unrelated to or associated with LOWER heart disease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Why did the coffee effect flip?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E0274B-59F9-AB74-8F9A-ACCE67441A4E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Lurking variable: smoking.</a:t>
            </a:r>
          </a:p>
          <a:p>
            <a:r>
              <a:rPr lang="en-US" sz="1600">
                <a:solidFill>
                  <a:srgbClr val="000000"/>
                </a:solidFill>
              </a:rPr>
              <a:t>Heavy coffee drinkers smoked far more, and smoking - not coffee - raised their risk. Even after adjusting, the authors say they cannot tell whether coffee itself helps.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30291-3BFE-7470-EF0A-843217C4F3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Freedman et al. (2012), NEJM; Kim et al. (2026), Clin Gastroenterol Hepatol; Marcus et al. (2026), Circulation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8B02BED-2AE5-639A-9FB5-0563AC06183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C90A-874C-9408-C3AA-9D7B0825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Can we claim cause without an experiment?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80207-1BC0-55AF-A06B-5004730EF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/>
              <a:t>Nobody can randomly assign people to smoke for thirty years - or randomly assign their birth order</a:t>
            </a:r>
          </a:p>
          <a:p>
            <a:r>
              <a:rPr lang="en-US" sz="1600"/>
              <a:t>Yet we are confident that smoking causes lung cancer. Decades of observational studies found:</a:t>
            </a:r>
          </a:p>
          <a:p>
            <a:pPr lvl="1"/>
            <a:r>
              <a:rPr lang="en-US" sz="1600"/>
              <a:t>a strong association, found again and again in different populations</a:t>
            </a:r>
          </a:p>
          <a:p>
            <a:pPr lvl="1"/>
            <a:r>
              <a:rPr lang="en-US" sz="1600"/>
              <a:t>a dose-response pattern: the more cigarettes, the higher the risk</a:t>
            </a:r>
          </a:p>
          <a:p>
            <a:pPr lvl="1"/>
            <a:r>
              <a:rPr lang="en-US" sz="1600"/>
              <a:t>the right order in time: the smoking comes before the cancer</a:t>
            </a:r>
          </a:p>
          <a:p>
            <a:pPr lvl="1"/>
            <a:r>
              <a:rPr lang="en-US" sz="1600"/>
              <a:t>a plausible biological explanation, backed by laboratory evidence</a:t>
            </a:r>
          </a:p>
          <a:p>
            <a:r>
              <a:rPr lang="en-US" sz="1600"/>
              <a:t>The 2014 Surgeon General's report: smoking causes at least 480,000 premature U.S. deaths a year, about 127,700 of them from lung cancer</a:t>
            </a:r>
          </a:p>
          <a:p>
            <a:r>
              <a:rPr lang="en-US" sz="1600"/>
              <a:t>Without an experiment, a causal claim needs this much evidence - </a:t>
            </a:r>
            <a:r>
              <a:rPr lang="en-US" sz="1600" b="1">
                <a:solidFill>
                  <a:srgbClr val="C00000"/>
                </a:solidFill>
              </a:rPr>
              <a:t>never one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729E7-FFA2-29BB-2354-01F49A3A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0B40C-8745-6E52-D76C-46CA53ABD2E4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U.S. Department of Health and Human Services (2014)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1939F72A-BEBD-8766-65C6-B4203F49E6A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AF1E-8589-CA56-2E20-310C69FE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Back to light at night and the heart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15A37-0A40-9416-1F1A-D02A04EF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A0F3E-BC1C-AB3C-7C49-4F27FBFE7DC9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Recall the UK Biobank light-at-night study from Monday: 11,071 adults wore a wrist light sensor for 7 days in 2013-2015, then had a heart MRI about 3 years later.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D82CE-DE26-541E-BE77-216218034116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Is this an observational study or an experiment?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8CA01-16A8-B0CA-E9BB-3617458ABCFE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Observational. Nobody was assigned a bright or a dark bedroom - the light people already had was measured.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B752-313E-E3BB-C8C6-DE8F8D782176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People with the most light above 3 lux had 1.5% thicker heart walls than people with none. Did the light cause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F69E3-89A7-0A3C-BBC9-7A78B36DF97D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This study cannot tell us. It shows an association - the authors say their design cannot establish cause.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17509-9C7A-F531-8F14-27897C39BE49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The press release was titled “Too much light at night changes the shape and working of the heart.” Fair?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195F8-8C3F-F2C2-86AF-1FB585FE33AE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 goes too far. The paper says more night light was associated with these changes, not that it changed the heart.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609FA-BB60-2749-A121-ABA24D881BCD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Dai et al. (2026) and Münzel, Kuntic and Daiber (2026), European Heart Journal; ESC press release (2026)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44D05FFE-5C77-3343-F6ED-D73A8174B66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3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C2DC-B562-4055-A05F-8710B472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Light at night: how strong is the evidence?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B145-B9E0-9EDE-7846-E574CD9C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AEBD8-9C55-5C87-F654-606BB91A9C10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The authors adjusted for age, smoking, physical activity, BMI, air pollution, deprivation and more. The heart changes grew steadily as night light went 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5382-396D-E973-8156-DC5F1BD9BB9E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They adjusted for many variables. Is that as good as random assignment?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6341D-833D-A973-E4BF-28891FD5C0E1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No. Adjusting only handles what was measured. Traffic noise was not, and the editorial says it could confound.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A17D4-67C2-6627-E29A-DF60916A80D5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Which features from the smoking evidence does this study have? What is it missing?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B5EC4-D245-95DB-F64C-842A74A83A0B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Time order, a dose-response and a plausible link (shorter sleep). Missing: many studies finding it again.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03FFF-2F51-C42D-11A4-AF232C48DCA4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The participants were volunteers, mostly White and healthier than average. Who can we generalize to?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E4E28-6180-4AD7-A8E4-C0D783A498E4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Only people like them. Volunteers are not a random sample of any population.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55E86-0C35-38F8-CFD9-DADE4335E1C9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Dai et al. (2026) and Münzel, Kuntic and Daiber (2026), European Heart Journal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2CA0A45-4556-612D-4893-11505401BA1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9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finition card">
            <a:extLst>
              <a:ext uri="{FF2B5EF4-FFF2-40B4-BE49-F238E27FC236}">
                <a16:creationId xmlns:a16="http://schemas.microsoft.com/office/drawing/2014/main" id="{5B6B4083-6A76-3AB1-6E4E-BD2ABB06907C}"/>
              </a:ext>
            </a:extLst>
          </p:cNvPr>
          <p:cNvSpPr/>
          <p:nvPr/>
        </p:nvSpPr>
        <p:spPr>
          <a:xfrm>
            <a:off x="762000" y="45847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efinition card">
            <a:extLst>
              <a:ext uri="{FF2B5EF4-FFF2-40B4-BE49-F238E27FC236}">
                <a16:creationId xmlns:a16="http://schemas.microsoft.com/office/drawing/2014/main" id="{728E254B-B963-8B15-E6D8-B608C62B921F}"/>
              </a:ext>
            </a:extLst>
          </p:cNvPr>
          <p:cNvSpPr/>
          <p:nvPr/>
        </p:nvSpPr>
        <p:spPr>
          <a:xfrm>
            <a:off x="762000" y="3898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56B8FF7B-CD8F-BC90-921C-D691BD6A67E6}"/>
              </a:ext>
            </a:extLst>
          </p:cNvPr>
          <p:cNvSpPr/>
          <p:nvPr/>
        </p:nvSpPr>
        <p:spPr>
          <a:xfrm>
            <a:off x="762000" y="32131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4A85B32D-EFA9-B551-D206-9D3E66E3F717}"/>
              </a:ext>
            </a:extLst>
          </p:cNvPr>
          <p:cNvSpPr/>
          <p:nvPr/>
        </p:nvSpPr>
        <p:spPr>
          <a:xfrm>
            <a:off x="762000" y="25273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388A91A-393F-5A40-E3CF-608DDC8059D1}"/>
              </a:ext>
            </a:extLst>
          </p:cNvPr>
          <p:cNvSpPr/>
          <p:nvPr/>
        </p:nvSpPr>
        <p:spPr>
          <a:xfrm>
            <a:off x="762000" y="18415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F31B9-1873-4E71-A9F4-6BEDD3C3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language of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A6BA-8F68-5854-36C7-853E531D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00F10-CA11-2A25-8C44-81AF34F24A47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experimental units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862C4-1503-054A-E3F5-C010116F1698}"/>
              </a:ext>
            </a:extLst>
          </p:cNvPr>
          <p:cNvSpPr txBox="1"/>
          <p:nvPr/>
        </p:nvSpPr>
        <p:spPr>
          <a:xfrm>
            <a:off x="4013200" y="19431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individuals or objects the treatments are applied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6D211-16DE-824A-0C3A-1EABE54E5A1C}"/>
              </a:ext>
            </a:extLst>
          </p:cNvPr>
          <p:cNvSpPr txBox="1"/>
          <p:nvPr/>
        </p:nvSpPr>
        <p:spPr>
          <a:xfrm>
            <a:off x="914400" y="26289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subjects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A2096-A3E1-2E74-6B4B-55BEC2D4DA9D}"/>
              </a:ext>
            </a:extLst>
          </p:cNvPr>
          <p:cNvSpPr txBox="1"/>
          <p:nvPr/>
        </p:nvSpPr>
        <p:spPr>
          <a:xfrm>
            <a:off x="4013200" y="26289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experimental units that are people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A0A0-6B40-F51C-D006-7E6530D26A22}"/>
              </a:ext>
            </a:extLst>
          </p:cNvPr>
          <p:cNvSpPr txBox="1"/>
          <p:nvPr/>
        </p:nvSpPr>
        <p:spPr>
          <a:xfrm>
            <a:off x="914400" y="33147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905AE-3467-B06B-3986-9E632C2A8492}"/>
              </a:ext>
            </a:extLst>
          </p:cNvPr>
          <p:cNvSpPr txBox="1"/>
          <p:nvPr/>
        </p:nvSpPr>
        <p:spPr>
          <a:xfrm>
            <a:off x="4013200" y="33147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explanatory variable the researcher controls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1DD15-BDEF-1360-23DE-61EE06C8C957}"/>
              </a:ext>
            </a:extLst>
          </p:cNvPr>
          <p:cNvSpPr txBox="1"/>
          <p:nvPr/>
        </p:nvSpPr>
        <p:spPr>
          <a:xfrm>
            <a:off x="914400" y="4000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levels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EB79A-241B-7774-AEC9-725D191F6A33}"/>
              </a:ext>
            </a:extLst>
          </p:cNvPr>
          <p:cNvSpPr txBox="1"/>
          <p:nvPr/>
        </p:nvSpPr>
        <p:spPr>
          <a:xfrm>
            <a:off x="4013200" y="4000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specific values a factor is set 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BD3C7A-A136-6A70-0060-76FF802CDFEA}"/>
              </a:ext>
            </a:extLst>
          </p:cNvPr>
          <p:cNvSpPr txBox="1"/>
          <p:nvPr/>
        </p:nvSpPr>
        <p:spPr>
          <a:xfrm>
            <a:off x="914400" y="4686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treatment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00C68-AFE6-C72F-A7FD-81B4E594114A}"/>
              </a:ext>
            </a:extLst>
          </p:cNvPr>
          <p:cNvSpPr txBox="1"/>
          <p:nvPr/>
        </p:nvSpPr>
        <p:spPr>
          <a:xfrm>
            <a:off x="4013200" y="46863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condition a unit receives: one combination of factor levels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E184CCB-0A67-C2ED-C2C8-65879478851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8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9F2B-D79C-B061-7D7C-D0E3E9E9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the VITAL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69749-915A-A889-6AF8-EEE3DE2B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4EC98-752B-E4E1-3A6C-D7C162824379}"/>
              </a:ext>
            </a:extLst>
          </p:cNvPr>
          <p:cNvSpPr txBox="1"/>
          <p:nvPr/>
        </p:nvSpPr>
        <p:spPr>
          <a:xfrm>
            <a:off x="762000" y="1841499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VITAL randomly assigned 25,871 U.S. adults to vitamin D (2,000 IU a day) or a placebo, AND to omega-3 fish oil (1 g a day) or a placebo - nobody knew who got what - then followed them for about 5 years.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24511-5DA8-139E-D168-B30F6FC9D645}"/>
              </a:ext>
            </a:extLst>
          </p:cNvPr>
          <p:cNvSpPr txBox="1"/>
          <p:nvPr/>
        </p:nvSpPr>
        <p:spPr>
          <a:xfrm>
            <a:off x="762000" y="257867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are the experimental units - and what do we call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D3336-BE2D-C5F7-C1A2-C937A4C032A2}"/>
              </a:ext>
            </a:extLst>
          </p:cNvPr>
          <p:cNvSpPr txBox="1"/>
          <p:nvPr/>
        </p:nvSpPr>
        <p:spPr>
          <a:xfrm>
            <a:off x="1117600" y="2936814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25,871 adults. They are people, so they are subjects.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03E08D-862C-AF03-64BB-BE6B12D52B9E}"/>
              </a:ext>
            </a:extLst>
          </p:cNvPr>
          <p:cNvSpPr txBox="1"/>
          <p:nvPr/>
        </p:nvSpPr>
        <p:spPr>
          <a:xfrm>
            <a:off x="762000" y="338385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What are the factors, and how many levels does each have?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3DCC8-196D-E1A6-C6DA-904079F554A1}"/>
              </a:ext>
            </a:extLst>
          </p:cNvPr>
          <p:cNvSpPr txBox="1"/>
          <p:nvPr/>
        </p:nvSpPr>
        <p:spPr>
          <a:xfrm>
            <a:off x="1117600" y="3741994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Vitamin D and omega-3 - 2 levels each (the supplement or a placebo).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25D4A-4773-05CB-3292-48B30A495FCF}"/>
              </a:ext>
            </a:extLst>
          </p:cNvPr>
          <p:cNvSpPr txBox="1"/>
          <p:nvPr/>
        </p:nvSpPr>
        <p:spPr>
          <a:xfrm>
            <a:off x="762000" y="418903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How many treatments are there?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8927A-06B7-68FB-674D-7CEEB23B0E4F}"/>
              </a:ext>
            </a:extLst>
          </p:cNvPr>
          <p:cNvSpPr txBox="1"/>
          <p:nvPr/>
        </p:nvSpPr>
        <p:spPr>
          <a:xfrm>
            <a:off x="1117600" y="4547174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2 x 2 = 4: vitamin D + omega-3, vitamin D + placebo, placebo + omega-3, placebo + placebo.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AC598D-D11F-462C-0B3E-1312AD123B2D}"/>
              </a:ext>
            </a:extLst>
          </p:cNvPr>
          <p:cNvSpPr txBox="1"/>
          <p:nvPr/>
        </p:nvSpPr>
        <p:spPr>
          <a:xfrm>
            <a:off x="762000" y="499421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What kind of design is this, and is it blinded?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2CBC3-2896-472B-A54A-0EF0CDD6FDC6}"/>
              </a:ext>
            </a:extLst>
          </p:cNvPr>
          <p:cNvSpPr txBox="1"/>
          <p:nvPr/>
        </p:nvSpPr>
        <p:spPr>
          <a:xfrm>
            <a:off x="1117600" y="5352354"/>
            <a:ext cx="10312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completely randomized 2 x 2 factorial design, double blind and placebo controlled. Neither supplement lowered the rate of invasive cancer or of major cardiovascular events.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5CB9B-7BE5-0C0D-696A-48328ABA1439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Manson et al. (2019),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3842B88-3FD8-7BBF-86D4-D79A31D0D32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7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527CC9D9-A452-0F04-D7C0-F8B69F5FD4C0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14A0377C-BFF0-B79A-19D7-981494C77764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646E8175-71AD-D653-1B18-4535B9169AC0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8048B-F56E-F853-6D78-C4705594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Principles of experimental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E4708-CDE4-49E1-2123-2142A283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215F6-8FCE-DFDC-A690-266976110908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BEDF8-CA87-BB2E-E7CC-E75E0EBDCEEF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compare the treatment against a control group, so the treatment is the only systematic difference between the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15D86-8FC4-38CD-E9E4-1D9C20B84007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random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3CF75-0947-A75D-A911-27285F7282DC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let chance assign units to treatments - it balances the lurking variables we know about AND the ones we do not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A74FA-ACCD-0444-2FD1-C5FE41F3DEBE}"/>
              </a:ext>
            </a:extLst>
          </p:cNvPr>
          <p:cNvSpPr txBox="1"/>
          <p:nvPr/>
        </p:nvSpPr>
        <p:spPr>
          <a:xfrm>
            <a:off x="914400" y="3853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8E4AF-B0A9-AA0C-9A85-E8AD8B4D0E1E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put enough units in each group that chance differences between the groups average out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0FBAB81F-3E0F-CC4A-57E6-BF5693CD09F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4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0986321D-DD51-CC3D-7DD0-2F9B636F6666}"/>
              </a:ext>
            </a:extLst>
          </p:cNvPr>
          <p:cNvSpPr/>
          <p:nvPr/>
        </p:nvSpPr>
        <p:spPr>
          <a:xfrm>
            <a:off x="762000" y="47117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3240A742-6545-D275-21CB-933A9D3A95BD}"/>
              </a:ext>
            </a:extLst>
          </p:cNvPr>
          <p:cNvSpPr/>
          <p:nvPr/>
        </p:nvSpPr>
        <p:spPr>
          <a:xfrm>
            <a:off x="762000" y="4025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748393A2-618F-1098-18D2-B69CA52BD216}"/>
              </a:ext>
            </a:extLst>
          </p:cNvPr>
          <p:cNvSpPr/>
          <p:nvPr/>
        </p:nvSpPr>
        <p:spPr>
          <a:xfrm>
            <a:off x="762000" y="279654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D35FDEF-A6C9-D92F-1656-6ED66949569F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A9945-18E2-A815-CD09-6E30DA8C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Placebos and blinding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9166-75E8-99F6-EF42-55FFE563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14461-1C87-49C0-A9DA-02B03CA129A0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A0659-C886-4CB8-B25B-5E2B59B4990B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inactive treatment that looks exactly like the real one</a:t>
            </a:r>
          </a:p>
          <a:p>
            <a:r>
              <a:rPr lang="en-US" i="1">
                <a:solidFill>
                  <a:srgbClr val="595959"/>
                </a:solidFill>
              </a:rPr>
              <a:t>a sugar pill, or a saline injection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E6C15-B051-DA6B-FC50-75C45B601985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 effect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1B553-B0DF-9622-DF06-AFFDA7ADF708}"/>
              </a:ext>
            </a:extLst>
          </p:cNvPr>
          <p:cNvSpPr txBox="1"/>
          <p:nvPr/>
        </p:nvSpPr>
        <p:spPr>
          <a:xfrm>
            <a:off x="4013200" y="289814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often improve simply because they believe they are being treated</a:t>
            </a:r>
          </a:p>
          <a:p>
            <a:r>
              <a:rPr lang="en-US" i="1">
                <a:solidFill>
                  <a:srgbClr val="595959"/>
                </a:solidFill>
              </a:rPr>
              <a:t>in one study, believing you had taken a performance drug worked almost as well as the drug itself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88549-1922-B620-2B4E-9464BCE53BB2}"/>
              </a:ext>
            </a:extLst>
          </p:cNvPr>
          <p:cNvSpPr txBox="1"/>
          <p:nvPr/>
        </p:nvSpPr>
        <p:spPr>
          <a:xfrm>
            <a:off x="914400" y="4127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blinding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5D28C7-3333-6E48-704B-CF3132518528}"/>
              </a:ext>
            </a:extLst>
          </p:cNvPr>
          <p:cNvSpPr txBox="1"/>
          <p:nvPr/>
        </p:nvSpPr>
        <p:spPr>
          <a:xfrm>
            <a:off x="4013200" y="4127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subjects do not know which treatment they received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D5F34-944C-50F9-7B04-0A433180EADC}"/>
              </a:ext>
            </a:extLst>
          </p:cNvPr>
          <p:cNvSpPr txBox="1"/>
          <p:nvPr/>
        </p:nvSpPr>
        <p:spPr>
          <a:xfrm>
            <a:off x="914400" y="4813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double-blind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F50005-2E1E-E3B6-F676-29A98A6D4792}"/>
              </a:ext>
            </a:extLst>
          </p:cNvPr>
          <p:cNvSpPr txBox="1"/>
          <p:nvPr/>
        </p:nvSpPr>
        <p:spPr>
          <a:xfrm>
            <a:off x="4013200" y="48132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neither the subjects nor the researchers working with them know who received what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E11A2D97-48DE-89D2-6522-EBF2B2D5355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5B16-617F-F91A-E768-60685CC2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2020 Pfizer-BioNTech vaccine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3F39A-FB57-1204-AB85-BFED9086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C21BD-9532-392A-1ADC-7094172C5BC4}"/>
              </a:ext>
            </a:extLst>
          </p:cNvPr>
          <p:cNvSpPr txBox="1"/>
          <p:nvPr/>
        </p:nvSpPr>
        <p:spPr>
          <a:xfrm>
            <a:off x="762000" y="1841499"/>
            <a:ext cx="10668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43,548 people were randomly assigned, half and half, to two shots of the COVID-19 vaccine or two shots of a saline placebo. Participants and the staff assessing them did not know who got which. Afterwards: 8 COVID-19 cases in the vaccine group, 162 in the placebo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BEC6E-F862-FBAF-E1D5-A21B197591D4}"/>
              </a:ext>
            </a:extLst>
          </p:cNvPr>
          <p:cNvSpPr txBox="1"/>
          <p:nvPr/>
        </p:nvSpPr>
        <p:spPr>
          <a:xfrm>
            <a:off x="762000" y="28016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Why give the control group a saline shot instead of no shot at all?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74361-B6BF-56E2-BB7E-9C77E3EAFA32}"/>
              </a:ext>
            </a:extLst>
          </p:cNvPr>
          <p:cNvSpPr txBox="1"/>
          <p:nvPr/>
        </p:nvSpPr>
        <p:spPr>
          <a:xfrm>
            <a:off x="1117600" y="309625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So both groups have the same experience. A difference in cases can then only come from the vaccine, not from expectations.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4AA95-81B2-0E2E-FE21-D50E35C6D672}"/>
              </a:ext>
            </a:extLst>
          </p:cNvPr>
          <p:cNvSpPr txBox="1"/>
          <p:nvPr/>
        </p:nvSpPr>
        <p:spPr>
          <a:xfrm>
            <a:off x="762000" y="3837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randomize, instead of letting people choose whether to get the vaccine?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161EE-C1D2-5729-30B3-60F805D911B5}"/>
              </a:ext>
            </a:extLst>
          </p:cNvPr>
          <p:cNvSpPr txBox="1"/>
          <p:nvPr/>
        </p:nvSpPr>
        <p:spPr>
          <a:xfrm>
            <a:off x="1117600" y="4132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People who choose a new vaccine may also be more careful in other ways - a lurking variable. Randomizing balances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07AEF-2F3C-5F98-7416-32548ECBAE2D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does 8 cases versus 162 suggest?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0D47C-2CA4-17F0-F93D-EF0EDE1376BA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vaccine group had about 95% fewer cases - and because of the design, we can credit that to the vaccine.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19372-51FF-D9A9-4502-CC2DDA37DE5F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Polack et al. (2020),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E52C4A4-CBD4-248B-5876-3F7BDD6EBAB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placebo surgery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C9AC6-4D0C-1228-AAA9-21B804DFEE48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Arthroscopic knee surgery for arthritis was common, and patients said it helped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Moseley and colleagues (2002) randomly assigned 180 patients with knee osteoarthritis to two real arthroscopic procedures, or to placebo surgery - skin incisions only, with no instruments inserted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Patients, and the staff who assessed their pain, did not know who got which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Over two years, which group reported the most improvement?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0B310F-DAC4-4E75-0390-F480FCCED58F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None of them.</a:t>
            </a:r>
          </a:p>
          <a:p>
            <a:r>
              <a:rPr lang="en-US" sz="1600">
                <a:solidFill>
                  <a:srgbClr val="000000"/>
                </a:solidFill>
              </a:rPr>
              <a:t>The placebo group did as well as both surgery groups on pain and function. The benefit came from believing</a:t>
            </a:r>
          </a:p>
          <a:p>
            <a:r>
              <a:rPr lang="en-US" sz="1600">
                <a:solidFill>
                  <a:srgbClr val="000000"/>
                </a:solidFill>
              </a:rPr>
              <a:t>you had surgery - and without a placebo group and blinding, nobody would have known.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06FF6-2B22-36E5-8DCE-A56C8CF16F63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Moseley et al. (2002),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FFFD-794F-2D51-6BF6-99175D91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Completely randomized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55A9-BBE0-BEF2-E763-410F3F2D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25ADE-6103-7A0C-04BB-BDC5C6DAFA8D}"/>
              </a:ext>
            </a:extLst>
          </p:cNvPr>
          <p:cNvSpPr txBox="1"/>
          <p:nvPr/>
        </p:nvSpPr>
        <p:spPr>
          <a:xfrm>
            <a:off x="762000" y="1841500"/>
            <a:ext cx="3556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44CA3-DDEF-F323-A745-E769C814FD58}"/>
              </a:ext>
            </a:extLst>
          </p:cNvPr>
          <p:cNvSpPr txBox="1"/>
          <p:nvPr/>
        </p:nvSpPr>
        <p:spPr>
          <a:xfrm>
            <a:off x="4419600" y="1841500"/>
            <a:ext cx="7010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every unit is assigned to a treatment completely at random - the simplest design</a:t>
            </a:r>
          </a:p>
        </p:txBody>
      </p:sp>
      <p:pic>
        <p:nvPicPr>
          <p:cNvPr id="8" name="l8_crd.png">
            <a:extLst>
              <a:ext uri="{FF2B5EF4-FFF2-40B4-BE49-F238E27FC236}">
                <a16:creationId xmlns:a16="http://schemas.microsoft.com/office/drawing/2014/main" id="{3FC0221E-5D8D-7C80-A7E6-B2E075C913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15540"/>
            <a:ext cx="10668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A08B7-5DFB-36CD-640D-6116218D8A8F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Pfizer-BioNTech vaccine trial was a completely randomized design with two groups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9CF4558A-F54B-AF72-380B-784DCD25734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4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3B3A-82BB-BE51-84B8-B8AF27E3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Randomized block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82B3-3A15-6187-05D8-948D8795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D7313-2EFA-DDCC-83CD-016A2EA319DF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491B-42D0-6F62-D1EB-414351AE3540}"/>
              </a:ext>
            </a:extLst>
          </p:cNvPr>
          <p:cNvSpPr txBox="1"/>
          <p:nvPr/>
        </p:nvSpPr>
        <p:spPr>
          <a:xfrm>
            <a:off x="4038600" y="1841499"/>
            <a:ext cx="7391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group of units that are alike in a way that affects the response, formed BEFORE treatments are assigned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1355-2EF9-878B-BBF5-3AD598A60D7B}"/>
              </a:ext>
            </a:extLst>
          </p:cNvPr>
          <p:cNvSpPr txBox="1"/>
          <p:nvPr/>
        </p:nvSpPr>
        <p:spPr>
          <a:xfrm>
            <a:off x="762000" y="250698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EE7E9-B4FA-AE7D-2F32-7824F8BEBECC}"/>
              </a:ext>
            </a:extLst>
          </p:cNvPr>
          <p:cNvSpPr txBox="1"/>
          <p:nvPr/>
        </p:nvSpPr>
        <p:spPr>
          <a:xfrm>
            <a:off x="4038600" y="250697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randomize treatments separately inside each block, then compare treatments within blocks</a:t>
            </a:r>
          </a:p>
          <a:p>
            <a:r>
              <a:rPr lang="en-US" sz="1600" i="1">
                <a:solidFill>
                  <a:srgbClr val="595959"/>
                </a:solidFill>
              </a:rPr>
              <a:t>blocking is to experiments what stratifying is to sampling</a:t>
            </a:r>
          </a:p>
        </p:txBody>
      </p:sp>
      <p:pic>
        <p:nvPicPr>
          <p:cNvPr id="10" name="l8_rcbd.png">
            <a:extLst>
              <a:ext uri="{FF2B5EF4-FFF2-40B4-BE49-F238E27FC236}">
                <a16:creationId xmlns:a16="http://schemas.microsoft.com/office/drawing/2014/main" id="{4D9C6247-9EE5-17B5-FA09-387DA7C382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0"/>
            <a:ext cx="10668000" cy="28702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683653CB-384B-87DB-C6CB-FB5F26D3911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0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25F3-CA5C-D321-A12F-235D7E6C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Matched pairs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5803-1B77-5AE0-EEB8-17B8E3F9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3E119-33DB-B84A-C9CB-1DA41099D1A1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matched pairs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D380C-8635-8A53-300D-33D0068157E3}"/>
              </a:ext>
            </a:extLst>
          </p:cNvPr>
          <p:cNvSpPr txBox="1"/>
          <p:nvPr/>
        </p:nvSpPr>
        <p:spPr>
          <a:xfrm>
            <a:off x="4038600" y="184149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block design where every block is a pair of very similar units, and a coin flip decides which one gets each treatment</a:t>
            </a:r>
          </a:p>
          <a:p>
            <a:r>
              <a:rPr lang="en-US" sz="1600" i="1">
                <a:solidFill>
                  <a:srgbClr val="595959"/>
                </a:solidFill>
              </a:rPr>
              <a:t>or each subject is their own pair, receiving both treatments in a random order</a:t>
            </a:r>
          </a:p>
        </p:txBody>
      </p:sp>
      <p:pic>
        <p:nvPicPr>
          <p:cNvPr id="8" name="l8_matched_pairs.png">
            <a:extLst>
              <a:ext uri="{FF2B5EF4-FFF2-40B4-BE49-F238E27FC236}">
                <a16:creationId xmlns:a16="http://schemas.microsoft.com/office/drawing/2014/main" id="{3439A8BA-7800-029C-E47E-C6620E508D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52420"/>
            <a:ext cx="10668000" cy="292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4AE21D-EF44-4EB5-7BCB-35F9FA4BF6CF}"/>
              </a:ext>
            </a:extLst>
          </p:cNvPr>
          <p:cNvSpPr txBox="1"/>
          <p:nvPr/>
        </p:nvSpPr>
        <p:spPr>
          <a:xfrm>
            <a:off x="762000" y="59944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Before-and-after data with no random order or control group is much weaker evidence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84C6B91-DD86-0BA1-4A71-C454C38471E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20BC-F401-2AC4-1387-5CA1219B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does randomization buy you?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126EC-9647-D00A-626C-6261106C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04C0C-E47B-20AC-31E4-94DC4C4ABB5F}"/>
              </a:ext>
            </a:extLst>
          </p:cNvPr>
          <p:cNvSpPr txBox="1"/>
          <p:nvPr/>
        </p:nvSpPr>
        <p:spPr>
          <a:xfrm>
            <a:off x="508000" y="203199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sampling</a:t>
            </a:r>
            <a:r>
              <a:rPr lang="en-US" sz="1600">
                <a:solidFill>
                  <a:srgbClr val="000000"/>
                </a:solidFill>
              </a:rPr>
              <a:t> lets you generalize from the sample to the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720C4-0587-0E87-63EC-96B92E67C00D}"/>
              </a:ext>
            </a:extLst>
          </p:cNvPr>
          <p:cNvSpPr txBox="1"/>
          <p:nvPr/>
        </p:nvSpPr>
        <p:spPr>
          <a:xfrm>
            <a:off x="508000" y="279907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assignment</a:t>
            </a:r>
            <a:r>
              <a:rPr lang="en-US" sz="1600">
                <a:solidFill>
                  <a:srgbClr val="000000"/>
                </a:solidFill>
              </a:rPr>
              <a:t> lets you conclude cause and effect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92FD8-9A4E-5BB8-6D38-E386520B604D}"/>
              </a:ext>
            </a:extLst>
          </p:cNvPr>
          <p:cNvSpPr txBox="1"/>
          <p:nvPr/>
        </p:nvSpPr>
        <p:spPr>
          <a:xfrm>
            <a:off x="508000" y="3566159"/>
            <a:ext cx="3683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Most studies have only one. A trial on volunteers shows a vaccine works - for people like those volunteers</a:t>
            </a:r>
          </a:p>
        </p:txBody>
      </p:sp>
      <p:pic>
        <p:nvPicPr>
          <p:cNvPr id="9" name="l8_sampling_vs_assignment.png">
            <a:extLst>
              <a:ext uri="{FF2B5EF4-FFF2-40B4-BE49-F238E27FC236}">
                <a16:creationId xmlns:a16="http://schemas.microsoft.com/office/drawing/2014/main" id="{155BFB16-B6F6-9547-0319-A28383F099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854200"/>
            <a:ext cx="7747000" cy="4445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1784CFE6-ACD1-AC71-8278-C12730A8BD5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BCDC-48E3-34D7-E16A-ED185680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the Facebook 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D343A-B691-3B93-BC2E-2BC7ADBA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EF544-7BC1-830E-74B1-64EDAAE169AE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For one week in January 2012, Facebook changed the News Feeds of 689,003 users: some saw fewer positive posts, some fewer negative ones. The results were published in 2014. The users never knew.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928F0-6402-96DA-08AE-79702CFCC1E5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Facebook said agreeing to its Data Use Policy counted as informed consent. Do you agree?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B0234-5946-443E-D3EF-6B904164792E}"/>
              </a:ext>
            </a:extLst>
          </p:cNvPr>
          <p:cNvSpPr txBox="1"/>
          <p:nvPr/>
        </p:nvSpPr>
        <p:spPr>
          <a:xfrm>
            <a:off x="1117600" y="285241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journal did not: its Expression of Concern said the study may not have met the principles of informed consent and the chance to opt out.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AFEBF-2B58-DFE7-62AD-B002E3656906}"/>
              </a:ext>
            </a:extLst>
          </p:cNvPr>
          <p:cNvSpPr txBox="1"/>
          <p:nvPr/>
        </p:nvSpPr>
        <p:spPr>
          <a:xfrm>
            <a:off x="762000" y="35941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did no ethics board stop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5EB09-8181-01D4-0AE9-A06C5E9A6703}"/>
              </a:ext>
            </a:extLst>
          </p:cNvPr>
          <p:cNvSpPr txBox="1"/>
          <p:nvPr/>
        </p:nvSpPr>
        <p:spPr>
          <a:xfrm>
            <a:off x="1117600" y="388873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Facebook, a private company, was not bound by the federal rules. Cornell's board decided its researcher was not directly involved, so it did no review.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5831A-51A3-E82F-82A5-67061AA1A22E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is the lesson?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EE7946-5EA0-8B72-F855-AEB4B6636110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Clicking I agree on a terms-of-service page is not informed consent - even for a well-designed experiment.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E5BD3-1CF7-2352-2707-2D7DBFFA6EBD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Kramer, Guillory and Hancock (2014), PNAS; PNAS Editorial Expression of Concern (2014)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A19CE9B-6143-6D05-1FF1-AF917901111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finition card">
            <a:extLst>
              <a:ext uri="{FF2B5EF4-FFF2-40B4-BE49-F238E27FC236}">
                <a16:creationId xmlns:a16="http://schemas.microsoft.com/office/drawing/2014/main" id="{7BD18FF9-F244-4051-FAD0-50D9E3F9B913}"/>
              </a:ext>
            </a:extLst>
          </p:cNvPr>
          <p:cNvSpPr/>
          <p:nvPr/>
        </p:nvSpPr>
        <p:spPr>
          <a:xfrm>
            <a:off x="762000" y="39293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efinition card">
            <a:extLst>
              <a:ext uri="{FF2B5EF4-FFF2-40B4-BE49-F238E27FC236}">
                <a16:creationId xmlns:a16="http://schemas.microsoft.com/office/drawing/2014/main" id="{DA368FF5-4992-376F-150A-E28A94DE7BFC}"/>
              </a:ext>
            </a:extLst>
          </p:cNvPr>
          <p:cNvSpPr/>
          <p:nvPr/>
        </p:nvSpPr>
        <p:spPr>
          <a:xfrm>
            <a:off x="762000" y="32435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finition card">
            <a:extLst>
              <a:ext uri="{FF2B5EF4-FFF2-40B4-BE49-F238E27FC236}">
                <a16:creationId xmlns:a16="http://schemas.microsoft.com/office/drawing/2014/main" id="{8CF68A3F-0FA8-8ECC-D7CB-0626410EEFD1}"/>
              </a:ext>
            </a:extLst>
          </p:cNvPr>
          <p:cNvSpPr/>
          <p:nvPr/>
        </p:nvSpPr>
        <p:spPr>
          <a:xfrm>
            <a:off x="762000" y="25577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A45CA-C4F4-9D9F-D8E5-C7927280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Belmont Report: three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DE2E0-7558-C45C-187E-016F1FE2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E51A2-1D0E-5639-923C-392124A5CB29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i="1">
                <a:solidFill>
                  <a:srgbClr val="595959"/>
                </a:solidFill>
              </a:rPr>
              <a:t>Why the rules exist: in the U.S. Public Health Service syphilis study at Tuskegee (1932 to 1972), hundreds of Black men with syphilis were left untreated without informed consent. The Belmont Report (1979) followed.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00ADF-E689-6E6A-E87D-5EB74130530C}"/>
              </a:ext>
            </a:extLst>
          </p:cNvPr>
          <p:cNvSpPr txBox="1"/>
          <p:nvPr/>
        </p:nvSpPr>
        <p:spPr>
          <a:xfrm>
            <a:off x="914400" y="26593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respect for persons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B713D-5F8F-97DD-C206-B99F1CEAC80A}"/>
              </a:ext>
            </a:extLst>
          </p:cNvPr>
          <p:cNvSpPr txBox="1"/>
          <p:nvPr/>
        </p:nvSpPr>
        <p:spPr>
          <a:xfrm>
            <a:off x="4013200" y="26593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decide for themselves whether to take part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1F8F8-2547-3F26-8823-D9E427FFEBB9}"/>
              </a:ext>
            </a:extLst>
          </p:cNvPr>
          <p:cNvSpPr txBox="1"/>
          <p:nvPr/>
        </p:nvSpPr>
        <p:spPr>
          <a:xfrm>
            <a:off x="914400" y="3345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beneficence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0F527-F153-AAE7-3F71-CB7DAEB38160}"/>
              </a:ext>
            </a:extLst>
          </p:cNvPr>
          <p:cNvSpPr txBox="1"/>
          <p:nvPr/>
        </p:nvSpPr>
        <p:spPr>
          <a:xfrm>
            <a:off x="4013200" y="33451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do no harm: maximize the possible benefits and minimize the possible risks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E5DBA7-1041-887E-1AA2-424094C359F1}"/>
              </a:ext>
            </a:extLst>
          </p:cNvPr>
          <p:cNvSpPr txBox="1"/>
          <p:nvPr/>
        </p:nvSpPr>
        <p:spPr>
          <a:xfrm>
            <a:off x="914400" y="40309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justice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B11E9C-DC32-C8BD-25C2-03DB4FF2BA76}"/>
              </a:ext>
            </a:extLst>
          </p:cNvPr>
          <p:cNvSpPr txBox="1"/>
          <p:nvPr/>
        </p:nvSpPr>
        <p:spPr>
          <a:xfrm>
            <a:off x="4013200" y="40309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burdens and benefits of research are shared fairly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02D1C2D-D027-E787-DF9B-D90AB9F6F91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3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8A4F3FCB-C7A9-82F3-8E10-9339C32AE6DF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62506592-1FEC-CE15-6D30-62EAE03D82AD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62CB8193-5F73-50AC-3051-4D642866D20A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C5247-8B4B-54C8-3455-0EB32B29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Research ethics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98EAA-E7F8-FC9B-8A28-8101A227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AF89E-601A-B5F9-2D65-135EBA0406FB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informed consent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C5DDB-F229-9070-C88A-A2681B8F3FF5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subjects are told the purpose, procedures and risks in advance, and can refuse or quit at any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B26A7-0561-F122-F164-A6F6ADA86702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confidentiality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E6370-67AB-0ED8-7D3B-CC849A8AFECD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information about individuals is protected and never released in a form that identifies them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2902B-5B96-ABFE-050C-EECF749813D9}"/>
              </a:ext>
            </a:extLst>
          </p:cNvPr>
          <p:cNvSpPr txBox="1"/>
          <p:nvPr/>
        </p:nvSpPr>
        <p:spPr>
          <a:xfrm>
            <a:off x="914400" y="3853179"/>
            <a:ext cx="30226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Institutional Review Board (IRB)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34950-E37B-7F6C-1D87-713CC1B80B52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reviews and approves studies on human subjects before they start</a:t>
            </a:r>
          </a:p>
          <a:p>
            <a:r>
              <a:rPr lang="en-US" i="1">
                <a:solidFill>
                  <a:srgbClr val="595959"/>
                </a:solidFill>
              </a:rPr>
              <a:t>at UI, through the Office of Research Assurances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8159BBA-B771-78A5-3930-056EC59B3DC2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0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9C50-2180-9A09-7608-C08B3B78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honest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3678C-7C08-89CA-E3B2-CB2008D7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108D8-C022-6582-B6B8-EB2AE42F8E82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000000"/>
                </a:solidFill>
              </a:rPr>
              <a:t>Ethics also means honest data. An investigation of psychologist Diederik Stapel, infamous social psychologist, found he had invented data: it tainted more than 55 of his papers and 10 PhD dissertations he supervised. A researcher is surveying households in a community: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C1D6A-F2F5-13CF-ACE8-FA96E392EA08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Introductory Statistics 2e (OpenStax), Section 1.4 and Example 1.22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CD14A3EC-A9EF-F0CA-9E7C-BE87A5742DB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what design, and can it show cause?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survey finds that people who own dogs have lower blood pressure than people who do not.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1361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Observational - nobody was assigned a dog. Active people may both own dogs and have lower blood pressure.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6339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60 volunteers with insomnia are randomly split: 30 get melatonin, 30 get an identical-looking placebo.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29286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experiment - it can show cause, for people like these volunteers.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4264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In each of 4 greenhouses, tomato plants are randomly assigned to fertilizer A or fertilizer 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7211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design, with greenhouses as the blocks - it can show cause.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8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2796</Words>
  <Application>Microsoft Office PowerPoint</Application>
  <PresentationFormat>Widescreen</PresentationFormat>
  <Paragraphs>232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Exam 1 results</vt:lpstr>
      <vt:lpstr>Lecture 10 Experiments and Causation</vt:lpstr>
      <vt:lpstr>Review</vt:lpstr>
      <vt:lpstr>Review</vt:lpstr>
      <vt:lpstr>Your course project: Part 3</vt:lpstr>
      <vt:lpstr>Part 2 Experiments and Causation</vt:lpstr>
      <vt:lpstr>Observational studies and experiments</vt:lpstr>
      <vt:lpstr>Association is not causation</vt:lpstr>
      <vt:lpstr>Hormone therapy and heart disease</vt:lpstr>
      <vt:lpstr>Coffee and the risk of death</vt:lpstr>
      <vt:lpstr>Can we claim cause without an experiment?</vt:lpstr>
      <vt:lpstr>Back to light at night and the heart</vt:lpstr>
      <vt:lpstr>Light at night: how strong is the evidence?</vt:lpstr>
      <vt:lpstr>The language of experiments</vt:lpstr>
      <vt:lpstr>Example: the VITAL trial</vt:lpstr>
      <vt:lpstr>Principles of experimental design</vt:lpstr>
      <vt:lpstr>Placebos and blinding</vt:lpstr>
      <vt:lpstr>The 2020 Pfizer-BioNTech vaccine trial</vt:lpstr>
      <vt:lpstr>A placebo surgery</vt:lpstr>
      <vt:lpstr>Completely randomized design</vt:lpstr>
      <vt:lpstr>Randomized block design</vt:lpstr>
      <vt:lpstr>Matched pairs design</vt:lpstr>
      <vt:lpstr>What does randomization buy you?</vt:lpstr>
      <vt:lpstr>Ethics: the Facebook experiment</vt:lpstr>
      <vt:lpstr>The Belmont Report: three principles</vt:lpstr>
      <vt:lpstr>Research ethics today</vt:lpstr>
      <vt:lpstr>Ethics: honest data</vt:lpstr>
      <vt:lpstr>Practice: what design, and can it show cause?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371</cp:revision>
  <dcterms:created xsi:type="dcterms:W3CDTF">2023-08-05T23:57:41Z</dcterms:created>
  <dcterms:modified xsi:type="dcterms:W3CDTF">2026-09-24T20:44:26Z</dcterms:modified>
</cp:coreProperties>
</file>