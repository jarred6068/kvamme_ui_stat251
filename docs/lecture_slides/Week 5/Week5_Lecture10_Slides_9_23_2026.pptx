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16" r:id="rId2"/>
    <p:sldId id="256" r:id="rId3"/>
    <p:sldId id="257" r:id="rId4"/>
    <p:sldId id="315" r:id="rId5"/>
    <p:sldId id="287" r:id="rId6"/>
    <p:sldId id="288" r:id="rId7"/>
    <p:sldId id="289" r:id="rId8"/>
    <p:sldId id="290" r:id="rId9"/>
    <p:sldId id="291" r:id="rId10"/>
    <p:sldId id="314" r:id="rId11"/>
    <p:sldId id="292" r:id="rId12"/>
    <p:sldId id="310" r:id="rId13"/>
    <p:sldId id="311" r:id="rId14"/>
    <p:sldId id="293" r:id="rId15"/>
    <p:sldId id="294" r:id="rId16"/>
    <p:sldId id="295" r:id="rId17"/>
    <p:sldId id="296" r:id="rId18"/>
    <p:sldId id="297" r:id="rId19"/>
    <p:sldId id="298" r:id="rId20"/>
    <p:sldId id="299" r:id="rId21"/>
    <p:sldId id="300" r:id="rId22"/>
    <p:sldId id="301" r:id="rId23"/>
    <p:sldId id="302" r:id="rId24"/>
    <p:sldId id="304" r:id="rId25"/>
    <p:sldId id="305" r:id="rId26"/>
    <p:sldId id="306" r:id="rId27"/>
    <p:sldId id="307" r:id="rId28"/>
    <p:sldId id="308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76" d="100"/>
          <a:sy n="76" d="100"/>
        </p:scale>
        <p:origin x="6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821C1-92D8-0827-CE2B-80FEA840C2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4EA748-2C8E-5D78-5734-D9BCC16ECD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15553-DE39-3C41-4AFF-70F29A86E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2837C-8079-1B7F-0DCF-61C39ED30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95E205-162F-206E-F4C6-EB23D9DC1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8746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13490-30A7-12A6-2775-77578A346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7B95F-B119-D057-5670-8EC21A84E5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D001D-CEFB-FD30-FB40-0BEA5B52D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3377D-E7F3-D264-FB03-A4AF3E336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F48992-A907-9503-F005-BAA8A33CE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803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6B320-EDC1-EDD2-5F4C-2A675BD0C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58A940-1637-AC6F-0247-A5E578765F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2A479-CAFF-245E-F61F-3D6F3E5C8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24E38-70F9-0CAE-F19E-6DDE60057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E74C88-12BC-0657-008B-8419B1E10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099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02A09-336F-FDC8-F0C1-F84E09726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F6849-08AF-456F-8C3C-E6DE37B3B9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7E5562-6B4C-F11F-DF48-D254599EAA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A69C05-114E-11FE-5C76-D6F19175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71C5D0-A8D9-EEF2-15E4-CE74A390A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9944C5-75A0-666E-C3DD-6839AB176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107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EC19E-080C-F794-EB45-FB4903CDD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85744A-FDBE-87AE-7AF1-3AC154DB2C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1970E4-B2B1-0370-3C26-0D1A5A0023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A4F036-B8A8-878F-A1CB-05DAE58015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8B7F82-EBC0-322A-130D-972F39800F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21A5BB-D71E-872F-6F0E-2279BE484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C56747-8CBE-BF00-C39A-F442E724C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E2C14A-6287-B5B6-C760-7F506FD87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3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E9713-B0F2-9D1D-23FC-F5900F773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6FC7EC-16C8-C311-316C-6D99B4F99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FE4DA7-A4C5-460E-592C-CEF23DF38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3F89-7820-6BF8-A747-E433ED21A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244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EAD0FD-7A61-970C-10A9-76E2B39DA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F95651-C89A-3C9B-3D47-F7E5CAF6B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509228-92F1-54DE-D9B2-4AC018D50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303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3F474-02F7-A264-4B8D-717F5EB00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FA8C9F-750F-7D81-0E80-7FBCDEBEB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0A1C0B-C510-B118-D8FA-12722456A8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94604E-EC60-44AD-4B70-12B2B49AE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22C4B9-91B9-9E0E-9278-1C0433768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21E60F-F796-8B15-08E9-61BA30F0D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505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E564D-22A0-8A8D-C6FE-D62998433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713DEA-5246-B946-AFE4-3B305BCDB1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4208CC-31DD-00AF-BFC4-37F7B4BF3C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77E30D-B05F-B2CA-9A3C-E01E2B6B0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E08FCE-463A-D1B2-8A60-3B6744202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438537-A621-46D4-781D-4E36BF836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242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105C2-17EC-1173-1FC9-8A7FC1018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6BBB4A-325C-1F27-06A3-6F4F1A8F5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9A6F55-A1EF-6AEC-99F0-DBF50F5EB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A1FD1D-86F4-EDE3-1CCE-ADED2161B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DE0593-ABE9-0E50-7A75-9252A5A1F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965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87FF77-0DAD-7CA9-B02D-208C020489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9298FA-F111-2C9C-551D-A1F30B239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F1B556-1ED0-55E4-9235-352E1A162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4A71E-8AC3-EA68-1DCB-99E68A465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B1CF60-74F8-B2C5-26C3-77536C36C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366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18B48B-0371-7ADD-E5C3-345B4D6CB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BB5A92-73C5-8CE0-7C84-BE7902E60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5212B-F67A-E417-B1FE-C389458DF2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882561-BD16-4A95-ACA1-5204E478F2FE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9799A-D006-E28E-8EED-4BE2AFCB8D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069CB4-3B3A-FD13-F7E0-B4A0F34767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91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50292-D21D-628F-C2B6-D90B968680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6200"/>
            <a:ext cx="10515600" cy="558800"/>
          </a:xfrm>
        </p:spPr>
        <p:txBody>
          <a:bodyPr anchor="ctr">
            <a:noAutofit/>
          </a:bodyPr>
          <a:lstStyle/>
          <a:p>
            <a:r>
              <a:rPr lang="en-US" sz="3200">
                <a:solidFill>
                  <a:srgbClr val="1F3864"/>
                </a:solidFill>
              </a:rPr>
              <a:t>Exam 1 results</a:t>
            </a:r>
          </a:p>
        </p:txBody>
      </p:sp>
      <p:pic>
        <p:nvPicPr>
          <p:cNvPr id="5" name="exam1_score_histogram.png">
            <a:extLst>
              <a:ext uri="{FF2B5EF4-FFF2-40B4-BE49-F238E27FC236}">
                <a16:creationId xmlns:a16="http://schemas.microsoft.com/office/drawing/2014/main" id="{291EB172-1D5E-D17F-5E3F-B22BD3C76D57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333" y="711200"/>
            <a:ext cx="10075333" cy="604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41308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F151A-3AFE-974F-DDC4-9B99389C34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4105419"/>
          </a:xfrm>
        </p:spPr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Lecture 10</a:t>
            </a:r>
            <a:br>
              <a:rPr lang="en-US">
                <a:solidFill>
                  <a:srgbClr val="1F3864"/>
                </a:solidFill>
              </a:rPr>
            </a:br>
            <a:r>
              <a:rPr lang="en-US">
                <a:solidFill>
                  <a:srgbClr val="1F3864"/>
                </a:solidFill>
              </a:rPr>
              <a:t>Experiments and Causation</a:t>
            </a:r>
            <a:endParaRPr lang="en-US" dirty="0">
              <a:solidFill>
                <a:srgbClr val="1F386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71534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05104"/>
          </a:xfrm>
        </p:spPr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Review</a:t>
            </a:r>
            <a:endParaRPr lang="en-US" dirty="0">
              <a:solidFill>
                <a:srgbClr val="1F3864"/>
              </a:solidFill>
            </a:endParaRPr>
          </a:p>
        </p:txBody>
      </p:sp>
      <p:sp>
        <p:nvSpPr>
          <p:cNvPr id="3" name="Question 1"/>
          <p:cNvSpPr/>
          <p:nvPr/>
        </p:nvSpPr>
        <p:spPr>
          <a:xfrm>
            <a:off x="838200" y="107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1</a:t>
            </a:r>
            <a:r>
              <a:rPr lang="en-US" b="1">
                <a:solidFill>
                  <a:srgbClr val="000000"/>
                </a:solidFill>
              </a:rPr>
              <a:t>   What is a stratified random sample?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4" name="Answer 1"/>
          <p:cNvSpPr txBox="1"/>
          <p:nvPr/>
        </p:nvSpPr>
        <p:spPr>
          <a:xfrm>
            <a:off x="1066800" y="1655688"/>
            <a:ext cx="10058400" cy="6502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Split the population into groups of similar units (strata), then take a separate SRS inside every stratum.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5" name="Question 2"/>
          <p:cNvSpPr/>
          <p:nvPr/>
        </p:nvSpPr>
        <p:spPr>
          <a:xfrm>
            <a:off x="838200" y="238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2</a:t>
            </a:r>
            <a:r>
              <a:rPr lang="en-US" b="1">
                <a:solidFill>
                  <a:srgbClr val="000000"/>
                </a:solidFill>
              </a:rPr>
              <a:t>   What is a cluster sample?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6" name="Answer 2"/>
          <p:cNvSpPr txBox="1"/>
          <p:nvPr/>
        </p:nvSpPr>
        <p:spPr>
          <a:xfrm>
            <a:off x="1066800" y="2965688"/>
            <a:ext cx="10058400" cy="5892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Take an SRS of naturally occurring groups (clusters), then measure every unit in the clusters chosen.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7" name="Question 3"/>
          <p:cNvSpPr/>
          <p:nvPr/>
        </p:nvSpPr>
        <p:spPr>
          <a:xfrm>
            <a:off x="838200" y="369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3</a:t>
            </a:r>
            <a:r>
              <a:rPr lang="en-US" b="1">
                <a:solidFill>
                  <a:srgbClr val="000000"/>
                </a:solidFill>
              </a:rPr>
              <a:t>   What is a two-stage cluster sample?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8" name="Answer 3"/>
          <p:cNvSpPr txBox="1"/>
          <p:nvPr/>
        </p:nvSpPr>
        <p:spPr>
          <a:xfrm>
            <a:off x="1066800" y="427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Stage 1: an SRS of clusters. Stage 2: an SRS of units inside each chosen cluster, not all of them.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66091C9-B7EB-6BBE-A602-1479CDF97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</a:t>
            </a:fld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3513633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05104"/>
          </a:xfrm>
        </p:spPr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Review</a:t>
            </a:r>
            <a:endParaRPr lang="en-US" dirty="0">
              <a:solidFill>
                <a:srgbClr val="1F3864"/>
              </a:solidFill>
            </a:endParaRPr>
          </a:p>
        </p:txBody>
      </p:sp>
      <p:sp>
        <p:nvSpPr>
          <p:cNvPr id="3" name="Question 1"/>
          <p:cNvSpPr/>
          <p:nvPr/>
        </p:nvSpPr>
        <p:spPr>
          <a:xfrm>
            <a:off x="838200" y="107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4</a:t>
            </a:r>
            <a:r>
              <a:rPr lang="en-US" b="1">
                <a:solidFill>
                  <a:srgbClr val="000000"/>
                </a:solidFill>
              </a:rPr>
              <a:t>   What is undercoverage?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4" name="Answer 1"/>
          <p:cNvSpPr txBox="1"/>
          <p:nvPr/>
        </p:nvSpPr>
        <p:spPr>
          <a:xfrm>
            <a:off x="1066800" y="1655688"/>
            <a:ext cx="10058400" cy="6502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The sampling frame leaves part of the population out, so those units cannot be chosen at all.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5" name="Question 2"/>
          <p:cNvSpPr/>
          <p:nvPr/>
        </p:nvSpPr>
        <p:spPr>
          <a:xfrm>
            <a:off x="838200" y="238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5</a:t>
            </a:r>
            <a:r>
              <a:rPr lang="en-US" b="1">
                <a:solidFill>
                  <a:srgbClr val="000000"/>
                </a:solidFill>
              </a:rPr>
              <a:t>   What is nonresponse?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6" name="Answer 2"/>
          <p:cNvSpPr txBox="1"/>
          <p:nvPr/>
        </p:nvSpPr>
        <p:spPr>
          <a:xfrm>
            <a:off x="1066800" y="2965688"/>
            <a:ext cx="10058400" cy="5892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People who were chosen cannot be reached, or they refuse to answer.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7" name="Question 3"/>
          <p:cNvSpPr/>
          <p:nvPr/>
        </p:nvSpPr>
        <p:spPr>
          <a:xfrm>
            <a:off x="838200" y="369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6</a:t>
            </a:r>
            <a:r>
              <a:rPr lang="en-US" b="1">
                <a:solidFill>
                  <a:srgbClr val="000000"/>
                </a:solidFill>
              </a:rPr>
              <a:t>   What is response bias?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8" name="Answer 3"/>
          <p:cNvSpPr txBox="1"/>
          <p:nvPr/>
        </p:nvSpPr>
        <p:spPr>
          <a:xfrm>
            <a:off x="1066800" y="427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The answers themselves are wrong - leading questions, sensitive topics, or wanting to please the interviewer.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66091C9-B7EB-6BBE-A602-1479CDF97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4</a:t>
            </a:fld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19734606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00CE20B6-38A7-15FC-A780-9236ED5B251A}"/>
              </a:ext>
            </a:extLst>
          </p:cNvPr>
          <p:cNvSpPr/>
          <p:nvPr/>
        </p:nvSpPr>
        <p:spPr>
          <a:xfrm>
            <a:off x="635000" y="1752600"/>
            <a:ext cx="10922000" cy="22860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9963740-143A-20EF-58DF-B74D9BEEB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Your course project: Part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E86C05-48F2-7DC9-0EF2-19875F895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905000"/>
            <a:ext cx="10668000" cy="4064000"/>
          </a:xfrm>
        </p:spPr>
        <p:txBody>
          <a:bodyPr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Part 3</a:t>
            </a:r>
            <a:r>
              <a:rPr lang="en-US" sz="1600"/>
              <a:t> asks you to draw a sample of 20 to 30 observations from your dataset</a:t>
            </a:r>
          </a:p>
          <a:p>
            <a:r>
              <a:rPr lang="en-US" sz="1600"/>
              <a:t>Pick a design: simple random, systematic, stratified or cluster sampling</a:t>
            </a:r>
          </a:p>
          <a:p>
            <a:r>
              <a:rPr lang="en-US" sz="1600"/>
              <a:t>Say exactly how you drew it - the method, n, and the tool - so someone else could repeat it</a:t>
            </a:r>
          </a:p>
          <a:p>
            <a:r>
              <a:rPr lang="en-US" sz="1600"/>
              <a:t>Justify the choice for YOUR data: is there a natural group to stratify on? natural clusters?</a:t>
            </a:r>
          </a:p>
          <a:p>
            <a:r>
              <a:rPr lang="en-US" sz="1600"/>
              <a:t>Name any bias your method could introduce</a:t>
            </a:r>
          </a:p>
          <a:p>
            <a:r>
              <a:rPr lang="en-US" sz="1600" b="1">
                <a:solidFill>
                  <a:srgbClr val="C00000"/>
                </a:solidFill>
              </a:rPr>
              <a:t>Steps 1 to 4</a:t>
            </a:r>
            <a:r>
              <a:rPr lang="en-US" sz="1600"/>
              <a:t> of the project can be started as soon as this lecture is finished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C69CF3-35F0-165A-7204-570EF6498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5</a:t>
            </a:fld>
            <a:endParaRPr lang="en-US" sz="1600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14587468-C3E1-89FF-09F9-A150441DB070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0814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2B5552-A4BF-1448-5C51-D2350D33A4B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Part 2</a:t>
            </a:r>
            <a:br>
              <a:rPr lang="en-US">
                <a:solidFill>
                  <a:srgbClr val="1F3864"/>
                </a:solidFill>
              </a:rPr>
            </a:br>
            <a:r>
              <a:rPr lang="en-US">
                <a:solidFill>
                  <a:srgbClr val="1F3864"/>
                </a:solidFill>
              </a:rPr>
              <a:t>Experiments and Causation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B0AEAD4-41B8-DB7F-DFB2-FA8D0099C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6</a:t>
            </a:fld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35205221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Definition card">
            <a:extLst>
              <a:ext uri="{FF2B5EF4-FFF2-40B4-BE49-F238E27FC236}">
                <a16:creationId xmlns:a16="http://schemas.microsoft.com/office/drawing/2014/main" id="{BA60B263-976A-5CE5-8272-06ECCD1782D2}"/>
              </a:ext>
            </a:extLst>
          </p:cNvPr>
          <p:cNvSpPr/>
          <p:nvPr/>
        </p:nvSpPr>
        <p:spPr>
          <a:xfrm>
            <a:off x="762000" y="449072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efinition card">
            <a:extLst>
              <a:ext uri="{FF2B5EF4-FFF2-40B4-BE49-F238E27FC236}">
                <a16:creationId xmlns:a16="http://schemas.microsoft.com/office/drawing/2014/main" id="{73797005-D6BA-BE76-B18D-7DB36CA669FC}"/>
              </a:ext>
            </a:extLst>
          </p:cNvPr>
          <p:cNvSpPr/>
          <p:nvPr/>
        </p:nvSpPr>
        <p:spPr>
          <a:xfrm>
            <a:off x="762000" y="358648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efinition card">
            <a:extLst>
              <a:ext uri="{FF2B5EF4-FFF2-40B4-BE49-F238E27FC236}">
                <a16:creationId xmlns:a16="http://schemas.microsoft.com/office/drawing/2014/main" id="{069840F7-0E13-9381-8D34-7E063722E17D}"/>
              </a:ext>
            </a:extLst>
          </p:cNvPr>
          <p:cNvSpPr/>
          <p:nvPr/>
        </p:nvSpPr>
        <p:spPr>
          <a:xfrm>
            <a:off x="762000" y="268224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efinition card">
            <a:extLst>
              <a:ext uri="{FF2B5EF4-FFF2-40B4-BE49-F238E27FC236}">
                <a16:creationId xmlns:a16="http://schemas.microsoft.com/office/drawing/2014/main" id="{E51AF47B-0951-E409-02DA-7B830ECEC321}"/>
              </a:ext>
            </a:extLst>
          </p:cNvPr>
          <p:cNvSpPr/>
          <p:nvPr/>
        </p:nvSpPr>
        <p:spPr>
          <a:xfrm>
            <a:off x="762000" y="177800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FA2C48-23E4-4878-293C-39723AFED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Observational studies and experiments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06904D-CB03-8A6F-22D8-860FA1416B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7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FB3D1F-9CFB-F8B7-A4BB-31E30E9ABF20}"/>
              </a:ext>
            </a:extLst>
          </p:cNvPr>
          <p:cNvSpPr txBox="1"/>
          <p:nvPr/>
        </p:nvSpPr>
        <p:spPr>
          <a:xfrm>
            <a:off x="914400" y="18796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response variable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2D33E3-5943-711A-B3A7-4F7C76D2D91F}"/>
              </a:ext>
            </a:extLst>
          </p:cNvPr>
          <p:cNvSpPr txBox="1"/>
          <p:nvPr/>
        </p:nvSpPr>
        <p:spPr>
          <a:xfrm>
            <a:off x="4013200" y="187959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outcome we measure</a:t>
            </a:r>
          </a:p>
          <a:p>
            <a:r>
              <a:rPr lang="en-US" i="1">
                <a:solidFill>
                  <a:srgbClr val="595959"/>
                </a:solidFill>
              </a:rPr>
              <a:t>heart disease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A1B318-B44F-515D-1570-E10C21509C1A}"/>
              </a:ext>
            </a:extLst>
          </p:cNvPr>
          <p:cNvSpPr txBox="1"/>
          <p:nvPr/>
        </p:nvSpPr>
        <p:spPr>
          <a:xfrm>
            <a:off x="914400" y="278384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explanatory variable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48F129D-9E98-47B7-99C4-3797F7604661}"/>
              </a:ext>
            </a:extLst>
          </p:cNvPr>
          <p:cNvSpPr txBox="1"/>
          <p:nvPr/>
        </p:nvSpPr>
        <p:spPr>
          <a:xfrm>
            <a:off x="4013200" y="278383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variable we think explains or influences the response</a:t>
            </a:r>
          </a:p>
          <a:p>
            <a:r>
              <a:rPr lang="en-US" i="1">
                <a:solidFill>
                  <a:srgbClr val="595959"/>
                </a:solidFill>
              </a:rPr>
              <a:t>hormone therapy (yes or no)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25F996-D838-8944-A200-71D57A7B9D53}"/>
              </a:ext>
            </a:extLst>
          </p:cNvPr>
          <p:cNvSpPr txBox="1"/>
          <p:nvPr/>
        </p:nvSpPr>
        <p:spPr>
          <a:xfrm>
            <a:off x="914400" y="368808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observational study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3CDA115-0F9C-A8C1-A8EF-9F1BE5A2D48E}"/>
              </a:ext>
            </a:extLst>
          </p:cNvPr>
          <p:cNvSpPr txBox="1"/>
          <p:nvPr/>
        </p:nvSpPr>
        <p:spPr>
          <a:xfrm>
            <a:off x="4013200" y="368807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observe individuals and measure variables, without influencing anything</a:t>
            </a:r>
          </a:p>
          <a:p>
            <a:r>
              <a:rPr lang="en-US" i="1">
                <a:solidFill>
                  <a:srgbClr val="595959"/>
                </a:solidFill>
              </a:rPr>
              <a:t>survey women about the hormones they chose to take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02C101-798C-B303-319A-F4AB6DA42C79}"/>
              </a:ext>
            </a:extLst>
          </p:cNvPr>
          <p:cNvSpPr txBox="1"/>
          <p:nvPr/>
        </p:nvSpPr>
        <p:spPr>
          <a:xfrm>
            <a:off x="914400" y="459232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experiment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E91DFC-44B2-46A4-A39A-1243F86B104A}"/>
              </a:ext>
            </a:extLst>
          </p:cNvPr>
          <p:cNvSpPr txBox="1"/>
          <p:nvPr/>
        </p:nvSpPr>
        <p:spPr>
          <a:xfrm>
            <a:off x="4013200" y="459231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researcher deliberately assigns treatments, then measures the response</a:t>
            </a:r>
          </a:p>
          <a:p>
            <a:r>
              <a:rPr lang="en-US" i="1">
                <a:solidFill>
                  <a:srgbClr val="595959"/>
                </a:solidFill>
              </a:rPr>
              <a:t>randomly assign women to hormones or a placebo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2C15352-59F5-E396-6639-A433A1F79951}"/>
              </a:ext>
            </a:extLst>
          </p:cNvPr>
          <p:cNvSpPr txBox="1"/>
          <p:nvPr/>
        </p:nvSpPr>
        <p:spPr>
          <a:xfrm>
            <a:off x="762000" y="542036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1F3864"/>
                </a:solidFill>
              </a:rPr>
              <a:t>Ask: who decided which group each unit ended up in? The units themselves -&gt; observational. The researcher -&gt; experiment.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7F0848F-4234-6352-776D-6A856730F931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4663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9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40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41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42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2" grpId="0"/>
      <p:bldP spid="15" grpId="0"/>
      <p:bldP spid="1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BF846-6815-E010-8F4E-0E679E841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Association is not causation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966D85-78FC-A3ED-348A-07D5FD0BD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8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D88A43-C5A7-802F-BDBD-CCE30CC783EF}"/>
              </a:ext>
            </a:extLst>
          </p:cNvPr>
          <p:cNvSpPr txBox="1"/>
          <p:nvPr/>
        </p:nvSpPr>
        <p:spPr>
          <a:xfrm>
            <a:off x="571500" y="1841500"/>
            <a:ext cx="5334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association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324555-BA7F-CDD8-B0F1-68F3508220D3}"/>
              </a:ext>
            </a:extLst>
          </p:cNvPr>
          <p:cNvSpPr txBox="1"/>
          <p:nvPr/>
        </p:nvSpPr>
        <p:spPr>
          <a:xfrm>
            <a:off x="850900" y="2110740"/>
            <a:ext cx="50546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dirty="0">
                <a:solidFill>
                  <a:srgbClr val="000000"/>
                </a:solidFill>
              </a:rPr>
              <a:t>two variables change together in the data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AEEA9D-6F6C-F4AB-EC91-DDB4B28CCAA3}"/>
              </a:ext>
            </a:extLst>
          </p:cNvPr>
          <p:cNvSpPr txBox="1"/>
          <p:nvPr/>
        </p:nvSpPr>
        <p:spPr>
          <a:xfrm>
            <a:off x="571500" y="2532380"/>
            <a:ext cx="5334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causation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EF420A-5F7F-DABA-6144-A5522D27D0DF}"/>
              </a:ext>
            </a:extLst>
          </p:cNvPr>
          <p:cNvSpPr txBox="1"/>
          <p:nvPr/>
        </p:nvSpPr>
        <p:spPr>
          <a:xfrm>
            <a:off x="850900" y="2801620"/>
            <a:ext cx="50546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changing one variable would change the other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296CCB-5F2E-7A85-75DB-483DA92E48F9}"/>
              </a:ext>
            </a:extLst>
          </p:cNvPr>
          <p:cNvSpPr txBox="1"/>
          <p:nvPr/>
        </p:nvSpPr>
        <p:spPr>
          <a:xfrm>
            <a:off x="571500" y="3223260"/>
            <a:ext cx="5334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lurking variable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1A6BA3-C0B9-84D6-D5F1-8F2A8EC788BC}"/>
              </a:ext>
            </a:extLst>
          </p:cNvPr>
          <p:cNvSpPr txBox="1"/>
          <p:nvPr/>
        </p:nvSpPr>
        <p:spPr>
          <a:xfrm>
            <a:off x="850900" y="3492499"/>
            <a:ext cx="50546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a variable not in the study that influences both the explanatory and the response variable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96F8AA2-EB6E-B099-A9C7-80584E6C21C7}"/>
              </a:ext>
            </a:extLst>
          </p:cNvPr>
          <p:cNvSpPr txBox="1"/>
          <p:nvPr/>
        </p:nvSpPr>
        <p:spPr>
          <a:xfrm>
            <a:off x="571500" y="4157980"/>
            <a:ext cx="5334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confounded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B9E3446-E4E6-ABA6-1DE4-FE0D3ACC824E}"/>
              </a:ext>
            </a:extLst>
          </p:cNvPr>
          <p:cNvSpPr txBox="1"/>
          <p:nvPr/>
        </p:nvSpPr>
        <p:spPr>
          <a:xfrm>
            <a:off x="850900" y="4427219"/>
            <a:ext cx="50546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two variables whose effects on the response cannot be separated</a:t>
            </a:r>
          </a:p>
        </p:txBody>
      </p:sp>
      <p:pic>
        <p:nvPicPr>
          <p:cNvPr id="14" name="l8_confounding.png">
            <a:extLst>
              <a:ext uri="{FF2B5EF4-FFF2-40B4-BE49-F238E27FC236}">
                <a16:creationId xmlns:a16="http://schemas.microsoft.com/office/drawing/2014/main" id="{DA6A759B-A5B3-3C3F-6E71-07F7A5735248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1400" y="1905000"/>
            <a:ext cx="5842000" cy="31750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9DCA095-5637-5F84-8712-02A1A02FE668}"/>
              </a:ext>
            </a:extLst>
          </p:cNvPr>
          <p:cNvSpPr txBox="1"/>
          <p:nvPr/>
        </p:nvSpPr>
        <p:spPr>
          <a:xfrm>
            <a:off x="6121400" y="5206999"/>
            <a:ext cx="5842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Ice cream sales and drownings rise together. The lurking variable: hot weather. The association is real - the causal story is not.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DB65428A-4306-892C-0D7E-F8DB58E21C63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6231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9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40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41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42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  <p:bldP spid="12" grpId="0"/>
      <p:bldP spid="1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9E750-8300-9D79-C9E6-2C0668028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Hormone therapy and heart disease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E14074-70FD-4EAD-C2F1-B98283C2A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9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B82DF3-CBCF-F4EF-48A6-C0BAE1D72E7D}"/>
              </a:ext>
            </a:extLst>
          </p:cNvPr>
          <p:cNvSpPr txBox="1"/>
          <p:nvPr/>
        </p:nvSpPr>
        <p:spPr>
          <a:xfrm>
            <a:off x="762000" y="1905000"/>
            <a:ext cx="10668000" cy="1631216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800"/>
              </a:spcAft>
            </a:pPr>
            <a:r>
              <a:rPr lang="en-US" sz="1600">
                <a:solidFill>
                  <a:srgbClr val="000000"/>
                </a:solidFill>
              </a:rPr>
              <a:t>Large observational studies, such as the Nurses' Health Study, found that women who took hormone therapy after menopause had less heart disease</a:t>
            </a:r>
          </a:p>
          <a:p>
            <a:pPr>
              <a:spcAft>
                <a:spcPts val="800"/>
              </a:spcAft>
            </a:pPr>
            <a:r>
              <a:rPr lang="en-US" sz="1600">
                <a:solidFill>
                  <a:srgbClr val="000000"/>
                </a:solidFill>
              </a:rPr>
              <a:t>The Women's Health Initiative then randomly assigned 16,608 women aged 50 to 79 to estrogen plus progestin or a placebo</a:t>
            </a:r>
          </a:p>
          <a:p>
            <a:pPr>
              <a:spcAft>
                <a:spcPts val="800"/>
              </a:spcAft>
            </a:pPr>
            <a:r>
              <a:rPr lang="en-US" sz="1600">
                <a:solidFill>
                  <a:srgbClr val="000000"/>
                </a:solidFill>
              </a:rPr>
              <a:t>It was stopped early in 2002 because the risks outweighed the benefits: more breast cancer, and MORE heart disease, not less</a:t>
            </a:r>
          </a:p>
          <a:p>
            <a:pPr>
              <a:spcAft>
                <a:spcPts val="800"/>
              </a:spcAft>
            </a:pPr>
            <a:r>
              <a:rPr lang="en-US" sz="1600" b="1">
                <a:solidFill>
                  <a:srgbClr val="1F3864"/>
                </a:solidFill>
              </a:rPr>
              <a:t>Why did the observational studies point the wrong way?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BE0274B-59F9-AB74-8F9A-ACCE67441A4E}"/>
              </a:ext>
            </a:extLst>
          </p:cNvPr>
          <p:cNvSpPr/>
          <p:nvPr/>
        </p:nvSpPr>
        <p:spPr>
          <a:xfrm>
            <a:off x="762000" y="3590290"/>
            <a:ext cx="10668000" cy="245491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/>
          <a:lstStyle/>
          <a:p>
            <a:r>
              <a:rPr lang="en-US" sz="1600" b="1" dirty="0">
                <a:solidFill>
                  <a:srgbClr val="C00000"/>
                </a:solidFill>
              </a:rPr>
              <a:t>Lurking variables.</a:t>
            </a:r>
          </a:p>
          <a:p>
            <a:r>
              <a:rPr lang="en-US" sz="1600" dirty="0">
                <a:solidFill>
                  <a:srgbClr val="000000"/>
                </a:solidFill>
              </a:rPr>
              <a:t>Women who chose hormone therapy tended to be wealthier, better educated and healthier to start with - and that,</a:t>
            </a:r>
          </a:p>
          <a:p>
            <a:r>
              <a:rPr lang="en-US" sz="1600" dirty="0">
                <a:solidFill>
                  <a:srgbClr val="000000"/>
                </a:solidFill>
              </a:rPr>
              <a:t>not the hormones, lowered their heart risk. Random assignment balanced those differences out in the 2002.</a:t>
            </a:r>
            <a:br>
              <a:rPr lang="en-US" sz="1600" dirty="0">
                <a:solidFill>
                  <a:srgbClr val="000000"/>
                </a:solidFill>
              </a:rPr>
            </a:br>
            <a:br>
              <a:rPr lang="en-US" sz="1600" dirty="0">
                <a:solidFill>
                  <a:srgbClr val="000000"/>
                </a:solidFill>
              </a:rPr>
            </a:br>
            <a:r>
              <a:rPr lang="en-US" sz="1600" dirty="0">
                <a:solidFill>
                  <a:srgbClr val="000000"/>
                </a:solidFill>
              </a:rPr>
              <a:t>The 2002 study however, did not have a representative population, nor did they consider dosage. This impacted their observations on cancer risk and heart disease risk. </a:t>
            </a:r>
            <a:br>
              <a:rPr lang="en-US" sz="1600" dirty="0">
                <a:solidFill>
                  <a:srgbClr val="000000"/>
                </a:solidFill>
              </a:rPr>
            </a:br>
            <a:br>
              <a:rPr lang="en-US" sz="1600" dirty="0">
                <a:solidFill>
                  <a:srgbClr val="000000"/>
                </a:solidFill>
              </a:rPr>
            </a:br>
            <a:r>
              <a:rPr lang="en-US" sz="1600" dirty="0">
                <a:solidFill>
                  <a:srgbClr val="000000"/>
                </a:solidFill>
              </a:rPr>
              <a:t>More recent research has shown that HRT lowers heart disease risk if taken, at an appropriate dosage, during perimenopause or within 10 years of menopause onset.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9830291-3BFE-7470-EF0A-843217C4F363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Source: Writing Group for the WHI Investigators (2002), JAMA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88B02BED-2AE5-639A-9FB5-0563AC06183F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7835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9E750-8300-9D79-C9E6-2C0668028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Coffee and the risk of death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E14074-70FD-4EAD-C2F1-B98283C2A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10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B82DF3-CBCF-F4EF-48A6-C0BAE1D72E7D}"/>
              </a:ext>
            </a:extLst>
          </p:cNvPr>
          <p:cNvSpPr txBox="1"/>
          <p:nvPr/>
        </p:nvSpPr>
        <p:spPr>
          <a:xfrm>
            <a:off x="762000" y="1905000"/>
            <a:ext cx="10668000" cy="1631216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800"/>
              </a:spcAft>
            </a:pPr>
            <a:r>
              <a:rPr lang="en-US" sz="1600">
                <a:solidFill>
                  <a:srgbClr val="000000"/>
                </a:solidFill>
              </a:rPr>
              <a:t>The NIH-AARP study followed 402,260 adults aged 50 to 71 from 1995 to 2008. Before adjusting for anything but age, men who drank 6+ cups of coffee a day had a 60% HIGHER risk of death than men who drank none</a:t>
            </a:r>
          </a:p>
          <a:p>
            <a:pPr>
              <a:spcAft>
                <a:spcPts val="800"/>
              </a:spcAft>
            </a:pPr>
            <a:r>
              <a:rPr lang="en-US" sz="1600">
                <a:solidFill>
                  <a:srgbClr val="000000"/>
                </a:solidFill>
              </a:rPr>
              <a:t>But 35% of those heavy coffee drinkers smoked, compared with 5% of the men who drank no coffee</a:t>
            </a:r>
          </a:p>
          <a:p>
            <a:pPr>
              <a:spcAft>
                <a:spcPts val="800"/>
              </a:spcAft>
            </a:pPr>
            <a:r>
              <a:rPr lang="en-US" sz="1600">
                <a:solidFill>
                  <a:srgbClr val="000000"/>
                </a:solidFill>
              </a:rPr>
              <a:t>After adjusting for smoking and other factors, the same men had a 10% LOWER risk of death - and fewer deaths from heart disease</a:t>
            </a:r>
          </a:p>
          <a:p>
            <a:pPr>
              <a:spcAft>
                <a:spcPts val="800"/>
              </a:spcAft>
            </a:pPr>
            <a:r>
              <a:rPr lang="en-US" sz="1600">
                <a:solidFill>
                  <a:srgbClr val="000000"/>
                </a:solidFill>
              </a:rPr>
              <a:t>Since then, better-adjusted studies point the other way: 5+ cups a day went with less cirrhosis and liver cancer (UK Biobank, 2026), and the AHA (2026) finds coffee either unrelated to or associated with LOWER heart disease</a:t>
            </a:r>
          </a:p>
          <a:p>
            <a:pPr>
              <a:spcAft>
                <a:spcPts val="800"/>
              </a:spcAft>
            </a:pPr>
            <a:r>
              <a:rPr lang="en-US" sz="1600" b="1">
                <a:solidFill>
                  <a:srgbClr val="1F3864"/>
                </a:solidFill>
              </a:rPr>
              <a:t>Why did the coffee effect flip?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BE0274B-59F9-AB74-8F9A-ACCE67441A4E}"/>
              </a:ext>
            </a:extLst>
          </p:cNvPr>
          <p:cNvSpPr/>
          <p:nvPr/>
        </p:nvSpPr>
        <p:spPr>
          <a:xfrm>
            <a:off x="762000" y="4597400"/>
            <a:ext cx="10668000" cy="13208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/>
          <a:lstStyle/>
          <a:p>
            <a:r>
              <a:rPr lang="en-US" sz="1600" b="1">
                <a:solidFill>
                  <a:srgbClr val="C00000"/>
                </a:solidFill>
              </a:rPr>
              <a:t>Lurking variable: smoking.</a:t>
            </a:r>
          </a:p>
          <a:p>
            <a:r>
              <a:rPr lang="en-US" sz="1600">
                <a:solidFill>
                  <a:srgbClr val="000000"/>
                </a:solidFill>
              </a:rPr>
              <a:t>Heavy coffee drinkers smoked far more, and smoking - not coffee - raised their risk. Even after adjusting, the authors say they cannot tell whether coffee itself helps.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9830291-3BFE-7470-EF0A-843217C4F363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Sources: Freedman et al. (2012), NEJM; Kim et al. (2026), Clin Gastroenterol Hepatol; Marcus et al. (2026), Circulation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88B02BED-2AE5-639A-9FB5-0563AC06183F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18426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9C90A-874C-9408-C3AA-9D7B0825B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Can we claim cause without an experiment?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680207-1BC0-55AF-A06B-5004730EF1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905000"/>
            <a:ext cx="10668000" cy="4064000"/>
          </a:xfrm>
        </p:spPr>
        <p:txBody>
          <a:bodyPr>
            <a:noAutofit/>
          </a:bodyPr>
          <a:lstStyle/>
          <a:p>
            <a:r>
              <a:rPr lang="en-US" sz="1600"/>
              <a:t>Nobody can randomly assign people to smoke for thirty years - or randomly assign their birth order</a:t>
            </a:r>
          </a:p>
          <a:p>
            <a:r>
              <a:rPr lang="en-US" sz="1600"/>
              <a:t>Yet we are confident that smoking causes lung cancer. Decades of observational studies found:</a:t>
            </a:r>
          </a:p>
          <a:p>
            <a:pPr lvl="1"/>
            <a:r>
              <a:rPr lang="en-US" sz="1600"/>
              <a:t>a strong association, found again and again in different populations</a:t>
            </a:r>
          </a:p>
          <a:p>
            <a:pPr lvl="1"/>
            <a:r>
              <a:rPr lang="en-US" sz="1600"/>
              <a:t>a dose-response pattern: the more cigarettes, the higher the risk</a:t>
            </a:r>
          </a:p>
          <a:p>
            <a:pPr lvl="1"/>
            <a:r>
              <a:rPr lang="en-US" sz="1600"/>
              <a:t>the right order in time: the smoking comes before the cancer</a:t>
            </a:r>
          </a:p>
          <a:p>
            <a:pPr lvl="1"/>
            <a:r>
              <a:rPr lang="en-US" sz="1600"/>
              <a:t>a plausible biological explanation, backed by laboratory evidence</a:t>
            </a:r>
          </a:p>
          <a:p>
            <a:r>
              <a:rPr lang="en-US" sz="1600"/>
              <a:t>The 2014 Surgeon General's report: smoking causes at least 480,000 premature U.S. deaths a year, about 127,700 of them from lung cancer</a:t>
            </a:r>
          </a:p>
          <a:p>
            <a:r>
              <a:rPr lang="en-US" sz="1600"/>
              <a:t>Without an experiment, a causal claim needs this much evidence - </a:t>
            </a:r>
            <a:r>
              <a:rPr lang="en-US" sz="1600" b="1">
                <a:solidFill>
                  <a:srgbClr val="C00000"/>
                </a:solidFill>
              </a:rPr>
              <a:t>never one study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D729E7-FFA2-29BB-2354-01F49A3A9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11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A0B40C-8745-6E52-D76C-46CA53ABD2E4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Source: U.S. Department of Health and Human Services (2014)</a:t>
            </a:r>
          </a:p>
        </p:txBody>
      </p:sp>
      <p:sp>
        <p:nvSpPr>
          <p:cNvPr id="6" name="Title rule">
            <a:extLst>
              <a:ext uri="{FF2B5EF4-FFF2-40B4-BE49-F238E27FC236}">
                <a16:creationId xmlns:a16="http://schemas.microsoft.com/office/drawing/2014/main" id="{1939F72A-BEBD-8766-65C6-B4203F49E6A9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6072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2AF1E-8589-CA56-2E20-310C69FEA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Back to light at night and the heart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015A37-0A40-9416-1F1A-D02A04EF8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12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5A0F3E-BC1C-AB3C-7C49-4F27FBFE7DC9}"/>
              </a:ext>
            </a:extLst>
          </p:cNvPr>
          <p:cNvSpPr txBox="1"/>
          <p:nvPr/>
        </p:nvSpPr>
        <p:spPr>
          <a:xfrm>
            <a:off x="762000" y="18414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Recall the UK Biobank light-at-night study from Monday: 11,071 adults wore a wrist light sensor for 7 days in 2013-2015, then had a heart MRI about 3 years later.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7D82CE-DE26-541E-BE77-216218034116}"/>
              </a:ext>
            </a:extLst>
          </p:cNvPr>
          <p:cNvSpPr txBox="1"/>
          <p:nvPr/>
        </p:nvSpPr>
        <p:spPr>
          <a:xfrm>
            <a:off x="762000" y="25577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Is this an observational study or an experiment?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C8CA01-16A8-B0CA-E9BB-3617458ABCFE}"/>
              </a:ext>
            </a:extLst>
          </p:cNvPr>
          <p:cNvSpPr txBox="1"/>
          <p:nvPr/>
        </p:nvSpPr>
        <p:spPr>
          <a:xfrm>
            <a:off x="1117600" y="285242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Observational. Nobody was assigned a bright or a dark bedroom - the light people already had was measured.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4BB752-313E-E3BB-C8C6-DE8F8D782176}"/>
              </a:ext>
            </a:extLst>
          </p:cNvPr>
          <p:cNvSpPr txBox="1"/>
          <p:nvPr/>
        </p:nvSpPr>
        <p:spPr>
          <a:xfrm>
            <a:off x="762000" y="335026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People with the most light above 3 lux had 1.5% thicker heart walls than people with none. Did the light cause it?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CF69E3-89A7-0A3C-BBC9-7A78B36DF97D}"/>
              </a:ext>
            </a:extLst>
          </p:cNvPr>
          <p:cNvSpPr txBox="1"/>
          <p:nvPr/>
        </p:nvSpPr>
        <p:spPr>
          <a:xfrm>
            <a:off x="1117600" y="364490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This study cannot tell us. It shows an association - the authors say their design cannot establish cause.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917509-9C7A-F531-8F14-27897C39BE49}"/>
              </a:ext>
            </a:extLst>
          </p:cNvPr>
          <p:cNvSpPr txBox="1"/>
          <p:nvPr/>
        </p:nvSpPr>
        <p:spPr>
          <a:xfrm>
            <a:off x="762000" y="414274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The press release was titled “Too much light at night changes the shape and working of the heart.” Fair?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9195F8-8C3F-F2C2-86AF-1FB585FE33AE}"/>
              </a:ext>
            </a:extLst>
          </p:cNvPr>
          <p:cNvSpPr txBox="1"/>
          <p:nvPr/>
        </p:nvSpPr>
        <p:spPr>
          <a:xfrm>
            <a:off x="1117600" y="443738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It goes too far. The paper says more night light was associated with these changes, not that it changed the heart.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D8609FA-BB60-2749-A121-ABA24D881BCD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Sources: Dai et al. (2026) and Münzel, Kuntic and Daiber (2026), European Heart Journal; ESC press release (2026)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44D05FFE-5C77-3343-F6ED-D73A8174B663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9350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1C2DC-B562-4055-A05F-8710B472D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Light at night: how strong is the evidence?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E2B145-B9E0-9EDE-7846-E574CD9CB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13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4AEBD8-9C55-5C87-F654-606BB91A9C10}"/>
              </a:ext>
            </a:extLst>
          </p:cNvPr>
          <p:cNvSpPr txBox="1"/>
          <p:nvPr/>
        </p:nvSpPr>
        <p:spPr>
          <a:xfrm>
            <a:off x="762000" y="18414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The authors adjusted for age, smoking, physical activity, BMI, air pollution, deprivation and more. The heart changes grew steadily as night light went up.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AA5382-396D-E973-8156-DC5F1BD9BB9E}"/>
              </a:ext>
            </a:extLst>
          </p:cNvPr>
          <p:cNvSpPr txBox="1"/>
          <p:nvPr/>
        </p:nvSpPr>
        <p:spPr>
          <a:xfrm>
            <a:off x="762000" y="25577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They adjusted for many variables. Is that as good as random assignment?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A6341D-833D-A973-E4BF-28891FD5C0E1}"/>
              </a:ext>
            </a:extLst>
          </p:cNvPr>
          <p:cNvSpPr txBox="1"/>
          <p:nvPr/>
        </p:nvSpPr>
        <p:spPr>
          <a:xfrm>
            <a:off x="1117600" y="285242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No. Adjusting only handles what was measured. Traffic noise was not, and the editorial says it could confound.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FA17D4-67C2-6627-E29A-DF60916A80D5}"/>
              </a:ext>
            </a:extLst>
          </p:cNvPr>
          <p:cNvSpPr txBox="1"/>
          <p:nvPr/>
        </p:nvSpPr>
        <p:spPr>
          <a:xfrm>
            <a:off x="762000" y="335026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Which features from the smoking evidence does this study have? What is it missing?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4B5EC4-D245-95DB-F64C-842A74A83A0B}"/>
              </a:ext>
            </a:extLst>
          </p:cNvPr>
          <p:cNvSpPr txBox="1"/>
          <p:nvPr/>
        </p:nvSpPr>
        <p:spPr>
          <a:xfrm>
            <a:off x="1117600" y="364490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Time order, a dose-response and a plausible link (shorter sleep). Missing: many studies finding it again.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303FFF-2F51-C42D-11A4-AF232C48DCA4}"/>
              </a:ext>
            </a:extLst>
          </p:cNvPr>
          <p:cNvSpPr txBox="1"/>
          <p:nvPr/>
        </p:nvSpPr>
        <p:spPr>
          <a:xfrm>
            <a:off x="762000" y="414274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The participants were volunteers, mostly White and healthier than average. Who can we generalize to?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48E4E28-6180-4AD7-A8E4-C0D783A498E4}"/>
              </a:ext>
            </a:extLst>
          </p:cNvPr>
          <p:cNvSpPr txBox="1"/>
          <p:nvPr/>
        </p:nvSpPr>
        <p:spPr>
          <a:xfrm>
            <a:off x="1117600" y="443738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Only people like them. Volunteers are not a random sample of any population.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DE55E86-0C35-38F8-CFD9-DADE4335E1C9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Sources: Dai et al. (2026) and Münzel, Kuntic and Daiber (2026), European Heart Journal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2CA0A45-4556-612D-4893-11505401BA1E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2997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Definition card">
            <a:extLst>
              <a:ext uri="{FF2B5EF4-FFF2-40B4-BE49-F238E27FC236}">
                <a16:creationId xmlns:a16="http://schemas.microsoft.com/office/drawing/2014/main" id="{5B6B4083-6A76-3AB1-6E4E-BD2ABB06907C}"/>
              </a:ext>
            </a:extLst>
          </p:cNvPr>
          <p:cNvSpPr/>
          <p:nvPr/>
        </p:nvSpPr>
        <p:spPr>
          <a:xfrm>
            <a:off x="762000" y="458470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Definition card">
            <a:extLst>
              <a:ext uri="{FF2B5EF4-FFF2-40B4-BE49-F238E27FC236}">
                <a16:creationId xmlns:a16="http://schemas.microsoft.com/office/drawing/2014/main" id="{728E254B-B963-8B15-E6D8-B608C62B921F}"/>
              </a:ext>
            </a:extLst>
          </p:cNvPr>
          <p:cNvSpPr/>
          <p:nvPr/>
        </p:nvSpPr>
        <p:spPr>
          <a:xfrm>
            <a:off x="762000" y="389890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efinition card">
            <a:extLst>
              <a:ext uri="{FF2B5EF4-FFF2-40B4-BE49-F238E27FC236}">
                <a16:creationId xmlns:a16="http://schemas.microsoft.com/office/drawing/2014/main" id="{56B8FF7B-CD8F-BC90-921C-D691BD6A67E6}"/>
              </a:ext>
            </a:extLst>
          </p:cNvPr>
          <p:cNvSpPr/>
          <p:nvPr/>
        </p:nvSpPr>
        <p:spPr>
          <a:xfrm>
            <a:off x="762000" y="321310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efinition card">
            <a:extLst>
              <a:ext uri="{FF2B5EF4-FFF2-40B4-BE49-F238E27FC236}">
                <a16:creationId xmlns:a16="http://schemas.microsoft.com/office/drawing/2014/main" id="{4A85B32D-EFA9-B551-D206-9D3E66E3F717}"/>
              </a:ext>
            </a:extLst>
          </p:cNvPr>
          <p:cNvSpPr/>
          <p:nvPr/>
        </p:nvSpPr>
        <p:spPr>
          <a:xfrm>
            <a:off x="762000" y="252730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efinition card">
            <a:extLst>
              <a:ext uri="{FF2B5EF4-FFF2-40B4-BE49-F238E27FC236}">
                <a16:creationId xmlns:a16="http://schemas.microsoft.com/office/drawing/2014/main" id="{A388A91A-393F-5A40-E3CF-608DDC8059D1}"/>
              </a:ext>
            </a:extLst>
          </p:cNvPr>
          <p:cNvSpPr/>
          <p:nvPr/>
        </p:nvSpPr>
        <p:spPr>
          <a:xfrm>
            <a:off x="762000" y="184150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B7F31B9-1873-4E71-A9F4-6BEDD3C38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The language of experiments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DEA6BA-8F68-5854-36C7-853E531DE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14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900F10-CA11-2A25-8C44-81AF34F24A47}"/>
              </a:ext>
            </a:extLst>
          </p:cNvPr>
          <p:cNvSpPr txBox="1"/>
          <p:nvPr/>
        </p:nvSpPr>
        <p:spPr>
          <a:xfrm>
            <a:off x="914400" y="19431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experimental units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9862C4-1503-054A-E3F5-C010116F1698}"/>
              </a:ext>
            </a:extLst>
          </p:cNvPr>
          <p:cNvSpPr txBox="1"/>
          <p:nvPr/>
        </p:nvSpPr>
        <p:spPr>
          <a:xfrm>
            <a:off x="4013200" y="194310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individuals or objects the treatments are applied to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C96D211-16DE-824A-0C3A-1EABE54E5A1C}"/>
              </a:ext>
            </a:extLst>
          </p:cNvPr>
          <p:cNvSpPr txBox="1"/>
          <p:nvPr/>
        </p:nvSpPr>
        <p:spPr>
          <a:xfrm>
            <a:off x="914400" y="26289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subjects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AA2096-A3E1-2E74-6B4B-55BEC2D4DA9D}"/>
              </a:ext>
            </a:extLst>
          </p:cNvPr>
          <p:cNvSpPr txBox="1"/>
          <p:nvPr/>
        </p:nvSpPr>
        <p:spPr>
          <a:xfrm>
            <a:off x="4013200" y="262890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experimental units that are people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36A0A0-6B40-F51C-D006-7E6530D26A22}"/>
              </a:ext>
            </a:extLst>
          </p:cNvPr>
          <p:cNvSpPr txBox="1"/>
          <p:nvPr/>
        </p:nvSpPr>
        <p:spPr>
          <a:xfrm>
            <a:off x="914400" y="33147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factor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EB905AE-3467-B06B-3986-9E632C2A8492}"/>
              </a:ext>
            </a:extLst>
          </p:cNvPr>
          <p:cNvSpPr txBox="1"/>
          <p:nvPr/>
        </p:nvSpPr>
        <p:spPr>
          <a:xfrm>
            <a:off x="4013200" y="331470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an explanatory variable the researcher controls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6B1DD15-BDEF-1360-23DE-61EE06C8C957}"/>
              </a:ext>
            </a:extLst>
          </p:cNvPr>
          <p:cNvSpPr txBox="1"/>
          <p:nvPr/>
        </p:nvSpPr>
        <p:spPr>
          <a:xfrm>
            <a:off x="914400" y="40005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levels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E4EB79A-241B-7774-AEC9-725D191F6A33}"/>
              </a:ext>
            </a:extLst>
          </p:cNvPr>
          <p:cNvSpPr txBox="1"/>
          <p:nvPr/>
        </p:nvSpPr>
        <p:spPr>
          <a:xfrm>
            <a:off x="4013200" y="400050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specific values a factor is set to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4BD3C7A-A136-6A70-0060-76FF802CDFEA}"/>
              </a:ext>
            </a:extLst>
          </p:cNvPr>
          <p:cNvSpPr txBox="1"/>
          <p:nvPr/>
        </p:nvSpPr>
        <p:spPr>
          <a:xfrm>
            <a:off x="914400" y="46863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treatment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DE00C68-AFE6-C72F-A7FD-81B4E594114A}"/>
              </a:ext>
            </a:extLst>
          </p:cNvPr>
          <p:cNvSpPr txBox="1"/>
          <p:nvPr/>
        </p:nvSpPr>
        <p:spPr>
          <a:xfrm>
            <a:off x="4013200" y="468630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condition a unit receives: one combination of factor levels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AE184CCB-0A67-C2ED-C2C8-658794788513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2807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9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40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41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42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2" grpId="0"/>
      <p:bldP spid="15" grpId="0"/>
      <p:bldP spid="1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39F2B-D79C-B061-7D7C-D0E3E9E9F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the VITAL trial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869749-915A-A889-6AF8-EEE3DE2B6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15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54EC98-752B-E4E1-3A6C-D7C162824379}"/>
              </a:ext>
            </a:extLst>
          </p:cNvPr>
          <p:cNvSpPr txBox="1"/>
          <p:nvPr/>
        </p:nvSpPr>
        <p:spPr>
          <a:xfrm>
            <a:off x="762000" y="18414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VITAL randomly assigned 25,871 U.S. adults to vitamin D (2,000 IU a day) or a placebo, AND to omega-3 fish oil (1 g a day) or a placebo, then followed them for about 5 years.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A24511-5DA8-139E-D168-B30F6FC9D645}"/>
              </a:ext>
            </a:extLst>
          </p:cNvPr>
          <p:cNvSpPr txBox="1"/>
          <p:nvPr/>
        </p:nvSpPr>
        <p:spPr>
          <a:xfrm>
            <a:off x="762000" y="25577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What are the experimental units - and what do we call them?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AD3336-BE2D-C5F7-C1A2-C937A4C032A2}"/>
              </a:ext>
            </a:extLst>
          </p:cNvPr>
          <p:cNvSpPr txBox="1"/>
          <p:nvPr/>
        </p:nvSpPr>
        <p:spPr>
          <a:xfrm>
            <a:off x="1117600" y="285242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25,871 adults. They are people, so they are subjects.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03E08D-862C-AF03-64BB-BE6B12D52B9E}"/>
              </a:ext>
            </a:extLst>
          </p:cNvPr>
          <p:cNvSpPr txBox="1"/>
          <p:nvPr/>
        </p:nvSpPr>
        <p:spPr>
          <a:xfrm>
            <a:off x="762000" y="335026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What are the factors, and how many levels does each have?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93DCC8-196D-E1A6-C6DA-904079F554A1}"/>
              </a:ext>
            </a:extLst>
          </p:cNvPr>
          <p:cNvSpPr txBox="1"/>
          <p:nvPr/>
        </p:nvSpPr>
        <p:spPr>
          <a:xfrm>
            <a:off x="1117600" y="364490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Vitamin D and omega-3 - 2 levels each (the supplement or a placebo).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E25D4A-4773-05CB-3292-48B30A495FCF}"/>
              </a:ext>
            </a:extLst>
          </p:cNvPr>
          <p:cNvSpPr txBox="1"/>
          <p:nvPr/>
        </p:nvSpPr>
        <p:spPr>
          <a:xfrm>
            <a:off x="762000" y="414274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How many treatments are there?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F8927A-06B7-68FB-674D-7CEEB23B0E4F}"/>
              </a:ext>
            </a:extLst>
          </p:cNvPr>
          <p:cNvSpPr txBox="1"/>
          <p:nvPr/>
        </p:nvSpPr>
        <p:spPr>
          <a:xfrm>
            <a:off x="1117600" y="443738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2 x 2 = 4: vitamin D + omega-3, vitamin D + placebo, placebo + omega-3, placebo + placebo.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3AC598D-D11F-462C-0B3E-1312AD123B2D}"/>
              </a:ext>
            </a:extLst>
          </p:cNvPr>
          <p:cNvSpPr txBox="1"/>
          <p:nvPr/>
        </p:nvSpPr>
        <p:spPr>
          <a:xfrm>
            <a:off x="762000" y="493522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4.</a:t>
            </a:r>
            <a:r>
              <a:rPr lang="en-US" sz="1600">
                <a:solidFill>
                  <a:srgbClr val="000000"/>
                </a:solidFill>
              </a:rPr>
              <a:t>  What happened?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E32CBC3-2896-472B-A54A-0EF0CDD6FDC6}"/>
              </a:ext>
            </a:extLst>
          </p:cNvPr>
          <p:cNvSpPr txBox="1"/>
          <p:nvPr/>
        </p:nvSpPr>
        <p:spPr>
          <a:xfrm>
            <a:off x="1117600" y="522986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Neither supplement lowered the rate of invasive cancer or of major cardiovascular events.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A15CB9B-7BE5-0C0D-696A-48328ABA1439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Source: Manson et al. (2019), New England Journal of Medicine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3842B88-3FD8-7BBF-86D4-D79A31D0D324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070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  <p:bldP spid="1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Definition card">
            <a:extLst>
              <a:ext uri="{FF2B5EF4-FFF2-40B4-BE49-F238E27FC236}">
                <a16:creationId xmlns:a16="http://schemas.microsoft.com/office/drawing/2014/main" id="{527CC9D9-A452-0F04-D7C0-F8B69F5FD4C0}"/>
              </a:ext>
            </a:extLst>
          </p:cNvPr>
          <p:cNvSpPr/>
          <p:nvPr/>
        </p:nvSpPr>
        <p:spPr>
          <a:xfrm>
            <a:off x="762000" y="375158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efinition card">
            <a:extLst>
              <a:ext uri="{FF2B5EF4-FFF2-40B4-BE49-F238E27FC236}">
                <a16:creationId xmlns:a16="http://schemas.microsoft.com/office/drawing/2014/main" id="{14A0377C-BFF0-B79A-19D7-981494C77764}"/>
              </a:ext>
            </a:extLst>
          </p:cNvPr>
          <p:cNvSpPr/>
          <p:nvPr/>
        </p:nvSpPr>
        <p:spPr>
          <a:xfrm>
            <a:off x="762000" y="279654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efinition card">
            <a:extLst>
              <a:ext uri="{FF2B5EF4-FFF2-40B4-BE49-F238E27FC236}">
                <a16:creationId xmlns:a16="http://schemas.microsoft.com/office/drawing/2014/main" id="{646E8175-71AD-D653-1B18-4535B9169AC0}"/>
              </a:ext>
            </a:extLst>
          </p:cNvPr>
          <p:cNvSpPr/>
          <p:nvPr/>
        </p:nvSpPr>
        <p:spPr>
          <a:xfrm>
            <a:off x="762000" y="184150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0D8048B-F56E-F853-6D78-C470559476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Principles of experimental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2E4708-CDE4-49E1-2123-2142A283F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16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8215F6-8FCE-DFDC-A690-266976110908}"/>
              </a:ext>
            </a:extLst>
          </p:cNvPr>
          <p:cNvSpPr txBox="1"/>
          <p:nvPr/>
        </p:nvSpPr>
        <p:spPr>
          <a:xfrm>
            <a:off x="914400" y="19431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control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FCBEDF8-CA87-BB2E-E7CC-E75E0EBDCEEF}"/>
              </a:ext>
            </a:extLst>
          </p:cNvPr>
          <p:cNvSpPr txBox="1"/>
          <p:nvPr/>
        </p:nvSpPr>
        <p:spPr>
          <a:xfrm>
            <a:off x="4013200" y="194309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compare the treatment against a control group, so the treatment is the only systematic difference between the groups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115D86-8FC4-38CD-E9E4-1D9C20B84007}"/>
              </a:ext>
            </a:extLst>
          </p:cNvPr>
          <p:cNvSpPr txBox="1"/>
          <p:nvPr/>
        </p:nvSpPr>
        <p:spPr>
          <a:xfrm>
            <a:off x="914400" y="289814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random assignment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3CF75-0947-A75D-A911-27285F7282DC}"/>
              </a:ext>
            </a:extLst>
          </p:cNvPr>
          <p:cNvSpPr txBox="1"/>
          <p:nvPr/>
        </p:nvSpPr>
        <p:spPr>
          <a:xfrm>
            <a:off x="4013200" y="289813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let chance assign units to treatments - it balances the lurking variables we know about AND the ones we do not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2A74FA-ACCD-0444-2FD1-C5FE41F3DEBE}"/>
              </a:ext>
            </a:extLst>
          </p:cNvPr>
          <p:cNvSpPr txBox="1"/>
          <p:nvPr/>
        </p:nvSpPr>
        <p:spPr>
          <a:xfrm>
            <a:off x="914400" y="385318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replication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E8E4AF-B0A9-AA0C-9A85-E8AD8B4D0E1E}"/>
              </a:ext>
            </a:extLst>
          </p:cNvPr>
          <p:cNvSpPr txBox="1"/>
          <p:nvPr/>
        </p:nvSpPr>
        <p:spPr>
          <a:xfrm>
            <a:off x="4013200" y="385317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put enough units in each group that chance differences between the groups average out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0FBAB81F-3E0F-CC4A-57E6-BF5693CD09FE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743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Definition card">
            <a:extLst>
              <a:ext uri="{FF2B5EF4-FFF2-40B4-BE49-F238E27FC236}">
                <a16:creationId xmlns:a16="http://schemas.microsoft.com/office/drawing/2014/main" id="{0986321D-DD51-CC3D-7DD0-2F9B636F6666}"/>
              </a:ext>
            </a:extLst>
          </p:cNvPr>
          <p:cNvSpPr/>
          <p:nvPr/>
        </p:nvSpPr>
        <p:spPr>
          <a:xfrm>
            <a:off x="762000" y="471170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efinition card">
            <a:extLst>
              <a:ext uri="{FF2B5EF4-FFF2-40B4-BE49-F238E27FC236}">
                <a16:creationId xmlns:a16="http://schemas.microsoft.com/office/drawing/2014/main" id="{3240A742-6545-D275-21CB-933A9D3A95BD}"/>
              </a:ext>
            </a:extLst>
          </p:cNvPr>
          <p:cNvSpPr/>
          <p:nvPr/>
        </p:nvSpPr>
        <p:spPr>
          <a:xfrm>
            <a:off x="762000" y="402590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efinition card">
            <a:extLst>
              <a:ext uri="{FF2B5EF4-FFF2-40B4-BE49-F238E27FC236}">
                <a16:creationId xmlns:a16="http://schemas.microsoft.com/office/drawing/2014/main" id="{748393A2-618F-1098-18D2-B69CA52BD216}"/>
              </a:ext>
            </a:extLst>
          </p:cNvPr>
          <p:cNvSpPr/>
          <p:nvPr/>
        </p:nvSpPr>
        <p:spPr>
          <a:xfrm>
            <a:off x="762000" y="2796540"/>
            <a:ext cx="10668000" cy="110236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efinition card">
            <a:extLst>
              <a:ext uri="{FF2B5EF4-FFF2-40B4-BE49-F238E27FC236}">
                <a16:creationId xmlns:a16="http://schemas.microsoft.com/office/drawing/2014/main" id="{AD35FDEF-A6C9-D92F-1656-6ED66949569F}"/>
              </a:ext>
            </a:extLst>
          </p:cNvPr>
          <p:cNvSpPr/>
          <p:nvPr/>
        </p:nvSpPr>
        <p:spPr>
          <a:xfrm>
            <a:off x="762000" y="184150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AA9945-18E2-A815-CD09-6E30DA8CC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Placebos and blinding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D39166-75E8-99F6-EF42-55FFE5636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17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914461-1C87-49C0-A9DA-02B03CA129A0}"/>
              </a:ext>
            </a:extLst>
          </p:cNvPr>
          <p:cNvSpPr txBox="1"/>
          <p:nvPr/>
        </p:nvSpPr>
        <p:spPr>
          <a:xfrm>
            <a:off x="914400" y="19431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placebo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0A0659-C886-4CB8-B25B-5E2B59B4990B}"/>
              </a:ext>
            </a:extLst>
          </p:cNvPr>
          <p:cNvSpPr txBox="1"/>
          <p:nvPr/>
        </p:nvSpPr>
        <p:spPr>
          <a:xfrm>
            <a:off x="4013200" y="194309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an inactive treatment that looks exactly like the real one</a:t>
            </a:r>
          </a:p>
          <a:p>
            <a:r>
              <a:rPr lang="en-US" i="1">
                <a:solidFill>
                  <a:srgbClr val="595959"/>
                </a:solidFill>
              </a:rPr>
              <a:t>a sugar pill, or a saline injection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3E6C15-B051-DA6B-FC50-75C45B601985}"/>
              </a:ext>
            </a:extLst>
          </p:cNvPr>
          <p:cNvSpPr txBox="1"/>
          <p:nvPr/>
        </p:nvSpPr>
        <p:spPr>
          <a:xfrm>
            <a:off x="914400" y="289814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placebo effect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11B553-B0DF-9622-DF06-AFFDA7ADF708}"/>
              </a:ext>
            </a:extLst>
          </p:cNvPr>
          <p:cNvSpPr txBox="1"/>
          <p:nvPr/>
        </p:nvSpPr>
        <p:spPr>
          <a:xfrm>
            <a:off x="4013200" y="2898140"/>
            <a:ext cx="7264400" cy="9245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people often improve simply because they believe they are being treated</a:t>
            </a:r>
          </a:p>
          <a:p>
            <a:r>
              <a:rPr lang="en-US" i="1">
                <a:solidFill>
                  <a:srgbClr val="595959"/>
                </a:solidFill>
              </a:rPr>
              <a:t>in one study, believing you had taken a performance drug worked almost as well as the drug itself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588549-1922-B620-2B4E-9464BCE53BB2}"/>
              </a:ext>
            </a:extLst>
          </p:cNvPr>
          <p:cNvSpPr txBox="1"/>
          <p:nvPr/>
        </p:nvSpPr>
        <p:spPr>
          <a:xfrm>
            <a:off x="914400" y="41275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blinding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D5D28C7-3333-6E48-704B-CF3132518528}"/>
              </a:ext>
            </a:extLst>
          </p:cNvPr>
          <p:cNvSpPr txBox="1"/>
          <p:nvPr/>
        </p:nvSpPr>
        <p:spPr>
          <a:xfrm>
            <a:off x="4013200" y="412750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subjects do not know which treatment they received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5CD5F34-944C-50F9-7B04-0A433180EADC}"/>
              </a:ext>
            </a:extLst>
          </p:cNvPr>
          <p:cNvSpPr txBox="1"/>
          <p:nvPr/>
        </p:nvSpPr>
        <p:spPr>
          <a:xfrm>
            <a:off x="914400" y="48133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double-blind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5F50005-2E1E-E3B6-F676-29A98A6D4792}"/>
              </a:ext>
            </a:extLst>
          </p:cNvPr>
          <p:cNvSpPr txBox="1"/>
          <p:nvPr/>
        </p:nvSpPr>
        <p:spPr>
          <a:xfrm>
            <a:off x="4013200" y="481329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neither the subjects nor the researchers working with them know who received what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E11A2D97-48DE-89D2-6522-EBF2B2D53551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2102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2" grpId="0"/>
      <p:bldP spid="1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15B16-617F-F91A-E768-60685CC2F6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The 2020 Pfizer-BioNTech vaccine trial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73F39A-FB57-1204-AB85-BFED908622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18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9C21BD-9532-392A-1ADC-7094172C5BC4}"/>
              </a:ext>
            </a:extLst>
          </p:cNvPr>
          <p:cNvSpPr txBox="1"/>
          <p:nvPr/>
        </p:nvSpPr>
        <p:spPr>
          <a:xfrm>
            <a:off x="762000" y="1841499"/>
            <a:ext cx="10668000" cy="8331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43,548 people were randomly assigned, half and half, to two shots of the COVID-19 vaccine or two shots of a saline placebo. Participants and the staff assessing them did not know who got which. Afterwards: 8 COVID-19 cases in the vaccine group, 162 in the placebo group.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3BEC6E-F862-FBAF-E1D5-A21B197591D4}"/>
              </a:ext>
            </a:extLst>
          </p:cNvPr>
          <p:cNvSpPr txBox="1"/>
          <p:nvPr/>
        </p:nvSpPr>
        <p:spPr>
          <a:xfrm>
            <a:off x="762000" y="280162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Why give the control group a saline shot instead of no shot at all?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374361-B6BF-56E2-BB7E-9C77E3EAFA32}"/>
              </a:ext>
            </a:extLst>
          </p:cNvPr>
          <p:cNvSpPr txBox="1"/>
          <p:nvPr/>
        </p:nvSpPr>
        <p:spPr>
          <a:xfrm>
            <a:off x="1117600" y="3096259"/>
            <a:ext cx="10312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So both groups have the same experience. A difference in cases can then only come from the vaccine, not from expectations.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14AA95-81B2-0E2E-FE21-D50E35C6D672}"/>
              </a:ext>
            </a:extLst>
          </p:cNvPr>
          <p:cNvSpPr txBox="1"/>
          <p:nvPr/>
        </p:nvSpPr>
        <p:spPr>
          <a:xfrm>
            <a:off x="762000" y="383794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Why randomize, instead of letting people choose whether to get the vaccine?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8161EE-C1D2-5729-30B3-60F805D911B5}"/>
              </a:ext>
            </a:extLst>
          </p:cNvPr>
          <p:cNvSpPr txBox="1"/>
          <p:nvPr/>
        </p:nvSpPr>
        <p:spPr>
          <a:xfrm>
            <a:off x="1117600" y="413258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People who choose a new vaccine may also be more careful in other ways - a lurking variable. Randomizing balances it.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CC07AEF-2F3C-5F98-7416-32548ECBAE2D}"/>
              </a:ext>
            </a:extLst>
          </p:cNvPr>
          <p:cNvSpPr txBox="1"/>
          <p:nvPr/>
        </p:nvSpPr>
        <p:spPr>
          <a:xfrm>
            <a:off x="762000" y="463042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What does 8 cases versus 162 suggest?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0B0D47C-2CA4-17F0-F93D-EF0EDE1376BA}"/>
              </a:ext>
            </a:extLst>
          </p:cNvPr>
          <p:cNvSpPr txBox="1"/>
          <p:nvPr/>
        </p:nvSpPr>
        <p:spPr>
          <a:xfrm>
            <a:off x="1117600" y="492506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vaccine group had about 95% fewer cases - and because of the design, we can credit that to the vaccine.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919372-51FF-D9A9-4502-CC2DDA37DE5F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Source: Polack et al. (2020), New England Journal of Medicine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E52C4A4-CBD4-248B-5876-3F7BDD6EBAB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7336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A placebo surgery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19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4C9AC6-4D0C-1228-AAA9-21B804DFEE48}"/>
              </a:ext>
            </a:extLst>
          </p:cNvPr>
          <p:cNvSpPr txBox="1"/>
          <p:nvPr/>
        </p:nvSpPr>
        <p:spPr>
          <a:xfrm>
            <a:off x="762000" y="1905000"/>
            <a:ext cx="10668000" cy="1631216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800"/>
              </a:spcAft>
            </a:pPr>
            <a:r>
              <a:rPr lang="en-US" sz="1600">
                <a:solidFill>
                  <a:srgbClr val="000000"/>
                </a:solidFill>
              </a:rPr>
              <a:t>Arthroscopic knee surgery for arthritis was common, and patients said it helped</a:t>
            </a:r>
          </a:p>
          <a:p>
            <a:pPr>
              <a:spcAft>
                <a:spcPts val="800"/>
              </a:spcAft>
            </a:pPr>
            <a:r>
              <a:rPr lang="en-US" sz="1600">
                <a:solidFill>
                  <a:srgbClr val="000000"/>
                </a:solidFill>
              </a:rPr>
              <a:t>Moseley and colleagues (2002) randomly assigned 180 patients with knee osteoarthritis to two real arthroscopic procedures, or to placebo surgery - skin incisions only, with no instruments inserted</a:t>
            </a:r>
          </a:p>
          <a:p>
            <a:pPr>
              <a:spcAft>
                <a:spcPts val="800"/>
              </a:spcAft>
            </a:pPr>
            <a:r>
              <a:rPr lang="en-US" sz="1600">
                <a:solidFill>
                  <a:srgbClr val="000000"/>
                </a:solidFill>
              </a:rPr>
              <a:t>Patients, and the staff who assessed their pain, did not know who got which</a:t>
            </a:r>
          </a:p>
          <a:p>
            <a:pPr>
              <a:spcAft>
                <a:spcPts val="800"/>
              </a:spcAft>
            </a:pPr>
            <a:r>
              <a:rPr lang="en-US" sz="1600" b="1">
                <a:solidFill>
                  <a:srgbClr val="1F3864"/>
                </a:solidFill>
              </a:rPr>
              <a:t>Over two years, which group reported the most improvement?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30B310F-DAC4-4E75-0390-F480FCCED58F}"/>
              </a:ext>
            </a:extLst>
          </p:cNvPr>
          <p:cNvSpPr/>
          <p:nvPr/>
        </p:nvSpPr>
        <p:spPr>
          <a:xfrm>
            <a:off x="762000" y="4597400"/>
            <a:ext cx="10668000" cy="13208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/>
          <a:lstStyle/>
          <a:p>
            <a:r>
              <a:rPr lang="en-US" sz="1600" b="1">
                <a:solidFill>
                  <a:srgbClr val="C00000"/>
                </a:solidFill>
              </a:rPr>
              <a:t>None of them.</a:t>
            </a:r>
          </a:p>
          <a:p>
            <a:r>
              <a:rPr lang="en-US" sz="1600">
                <a:solidFill>
                  <a:srgbClr val="000000"/>
                </a:solidFill>
              </a:rPr>
              <a:t>The placebo group did as well as both surgery groups on pain and function. The benefit came from believing</a:t>
            </a:r>
          </a:p>
          <a:p>
            <a:r>
              <a:rPr lang="en-US" sz="1600">
                <a:solidFill>
                  <a:srgbClr val="000000"/>
                </a:solidFill>
              </a:rPr>
              <a:t>you had surgery - and without a placebo group and blinding, nobody would have known.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606FF6-2B22-36E5-8DCE-A56C8CF16F63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Source: Moseley et al. (2002), New England Journal of Medicine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576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7DFFFD-794F-2D51-6BF6-99175D91AD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Completely randomized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4F55A9-BBE0-BEF2-E763-410F3F2D8A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20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B25ADE-6103-7A0C-04BB-BDC5C6DAFA8D}"/>
              </a:ext>
            </a:extLst>
          </p:cNvPr>
          <p:cNvSpPr txBox="1"/>
          <p:nvPr/>
        </p:nvSpPr>
        <p:spPr>
          <a:xfrm>
            <a:off x="762000" y="1841500"/>
            <a:ext cx="3556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completely randomized design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944CA3-DDEF-F323-A745-E769C814FD58}"/>
              </a:ext>
            </a:extLst>
          </p:cNvPr>
          <p:cNvSpPr txBox="1"/>
          <p:nvPr/>
        </p:nvSpPr>
        <p:spPr>
          <a:xfrm>
            <a:off x="4419600" y="1841500"/>
            <a:ext cx="7010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every unit is assigned to a treatment completely at random - the simplest design</a:t>
            </a:r>
          </a:p>
        </p:txBody>
      </p:sp>
      <p:pic>
        <p:nvPicPr>
          <p:cNvPr id="8" name="l8_crd.png">
            <a:extLst>
              <a:ext uri="{FF2B5EF4-FFF2-40B4-BE49-F238E27FC236}">
                <a16:creationId xmlns:a16="http://schemas.microsoft.com/office/drawing/2014/main" id="{3FC0221E-5D8D-7C80-A7E6-B2E075C913A7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415540"/>
            <a:ext cx="10668000" cy="3175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2EA08B7-5DFB-36CD-640D-6116218D8A8F}"/>
              </a:ext>
            </a:extLst>
          </p:cNvPr>
          <p:cNvSpPr txBox="1"/>
          <p:nvPr/>
        </p:nvSpPr>
        <p:spPr>
          <a:xfrm>
            <a:off x="762000" y="59690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The Pfizer-BioNTech vaccine trial was a completely randomized design with two groups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9CF4558A-F54B-AF72-380B-784DCD25734D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6425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63B3A-82BB-BE51-84B8-B8AF27E3C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Randomized block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7082B3-3A15-6187-05D8-948D87958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21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8D7313-2EFA-DDCC-83CD-016A2EA319DF}"/>
              </a:ext>
            </a:extLst>
          </p:cNvPr>
          <p:cNvSpPr txBox="1"/>
          <p:nvPr/>
        </p:nvSpPr>
        <p:spPr>
          <a:xfrm>
            <a:off x="762000" y="1841500"/>
            <a:ext cx="3175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block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68491B-42D0-6F62-D1EB-414351AE3540}"/>
              </a:ext>
            </a:extLst>
          </p:cNvPr>
          <p:cNvSpPr txBox="1"/>
          <p:nvPr/>
        </p:nvSpPr>
        <p:spPr>
          <a:xfrm>
            <a:off x="4038600" y="1841499"/>
            <a:ext cx="7391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a group of units that are alike in a way that affects the response, formed BEFORE treatments are assigned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111355-2EF9-878B-BBF5-3AD598A60D7B}"/>
              </a:ext>
            </a:extLst>
          </p:cNvPr>
          <p:cNvSpPr txBox="1"/>
          <p:nvPr/>
        </p:nvSpPr>
        <p:spPr>
          <a:xfrm>
            <a:off x="762000" y="2506980"/>
            <a:ext cx="3175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randomized block design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4EE7E9-B4FA-AE7D-2F32-7824F8BEBECC}"/>
              </a:ext>
            </a:extLst>
          </p:cNvPr>
          <p:cNvSpPr txBox="1"/>
          <p:nvPr/>
        </p:nvSpPr>
        <p:spPr>
          <a:xfrm>
            <a:off x="4038600" y="2506979"/>
            <a:ext cx="7391400" cy="8331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randomize treatments separately inside each block, then compare treatments within blocks</a:t>
            </a:r>
          </a:p>
          <a:p>
            <a:r>
              <a:rPr lang="en-US" sz="1600" i="1">
                <a:solidFill>
                  <a:srgbClr val="595959"/>
                </a:solidFill>
              </a:rPr>
              <a:t>blocking is to experiments what stratifying is to sampling</a:t>
            </a:r>
          </a:p>
        </p:txBody>
      </p:sp>
      <p:pic>
        <p:nvPicPr>
          <p:cNvPr id="10" name="l8_rcbd.png">
            <a:extLst>
              <a:ext uri="{FF2B5EF4-FFF2-40B4-BE49-F238E27FC236}">
                <a16:creationId xmlns:a16="http://schemas.microsoft.com/office/drawing/2014/main" id="{4D9C6247-9EE5-17B5-FA09-387DA7C382E5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3429000"/>
            <a:ext cx="10668000" cy="2870200"/>
          </a:xfrm>
          <a:prstGeom prst="rect">
            <a:avLst/>
          </a:prstGeom>
        </p:spPr>
      </p:pic>
      <p:sp>
        <p:nvSpPr>
          <p:cNvPr id="3" name="Title rule">
            <a:extLst>
              <a:ext uri="{FF2B5EF4-FFF2-40B4-BE49-F238E27FC236}">
                <a16:creationId xmlns:a16="http://schemas.microsoft.com/office/drawing/2014/main" id="{683653CB-384B-87DB-C6CB-FB5F26D39118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4600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Matched pairs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22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C3E119-33DB-B84A-C9CB-1DA41099D1A1}"/>
              </a:ext>
            </a:extLst>
          </p:cNvPr>
          <p:cNvSpPr txBox="1"/>
          <p:nvPr/>
        </p:nvSpPr>
        <p:spPr>
          <a:xfrm>
            <a:off x="762000" y="1841500"/>
            <a:ext cx="3175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matched pairs design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7D380C-8635-8A53-300D-33D0068157E3}"/>
              </a:ext>
            </a:extLst>
          </p:cNvPr>
          <p:cNvSpPr txBox="1"/>
          <p:nvPr/>
        </p:nvSpPr>
        <p:spPr>
          <a:xfrm>
            <a:off x="4038600" y="1841499"/>
            <a:ext cx="7391400" cy="8331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a block design where every block is a pair of very similar units, and a coin flip decides which one gets each treatment</a:t>
            </a:r>
          </a:p>
          <a:p>
            <a:r>
              <a:rPr lang="en-US" sz="1600" i="1">
                <a:solidFill>
                  <a:srgbClr val="595959"/>
                </a:solidFill>
              </a:rPr>
              <a:t>or each subject is their own pair, receiving both treatments in a random order</a:t>
            </a:r>
          </a:p>
        </p:txBody>
      </p:sp>
      <p:pic>
        <p:nvPicPr>
          <p:cNvPr id="8" name="l8_matched_pairs.png">
            <a:extLst>
              <a:ext uri="{FF2B5EF4-FFF2-40B4-BE49-F238E27FC236}">
                <a16:creationId xmlns:a16="http://schemas.microsoft.com/office/drawing/2014/main" id="{3439A8BA-7800-029C-E47E-C6620E508DFF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852420"/>
            <a:ext cx="10668000" cy="2921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54AE21D-EF44-4EB5-7BCB-35F9FA4BF6CF}"/>
              </a:ext>
            </a:extLst>
          </p:cNvPr>
          <p:cNvSpPr txBox="1"/>
          <p:nvPr/>
        </p:nvSpPr>
        <p:spPr>
          <a:xfrm>
            <a:off x="762000" y="59944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Before-and-after data with no random order or control group is much weaker evidence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97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4220BC-F401-2AC4-1387-5CA1219B7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What does randomization buy you?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126EC-9647-D00A-626C-6261106C1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23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B04C0C-E47B-20AC-31E4-94DC4C4ABB5F}"/>
              </a:ext>
            </a:extLst>
          </p:cNvPr>
          <p:cNvSpPr txBox="1"/>
          <p:nvPr/>
        </p:nvSpPr>
        <p:spPr>
          <a:xfrm>
            <a:off x="508000" y="2031999"/>
            <a:ext cx="3683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Random sampling</a:t>
            </a:r>
            <a:r>
              <a:rPr lang="en-US" sz="1600">
                <a:solidFill>
                  <a:srgbClr val="000000"/>
                </a:solidFill>
              </a:rPr>
              <a:t> lets you generalize from the sample to the population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E720C4-0587-0E87-63EC-96B92E67C00D}"/>
              </a:ext>
            </a:extLst>
          </p:cNvPr>
          <p:cNvSpPr txBox="1"/>
          <p:nvPr/>
        </p:nvSpPr>
        <p:spPr>
          <a:xfrm>
            <a:off x="508000" y="2799079"/>
            <a:ext cx="3683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Random assignment</a:t>
            </a:r>
            <a:r>
              <a:rPr lang="en-US" sz="1600">
                <a:solidFill>
                  <a:srgbClr val="000000"/>
                </a:solidFill>
              </a:rPr>
              <a:t> lets you conclude cause and effect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592FD8-9A4E-5BB8-6D38-E386520B604D}"/>
              </a:ext>
            </a:extLst>
          </p:cNvPr>
          <p:cNvSpPr txBox="1"/>
          <p:nvPr/>
        </p:nvSpPr>
        <p:spPr>
          <a:xfrm>
            <a:off x="508000" y="3566159"/>
            <a:ext cx="3683000" cy="8331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Most studies have only one. A trial on volunteers shows a vaccine works - for people like those volunteers</a:t>
            </a:r>
          </a:p>
        </p:txBody>
      </p:sp>
      <p:pic>
        <p:nvPicPr>
          <p:cNvPr id="9" name="l8_sampling_vs_assignment.png">
            <a:extLst>
              <a:ext uri="{FF2B5EF4-FFF2-40B4-BE49-F238E27FC236}">
                <a16:creationId xmlns:a16="http://schemas.microsoft.com/office/drawing/2014/main" id="{155BFB16-B6F6-9547-0319-A28383F09920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8000" y="1854200"/>
            <a:ext cx="7747000" cy="4445000"/>
          </a:xfrm>
          <a:prstGeom prst="rect">
            <a:avLst/>
          </a:prstGeom>
        </p:spPr>
      </p:pic>
      <p:sp>
        <p:nvSpPr>
          <p:cNvPr id="3" name="Title rule">
            <a:extLst>
              <a:ext uri="{FF2B5EF4-FFF2-40B4-BE49-F238E27FC236}">
                <a16:creationId xmlns:a16="http://schemas.microsoft.com/office/drawing/2014/main" id="{1784CFE6-ACD1-AC71-8278-C12730A8BD57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282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FBCDC-48E3-34D7-E16A-ED185680B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Ethics: the Facebook experiment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7D343A-B691-3B93-BC2E-2BC7ADBAE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24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3EF544-7BC1-830E-74B1-64EDAAE169AE}"/>
              </a:ext>
            </a:extLst>
          </p:cNvPr>
          <p:cNvSpPr txBox="1"/>
          <p:nvPr/>
        </p:nvSpPr>
        <p:spPr>
          <a:xfrm>
            <a:off x="762000" y="18414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For one week in January 2012, Facebook changed the News Feeds of 689,003 users: some saw fewer positive posts, some fewer negative ones. The results were published in 2014. The users never knew.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3928F0-6402-96DA-08AE-79702CFCC1E5}"/>
              </a:ext>
            </a:extLst>
          </p:cNvPr>
          <p:cNvSpPr txBox="1"/>
          <p:nvPr/>
        </p:nvSpPr>
        <p:spPr>
          <a:xfrm>
            <a:off x="762000" y="25577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Facebook said agreeing to its Data Use Policy counted as informed consent. Do you agree?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6B0234-5946-443E-D3EF-6B904164792E}"/>
              </a:ext>
            </a:extLst>
          </p:cNvPr>
          <p:cNvSpPr txBox="1"/>
          <p:nvPr/>
        </p:nvSpPr>
        <p:spPr>
          <a:xfrm>
            <a:off x="1117600" y="2852419"/>
            <a:ext cx="10312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journal did not: its Expression of Concern said the study may not have met the principles of informed consent and the chance to opt out.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DBAFEBF-2B58-DFE7-62AD-B002E3656906}"/>
              </a:ext>
            </a:extLst>
          </p:cNvPr>
          <p:cNvSpPr txBox="1"/>
          <p:nvPr/>
        </p:nvSpPr>
        <p:spPr>
          <a:xfrm>
            <a:off x="762000" y="35941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Why did no ethics board stop it?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C5EB09-8181-01D4-0AE9-A06C5E9A6703}"/>
              </a:ext>
            </a:extLst>
          </p:cNvPr>
          <p:cNvSpPr txBox="1"/>
          <p:nvPr/>
        </p:nvSpPr>
        <p:spPr>
          <a:xfrm>
            <a:off x="1117600" y="3888739"/>
            <a:ext cx="10312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Facebook, a private company, was not bound by the federal rules. Cornell's board decided its researcher was not directly involved, so it did no review.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35831A-51A3-E82F-82A5-67061AA1A22E}"/>
              </a:ext>
            </a:extLst>
          </p:cNvPr>
          <p:cNvSpPr txBox="1"/>
          <p:nvPr/>
        </p:nvSpPr>
        <p:spPr>
          <a:xfrm>
            <a:off x="762000" y="463042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What is the lesson?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EE7946-5EA0-8B72-F855-AEB4B6636110}"/>
              </a:ext>
            </a:extLst>
          </p:cNvPr>
          <p:cNvSpPr txBox="1"/>
          <p:nvPr/>
        </p:nvSpPr>
        <p:spPr>
          <a:xfrm>
            <a:off x="1117600" y="492506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Clicking I agree on a terms-of-service page is not informed consent - even for a well-designed experiment.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D8E5BD3-1CF7-2352-2707-2D7DBFFA6EBD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Sources: Kramer, Guillory and Hancock (2014), PNAS; PNAS Editorial Expression of Concern (2014)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2A19CE9B-6143-6D05-1FF1-AF917901111D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5584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efinition card">
            <a:extLst>
              <a:ext uri="{FF2B5EF4-FFF2-40B4-BE49-F238E27FC236}">
                <a16:creationId xmlns:a16="http://schemas.microsoft.com/office/drawing/2014/main" id="{7BD18FF9-F244-4051-FAD0-50D9E3F9B913}"/>
              </a:ext>
            </a:extLst>
          </p:cNvPr>
          <p:cNvSpPr/>
          <p:nvPr/>
        </p:nvSpPr>
        <p:spPr>
          <a:xfrm>
            <a:off x="762000" y="392938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Definition card">
            <a:extLst>
              <a:ext uri="{FF2B5EF4-FFF2-40B4-BE49-F238E27FC236}">
                <a16:creationId xmlns:a16="http://schemas.microsoft.com/office/drawing/2014/main" id="{DA368FF5-4992-376F-150A-E28A94DE7BFC}"/>
              </a:ext>
            </a:extLst>
          </p:cNvPr>
          <p:cNvSpPr/>
          <p:nvPr/>
        </p:nvSpPr>
        <p:spPr>
          <a:xfrm>
            <a:off x="762000" y="324358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efinition card">
            <a:extLst>
              <a:ext uri="{FF2B5EF4-FFF2-40B4-BE49-F238E27FC236}">
                <a16:creationId xmlns:a16="http://schemas.microsoft.com/office/drawing/2014/main" id="{8CF68A3F-0FA8-8ECC-D7CB-0626410EEFD1}"/>
              </a:ext>
            </a:extLst>
          </p:cNvPr>
          <p:cNvSpPr/>
          <p:nvPr/>
        </p:nvSpPr>
        <p:spPr>
          <a:xfrm>
            <a:off x="762000" y="255778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46A45CA-C4F4-9D9F-D8E5-C79272808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The Belmont Report: three principles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7DE2E0-7558-C45C-187E-016F1FE28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25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1E51A2-1D0E-5639-923C-392124A5CB29}"/>
              </a:ext>
            </a:extLst>
          </p:cNvPr>
          <p:cNvSpPr txBox="1"/>
          <p:nvPr/>
        </p:nvSpPr>
        <p:spPr>
          <a:xfrm>
            <a:off x="762000" y="18414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i="1">
                <a:solidFill>
                  <a:srgbClr val="595959"/>
                </a:solidFill>
              </a:rPr>
              <a:t>Why the rules exist: in the U.S. Public Health Service syphilis study at Tuskegee (1932 to 1972), hundreds of Black men with syphilis were left untreated without informed consent. The Belmont Report (1979) followed.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200ADF-E689-6E6A-E87D-5EB74130530C}"/>
              </a:ext>
            </a:extLst>
          </p:cNvPr>
          <p:cNvSpPr txBox="1"/>
          <p:nvPr/>
        </p:nvSpPr>
        <p:spPr>
          <a:xfrm>
            <a:off x="914400" y="265938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respect for persons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0B713D-5F8F-97DD-C206-B99F1CEAC80A}"/>
              </a:ext>
            </a:extLst>
          </p:cNvPr>
          <p:cNvSpPr txBox="1"/>
          <p:nvPr/>
        </p:nvSpPr>
        <p:spPr>
          <a:xfrm>
            <a:off x="4013200" y="265938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people decide for themselves whether to take part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51F8F8-2547-3F26-8823-D9E427FFEBB9}"/>
              </a:ext>
            </a:extLst>
          </p:cNvPr>
          <p:cNvSpPr txBox="1"/>
          <p:nvPr/>
        </p:nvSpPr>
        <p:spPr>
          <a:xfrm>
            <a:off x="914400" y="334518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beneficence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40F527-F153-AAE7-3F71-CB7DAEB38160}"/>
              </a:ext>
            </a:extLst>
          </p:cNvPr>
          <p:cNvSpPr txBox="1"/>
          <p:nvPr/>
        </p:nvSpPr>
        <p:spPr>
          <a:xfrm>
            <a:off x="4013200" y="334518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do no harm: maximize the possible benefits and minimize the possible risks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2E5DBA7-1041-887E-1AA2-424094C359F1}"/>
              </a:ext>
            </a:extLst>
          </p:cNvPr>
          <p:cNvSpPr txBox="1"/>
          <p:nvPr/>
        </p:nvSpPr>
        <p:spPr>
          <a:xfrm>
            <a:off x="914400" y="403098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justice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EB11E9C-DC32-C8BD-25C2-03DB4FF2BA76}"/>
              </a:ext>
            </a:extLst>
          </p:cNvPr>
          <p:cNvSpPr txBox="1"/>
          <p:nvPr/>
        </p:nvSpPr>
        <p:spPr>
          <a:xfrm>
            <a:off x="4013200" y="403098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burdens and benefits of research are shared fairly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102D1C2D-D027-E787-DF9B-D90AB9F6F919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32350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0" grpId="0"/>
      <p:bldP spid="13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Definition card">
            <a:extLst>
              <a:ext uri="{FF2B5EF4-FFF2-40B4-BE49-F238E27FC236}">
                <a16:creationId xmlns:a16="http://schemas.microsoft.com/office/drawing/2014/main" id="{8A4F3FCB-C7A9-82F3-8E10-9339C32AE6DF}"/>
              </a:ext>
            </a:extLst>
          </p:cNvPr>
          <p:cNvSpPr/>
          <p:nvPr/>
        </p:nvSpPr>
        <p:spPr>
          <a:xfrm>
            <a:off x="762000" y="375158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efinition card">
            <a:extLst>
              <a:ext uri="{FF2B5EF4-FFF2-40B4-BE49-F238E27FC236}">
                <a16:creationId xmlns:a16="http://schemas.microsoft.com/office/drawing/2014/main" id="{62506592-1FEC-CE15-6D30-62EAE03D82AD}"/>
              </a:ext>
            </a:extLst>
          </p:cNvPr>
          <p:cNvSpPr/>
          <p:nvPr/>
        </p:nvSpPr>
        <p:spPr>
          <a:xfrm>
            <a:off x="762000" y="279654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efinition card">
            <a:extLst>
              <a:ext uri="{FF2B5EF4-FFF2-40B4-BE49-F238E27FC236}">
                <a16:creationId xmlns:a16="http://schemas.microsoft.com/office/drawing/2014/main" id="{62CB8193-5F73-50AC-3051-4D642866D20A}"/>
              </a:ext>
            </a:extLst>
          </p:cNvPr>
          <p:cNvSpPr/>
          <p:nvPr/>
        </p:nvSpPr>
        <p:spPr>
          <a:xfrm>
            <a:off x="762000" y="184150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CC5247-8B4B-54C8-3455-0EB32B2992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Research ethics today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598EAA-E7F8-FC9B-8A28-8101A22738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26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8AF89E-601A-B5F9-2D65-135EBA0406FB}"/>
              </a:ext>
            </a:extLst>
          </p:cNvPr>
          <p:cNvSpPr txBox="1"/>
          <p:nvPr/>
        </p:nvSpPr>
        <p:spPr>
          <a:xfrm>
            <a:off x="914400" y="19431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informed consent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2C5DDB-F229-9070-C88A-A2681B8F3FF5}"/>
              </a:ext>
            </a:extLst>
          </p:cNvPr>
          <p:cNvSpPr txBox="1"/>
          <p:nvPr/>
        </p:nvSpPr>
        <p:spPr>
          <a:xfrm>
            <a:off x="4013200" y="194309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subjects are told the purpose, procedures and risks in advance, and can refuse or quit at any time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BB26A7-0561-F122-F164-A6F6ADA86702}"/>
              </a:ext>
            </a:extLst>
          </p:cNvPr>
          <p:cNvSpPr txBox="1"/>
          <p:nvPr/>
        </p:nvSpPr>
        <p:spPr>
          <a:xfrm>
            <a:off x="914400" y="289814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confidentiality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C2E6370-67AB-0ED8-7D3B-CC849A8AFECD}"/>
              </a:ext>
            </a:extLst>
          </p:cNvPr>
          <p:cNvSpPr txBox="1"/>
          <p:nvPr/>
        </p:nvSpPr>
        <p:spPr>
          <a:xfrm>
            <a:off x="4013200" y="289813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information about individuals is protected and never released in a form that identifies them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12902B-5B96-ABFE-050C-EECF749813D9}"/>
              </a:ext>
            </a:extLst>
          </p:cNvPr>
          <p:cNvSpPr txBox="1"/>
          <p:nvPr/>
        </p:nvSpPr>
        <p:spPr>
          <a:xfrm>
            <a:off x="914400" y="3853179"/>
            <a:ext cx="30226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Institutional Review Board (IRB)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934950-E37B-7F6C-1D87-713CC1B80B52}"/>
              </a:ext>
            </a:extLst>
          </p:cNvPr>
          <p:cNvSpPr txBox="1"/>
          <p:nvPr/>
        </p:nvSpPr>
        <p:spPr>
          <a:xfrm>
            <a:off x="4013200" y="385317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reviews and approves studies on human subjects before they start</a:t>
            </a:r>
          </a:p>
          <a:p>
            <a:r>
              <a:rPr lang="en-US" i="1">
                <a:solidFill>
                  <a:srgbClr val="595959"/>
                </a:solidFill>
              </a:rPr>
              <a:t>at UI, through the Office of Research Assurances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18159BBA-B771-78A5-3930-056EC59B3DC2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805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2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E9C50-2180-9A09-7608-C08B3B78FF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Ethics: honest data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03678C-7C08-89CA-E3B2-CB2008D7B3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27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8108D8-C022-6582-B6B8-EB2AE42F8E82}"/>
              </a:ext>
            </a:extLst>
          </p:cNvPr>
          <p:cNvSpPr txBox="1"/>
          <p:nvPr/>
        </p:nvSpPr>
        <p:spPr>
          <a:xfrm>
            <a:off x="762000" y="18414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 dirty="0">
                <a:solidFill>
                  <a:srgbClr val="000000"/>
                </a:solidFill>
              </a:rPr>
              <a:t>Ethics also means honest data. An investigation of psychologist Diederik Stapel, infamous social psychologist, found he had invented data: it tainted more than 55 of his papers and 10 PhD dissertations he supervised. A researcher is surveying households in a community: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DC1D6A-F2F5-13CF-ACE8-FA96E392EA08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Source: Introductory Statistics 2e (OpenStax), Section 1.4 and Example 1.22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CD14A3EC-A9EF-F0CA-9E7C-BE87A5742DBA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144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Practice: what design, and can it show cause?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28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415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A survey finds that people who own dogs have lower blood pressure than people who do not.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13614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Observational - nobody was assigned a dog. Active people may both own dogs and have lower blood pressure.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6339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60 volunteers with insomnia are randomly split: 30 get melatonin, 30 get an identical-looking placebo.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292862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Completely randomized experiment - it can show cause, for people like these volunteers.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42646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In each of 4 greenhouses, tomato plants are randomly assigned to fertilizer A or fertilizer B.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72110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Randomized block design, with greenhouses as the blocks - it can show cause.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080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2196</TotalTime>
  <Words>2766</Words>
  <Application>Microsoft Office PowerPoint</Application>
  <PresentationFormat>Widescreen</PresentationFormat>
  <Paragraphs>232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2" baseType="lpstr">
      <vt:lpstr>Arial</vt:lpstr>
      <vt:lpstr>Calibri</vt:lpstr>
      <vt:lpstr>Calibri Light</vt:lpstr>
      <vt:lpstr>Office Theme</vt:lpstr>
      <vt:lpstr>Exam 1 results</vt:lpstr>
      <vt:lpstr>Lecture 10 Experiments and Causation</vt:lpstr>
      <vt:lpstr>Review</vt:lpstr>
      <vt:lpstr>Review</vt:lpstr>
      <vt:lpstr>Your course project: Part 3</vt:lpstr>
      <vt:lpstr>Part 2 Experiments and Causation</vt:lpstr>
      <vt:lpstr>Observational studies and experiments</vt:lpstr>
      <vt:lpstr>Association is not causation</vt:lpstr>
      <vt:lpstr>Hormone therapy and heart disease</vt:lpstr>
      <vt:lpstr>Coffee and the risk of death</vt:lpstr>
      <vt:lpstr>Can we claim cause without an experiment?</vt:lpstr>
      <vt:lpstr>Back to light at night and the heart</vt:lpstr>
      <vt:lpstr>Light at night: how strong is the evidence?</vt:lpstr>
      <vt:lpstr>The language of experiments</vt:lpstr>
      <vt:lpstr>Example: the VITAL trial</vt:lpstr>
      <vt:lpstr>Principles of experimental design</vt:lpstr>
      <vt:lpstr>Placebos and blinding</vt:lpstr>
      <vt:lpstr>The 2020 Pfizer-BioNTech vaccine trial</vt:lpstr>
      <vt:lpstr>A placebo surgery</vt:lpstr>
      <vt:lpstr>Completely randomized design</vt:lpstr>
      <vt:lpstr>Randomized block design</vt:lpstr>
      <vt:lpstr>Matched pairs design</vt:lpstr>
      <vt:lpstr>What does randomization buy you?</vt:lpstr>
      <vt:lpstr>Ethics: the Facebook experiment</vt:lpstr>
      <vt:lpstr>The Belmont Report: three principles</vt:lpstr>
      <vt:lpstr>Research ethics today</vt:lpstr>
      <vt:lpstr>Ethics: honest data</vt:lpstr>
      <vt:lpstr>Practice: what design, and can it show cause?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Jarred Kvamme</dc:creator>
  <cp:lastModifiedBy>Jarred Kvamme</cp:lastModifiedBy>
  <cp:revision>368</cp:revision>
  <dcterms:created xsi:type="dcterms:W3CDTF">2023-08-05T23:57:41Z</dcterms:created>
  <dcterms:modified xsi:type="dcterms:W3CDTF">2026-09-23T19:20:41Z</dcterms:modified>
</cp:coreProperties>
</file>