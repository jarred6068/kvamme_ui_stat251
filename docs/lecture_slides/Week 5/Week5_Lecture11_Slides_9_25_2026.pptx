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8" r:id="rId2"/>
    <p:sldId id="299" r:id="rId3"/>
    <p:sldId id="300" r:id="rId4"/>
    <p:sldId id="301" r:id="rId5"/>
    <p:sldId id="302" r:id="rId6"/>
    <p:sldId id="304" r:id="rId7"/>
    <p:sldId id="305" r:id="rId8"/>
    <p:sldId id="306" r:id="rId9"/>
    <p:sldId id="307" r:id="rId10"/>
    <p:sldId id="308" r:id="rId11"/>
    <p:sldId id="309" r:id="rId12"/>
    <p:sldId id="31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 placebo surgery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C9AC6-4D0C-1228-AAA9-21B804DFEE48}"/>
              </a:ext>
            </a:extLst>
          </p:cNvPr>
          <p:cNvSpPr txBox="1"/>
          <p:nvPr/>
        </p:nvSpPr>
        <p:spPr>
          <a:xfrm>
            <a:off x="762000" y="1905000"/>
            <a:ext cx="10668000" cy="163121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Arthroscopic knee surgery for arthritis was common, and patients said it helped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Moseley and colleagues (2002) randomly assigned 180 patients with knee osteoarthritis to two real arthroscopic procedures, or to placebo surgery - skin incisions only, with no instruments inserted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Patients, and the staff who assessed their pain, did not know who got which</a:t>
            </a:r>
          </a:p>
          <a:p>
            <a:pPr>
              <a:spcAft>
                <a:spcPts val="800"/>
              </a:spcAft>
            </a:pPr>
            <a:r>
              <a:rPr lang="en-US" sz="1600" b="1">
                <a:solidFill>
                  <a:srgbClr val="1F3864"/>
                </a:solidFill>
              </a:rPr>
              <a:t>Over two years, which group reported the most improvement?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30B310F-DAC4-4E75-0390-F480FCCED58F}"/>
              </a:ext>
            </a:extLst>
          </p:cNvPr>
          <p:cNvSpPr/>
          <p:nvPr/>
        </p:nvSpPr>
        <p:spPr>
          <a:xfrm>
            <a:off x="762000" y="4597400"/>
            <a:ext cx="10668000" cy="13208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/>
          <a:lstStyle/>
          <a:p>
            <a:r>
              <a:rPr lang="en-US" sz="1600" b="1">
                <a:solidFill>
                  <a:srgbClr val="C00000"/>
                </a:solidFill>
              </a:rPr>
              <a:t>None of them.</a:t>
            </a:r>
          </a:p>
          <a:p>
            <a:r>
              <a:rPr lang="en-US" sz="1600">
                <a:solidFill>
                  <a:srgbClr val="000000"/>
                </a:solidFill>
              </a:rPr>
              <a:t>The placebo group did as well as both surgery groups on pain and function. The benefit came from believing</a:t>
            </a:r>
          </a:p>
          <a:p>
            <a:r>
              <a:rPr lang="en-US" sz="1600">
                <a:solidFill>
                  <a:srgbClr val="000000"/>
                </a:solidFill>
              </a:rPr>
              <a:t>you had surgery - and without a placebo group and blinding, nobody would have known.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606FF6-2B22-36E5-8DCE-A56C8CF16F63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Moseley et al. (2002), New England Journal of Medicine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76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DFFFD-794F-2D51-6BF6-99175D91A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Completely randomized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F55A9-BBE0-BEF2-E763-410F3F2D8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25ADE-6103-7A0C-04BB-BDC5C6DAFA8D}"/>
              </a:ext>
            </a:extLst>
          </p:cNvPr>
          <p:cNvSpPr txBox="1"/>
          <p:nvPr/>
        </p:nvSpPr>
        <p:spPr>
          <a:xfrm>
            <a:off x="762000" y="1841500"/>
            <a:ext cx="3556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completely randomized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944CA3-DDEF-F323-A745-E769C814FD58}"/>
              </a:ext>
            </a:extLst>
          </p:cNvPr>
          <p:cNvSpPr txBox="1"/>
          <p:nvPr/>
        </p:nvSpPr>
        <p:spPr>
          <a:xfrm>
            <a:off x="4419600" y="1841500"/>
            <a:ext cx="7010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every unit is assigned to a treatment completely at random - the simplest design</a:t>
            </a:r>
          </a:p>
        </p:txBody>
      </p:sp>
      <p:pic>
        <p:nvPicPr>
          <p:cNvPr id="8" name="l8_crd.png">
            <a:extLst>
              <a:ext uri="{FF2B5EF4-FFF2-40B4-BE49-F238E27FC236}">
                <a16:creationId xmlns:a16="http://schemas.microsoft.com/office/drawing/2014/main" id="{3FC0221E-5D8D-7C80-A7E6-B2E075C913A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415540"/>
            <a:ext cx="10668000" cy="3175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2EA08B7-5DFB-36CD-640D-6116218D8A8F}"/>
              </a:ext>
            </a:extLst>
          </p:cNvPr>
          <p:cNvSpPr txBox="1"/>
          <p:nvPr/>
        </p:nvSpPr>
        <p:spPr>
          <a:xfrm>
            <a:off x="762000" y="5969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Pfizer-BioNTech vaccine trial was a completely randomized design with two groups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9CF4558A-F54B-AF72-380B-784DCD25734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642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63B3A-82BB-BE51-84B8-B8AF27E3C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Randomized block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7082B3-3A15-6187-05D8-948D87958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8D7313-2EFA-DDCC-83CD-016A2EA319DF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block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68491B-42D0-6F62-D1EB-414351AE3540}"/>
              </a:ext>
            </a:extLst>
          </p:cNvPr>
          <p:cNvSpPr txBox="1"/>
          <p:nvPr/>
        </p:nvSpPr>
        <p:spPr>
          <a:xfrm>
            <a:off x="4038600" y="1841499"/>
            <a:ext cx="7391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group of units that are alike in a way that affects the response, formed BEFORE treatments are assigned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111355-2EF9-878B-BBF5-3AD598A60D7B}"/>
              </a:ext>
            </a:extLst>
          </p:cNvPr>
          <p:cNvSpPr txBox="1"/>
          <p:nvPr/>
        </p:nvSpPr>
        <p:spPr>
          <a:xfrm>
            <a:off x="762000" y="250698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randomized block design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4EE7E9-B4FA-AE7D-2F32-7824F8BEBECC}"/>
              </a:ext>
            </a:extLst>
          </p:cNvPr>
          <p:cNvSpPr txBox="1"/>
          <p:nvPr/>
        </p:nvSpPr>
        <p:spPr>
          <a:xfrm>
            <a:off x="4038600" y="2506979"/>
            <a:ext cx="73914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randomize treatments separately inside each block, then compare treatments within blocks</a:t>
            </a:r>
          </a:p>
          <a:p>
            <a:r>
              <a:rPr lang="en-US" sz="1600" i="1">
                <a:solidFill>
                  <a:srgbClr val="595959"/>
                </a:solidFill>
              </a:rPr>
              <a:t>blocking is to experiments what stratifying is to sampling</a:t>
            </a:r>
          </a:p>
        </p:txBody>
      </p:sp>
      <p:pic>
        <p:nvPicPr>
          <p:cNvPr id="10" name="l8_rcbd.png">
            <a:extLst>
              <a:ext uri="{FF2B5EF4-FFF2-40B4-BE49-F238E27FC236}">
                <a16:creationId xmlns:a16="http://schemas.microsoft.com/office/drawing/2014/main" id="{4D9C6247-9EE5-17B5-FA09-387DA7C382E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429000"/>
            <a:ext cx="10668000" cy="28702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683653CB-384B-87DB-C6CB-FB5F26D3911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600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Matched pairs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matched pairs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block design where every block is a pair of very similar units, and a coin flip decides which one gets each treatment</a:t>
            </a:r>
          </a:p>
          <a:p>
            <a:r>
              <a:rPr lang="en-US" sz="1600" i="1">
                <a:solidFill>
                  <a:srgbClr val="595959"/>
                </a:solidFill>
              </a:rPr>
              <a:t>or each subject is their own pair, receiving both treatments in a random order</a:t>
            </a:r>
          </a:p>
        </p:txBody>
      </p:sp>
      <p:pic>
        <p:nvPicPr>
          <p:cNvPr id="8" name="l8_matched_pairs.png">
            <a:extLst>
              <a:ext uri="{FF2B5EF4-FFF2-40B4-BE49-F238E27FC236}">
                <a16:creationId xmlns:a16="http://schemas.microsoft.com/office/drawing/2014/main" id="{3439A8BA-7800-029C-E47E-C6620E508DF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852420"/>
            <a:ext cx="10668000" cy="2921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54AE21D-EF44-4EB5-7BCB-35F9FA4BF6CF}"/>
              </a:ext>
            </a:extLst>
          </p:cNvPr>
          <p:cNvSpPr txBox="1"/>
          <p:nvPr/>
        </p:nvSpPr>
        <p:spPr>
          <a:xfrm>
            <a:off x="762000" y="59944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Before-and-after data with no random order or control group is much weaker evidence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7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220BC-F401-2AC4-1387-5CA1219B7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does randomization buy you?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126EC-9647-D00A-626C-6261106C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B04C0C-E47B-20AC-31E4-94DC4C4ABB5F}"/>
              </a:ext>
            </a:extLst>
          </p:cNvPr>
          <p:cNvSpPr txBox="1"/>
          <p:nvPr/>
        </p:nvSpPr>
        <p:spPr>
          <a:xfrm>
            <a:off x="508000" y="2031999"/>
            <a:ext cx="368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sampling</a:t>
            </a:r>
            <a:r>
              <a:rPr lang="en-US" sz="1600">
                <a:solidFill>
                  <a:srgbClr val="000000"/>
                </a:solidFill>
              </a:rPr>
              <a:t> lets you generalize from the sample to the population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720C4-0587-0E87-63EC-96B92E67C00D}"/>
              </a:ext>
            </a:extLst>
          </p:cNvPr>
          <p:cNvSpPr txBox="1"/>
          <p:nvPr/>
        </p:nvSpPr>
        <p:spPr>
          <a:xfrm>
            <a:off x="508000" y="2799079"/>
            <a:ext cx="368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assignment</a:t>
            </a:r>
            <a:r>
              <a:rPr lang="en-US" sz="1600">
                <a:solidFill>
                  <a:srgbClr val="000000"/>
                </a:solidFill>
              </a:rPr>
              <a:t> lets you conclude cause and effect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592FD8-9A4E-5BB8-6D38-E386520B604D}"/>
              </a:ext>
            </a:extLst>
          </p:cNvPr>
          <p:cNvSpPr txBox="1"/>
          <p:nvPr/>
        </p:nvSpPr>
        <p:spPr>
          <a:xfrm>
            <a:off x="508000" y="3566159"/>
            <a:ext cx="3683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Most studies have only one. A trial on volunteers shows a vaccine works - for people like those volunteers</a:t>
            </a:r>
          </a:p>
        </p:txBody>
      </p:sp>
      <p:pic>
        <p:nvPicPr>
          <p:cNvPr id="9" name="l8_sampling_vs_assignment.png">
            <a:extLst>
              <a:ext uri="{FF2B5EF4-FFF2-40B4-BE49-F238E27FC236}">
                <a16:creationId xmlns:a16="http://schemas.microsoft.com/office/drawing/2014/main" id="{155BFB16-B6F6-9547-0319-A28383F0992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8000" y="1854200"/>
            <a:ext cx="7747000" cy="4445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1784CFE6-ACD1-AC71-8278-C12730A8BD5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82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FBCDC-48E3-34D7-E16A-ED185680B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Ethics: the Facebook experiment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7D343A-B691-3B93-BC2E-2BC7ADBAE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3EF544-7BC1-830E-74B1-64EDAAE169AE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For one week in January 2012, Facebook changed the News Feeds of 689,003 users: some saw fewer positive posts, some fewer negative ones. The results were published in 2014. The users never knew.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3928F0-6402-96DA-08AE-79702CFCC1E5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Facebook said agreeing to its Data Use Policy counted as informed consent. Do you agree?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6B0234-5946-443E-D3EF-6B904164792E}"/>
              </a:ext>
            </a:extLst>
          </p:cNvPr>
          <p:cNvSpPr txBox="1"/>
          <p:nvPr/>
        </p:nvSpPr>
        <p:spPr>
          <a:xfrm>
            <a:off x="1117600" y="285241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journal did not: its Expression of Concern said the study may not have met the principles of informed consent and the chance to opt out.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BAFEBF-2B58-DFE7-62AD-B002E3656906}"/>
              </a:ext>
            </a:extLst>
          </p:cNvPr>
          <p:cNvSpPr txBox="1"/>
          <p:nvPr/>
        </p:nvSpPr>
        <p:spPr>
          <a:xfrm>
            <a:off x="762000" y="35941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Why did no ethics board stop it?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C5EB09-8181-01D4-0AE9-A06C5E9A6703}"/>
              </a:ext>
            </a:extLst>
          </p:cNvPr>
          <p:cNvSpPr txBox="1"/>
          <p:nvPr/>
        </p:nvSpPr>
        <p:spPr>
          <a:xfrm>
            <a:off x="1117600" y="388873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Facebook, a private company, was not bound by the federal rules. Cornell's board decided its researcher was not directly involved, so it did no review.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35831A-51A3-E82F-82A5-67061AA1A22E}"/>
              </a:ext>
            </a:extLst>
          </p:cNvPr>
          <p:cNvSpPr txBox="1"/>
          <p:nvPr/>
        </p:nvSpPr>
        <p:spPr>
          <a:xfrm>
            <a:off x="762000" y="4630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is the lesson?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EE7946-5EA0-8B72-F855-AEB4B6636110}"/>
              </a:ext>
            </a:extLst>
          </p:cNvPr>
          <p:cNvSpPr txBox="1"/>
          <p:nvPr/>
        </p:nvSpPr>
        <p:spPr>
          <a:xfrm>
            <a:off x="1117600" y="49250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Clicking I agree on a terms-of-service page is not informed consent - even for a well-designed experiment.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8E5BD3-1CF7-2352-2707-2D7DBFFA6EBD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Kramer, Guillory and Hancock (2014), PNAS; PNAS Editorial Expression of Concern (2014)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2A19CE9B-6143-6D05-1FF1-AF917901111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584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efinition card">
            <a:extLst>
              <a:ext uri="{FF2B5EF4-FFF2-40B4-BE49-F238E27FC236}">
                <a16:creationId xmlns:a16="http://schemas.microsoft.com/office/drawing/2014/main" id="{7BD18FF9-F244-4051-FAD0-50D9E3F9B913}"/>
              </a:ext>
            </a:extLst>
          </p:cNvPr>
          <p:cNvSpPr/>
          <p:nvPr/>
        </p:nvSpPr>
        <p:spPr>
          <a:xfrm>
            <a:off x="762000" y="39293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efinition card">
            <a:extLst>
              <a:ext uri="{FF2B5EF4-FFF2-40B4-BE49-F238E27FC236}">
                <a16:creationId xmlns:a16="http://schemas.microsoft.com/office/drawing/2014/main" id="{DA368FF5-4992-376F-150A-E28A94DE7BFC}"/>
              </a:ext>
            </a:extLst>
          </p:cNvPr>
          <p:cNvSpPr/>
          <p:nvPr/>
        </p:nvSpPr>
        <p:spPr>
          <a:xfrm>
            <a:off x="762000" y="32435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efinition card">
            <a:extLst>
              <a:ext uri="{FF2B5EF4-FFF2-40B4-BE49-F238E27FC236}">
                <a16:creationId xmlns:a16="http://schemas.microsoft.com/office/drawing/2014/main" id="{8CF68A3F-0FA8-8ECC-D7CB-0626410EEFD1}"/>
              </a:ext>
            </a:extLst>
          </p:cNvPr>
          <p:cNvSpPr/>
          <p:nvPr/>
        </p:nvSpPr>
        <p:spPr>
          <a:xfrm>
            <a:off x="762000" y="25577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6A45CA-C4F4-9D9F-D8E5-C79272808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Belmont Report: three principles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7DE2E0-7558-C45C-187E-016F1FE28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1E51A2-1D0E-5639-923C-392124A5CB29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i="1">
                <a:solidFill>
                  <a:srgbClr val="595959"/>
                </a:solidFill>
              </a:rPr>
              <a:t>Why the rules exist: in the U.S. Public Health Service syphilis study at Tuskegee (1932 to 1972), hundreds of Black men with syphilis were left untreated without informed consent. The Belmont Report (1979) followed.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200ADF-E689-6E6A-E87D-5EB74130530C}"/>
              </a:ext>
            </a:extLst>
          </p:cNvPr>
          <p:cNvSpPr txBox="1"/>
          <p:nvPr/>
        </p:nvSpPr>
        <p:spPr>
          <a:xfrm>
            <a:off x="914400" y="26593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respect for persons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0B713D-5F8F-97DD-C206-B99F1CEAC80A}"/>
              </a:ext>
            </a:extLst>
          </p:cNvPr>
          <p:cNvSpPr txBox="1"/>
          <p:nvPr/>
        </p:nvSpPr>
        <p:spPr>
          <a:xfrm>
            <a:off x="4013200" y="26593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people decide for themselves whether to take part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51F8F8-2547-3F26-8823-D9E427FFEBB9}"/>
              </a:ext>
            </a:extLst>
          </p:cNvPr>
          <p:cNvSpPr txBox="1"/>
          <p:nvPr/>
        </p:nvSpPr>
        <p:spPr>
          <a:xfrm>
            <a:off x="914400" y="33451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beneficence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40F527-F153-AAE7-3F71-CB7DAEB38160}"/>
              </a:ext>
            </a:extLst>
          </p:cNvPr>
          <p:cNvSpPr txBox="1"/>
          <p:nvPr/>
        </p:nvSpPr>
        <p:spPr>
          <a:xfrm>
            <a:off x="4013200" y="33451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do no harm: maximize the possible benefits and minimize the possible risks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E5DBA7-1041-887E-1AA2-424094C359F1}"/>
              </a:ext>
            </a:extLst>
          </p:cNvPr>
          <p:cNvSpPr txBox="1"/>
          <p:nvPr/>
        </p:nvSpPr>
        <p:spPr>
          <a:xfrm>
            <a:off x="914400" y="40309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justice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B11E9C-DC32-C8BD-25C2-03DB4FF2BA76}"/>
              </a:ext>
            </a:extLst>
          </p:cNvPr>
          <p:cNvSpPr txBox="1"/>
          <p:nvPr/>
        </p:nvSpPr>
        <p:spPr>
          <a:xfrm>
            <a:off x="4013200" y="40309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burdens and benefits of research are shared fairly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02D1C2D-D027-E787-DF9B-D90AB9F6F91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235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efinition card">
            <a:extLst>
              <a:ext uri="{FF2B5EF4-FFF2-40B4-BE49-F238E27FC236}">
                <a16:creationId xmlns:a16="http://schemas.microsoft.com/office/drawing/2014/main" id="{8A4F3FCB-C7A9-82F3-8E10-9339C32AE6DF}"/>
              </a:ext>
            </a:extLst>
          </p:cNvPr>
          <p:cNvSpPr/>
          <p:nvPr/>
        </p:nvSpPr>
        <p:spPr>
          <a:xfrm>
            <a:off x="762000" y="37515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62506592-1FEC-CE15-6D30-62EAE03D82AD}"/>
              </a:ext>
            </a:extLst>
          </p:cNvPr>
          <p:cNvSpPr/>
          <p:nvPr/>
        </p:nvSpPr>
        <p:spPr>
          <a:xfrm>
            <a:off x="762000" y="27965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62CB8193-5F73-50AC-3051-4D642866D20A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CC5247-8B4B-54C8-3455-0EB32B299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Research ethics today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98EAA-E7F8-FC9B-8A28-8101A2273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8AF89E-601A-B5F9-2D65-135EBA0406FB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informed consent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2C5DDB-F229-9070-C88A-A2681B8F3FF5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subjects are told the purpose, procedures and risks in advance, and can refuse or quit at any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BB26A7-0561-F122-F164-A6F6ADA86702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confidentiality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2E6370-67AB-0ED8-7D3B-CC849A8AFECD}"/>
              </a:ext>
            </a:extLst>
          </p:cNvPr>
          <p:cNvSpPr txBox="1"/>
          <p:nvPr/>
        </p:nvSpPr>
        <p:spPr>
          <a:xfrm>
            <a:off x="4013200" y="28981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information about individuals is protected and never released in a form that identifies them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12902B-5B96-ABFE-050C-EECF749813D9}"/>
              </a:ext>
            </a:extLst>
          </p:cNvPr>
          <p:cNvSpPr txBox="1"/>
          <p:nvPr/>
        </p:nvSpPr>
        <p:spPr>
          <a:xfrm>
            <a:off x="914400" y="3853179"/>
            <a:ext cx="30226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Institutional Review Board (IRB)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934950-E37B-7F6C-1D87-713CC1B80B52}"/>
              </a:ext>
            </a:extLst>
          </p:cNvPr>
          <p:cNvSpPr txBox="1"/>
          <p:nvPr/>
        </p:nvSpPr>
        <p:spPr>
          <a:xfrm>
            <a:off x="4013200" y="38531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reviews and approves studies on human subjects before they start</a:t>
            </a:r>
          </a:p>
          <a:p>
            <a:r>
              <a:rPr lang="en-US" i="1">
                <a:solidFill>
                  <a:srgbClr val="595959"/>
                </a:solidFill>
              </a:rPr>
              <a:t>at UI, through the Office of Research Assurances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8159BBA-B771-78A5-3930-056EC59B3DC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805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E9C50-2180-9A09-7608-C08B3B78F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Ethics: honest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03678C-7C08-89CA-E3B2-CB2008D7B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8108D8-C022-6582-B6B8-EB2AE42F8E82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 dirty="0">
                <a:solidFill>
                  <a:srgbClr val="000000"/>
                </a:solidFill>
              </a:rPr>
              <a:t>Ethics also means honest data. An investigation of psychologist Diederik Stapel, infamous social psychologist, found he had invented data: it tainted more than 55 of his papers and 10 PhD dissertations he supervised. A researcher is surveying households in a community: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DC1D6A-F2F5-13CF-ACE8-FA96E392EA08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Introductory Statistics 2e (OpenStax), Section 1.4 and Example 1.22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CD14A3EC-A9EF-F0CA-9E7C-BE87A5742DB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44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what design, and can it show cause?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A survey finds that people who own dogs have lower blood pressure than people who do not.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13614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Observational - nobody was assigned a dog. Active people may both own dogs and have lower blood pressure.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6339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60 volunteers with insomnia are randomly split: 30 get melatonin, 30 get an identical-looking placebo.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29286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Completely randomized experiment - it can show cause, for people like these volunteers.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4264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In each of 4 greenhouses, tomato plants are randomly assigned to fertilizer A or fertilizer B.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7211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Randomized block design, with greenhouses as the blocks - it can show cause.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080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you should know: studies and designs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Three kinds of study - be ready to define and identify each one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12340"/>
            <a:ext cx="10312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An experimental study assigns the treatments. An observational study only watches and measures. A survey samples a population in order to describe it, and assigns nothing.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974915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sampling designs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345755"/>
            <a:ext cx="10312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Simple random, systematic, stratified, cluster, and two-stage cluster. Convenience and voluntary response samples are not random, and they are biased.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410833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experimental designs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447917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Completely randomized, randomized block, and matched pairs.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178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you should know: terminology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language of an experiment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1234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Experimental units, the factor, its levels, the treatments, the control group, a placebo, blinding and double blinding.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355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Association is not causation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06420"/>
            <a:ext cx="10312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lurking variable is associated with both the explanatory and the response variable, and can produce an association where there is no causal link.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868995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two things randomness buys you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4239835"/>
            <a:ext cx="10312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sampling lets you generalize to the population. Random assignment lets you claim cause. A bigger sample shrinks sampling error, but it never removes bias.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840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2196</TotalTime>
  <Words>1030</Words>
  <Application>Microsoft Office PowerPoint</Application>
  <PresentationFormat>Widescreen</PresentationFormat>
  <Paragraphs>89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A placebo surgery</vt:lpstr>
      <vt:lpstr>Completely randomized design</vt:lpstr>
      <vt:lpstr>Randomized block design</vt:lpstr>
      <vt:lpstr>Matched pairs design</vt:lpstr>
      <vt:lpstr>What does randomization buy you?</vt:lpstr>
      <vt:lpstr>Ethics: the Facebook experiment</vt:lpstr>
      <vt:lpstr>The Belmont Report: three principles</vt:lpstr>
      <vt:lpstr>Research ethics today</vt:lpstr>
      <vt:lpstr>Ethics: honest data</vt:lpstr>
      <vt:lpstr>Practice: what design, and can it show cause?</vt:lpstr>
      <vt:lpstr>What you should know: studies and designs</vt:lpstr>
      <vt:lpstr>What you should know: terminology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369</cp:revision>
  <dcterms:created xsi:type="dcterms:W3CDTF">2023-08-05T23:57:41Z</dcterms:created>
  <dcterms:modified xsi:type="dcterms:W3CDTF">2026-09-24T18:51:45Z</dcterms:modified>
</cp:coreProperties>
</file>