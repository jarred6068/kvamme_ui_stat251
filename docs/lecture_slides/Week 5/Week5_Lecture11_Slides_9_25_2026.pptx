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7" r:id="rId2"/>
    <p:sldId id="318" r:id="rId3"/>
    <p:sldId id="298" r:id="rId4"/>
    <p:sldId id="299" r:id="rId5"/>
    <p:sldId id="300" r:id="rId6"/>
    <p:sldId id="301" r:id="rId7"/>
    <p:sldId id="302" r:id="rId8"/>
    <p:sldId id="320" r:id="rId9"/>
    <p:sldId id="304" r:id="rId10"/>
    <p:sldId id="305" r:id="rId11"/>
    <p:sldId id="306" r:id="rId12"/>
    <p:sldId id="325" r:id="rId13"/>
    <p:sldId id="308" r:id="rId14"/>
    <p:sldId id="321" r:id="rId15"/>
    <p:sldId id="322" r:id="rId16"/>
    <p:sldId id="323" r:id="rId17"/>
    <p:sldId id="324" r:id="rId18"/>
    <p:sldId id="326" r:id="rId19"/>
    <p:sldId id="327" r:id="rId20"/>
    <p:sldId id="328" r:id="rId21"/>
    <p:sldId id="32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6" d="100"/>
          <a:sy n="76" d="100"/>
        </p:scale>
        <p:origin x="68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821C1-92D8-0827-CE2B-80FEA840C2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4EA748-2C8E-5D78-5734-D9BCC16ECD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A15553-DE39-3C41-4AFF-70F29A86EAC2}"/>
              </a:ext>
            </a:extLst>
          </p:cNvPr>
          <p:cNvSpPr>
            <a:spLocks noGrp="1"/>
          </p:cNvSpPr>
          <p:nvPr>
            <p:ph type="dt" sz="half" idx="10"/>
          </p:nvPr>
        </p:nvSpPr>
        <p:spPr/>
        <p:txBody>
          <a:bodyPr/>
          <a:lstStyle/>
          <a:p>
            <a:fld id="{06882561-BD16-4A95-ACA1-5204E478F2FE}" type="datetimeFigureOut">
              <a:rPr lang="en-US" smtClean="0"/>
              <a:t>9/25/2026</a:t>
            </a:fld>
            <a:endParaRPr lang="en-US"/>
          </a:p>
        </p:txBody>
      </p:sp>
      <p:sp>
        <p:nvSpPr>
          <p:cNvPr id="5" name="Footer Placeholder 4">
            <a:extLst>
              <a:ext uri="{FF2B5EF4-FFF2-40B4-BE49-F238E27FC236}">
                <a16:creationId xmlns:a16="http://schemas.microsoft.com/office/drawing/2014/main" id="{1872837C-8079-1B7F-0DCF-61C39ED303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95E205-162F-206E-F4C6-EB23D9DC159B}"/>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1425874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13490-30A7-12A6-2775-77578A346E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37B95F-B119-D057-5670-8EC21A84E5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AD001D-CEFB-FD30-FB40-0BEA5B52DC2E}"/>
              </a:ext>
            </a:extLst>
          </p:cNvPr>
          <p:cNvSpPr>
            <a:spLocks noGrp="1"/>
          </p:cNvSpPr>
          <p:nvPr>
            <p:ph type="dt" sz="half" idx="10"/>
          </p:nvPr>
        </p:nvSpPr>
        <p:spPr/>
        <p:txBody>
          <a:bodyPr/>
          <a:lstStyle/>
          <a:p>
            <a:fld id="{06882561-BD16-4A95-ACA1-5204E478F2FE}" type="datetimeFigureOut">
              <a:rPr lang="en-US" smtClean="0"/>
              <a:t>9/25/2026</a:t>
            </a:fld>
            <a:endParaRPr lang="en-US"/>
          </a:p>
        </p:txBody>
      </p:sp>
      <p:sp>
        <p:nvSpPr>
          <p:cNvPr id="5" name="Footer Placeholder 4">
            <a:extLst>
              <a:ext uri="{FF2B5EF4-FFF2-40B4-BE49-F238E27FC236}">
                <a16:creationId xmlns:a16="http://schemas.microsoft.com/office/drawing/2014/main" id="{BBD3377D-E7F3-D264-FB03-A4AF3E3364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F48992-A907-9503-F005-BAA8A33CEA5B}"/>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1660803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6B320-EDC1-EDD2-5F4C-2A675BD0CA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F58A940-1637-AC6F-0247-A5E578765F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B2A479-CAFF-245E-F61F-3D6F3E5C8839}"/>
              </a:ext>
            </a:extLst>
          </p:cNvPr>
          <p:cNvSpPr>
            <a:spLocks noGrp="1"/>
          </p:cNvSpPr>
          <p:nvPr>
            <p:ph type="dt" sz="half" idx="10"/>
          </p:nvPr>
        </p:nvSpPr>
        <p:spPr/>
        <p:txBody>
          <a:bodyPr/>
          <a:lstStyle/>
          <a:p>
            <a:fld id="{06882561-BD16-4A95-ACA1-5204E478F2FE}" type="datetimeFigureOut">
              <a:rPr lang="en-US" smtClean="0"/>
              <a:t>9/25/2026</a:t>
            </a:fld>
            <a:endParaRPr lang="en-US"/>
          </a:p>
        </p:txBody>
      </p:sp>
      <p:sp>
        <p:nvSpPr>
          <p:cNvPr id="5" name="Footer Placeholder 4">
            <a:extLst>
              <a:ext uri="{FF2B5EF4-FFF2-40B4-BE49-F238E27FC236}">
                <a16:creationId xmlns:a16="http://schemas.microsoft.com/office/drawing/2014/main" id="{F0324E38-70F9-0CAE-F19E-6DDE60057A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E74C88-12BC-0657-008B-8419B1E10F3B}"/>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891099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02A09-336F-FDC8-F0C1-F84E09726A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5F6849-08AF-456F-8C3C-E6DE37B3B9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F7E5562-6B4C-F11F-DF48-D254599EAA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A69C05-114E-11FE-5C76-D6F191757A56}"/>
              </a:ext>
            </a:extLst>
          </p:cNvPr>
          <p:cNvSpPr>
            <a:spLocks noGrp="1"/>
          </p:cNvSpPr>
          <p:nvPr>
            <p:ph type="dt" sz="half" idx="10"/>
          </p:nvPr>
        </p:nvSpPr>
        <p:spPr/>
        <p:txBody>
          <a:bodyPr/>
          <a:lstStyle/>
          <a:p>
            <a:fld id="{06882561-BD16-4A95-ACA1-5204E478F2FE}" type="datetimeFigureOut">
              <a:rPr lang="en-US" smtClean="0"/>
              <a:t>9/25/2026</a:t>
            </a:fld>
            <a:endParaRPr lang="en-US"/>
          </a:p>
        </p:txBody>
      </p:sp>
      <p:sp>
        <p:nvSpPr>
          <p:cNvPr id="6" name="Footer Placeholder 5">
            <a:extLst>
              <a:ext uri="{FF2B5EF4-FFF2-40B4-BE49-F238E27FC236}">
                <a16:creationId xmlns:a16="http://schemas.microsoft.com/office/drawing/2014/main" id="{4E71C5D0-A8D9-EEF2-15E4-CE74A390A8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9944C5-75A0-666E-C3DD-6839AB176F09}"/>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339510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EC19E-080C-F794-EB45-FB4903CDDA3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585744A-FDBE-87AE-7AF1-3AC154DB2C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1970E4-B2B1-0370-3C26-0D1A5A0023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FA4F036-B8A8-878F-A1CB-05DAE58015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8B7F82-EBC0-322A-130D-972F39800F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21A5BB-D71E-872F-6F0E-2279BE484D87}"/>
              </a:ext>
            </a:extLst>
          </p:cNvPr>
          <p:cNvSpPr>
            <a:spLocks noGrp="1"/>
          </p:cNvSpPr>
          <p:nvPr>
            <p:ph type="dt" sz="half" idx="10"/>
          </p:nvPr>
        </p:nvSpPr>
        <p:spPr/>
        <p:txBody>
          <a:bodyPr/>
          <a:lstStyle/>
          <a:p>
            <a:fld id="{06882561-BD16-4A95-ACA1-5204E478F2FE}" type="datetimeFigureOut">
              <a:rPr lang="en-US" smtClean="0"/>
              <a:t>9/25/2026</a:t>
            </a:fld>
            <a:endParaRPr lang="en-US"/>
          </a:p>
        </p:txBody>
      </p:sp>
      <p:sp>
        <p:nvSpPr>
          <p:cNvPr id="8" name="Footer Placeholder 7">
            <a:extLst>
              <a:ext uri="{FF2B5EF4-FFF2-40B4-BE49-F238E27FC236}">
                <a16:creationId xmlns:a16="http://schemas.microsoft.com/office/drawing/2014/main" id="{86C56747-8CBE-BF00-C39A-F442E724C4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E2C14A-6287-B5B6-C760-7F506FD876DE}"/>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1840436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E9713-B0F2-9D1D-23FC-F5900F773F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6FC7EC-16C8-C311-316C-6D99B4F99531}"/>
              </a:ext>
            </a:extLst>
          </p:cNvPr>
          <p:cNvSpPr>
            <a:spLocks noGrp="1"/>
          </p:cNvSpPr>
          <p:nvPr>
            <p:ph type="dt" sz="half" idx="10"/>
          </p:nvPr>
        </p:nvSpPr>
        <p:spPr/>
        <p:txBody>
          <a:bodyPr/>
          <a:lstStyle/>
          <a:p>
            <a:fld id="{06882561-BD16-4A95-ACA1-5204E478F2FE}" type="datetimeFigureOut">
              <a:rPr lang="en-US" smtClean="0"/>
              <a:t>9/25/2026</a:t>
            </a:fld>
            <a:endParaRPr lang="en-US"/>
          </a:p>
        </p:txBody>
      </p:sp>
      <p:sp>
        <p:nvSpPr>
          <p:cNvPr id="4" name="Footer Placeholder 3">
            <a:extLst>
              <a:ext uri="{FF2B5EF4-FFF2-40B4-BE49-F238E27FC236}">
                <a16:creationId xmlns:a16="http://schemas.microsoft.com/office/drawing/2014/main" id="{D4FE4DA7-A4C5-460E-592C-CEF23DF381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76F3F89-7820-6BF8-A747-E433ED21AA91}"/>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3213244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EAD0FD-7A61-970C-10A9-76E2B39DAF02}"/>
              </a:ext>
            </a:extLst>
          </p:cNvPr>
          <p:cNvSpPr>
            <a:spLocks noGrp="1"/>
          </p:cNvSpPr>
          <p:nvPr>
            <p:ph type="dt" sz="half" idx="10"/>
          </p:nvPr>
        </p:nvSpPr>
        <p:spPr/>
        <p:txBody>
          <a:bodyPr/>
          <a:lstStyle/>
          <a:p>
            <a:fld id="{06882561-BD16-4A95-ACA1-5204E478F2FE}" type="datetimeFigureOut">
              <a:rPr lang="en-US" smtClean="0"/>
              <a:t>9/25/2026</a:t>
            </a:fld>
            <a:endParaRPr lang="en-US"/>
          </a:p>
        </p:txBody>
      </p:sp>
      <p:sp>
        <p:nvSpPr>
          <p:cNvPr id="3" name="Footer Placeholder 2">
            <a:extLst>
              <a:ext uri="{FF2B5EF4-FFF2-40B4-BE49-F238E27FC236}">
                <a16:creationId xmlns:a16="http://schemas.microsoft.com/office/drawing/2014/main" id="{D9F95651-C89A-3C9B-3D47-F7E5CAF6B2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509228-92F1-54DE-D9B2-4AC018D50B88}"/>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3230303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3F474-02F7-A264-4B8D-717F5EB00F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0FA8C9F-750F-7D81-0E80-7FBCDEBEB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0A1C0B-C510-B118-D8FA-12722456A8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94604E-EC60-44AD-4B70-12B2B49AEB6B}"/>
              </a:ext>
            </a:extLst>
          </p:cNvPr>
          <p:cNvSpPr>
            <a:spLocks noGrp="1"/>
          </p:cNvSpPr>
          <p:nvPr>
            <p:ph type="dt" sz="half" idx="10"/>
          </p:nvPr>
        </p:nvSpPr>
        <p:spPr/>
        <p:txBody>
          <a:bodyPr/>
          <a:lstStyle/>
          <a:p>
            <a:fld id="{06882561-BD16-4A95-ACA1-5204E478F2FE}" type="datetimeFigureOut">
              <a:rPr lang="en-US" smtClean="0"/>
              <a:t>9/25/2026</a:t>
            </a:fld>
            <a:endParaRPr lang="en-US"/>
          </a:p>
        </p:txBody>
      </p:sp>
      <p:sp>
        <p:nvSpPr>
          <p:cNvPr id="6" name="Footer Placeholder 5">
            <a:extLst>
              <a:ext uri="{FF2B5EF4-FFF2-40B4-BE49-F238E27FC236}">
                <a16:creationId xmlns:a16="http://schemas.microsoft.com/office/drawing/2014/main" id="{2922C4B9-91B9-9E0E-9278-1C0433768A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21E60F-F796-8B15-08E9-61BA30F0DFA0}"/>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3293505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E564D-22A0-8A8D-C6FE-D62998433E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713DEA-5246-B946-AFE4-3B305BCDB1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4208CC-31DD-00AF-BFC4-37F7B4BF3C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77E30D-B05F-B2CA-9A3C-E01E2B6B0DFE}"/>
              </a:ext>
            </a:extLst>
          </p:cNvPr>
          <p:cNvSpPr>
            <a:spLocks noGrp="1"/>
          </p:cNvSpPr>
          <p:nvPr>
            <p:ph type="dt" sz="half" idx="10"/>
          </p:nvPr>
        </p:nvSpPr>
        <p:spPr/>
        <p:txBody>
          <a:bodyPr/>
          <a:lstStyle/>
          <a:p>
            <a:fld id="{06882561-BD16-4A95-ACA1-5204E478F2FE}" type="datetimeFigureOut">
              <a:rPr lang="en-US" smtClean="0"/>
              <a:t>9/25/2026</a:t>
            </a:fld>
            <a:endParaRPr lang="en-US"/>
          </a:p>
        </p:txBody>
      </p:sp>
      <p:sp>
        <p:nvSpPr>
          <p:cNvPr id="6" name="Footer Placeholder 5">
            <a:extLst>
              <a:ext uri="{FF2B5EF4-FFF2-40B4-BE49-F238E27FC236}">
                <a16:creationId xmlns:a16="http://schemas.microsoft.com/office/drawing/2014/main" id="{99E08FCE-463A-D1B2-8A60-3B67442025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438537-A621-46D4-781D-4E36BF83620B}"/>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3193242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105C2-17EC-1173-1FC9-8A7FC1018F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6BBB4A-325C-1F27-06A3-6F4F1A8F5C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9A6F55-A1EF-6AEC-99F0-DBF50F5EBFC3}"/>
              </a:ext>
            </a:extLst>
          </p:cNvPr>
          <p:cNvSpPr>
            <a:spLocks noGrp="1"/>
          </p:cNvSpPr>
          <p:nvPr>
            <p:ph type="dt" sz="half" idx="10"/>
          </p:nvPr>
        </p:nvSpPr>
        <p:spPr/>
        <p:txBody>
          <a:bodyPr/>
          <a:lstStyle/>
          <a:p>
            <a:fld id="{06882561-BD16-4A95-ACA1-5204E478F2FE}" type="datetimeFigureOut">
              <a:rPr lang="en-US" smtClean="0"/>
              <a:t>9/25/2026</a:t>
            </a:fld>
            <a:endParaRPr lang="en-US"/>
          </a:p>
        </p:txBody>
      </p:sp>
      <p:sp>
        <p:nvSpPr>
          <p:cNvPr id="5" name="Footer Placeholder 4">
            <a:extLst>
              <a:ext uri="{FF2B5EF4-FFF2-40B4-BE49-F238E27FC236}">
                <a16:creationId xmlns:a16="http://schemas.microsoft.com/office/drawing/2014/main" id="{EDA1FD1D-86F4-EDE3-1CCE-ADED2161B9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DE0593-ABE9-0E50-7A75-9252A5A1F036}"/>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2533965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87FF77-0DAD-7CA9-B02D-208C020489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59298FA-F111-2C9C-551D-A1F30B2394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F1B556-1ED0-55E4-9235-352E1A162B44}"/>
              </a:ext>
            </a:extLst>
          </p:cNvPr>
          <p:cNvSpPr>
            <a:spLocks noGrp="1"/>
          </p:cNvSpPr>
          <p:nvPr>
            <p:ph type="dt" sz="half" idx="10"/>
          </p:nvPr>
        </p:nvSpPr>
        <p:spPr/>
        <p:txBody>
          <a:bodyPr/>
          <a:lstStyle/>
          <a:p>
            <a:fld id="{06882561-BD16-4A95-ACA1-5204E478F2FE}" type="datetimeFigureOut">
              <a:rPr lang="en-US" smtClean="0"/>
              <a:t>9/25/2026</a:t>
            </a:fld>
            <a:endParaRPr lang="en-US"/>
          </a:p>
        </p:txBody>
      </p:sp>
      <p:sp>
        <p:nvSpPr>
          <p:cNvPr id="5" name="Footer Placeholder 4">
            <a:extLst>
              <a:ext uri="{FF2B5EF4-FFF2-40B4-BE49-F238E27FC236}">
                <a16:creationId xmlns:a16="http://schemas.microsoft.com/office/drawing/2014/main" id="{5C44A71E-8AC3-EA68-1DCB-99E68A4657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B1CF60-74F8-B2C5-26C3-77536C36C671}"/>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1333366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18B48B-0371-7ADD-E5C3-345B4D6CBF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2BB5A92-73C5-8CE0-7C84-BE7902E600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35212B-F67A-E417-B1FE-C389458DF2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882561-BD16-4A95-ACA1-5204E478F2FE}" type="datetimeFigureOut">
              <a:rPr lang="en-US" smtClean="0"/>
              <a:t>9/25/2026</a:t>
            </a:fld>
            <a:endParaRPr lang="en-US"/>
          </a:p>
        </p:txBody>
      </p:sp>
      <p:sp>
        <p:nvSpPr>
          <p:cNvPr id="5" name="Footer Placeholder 4">
            <a:extLst>
              <a:ext uri="{FF2B5EF4-FFF2-40B4-BE49-F238E27FC236}">
                <a16:creationId xmlns:a16="http://schemas.microsoft.com/office/drawing/2014/main" id="{7DC9799A-D006-E28E-8EED-4BE2AFCB8D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6069CB4-3B3A-FD13-F7E0-B4A0F34767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0A81DD-F10A-4B1C-963A-0ABBB4865886}" type="slidenum">
              <a:rPr lang="en-US" smtClean="0"/>
              <a:t>‹#›</a:t>
            </a:fld>
            <a:endParaRPr lang="en-US"/>
          </a:p>
        </p:txBody>
      </p:sp>
    </p:spTree>
    <p:extLst>
      <p:ext uri="{BB962C8B-B14F-4D97-AF65-F5344CB8AC3E}">
        <p14:creationId xmlns:p14="http://schemas.microsoft.com/office/powerpoint/2010/main" val="3145091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F151A-3AFE-974F-DDC4-9B99389C348D}"/>
              </a:ext>
            </a:extLst>
          </p:cNvPr>
          <p:cNvSpPr>
            <a:spLocks noGrp="1"/>
          </p:cNvSpPr>
          <p:nvPr>
            <p:ph type="ctrTitle"/>
          </p:nvPr>
        </p:nvSpPr>
        <p:spPr>
          <a:xfrm>
            <a:off x="1524000" y="1122362"/>
            <a:ext cx="9144000" cy="4105419"/>
          </a:xfrm>
        </p:spPr>
        <p:txBody>
          <a:bodyPr>
            <a:noAutofit/>
          </a:bodyPr>
          <a:lstStyle/>
          <a:p>
            <a:r>
              <a:rPr lang="en-US">
                <a:solidFill>
                  <a:srgbClr val="1F3864"/>
                </a:solidFill>
              </a:rPr>
              <a:t>Lecture 11</a:t>
            </a:r>
            <a:br>
              <a:rPr lang="en-US">
                <a:solidFill>
                  <a:srgbClr val="1F3864"/>
                </a:solidFill>
              </a:rPr>
            </a:br>
            <a:r>
              <a:rPr lang="en-US">
                <a:solidFill>
                  <a:srgbClr val="1F3864"/>
                </a:solidFill>
              </a:rPr>
              <a:t>Experimental Design and Research Ethics</a:t>
            </a:r>
            <a:endParaRPr lang="en-US" dirty="0">
              <a:solidFill>
                <a:srgbClr val="1F3864"/>
              </a:solidFill>
            </a:endParaRPr>
          </a:p>
        </p:txBody>
      </p:sp>
    </p:spTree>
    <p:extLst>
      <p:ext uri="{BB962C8B-B14F-4D97-AF65-F5344CB8AC3E}">
        <p14:creationId xmlns:p14="http://schemas.microsoft.com/office/powerpoint/2010/main" val="3531481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05104"/>
          </a:xfrm>
        </p:spPr>
        <p:txBody>
          <a:bodyPr>
            <a:noAutofit/>
          </a:bodyPr>
          <a:lstStyle/>
          <a:p>
            <a:r>
              <a:rPr lang="en-US">
                <a:solidFill>
                  <a:srgbClr val="1F3864"/>
                </a:solidFill>
              </a:rPr>
              <a:t>Review</a:t>
            </a:r>
            <a:endParaRPr lang="en-US" dirty="0">
              <a:solidFill>
                <a:srgbClr val="1F3864"/>
              </a:solidFill>
            </a:endParaRPr>
          </a:p>
        </p:txBody>
      </p:sp>
      <p:sp>
        <p:nvSpPr>
          <p:cNvPr id="3" name="Question 1"/>
          <p:cNvSpPr/>
          <p:nvPr/>
        </p:nvSpPr>
        <p:spPr>
          <a:xfrm>
            <a:off x="838200" y="1075688"/>
            <a:ext cx="10515600" cy="1230000"/>
          </a:xfrm>
          <a:prstGeom prst="roundRect">
            <a:avLst>
              <a:gd name="adj" fmla="val 4000"/>
            </a:avLst>
          </a:prstGeom>
          <a:solidFill>
            <a:srgbClr val="F2F6FC"/>
          </a:solidFill>
          <a:ln w="19050">
            <a:solidFill>
              <a:schemeClr val="accent1"/>
            </a:solidFill>
          </a:ln>
        </p:spPr>
        <p:txBody>
          <a:bodyPr lIns="228600" tIns="182880" rIns="228600" bIns="91440" anchor="t">
            <a:noAutofit/>
          </a:bodyPr>
          <a:lstStyle/>
          <a:p>
            <a:pPr marL="0" indent="0">
              <a:buNone/>
            </a:pPr>
            <a:r>
              <a:rPr lang="en-US" b="1">
                <a:solidFill>
                  <a:srgbClr val="C00000"/>
                </a:solidFill>
              </a:rPr>
              <a:t>1   What is the difference between an observational study and an experiment?</a:t>
            </a:r>
            <a:endParaRPr lang="en-US" b="1" dirty="0">
              <a:solidFill>
                <a:srgbClr val="000000"/>
              </a:solidFill>
            </a:endParaRPr>
          </a:p>
        </p:txBody>
      </p:sp>
      <p:sp>
        <p:nvSpPr>
          <p:cNvPr id="4" name="Answer 1"/>
          <p:cNvSpPr txBox="1"/>
          <p:nvPr/>
        </p:nvSpPr>
        <p:spPr>
          <a:xfrm>
            <a:off x="1066800" y="1655688"/>
            <a:ext cx="10058400" cy="650240"/>
          </a:xfrm>
          <a:prstGeom prst="rect">
            <a:avLst/>
          </a:prstGeom>
          <a:noFill/>
        </p:spPr>
        <p:txBody>
          <a:bodyPr wrap="square" lIns="0" tIns="0" rIns="0" bIns="0">
            <a:noAutofit/>
          </a:bodyPr>
          <a:lstStyle/>
          <a:p>
            <a:pPr marL="0" indent="0">
              <a:buNone/>
            </a:pPr>
            <a:r>
              <a:rPr lang="en-US" sz="1600">
                <a:solidFill>
                  <a:srgbClr val="C00000"/>
                </a:solidFill>
              </a:rPr>
              <a:t>An experiment assigns the treatments, and settles who gets which by chance; an observational study only records groups that already exist. The test is whether the study created the groups or found them.</a:t>
            </a:r>
            <a:endParaRPr lang="en-US" sz="1600" dirty="0">
              <a:solidFill>
                <a:srgbClr val="C00000"/>
              </a:solidFill>
            </a:endParaRPr>
          </a:p>
        </p:txBody>
      </p:sp>
      <p:sp>
        <p:nvSpPr>
          <p:cNvPr id="5" name="Question 2"/>
          <p:cNvSpPr/>
          <p:nvPr/>
        </p:nvSpPr>
        <p:spPr>
          <a:xfrm>
            <a:off x="838200" y="2385688"/>
            <a:ext cx="10515600" cy="1230000"/>
          </a:xfrm>
          <a:prstGeom prst="roundRect">
            <a:avLst>
              <a:gd name="adj" fmla="val 4000"/>
            </a:avLst>
          </a:prstGeom>
          <a:solidFill>
            <a:srgbClr val="F2F6FC"/>
          </a:solidFill>
          <a:ln w="19050">
            <a:solidFill>
              <a:schemeClr val="accent1"/>
            </a:solidFill>
          </a:ln>
        </p:spPr>
        <p:txBody>
          <a:bodyPr lIns="228600" tIns="182880" rIns="228600" bIns="91440" anchor="t">
            <a:noAutofit/>
          </a:bodyPr>
          <a:lstStyle/>
          <a:p>
            <a:pPr marL="0" indent="0">
              <a:buNone/>
            </a:pPr>
            <a:r>
              <a:rPr lang="en-US" b="1">
                <a:solidFill>
                  <a:srgbClr val="C00000"/>
                </a:solidFill>
              </a:rPr>
              <a:t>2   What is a lurking variable?</a:t>
            </a:r>
            <a:endParaRPr lang="en-US" b="1" dirty="0">
              <a:solidFill>
                <a:srgbClr val="000000"/>
              </a:solidFill>
            </a:endParaRPr>
          </a:p>
        </p:txBody>
      </p:sp>
      <p:sp>
        <p:nvSpPr>
          <p:cNvPr id="6" name="Answer 2"/>
          <p:cNvSpPr txBox="1"/>
          <p:nvPr/>
        </p:nvSpPr>
        <p:spPr>
          <a:xfrm>
            <a:off x="1066800" y="2965688"/>
            <a:ext cx="10058400" cy="589280"/>
          </a:xfrm>
          <a:prstGeom prst="rect">
            <a:avLst/>
          </a:prstGeom>
          <a:noFill/>
        </p:spPr>
        <p:txBody>
          <a:bodyPr wrap="square" lIns="0" tIns="0" rIns="0" bIns="0">
            <a:noAutofit/>
          </a:bodyPr>
          <a:lstStyle/>
          <a:p>
            <a:pPr marL="0" indent="0">
              <a:buNone/>
            </a:pPr>
            <a:r>
              <a:rPr lang="en-US" sz="1600">
                <a:solidFill>
                  <a:srgbClr val="C00000"/>
                </a:solidFill>
              </a:rPr>
              <a:t>A variable associated with both the explanatory and the response variable, which can make two things look related when neither causes the other.</a:t>
            </a:r>
            <a:endParaRPr lang="en-US" sz="1600" dirty="0">
              <a:solidFill>
                <a:srgbClr val="C00000"/>
              </a:solidFill>
            </a:endParaRPr>
          </a:p>
        </p:txBody>
      </p:sp>
      <p:sp>
        <p:nvSpPr>
          <p:cNvPr id="7" name="Question 3"/>
          <p:cNvSpPr/>
          <p:nvPr/>
        </p:nvSpPr>
        <p:spPr>
          <a:xfrm>
            <a:off x="838200" y="3695688"/>
            <a:ext cx="10515600" cy="1230000"/>
          </a:xfrm>
          <a:prstGeom prst="roundRect">
            <a:avLst>
              <a:gd name="adj" fmla="val 4000"/>
            </a:avLst>
          </a:prstGeom>
          <a:solidFill>
            <a:srgbClr val="F2F6FC"/>
          </a:solidFill>
          <a:ln w="19050">
            <a:solidFill>
              <a:schemeClr val="accent1"/>
            </a:solidFill>
          </a:ln>
        </p:spPr>
        <p:txBody>
          <a:bodyPr lIns="228600" tIns="182880" rIns="228600" bIns="91440" anchor="t">
            <a:noAutofit/>
          </a:bodyPr>
          <a:lstStyle/>
          <a:p>
            <a:pPr marL="0" indent="0">
              <a:buNone/>
            </a:pPr>
            <a:r>
              <a:rPr lang="en-US" b="1">
                <a:solidFill>
                  <a:srgbClr val="C00000"/>
                </a:solidFill>
              </a:rPr>
              <a:t>3   What does it mean for a study to be blinded, and what makes it double blind?</a:t>
            </a:r>
            <a:endParaRPr lang="en-US" b="1" dirty="0">
              <a:solidFill>
                <a:srgbClr val="000000"/>
              </a:solidFill>
            </a:endParaRPr>
          </a:p>
        </p:txBody>
      </p:sp>
      <p:sp>
        <p:nvSpPr>
          <p:cNvPr id="8" name="Answer 3"/>
          <p:cNvSpPr txBox="1"/>
          <p:nvPr/>
        </p:nvSpPr>
        <p:spPr>
          <a:xfrm>
            <a:off x="1066800" y="4275688"/>
            <a:ext cx="10058400" cy="558560"/>
          </a:xfrm>
          <a:prstGeom prst="rect">
            <a:avLst/>
          </a:prstGeom>
          <a:noFill/>
        </p:spPr>
        <p:txBody>
          <a:bodyPr wrap="square" lIns="0" tIns="0" rIns="0" bIns="0">
            <a:noAutofit/>
          </a:bodyPr>
          <a:lstStyle/>
          <a:p>
            <a:pPr marL="0" indent="0">
              <a:buNone/>
            </a:pPr>
            <a:r>
              <a:rPr lang="en-US" sz="1600">
                <a:solidFill>
                  <a:srgbClr val="C00000"/>
                </a:solidFill>
              </a:rPr>
              <a:t>Blinded: the subjects do not know which treatment they received. Double blind: the people measuring the response do not know either.</a:t>
            </a:r>
            <a:endParaRPr lang="en-US" sz="1600" dirty="0">
              <a:solidFill>
                <a:srgbClr val="C00000"/>
              </a:solidFill>
            </a:endParaRPr>
          </a:p>
        </p:txBody>
      </p:sp>
      <p:sp>
        <p:nvSpPr>
          <p:cNvPr id="11" name="Slide Number Placeholder 10">
            <a:extLst>
              <a:ext uri="{FF2B5EF4-FFF2-40B4-BE49-F238E27FC236}">
                <a16:creationId xmlns:a16="http://schemas.microsoft.com/office/drawing/2014/main" id="{266091C9-B7EB-6BBE-A602-1479CDF9719E}"/>
              </a:ext>
            </a:extLst>
          </p:cNvPr>
          <p:cNvSpPr>
            <a:spLocks noGrp="1"/>
          </p:cNvSpPr>
          <p:nvPr>
            <p:ph type="sldNum" sz="quarter" idx="12"/>
          </p:nvPr>
        </p:nvSpPr>
        <p:spPr/>
        <p:txBody>
          <a:bodyPr/>
          <a:lstStyle/>
          <a:p>
            <a:fld id="{A80A81DD-F10A-4B1C-963A-0ABBB4865886}" type="slidenum">
              <a:rPr lang="en-US" sz="1600" smtClean="0"/>
              <a:t>2</a:t>
            </a:fld>
            <a:endParaRPr lang="en-US" sz="1600"/>
          </a:p>
        </p:txBody>
      </p:sp>
    </p:spTree>
    <p:extLst>
      <p:ext uri="{BB962C8B-B14F-4D97-AF65-F5344CB8AC3E}">
        <p14:creationId xmlns:p14="http://schemas.microsoft.com/office/powerpoint/2010/main" val="651757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D30B1-1864-30EF-7EAB-9BEE656C0012}"/>
              </a:ext>
            </a:extLst>
          </p:cNvPr>
          <p:cNvSpPr>
            <a:spLocks noGrp="1"/>
          </p:cNvSpPr>
          <p:nvPr>
            <p:ph type="title"/>
          </p:nvPr>
        </p:nvSpPr>
        <p:spPr/>
        <p:txBody>
          <a:bodyPr>
            <a:noAutofit/>
          </a:bodyPr>
          <a:lstStyle/>
          <a:p>
            <a:r>
              <a:rPr lang="en-US">
                <a:solidFill>
                  <a:srgbClr val="1F3864"/>
                </a:solidFill>
              </a:rPr>
              <a:t>A placebo surgery</a:t>
            </a:r>
          </a:p>
        </p:txBody>
      </p:sp>
      <p:sp>
        <p:nvSpPr>
          <p:cNvPr id="4" name="Slide Number Placeholder 3">
            <a:extLst>
              <a:ext uri="{FF2B5EF4-FFF2-40B4-BE49-F238E27FC236}">
                <a16:creationId xmlns:a16="http://schemas.microsoft.com/office/drawing/2014/main" id="{3F875068-D051-44AE-498E-1BEBEDE3A7C8}"/>
              </a:ext>
            </a:extLst>
          </p:cNvPr>
          <p:cNvSpPr>
            <a:spLocks noGrp="1"/>
          </p:cNvSpPr>
          <p:nvPr>
            <p:ph type="sldNum" sz="quarter" idx="12"/>
          </p:nvPr>
        </p:nvSpPr>
        <p:spPr/>
        <p:txBody>
          <a:bodyPr/>
          <a:lstStyle/>
          <a:p>
            <a:fld id="{A80A81DD-F10A-4B1C-963A-0ABBB4865886}" type="slidenum">
              <a:rPr lang="en-US" sz="1600" smtClean="0"/>
              <a:t>3</a:t>
            </a:fld>
            <a:endParaRPr lang="en-US" sz="1600"/>
          </a:p>
        </p:txBody>
      </p:sp>
      <p:sp>
        <p:nvSpPr>
          <p:cNvPr id="5" name="TextBox 4">
            <a:extLst>
              <a:ext uri="{FF2B5EF4-FFF2-40B4-BE49-F238E27FC236}">
                <a16:creationId xmlns:a16="http://schemas.microsoft.com/office/drawing/2014/main" id="{0F4C9AC6-4D0C-1228-AAA9-21B804DFEE48}"/>
              </a:ext>
            </a:extLst>
          </p:cNvPr>
          <p:cNvSpPr txBox="1"/>
          <p:nvPr/>
        </p:nvSpPr>
        <p:spPr>
          <a:xfrm>
            <a:off x="762000" y="1905000"/>
            <a:ext cx="10668000" cy="2369880"/>
          </a:xfrm>
          <a:prstGeom prst="rect">
            <a:avLst/>
          </a:prstGeom>
          <a:noFill/>
        </p:spPr>
        <p:txBody>
          <a:bodyPr vert="horz" wrap="square" rtlCol="0">
            <a:spAutoFit/>
          </a:bodyPr>
          <a:lstStyle/>
          <a:p>
            <a:pPr>
              <a:spcAft>
                <a:spcPts val="800"/>
              </a:spcAft>
            </a:pPr>
            <a:r>
              <a:rPr lang="en-US" sz="1600">
                <a:solidFill>
                  <a:srgbClr val="000000"/>
                </a:solidFill>
              </a:rPr>
              <a:t>Arthroscopic knee surgery for osteoarthritis was one of the most common operations in the United States, and patients said it helped.</a:t>
            </a:r>
          </a:p>
          <a:p>
            <a:pPr>
              <a:spcAft>
                <a:spcPts val="800"/>
              </a:spcAft>
            </a:pPr>
            <a:r>
              <a:rPr lang="en-US" sz="1600">
                <a:solidFill>
                  <a:srgbClr val="000000"/>
                </a:solidFill>
              </a:rPr>
              <a:t>Moseley and colleagues (2002) enrolled 180 patients with knee osteoarthritis at the Houston VA Medical Center and assigned each of them at random to one of three groups: arthroscopic debridement, arthroscopic lavage, or placebo surgery - skin incisions and a simulated procedure, with no arthroscope inserted.</a:t>
            </a:r>
          </a:p>
          <a:p>
            <a:pPr>
              <a:spcAft>
                <a:spcPts val="800"/>
              </a:spcAft>
            </a:pPr>
            <a:r>
              <a:rPr lang="en-US" sz="1600">
                <a:solidFill>
                  <a:srgbClr val="000000"/>
                </a:solidFill>
              </a:rPr>
              <a:t>Neither the patients nor the staff who later measured their pain and function knew which group a patient was in. Every patient was followed for two years.</a:t>
            </a:r>
          </a:p>
          <a:p>
            <a:pPr>
              <a:spcAft>
                <a:spcPts val="800"/>
              </a:spcAft>
            </a:pPr>
            <a:r>
              <a:rPr lang="en-US" sz="1600" b="1">
                <a:solidFill>
                  <a:srgbClr val="1F3864"/>
                </a:solidFill>
              </a:rPr>
              <a:t>What kind of study is this, and what is it about the design that lets it answer the question?</a:t>
            </a:r>
          </a:p>
        </p:txBody>
      </p:sp>
      <p:sp>
        <p:nvSpPr>
          <p:cNvPr id="6" name="Rectangle: Rounded Corners 5">
            <a:extLst>
              <a:ext uri="{FF2B5EF4-FFF2-40B4-BE49-F238E27FC236}">
                <a16:creationId xmlns:a16="http://schemas.microsoft.com/office/drawing/2014/main" id="{430B310F-DAC4-4E75-0390-F480FCCED58F}"/>
              </a:ext>
            </a:extLst>
          </p:cNvPr>
          <p:cNvSpPr/>
          <p:nvPr/>
        </p:nvSpPr>
        <p:spPr>
          <a:xfrm>
            <a:off x="762000" y="4503480"/>
            <a:ext cx="10668000" cy="1411784"/>
          </a:xfrm>
          <a:prstGeom prst="roundRect">
            <a:avLst>
              <a:gd name="adj" fmla="val 4000"/>
            </a:avLst>
          </a:prstGeom>
          <a:solidFill>
            <a:srgbClr val="F2F6FC"/>
          </a:solidFill>
          <a:ln w="15875">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76200" rIns="152400" bIns="76200" rtlCol="0" anchor="ctr">
            <a:spAutoFit/>
          </a:bodyPr>
          <a:lstStyle/>
          <a:p>
            <a:r>
              <a:rPr lang="en-US" sz="1600" b="1">
                <a:solidFill>
                  <a:srgbClr val="C00000"/>
                </a:solidFill>
              </a:rPr>
              <a:t>A completely randomized, double blind experiment.</a:t>
            </a:r>
          </a:p>
          <a:p>
            <a:r>
              <a:rPr lang="en-US" sz="1600">
                <a:solidFill>
                  <a:srgbClr val="000000"/>
                </a:solidFill>
              </a:rPr>
              <a:t>Three treatments assigned at random, one of them a placebo; double blind because both the patients and the assessors were kept unaware of who got which. Over two years neither surgery group did better than the placebo group on pain or function - the benefit patients felt came from believing they had been treated. Without a placebo arm and blinding, nobody would have known.</a:t>
            </a:r>
          </a:p>
        </p:txBody>
      </p:sp>
      <p:sp>
        <p:nvSpPr>
          <p:cNvPr id="7" name="TextBox 6">
            <a:extLst>
              <a:ext uri="{FF2B5EF4-FFF2-40B4-BE49-F238E27FC236}">
                <a16:creationId xmlns:a16="http://schemas.microsoft.com/office/drawing/2014/main" id="{79606FF6-2B22-36E5-8DCE-A56C8CF16F63}"/>
              </a:ext>
            </a:extLst>
          </p:cNvPr>
          <p:cNvSpPr txBox="1"/>
          <p:nvPr/>
        </p:nvSpPr>
        <p:spPr>
          <a:xfrm>
            <a:off x="762000" y="6045200"/>
            <a:ext cx="10668000" cy="345440"/>
          </a:xfrm>
          <a:prstGeom prst="rect">
            <a:avLst/>
          </a:prstGeom>
          <a:noFill/>
        </p:spPr>
        <p:txBody>
          <a:bodyPr vert="horz" wrap="square" rtlCol="0">
            <a:noAutofit/>
          </a:bodyPr>
          <a:lstStyle/>
          <a:p>
            <a:pPr algn="r"/>
            <a:r>
              <a:rPr lang="en-US" sz="1600" i="1">
                <a:solidFill>
                  <a:srgbClr val="595959"/>
                </a:solidFill>
              </a:rPr>
              <a:t>Source: Moseley et al. (2002), New England Journal of Medicine</a:t>
            </a:r>
          </a:p>
        </p:txBody>
      </p:sp>
      <p:sp>
        <p:nvSpPr>
          <p:cNvPr id="3" name="Title rule">
            <a:extLst>
              <a:ext uri="{FF2B5EF4-FFF2-40B4-BE49-F238E27FC236}">
                <a16:creationId xmlns:a16="http://schemas.microsoft.com/office/drawing/2014/main" id="{30656AA8-9645-F028-C769-A313710853CC}"/>
              </a:ext>
            </a:extLst>
          </p:cNvPr>
          <p:cNvSpPr/>
          <p:nvPr/>
        </p:nvSpPr>
        <p:spPr>
          <a:xfrm>
            <a:off x="838200" y="1600200"/>
            <a:ext cx="10515600" cy="381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576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from="(-#ppt_w/2)" to="(#ppt_x)" calcmode="lin" valueType="num">
                                      <p:cBhvr>
                                        <p:cTn id="7" dur="600" fill="hold">
                                          <p:stCondLst>
                                            <p:cond delay="0"/>
                                          </p:stCondLst>
                                        </p:cTn>
                                        <p:tgtEl>
                                          <p:spTgt spid="6"/>
                                        </p:tgtEl>
                                        <p:attrNameLst>
                                          <p:attrName>ppt_x</p:attrName>
                                        </p:attrNameLst>
                                      </p:cBhvr>
                                    </p:anim>
                                    <p:anim from="0" to="-1.0" calcmode="lin" valueType="num">
                                      <p:cBhvr>
                                        <p:cTn id="8" dur="200" decel="50000" autoRev="1" fill="hold">
                                          <p:stCondLst>
                                            <p:cond delay="600"/>
                                          </p:stCondLst>
                                        </p:cTn>
                                        <p:tgtEl>
                                          <p:spTgt spid="6"/>
                                        </p:tgtEl>
                                        <p:attrNameLst>
                                          <p:attrName>xshear</p:attrName>
                                        </p:attrNameLst>
                                      </p:cBhvr>
                                    </p:anim>
                                    <p:animScale>
                                      <p:cBhvr>
                                        <p:cTn id="9" dur="200" decel="100000" autoRev="1" fill="hold">
                                          <p:stCondLst>
                                            <p:cond delay="600"/>
                                          </p:stCondLst>
                                        </p:cTn>
                                        <p:tgtEl>
                                          <p:spTgt spid="6"/>
                                        </p:tgtEl>
                                      </p:cBhvr>
                                      <p:from x="100000" y="100000"/>
                                      <p:to x="80000" y="100000"/>
                                    </p:animScale>
                                    <p:anim by="(#ppt_h/3+#ppt_w*0.1)" calcmode="lin" valueType="num">
                                      <p:cBhvr additive="sum">
                                        <p:cTn id="10" dur="200" decel="100000" autoRev="1" fill="hold">
                                          <p:stCondLst>
                                            <p:cond delay="600"/>
                                          </p:stCondLst>
                                        </p:cTn>
                                        <p:tgtEl>
                                          <p:spTgt spid="6"/>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DFFFD-794F-2D51-6BF6-99175D91ADBC}"/>
              </a:ext>
            </a:extLst>
          </p:cNvPr>
          <p:cNvSpPr>
            <a:spLocks noGrp="1"/>
          </p:cNvSpPr>
          <p:nvPr>
            <p:ph type="title"/>
          </p:nvPr>
        </p:nvSpPr>
        <p:spPr/>
        <p:txBody>
          <a:bodyPr>
            <a:noAutofit/>
          </a:bodyPr>
          <a:lstStyle/>
          <a:p>
            <a:r>
              <a:rPr lang="en-US">
                <a:solidFill>
                  <a:srgbClr val="1F3864"/>
                </a:solidFill>
              </a:rPr>
              <a:t>Completely randomized design</a:t>
            </a:r>
          </a:p>
        </p:txBody>
      </p:sp>
      <p:sp>
        <p:nvSpPr>
          <p:cNvPr id="4" name="Slide Number Placeholder 3">
            <a:extLst>
              <a:ext uri="{FF2B5EF4-FFF2-40B4-BE49-F238E27FC236}">
                <a16:creationId xmlns:a16="http://schemas.microsoft.com/office/drawing/2014/main" id="{C74F55A9-BBE0-BEF2-E763-410F3F2D8A6D}"/>
              </a:ext>
            </a:extLst>
          </p:cNvPr>
          <p:cNvSpPr>
            <a:spLocks noGrp="1"/>
          </p:cNvSpPr>
          <p:nvPr>
            <p:ph type="sldNum" sz="quarter" idx="12"/>
          </p:nvPr>
        </p:nvSpPr>
        <p:spPr/>
        <p:txBody>
          <a:bodyPr/>
          <a:lstStyle/>
          <a:p>
            <a:fld id="{A80A81DD-F10A-4B1C-963A-0ABBB4865886}" type="slidenum">
              <a:rPr lang="en-US" sz="1600" smtClean="0"/>
              <a:t>4</a:t>
            </a:fld>
            <a:endParaRPr lang="en-US" sz="1600"/>
          </a:p>
        </p:txBody>
      </p:sp>
      <p:sp>
        <p:nvSpPr>
          <p:cNvPr id="5" name="TextBox 4">
            <a:extLst>
              <a:ext uri="{FF2B5EF4-FFF2-40B4-BE49-F238E27FC236}">
                <a16:creationId xmlns:a16="http://schemas.microsoft.com/office/drawing/2014/main" id="{1FB25ADE-6103-7A0C-04BB-BDC5C6DAFA8D}"/>
              </a:ext>
            </a:extLst>
          </p:cNvPr>
          <p:cNvSpPr txBox="1"/>
          <p:nvPr/>
        </p:nvSpPr>
        <p:spPr>
          <a:xfrm>
            <a:off x="762000" y="1841500"/>
            <a:ext cx="3556000" cy="345440"/>
          </a:xfrm>
          <a:prstGeom prst="rect">
            <a:avLst/>
          </a:prstGeom>
          <a:noFill/>
        </p:spPr>
        <p:txBody>
          <a:bodyPr vert="horz" wrap="square" rtlCol="0">
            <a:noAutofit/>
          </a:bodyPr>
          <a:lstStyle/>
          <a:p>
            <a:r>
              <a:rPr lang="en-US" sz="1600" b="1">
                <a:solidFill>
                  <a:srgbClr val="C00000"/>
                </a:solidFill>
              </a:rPr>
              <a:t>completely randomized design</a:t>
            </a:r>
          </a:p>
        </p:txBody>
      </p:sp>
      <p:sp>
        <p:nvSpPr>
          <p:cNvPr id="6" name="TextBox 5">
            <a:extLst>
              <a:ext uri="{FF2B5EF4-FFF2-40B4-BE49-F238E27FC236}">
                <a16:creationId xmlns:a16="http://schemas.microsoft.com/office/drawing/2014/main" id="{9A944CA3-DDEF-F323-A745-E769C814FD58}"/>
              </a:ext>
            </a:extLst>
          </p:cNvPr>
          <p:cNvSpPr txBox="1"/>
          <p:nvPr/>
        </p:nvSpPr>
        <p:spPr>
          <a:xfrm>
            <a:off x="4419600" y="1841500"/>
            <a:ext cx="7010400" cy="345440"/>
          </a:xfrm>
          <a:prstGeom prst="rect">
            <a:avLst/>
          </a:prstGeom>
          <a:noFill/>
        </p:spPr>
        <p:txBody>
          <a:bodyPr vert="horz" wrap="square" rtlCol="0">
            <a:noAutofit/>
          </a:bodyPr>
          <a:lstStyle/>
          <a:p>
            <a:r>
              <a:rPr lang="en-US" sz="1600">
                <a:solidFill>
                  <a:srgbClr val="000000"/>
                </a:solidFill>
              </a:rPr>
              <a:t>every unit is assigned to a treatment completely at random - the simplest design</a:t>
            </a:r>
          </a:p>
        </p:txBody>
      </p:sp>
      <p:pic>
        <p:nvPicPr>
          <p:cNvPr id="8" name="l8_crd.png">
            <a:extLst>
              <a:ext uri="{FF2B5EF4-FFF2-40B4-BE49-F238E27FC236}">
                <a16:creationId xmlns:a16="http://schemas.microsoft.com/office/drawing/2014/main" id="{3FC0221E-5D8D-7C80-A7E6-B2E075C913A7}"/>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762000" y="2415540"/>
            <a:ext cx="10668000" cy="3175000"/>
          </a:xfrm>
          <a:prstGeom prst="rect">
            <a:avLst/>
          </a:prstGeom>
        </p:spPr>
      </p:pic>
      <p:sp>
        <p:nvSpPr>
          <p:cNvPr id="9" name="TextBox 8">
            <a:extLst>
              <a:ext uri="{FF2B5EF4-FFF2-40B4-BE49-F238E27FC236}">
                <a16:creationId xmlns:a16="http://schemas.microsoft.com/office/drawing/2014/main" id="{82EA08B7-5DFB-36CD-640D-6116218D8A8F}"/>
              </a:ext>
            </a:extLst>
          </p:cNvPr>
          <p:cNvSpPr txBox="1"/>
          <p:nvPr/>
        </p:nvSpPr>
        <p:spPr>
          <a:xfrm>
            <a:off x="762000" y="5969000"/>
            <a:ext cx="10668000" cy="345440"/>
          </a:xfrm>
          <a:prstGeom prst="rect">
            <a:avLst/>
          </a:prstGeom>
          <a:noFill/>
        </p:spPr>
        <p:txBody>
          <a:bodyPr vert="horz" wrap="square" rtlCol="0">
            <a:noAutofit/>
          </a:bodyPr>
          <a:lstStyle/>
          <a:p>
            <a:r>
              <a:rPr lang="en-US" sz="1600">
                <a:solidFill>
                  <a:srgbClr val="000000"/>
                </a:solidFill>
              </a:rPr>
              <a:t>The Pfizer-BioNTech vaccine trial was a completely randomized design with two groups</a:t>
            </a:r>
          </a:p>
        </p:txBody>
      </p:sp>
      <p:sp>
        <p:nvSpPr>
          <p:cNvPr id="3" name="Title rule">
            <a:extLst>
              <a:ext uri="{FF2B5EF4-FFF2-40B4-BE49-F238E27FC236}">
                <a16:creationId xmlns:a16="http://schemas.microsoft.com/office/drawing/2014/main" id="{9CF4558A-F54B-AF72-380B-784DCD25734D}"/>
              </a:ext>
            </a:extLst>
          </p:cNvPr>
          <p:cNvSpPr/>
          <p:nvPr/>
        </p:nvSpPr>
        <p:spPr>
          <a:xfrm>
            <a:off x="838200" y="1600200"/>
            <a:ext cx="10515600" cy="381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7642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from="(-#ppt_w/2)" to="(#ppt_x)" calcmode="lin" valueType="num">
                                      <p:cBhvr>
                                        <p:cTn id="7" dur="600" fill="hold">
                                          <p:stCondLst>
                                            <p:cond delay="0"/>
                                          </p:stCondLst>
                                        </p:cTn>
                                        <p:tgtEl>
                                          <p:spTgt spid="6"/>
                                        </p:tgtEl>
                                        <p:attrNameLst>
                                          <p:attrName>ppt_x</p:attrName>
                                        </p:attrNameLst>
                                      </p:cBhvr>
                                    </p:anim>
                                    <p:anim from="0" to="-1.0" calcmode="lin" valueType="num">
                                      <p:cBhvr>
                                        <p:cTn id="8" dur="200" decel="50000" autoRev="1" fill="hold">
                                          <p:stCondLst>
                                            <p:cond delay="600"/>
                                          </p:stCondLst>
                                        </p:cTn>
                                        <p:tgtEl>
                                          <p:spTgt spid="6"/>
                                        </p:tgtEl>
                                        <p:attrNameLst>
                                          <p:attrName>xshear</p:attrName>
                                        </p:attrNameLst>
                                      </p:cBhvr>
                                    </p:anim>
                                    <p:animScale>
                                      <p:cBhvr>
                                        <p:cTn id="9" dur="200" decel="100000" autoRev="1" fill="hold">
                                          <p:stCondLst>
                                            <p:cond delay="600"/>
                                          </p:stCondLst>
                                        </p:cTn>
                                        <p:tgtEl>
                                          <p:spTgt spid="6"/>
                                        </p:tgtEl>
                                      </p:cBhvr>
                                      <p:from x="100000" y="100000"/>
                                      <p:to x="80000" y="100000"/>
                                    </p:animScale>
                                    <p:anim by="(#ppt_h/3+#ppt_w*0.1)" calcmode="lin" valueType="num">
                                      <p:cBhvr additive="sum">
                                        <p:cTn id="10" dur="200" decel="100000" autoRev="1" fill="hold">
                                          <p:stCondLst>
                                            <p:cond delay="600"/>
                                          </p:stCondLst>
                                        </p:cTn>
                                        <p:tgtEl>
                                          <p:spTgt spid="6"/>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63B3A-82BB-BE51-84B8-B8AF27E3C5AE}"/>
              </a:ext>
            </a:extLst>
          </p:cNvPr>
          <p:cNvSpPr>
            <a:spLocks noGrp="1"/>
          </p:cNvSpPr>
          <p:nvPr>
            <p:ph type="title"/>
          </p:nvPr>
        </p:nvSpPr>
        <p:spPr/>
        <p:txBody>
          <a:bodyPr>
            <a:noAutofit/>
          </a:bodyPr>
          <a:lstStyle/>
          <a:p>
            <a:r>
              <a:rPr lang="en-US">
                <a:solidFill>
                  <a:srgbClr val="1F3864"/>
                </a:solidFill>
              </a:rPr>
              <a:t>Randomized block design</a:t>
            </a:r>
          </a:p>
        </p:txBody>
      </p:sp>
      <p:sp>
        <p:nvSpPr>
          <p:cNvPr id="4" name="Slide Number Placeholder 3">
            <a:extLst>
              <a:ext uri="{FF2B5EF4-FFF2-40B4-BE49-F238E27FC236}">
                <a16:creationId xmlns:a16="http://schemas.microsoft.com/office/drawing/2014/main" id="{F37082B3-3A15-6187-05D8-948D87958DA4}"/>
              </a:ext>
            </a:extLst>
          </p:cNvPr>
          <p:cNvSpPr>
            <a:spLocks noGrp="1"/>
          </p:cNvSpPr>
          <p:nvPr>
            <p:ph type="sldNum" sz="quarter" idx="12"/>
          </p:nvPr>
        </p:nvSpPr>
        <p:spPr/>
        <p:txBody>
          <a:bodyPr/>
          <a:lstStyle/>
          <a:p>
            <a:fld id="{A80A81DD-F10A-4B1C-963A-0ABBB4865886}" type="slidenum">
              <a:rPr lang="en-US" sz="1600" smtClean="0"/>
              <a:t>5</a:t>
            </a:fld>
            <a:endParaRPr lang="en-US" sz="1600"/>
          </a:p>
        </p:txBody>
      </p:sp>
      <p:sp>
        <p:nvSpPr>
          <p:cNvPr id="5" name="TextBox 4">
            <a:extLst>
              <a:ext uri="{FF2B5EF4-FFF2-40B4-BE49-F238E27FC236}">
                <a16:creationId xmlns:a16="http://schemas.microsoft.com/office/drawing/2014/main" id="{F98D7313-2EFA-DDCC-83CD-016A2EA319DF}"/>
              </a:ext>
            </a:extLst>
          </p:cNvPr>
          <p:cNvSpPr txBox="1"/>
          <p:nvPr/>
        </p:nvSpPr>
        <p:spPr>
          <a:xfrm>
            <a:off x="762000" y="1841500"/>
            <a:ext cx="3175000" cy="345440"/>
          </a:xfrm>
          <a:prstGeom prst="rect">
            <a:avLst/>
          </a:prstGeom>
          <a:noFill/>
        </p:spPr>
        <p:txBody>
          <a:bodyPr vert="horz" wrap="square" rtlCol="0">
            <a:noAutofit/>
          </a:bodyPr>
          <a:lstStyle/>
          <a:p>
            <a:r>
              <a:rPr lang="en-US" sz="1600" b="1">
                <a:solidFill>
                  <a:srgbClr val="C00000"/>
                </a:solidFill>
              </a:rPr>
              <a:t>block</a:t>
            </a:r>
          </a:p>
        </p:txBody>
      </p:sp>
      <p:sp>
        <p:nvSpPr>
          <p:cNvPr id="6" name="TextBox 5">
            <a:extLst>
              <a:ext uri="{FF2B5EF4-FFF2-40B4-BE49-F238E27FC236}">
                <a16:creationId xmlns:a16="http://schemas.microsoft.com/office/drawing/2014/main" id="{CE68491B-42D0-6F62-D1EB-414351AE3540}"/>
              </a:ext>
            </a:extLst>
          </p:cNvPr>
          <p:cNvSpPr txBox="1"/>
          <p:nvPr/>
        </p:nvSpPr>
        <p:spPr>
          <a:xfrm>
            <a:off x="4038600" y="1841499"/>
            <a:ext cx="7391400" cy="589280"/>
          </a:xfrm>
          <a:prstGeom prst="rect">
            <a:avLst/>
          </a:prstGeom>
          <a:noFill/>
        </p:spPr>
        <p:txBody>
          <a:bodyPr vert="horz" wrap="square" rtlCol="0">
            <a:noAutofit/>
          </a:bodyPr>
          <a:lstStyle/>
          <a:p>
            <a:r>
              <a:rPr lang="en-US" sz="1600">
                <a:solidFill>
                  <a:srgbClr val="000000"/>
                </a:solidFill>
              </a:rPr>
              <a:t>a group of units that are alike in a way that affects the response, formed BEFORE treatments are assigned</a:t>
            </a:r>
          </a:p>
        </p:txBody>
      </p:sp>
      <p:sp>
        <p:nvSpPr>
          <p:cNvPr id="7" name="TextBox 6">
            <a:extLst>
              <a:ext uri="{FF2B5EF4-FFF2-40B4-BE49-F238E27FC236}">
                <a16:creationId xmlns:a16="http://schemas.microsoft.com/office/drawing/2014/main" id="{B1111355-2EF9-878B-BBF5-3AD598A60D7B}"/>
              </a:ext>
            </a:extLst>
          </p:cNvPr>
          <p:cNvSpPr txBox="1"/>
          <p:nvPr/>
        </p:nvSpPr>
        <p:spPr>
          <a:xfrm>
            <a:off x="762000" y="2506980"/>
            <a:ext cx="3175000" cy="345440"/>
          </a:xfrm>
          <a:prstGeom prst="rect">
            <a:avLst/>
          </a:prstGeom>
          <a:noFill/>
        </p:spPr>
        <p:txBody>
          <a:bodyPr vert="horz" wrap="square" rtlCol="0">
            <a:noAutofit/>
          </a:bodyPr>
          <a:lstStyle/>
          <a:p>
            <a:r>
              <a:rPr lang="en-US" sz="1600" b="1">
                <a:solidFill>
                  <a:srgbClr val="C00000"/>
                </a:solidFill>
              </a:rPr>
              <a:t>randomized block design</a:t>
            </a:r>
          </a:p>
        </p:txBody>
      </p:sp>
      <p:sp>
        <p:nvSpPr>
          <p:cNvPr id="8" name="TextBox 7">
            <a:extLst>
              <a:ext uri="{FF2B5EF4-FFF2-40B4-BE49-F238E27FC236}">
                <a16:creationId xmlns:a16="http://schemas.microsoft.com/office/drawing/2014/main" id="{594EE7E9-B4FA-AE7D-2F32-7824F8BEBECC}"/>
              </a:ext>
            </a:extLst>
          </p:cNvPr>
          <p:cNvSpPr txBox="1"/>
          <p:nvPr/>
        </p:nvSpPr>
        <p:spPr>
          <a:xfrm>
            <a:off x="4038600" y="2506979"/>
            <a:ext cx="7391400" cy="833120"/>
          </a:xfrm>
          <a:prstGeom prst="rect">
            <a:avLst/>
          </a:prstGeom>
          <a:noFill/>
        </p:spPr>
        <p:txBody>
          <a:bodyPr vert="horz" wrap="square" rtlCol="0">
            <a:noAutofit/>
          </a:bodyPr>
          <a:lstStyle/>
          <a:p>
            <a:r>
              <a:rPr lang="en-US" sz="1600">
                <a:solidFill>
                  <a:srgbClr val="000000"/>
                </a:solidFill>
              </a:rPr>
              <a:t>randomize treatments separately inside each block, then compare treatments within blocks</a:t>
            </a:r>
          </a:p>
          <a:p>
            <a:r>
              <a:rPr lang="en-US" sz="1600" i="1">
                <a:solidFill>
                  <a:srgbClr val="595959"/>
                </a:solidFill>
              </a:rPr>
              <a:t>blocking is to experiments what stratifying is to sampling</a:t>
            </a:r>
          </a:p>
        </p:txBody>
      </p:sp>
      <p:pic>
        <p:nvPicPr>
          <p:cNvPr id="10" name="l8_rcbd.png">
            <a:extLst>
              <a:ext uri="{FF2B5EF4-FFF2-40B4-BE49-F238E27FC236}">
                <a16:creationId xmlns:a16="http://schemas.microsoft.com/office/drawing/2014/main" id="{4D9C6247-9EE5-17B5-FA09-387DA7C382E5}"/>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762000" y="3429000"/>
            <a:ext cx="10668000" cy="2870200"/>
          </a:xfrm>
          <a:prstGeom prst="rect">
            <a:avLst/>
          </a:prstGeom>
        </p:spPr>
      </p:pic>
      <p:sp>
        <p:nvSpPr>
          <p:cNvPr id="3" name="Title rule">
            <a:extLst>
              <a:ext uri="{FF2B5EF4-FFF2-40B4-BE49-F238E27FC236}">
                <a16:creationId xmlns:a16="http://schemas.microsoft.com/office/drawing/2014/main" id="{683653CB-384B-87DB-C6CB-FB5F26D39118}"/>
              </a:ext>
            </a:extLst>
          </p:cNvPr>
          <p:cNvSpPr/>
          <p:nvPr/>
        </p:nvSpPr>
        <p:spPr>
          <a:xfrm>
            <a:off x="838200" y="1600200"/>
            <a:ext cx="10515600" cy="381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4600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from="(-#ppt_w/2)" to="(#ppt_x)" calcmode="lin" valueType="num">
                                      <p:cBhvr>
                                        <p:cTn id="7" dur="600" fill="hold">
                                          <p:stCondLst>
                                            <p:cond delay="0"/>
                                          </p:stCondLst>
                                        </p:cTn>
                                        <p:tgtEl>
                                          <p:spTgt spid="6"/>
                                        </p:tgtEl>
                                        <p:attrNameLst>
                                          <p:attrName>ppt_x</p:attrName>
                                        </p:attrNameLst>
                                      </p:cBhvr>
                                    </p:anim>
                                    <p:anim from="0" to="-1.0" calcmode="lin" valueType="num">
                                      <p:cBhvr>
                                        <p:cTn id="8" dur="200" decel="50000" autoRev="1" fill="hold">
                                          <p:stCondLst>
                                            <p:cond delay="600"/>
                                          </p:stCondLst>
                                        </p:cTn>
                                        <p:tgtEl>
                                          <p:spTgt spid="6"/>
                                        </p:tgtEl>
                                        <p:attrNameLst>
                                          <p:attrName>xshear</p:attrName>
                                        </p:attrNameLst>
                                      </p:cBhvr>
                                    </p:anim>
                                    <p:animScale>
                                      <p:cBhvr>
                                        <p:cTn id="9" dur="200" decel="100000" autoRev="1" fill="hold">
                                          <p:stCondLst>
                                            <p:cond delay="600"/>
                                          </p:stCondLst>
                                        </p:cTn>
                                        <p:tgtEl>
                                          <p:spTgt spid="6"/>
                                        </p:tgtEl>
                                      </p:cBhvr>
                                      <p:from x="100000" y="100000"/>
                                      <p:to x="80000" y="100000"/>
                                    </p:animScale>
                                    <p:anim by="(#ppt_h/3+#ppt_w*0.1)" calcmode="lin" valueType="num">
                                      <p:cBhvr additive="sum">
                                        <p:cTn id="10" dur="200" decel="100000" autoRev="1" fill="hold">
                                          <p:stCondLst>
                                            <p:cond delay="600"/>
                                          </p:stCondLst>
                                        </p:cTn>
                                        <p:tgtEl>
                                          <p:spTgt spid="6"/>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 from="(-#ppt_w/2)" to="(#ppt_x)" calcmode="lin" valueType="num">
                                      <p:cBhvr>
                                        <p:cTn id="15" dur="600" fill="hold">
                                          <p:stCondLst>
                                            <p:cond delay="0"/>
                                          </p:stCondLst>
                                        </p:cTn>
                                        <p:tgtEl>
                                          <p:spTgt spid="8"/>
                                        </p:tgtEl>
                                        <p:attrNameLst>
                                          <p:attrName>ppt_x</p:attrName>
                                        </p:attrNameLst>
                                      </p:cBhvr>
                                    </p:anim>
                                    <p:anim from="0" to="-1.0" calcmode="lin" valueType="num">
                                      <p:cBhvr>
                                        <p:cTn id="16" dur="200" decel="50000" autoRev="1" fill="hold">
                                          <p:stCondLst>
                                            <p:cond delay="600"/>
                                          </p:stCondLst>
                                        </p:cTn>
                                        <p:tgtEl>
                                          <p:spTgt spid="8"/>
                                        </p:tgtEl>
                                        <p:attrNameLst>
                                          <p:attrName>xshear</p:attrName>
                                        </p:attrNameLst>
                                      </p:cBhvr>
                                    </p:anim>
                                    <p:animScale>
                                      <p:cBhvr>
                                        <p:cTn id="17" dur="200" decel="100000" autoRev="1" fill="hold">
                                          <p:stCondLst>
                                            <p:cond delay="600"/>
                                          </p:stCondLst>
                                        </p:cTn>
                                        <p:tgtEl>
                                          <p:spTgt spid="8"/>
                                        </p:tgtEl>
                                      </p:cBhvr>
                                      <p:from x="100000" y="100000"/>
                                      <p:to x="80000" y="100000"/>
                                    </p:animScale>
                                    <p:anim by="(#ppt_h/3+#ppt_w*0.1)" calcmode="lin" valueType="num">
                                      <p:cBhvr additive="sum">
                                        <p:cTn id="18" dur="200" decel="100000" autoRev="1" fill="hold">
                                          <p:stCondLst>
                                            <p:cond delay="600"/>
                                          </p:stCondLst>
                                        </p:cTn>
                                        <p:tgtEl>
                                          <p:spTgt spid="8"/>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825F3-CA5C-D321-A12F-235D7E6C102E}"/>
              </a:ext>
            </a:extLst>
          </p:cNvPr>
          <p:cNvSpPr>
            <a:spLocks noGrp="1"/>
          </p:cNvSpPr>
          <p:nvPr>
            <p:ph type="title"/>
          </p:nvPr>
        </p:nvSpPr>
        <p:spPr/>
        <p:txBody>
          <a:bodyPr>
            <a:noAutofit/>
          </a:bodyPr>
          <a:lstStyle/>
          <a:p>
            <a:r>
              <a:rPr lang="en-US">
                <a:solidFill>
                  <a:srgbClr val="1F3864"/>
                </a:solidFill>
              </a:rPr>
              <a:t>Matched pairs design</a:t>
            </a:r>
          </a:p>
        </p:txBody>
      </p:sp>
      <p:sp>
        <p:nvSpPr>
          <p:cNvPr id="4" name="Slide Number Placeholder 3">
            <a:extLst>
              <a:ext uri="{FF2B5EF4-FFF2-40B4-BE49-F238E27FC236}">
                <a16:creationId xmlns:a16="http://schemas.microsoft.com/office/drawing/2014/main" id="{632F5803-1B77-5AE0-EEB8-17B8E3F9722A}"/>
              </a:ext>
            </a:extLst>
          </p:cNvPr>
          <p:cNvSpPr>
            <a:spLocks noGrp="1"/>
          </p:cNvSpPr>
          <p:nvPr>
            <p:ph type="sldNum" sz="quarter" idx="12"/>
          </p:nvPr>
        </p:nvSpPr>
        <p:spPr/>
        <p:txBody>
          <a:bodyPr/>
          <a:lstStyle/>
          <a:p>
            <a:fld id="{A80A81DD-F10A-4B1C-963A-0ABBB4865886}" type="slidenum">
              <a:rPr lang="en-US" sz="1600" smtClean="0"/>
              <a:t>6</a:t>
            </a:fld>
            <a:endParaRPr lang="en-US" sz="1600"/>
          </a:p>
        </p:txBody>
      </p:sp>
      <p:sp>
        <p:nvSpPr>
          <p:cNvPr id="5" name="TextBox 4">
            <a:extLst>
              <a:ext uri="{FF2B5EF4-FFF2-40B4-BE49-F238E27FC236}">
                <a16:creationId xmlns:a16="http://schemas.microsoft.com/office/drawing/2014/main" id="{F2C3E119-33DB-B84A-C9CB-1DA41099D1A1}"/>
              </a:ext>
            </a:extLst>
          </p:cNvPr>
          <p:cNvSpPr txBox="1"/>
          <p:nvPr/>
        </p:nvSpPr>
        <p:spPr>
          <a:xfrm>
            <a:off x="762000" y="1841500"/>
            <a:ext cx="3175000" cy="345440"/>
          </a:xfrm>
          <a:prstGeom prst="rect">
            <a:avLst/>
          </a:prstGeom>
          <a:noFill/>
        </p:spPr>
        <p:txBody>
          <a:bodyPr vert="horz" wrap="square" rtlCol="0">
            <a:noAutofit/>
          </a:bodyPr>
          <a:lstStyle/>
          <a:p>
            <a:r>
              <a:rPr lang="en-US" sz="1600" b="1">
                <a:solidFill>
                  <a:srgbClr val="C00000"/>
                </a:solidFill>
              </a:rPr>
              <a:t>matched pairs design</a:t>
            </a:r>
          </a:p>
        </p:txBody>
      </p:sp>
      <p:sp>
        <p:nvSpPr>
          <p:cNvPr id="6" name="TextBox 5">
            <a:extLst>
              <a:ext uri="{FF2B5EF4-FFF2-40B4-BE49-F238E27FC236}">
                <a16:creationId xmlns:a16="http://schemas.microsoft.com/office/drawing/2014/main" id="{377D380C-8635-8A53-300D-33D0068157E3}"/>
              </a:ext>
            </a:extLst>
          </p:cNvPr>
          <p:cNvSpPr txBox="1"/>
          <p:nvPr/>
        </p:nvSpPr>
        <p:spPr>
          <a:xfrm>
            <a:off x="4038600" y="1841499"/>
            <a:ext cx="7391400" cy="833120"/>
          </a:xfrm>
          <a:prstGeom prst="rect">
            <a:avLst/>
          </a:prstGeom>
          <a:noFill/>
        </p:spPr>
        <p:txBody>
          <a:bodyPr vert="horz" wrap="square" rtlCol="0">
            <a:noAutofit/>
          </a:bodyPr>
          <a:lstStyle/>
          <a:p>
            <a:r>
              <a:rPr lang="en-US" sz="1600">
                <a:solidFill>
                  <a:srgbClr val="000000"/>
                </a:solidFill>
              </a:rPr>
              <a:t>a block design where every block is a pair of very similar units, and a coin flip decides which one gets each treatment</a:t>
            </a:r>
          </a:p>
          <a:p>
            <a:r>
              <a:rPr lang="en-US" sz="1600" i="1">
                <a:solidFill>
                  <a:srgbClr val="595959"/>
                </a:solidFill>
              </a:rPr>
              <a:t>or each subject is their own pair, receiving both treatments in a random order</a:t>
            </a:r>
          </a:p>
        </p:txBody>
      </p:sp>
      <p:pic>
        <p:nvPicPr>
          <p:cNvPr id="8" name="l8_matched_pairs.png">
            <a:extLst>
              <a:ext uri="{FF2B5EF4-FFF2-40B4-BE49-F238E27FC236}">
                <a16:creationId xmlns:a16="http://schemas.microsoft.com/office/drawing/2014/main" id="{3439A8BA-7800-029C-E47E-C6620E508DFF}"/>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762000" y="2852420"/>
            <a:ext cx="10668000" cy="2921000"/>
          </a:xfrm>
          <a:prstGeom prst="rect">
            <a:avLst/>
          </a:prstGeom>
        </p:spPr>
      </p:pic>
      <p:sp>
        <p:nvSpPr>
          <p:cNvPr id="9" name="TextBox 8">
            <a:extLst>
              <a:ext uri="{FF2B5EF4-FFF2-40B4-BE49-F238E27FC236}">
                <a16:creationId xmlns:a16="http://schemas.microsoft.com/office/drawing/2014/main" id="{854AE21D-EF44-4EB5-7BCB-35F9FA4BF6CF}"/>
              </a:ext>
            </a:extLst>
          </p:cNvPr>
          <p:cNvSpPr txBox="1"/>
          <p:nvPr/>
        </p:nvSpPr>
        <p:spPr>
          <a:xfrm>
            <a:off x="762000" y="5994400"/>
            <a:ext cx="10668000" cy="345440"/>
          </a:xfrm>
          <a:prstGeom prst="rect">
            <a:avLst/>
          </a:prstGeom>
          <a:noFill/>
        </p:spPr>
        <p:txBody>
          <a:bodyPr vert="horz" wrap="square" rtlCol="0">
            <a:noAutofit/>
          </a:bodyPr>
          <a:lstStyle/>
          <a:p>
            <a:r>
              <a:rPr lang="en-US" sz="1600">
                <a:solidFill>
                  <a:srgbClr val="000000"/>
                </a:solidFill>
              </a:rPr>
              <a:t>Before-and-after data with no random order or control group is much weaker evidence</a:t>
            </a:r>
          </a:p>
        </p:txBody>
      </p:sp>
      <p:sp>
        <p:nvSpPr>
          <p:cNvPr id="3" name="Title rule">
            <a:extLst>
              <a:ext uri="{FF2B5EF4-FFF2-40B4-BE49-F238E27FC236}">
                <a16:creationId xmlns:a16="http://schemas.microsoft.com/office/drawing/2014/main" id="{784C6B91-DD86-0BA1-4A71-C454C38471E5}"/>
              </a:ext>
            </a:extLst>
          </p:cNvPr>
          <p:cNvSpPr/>
          <p:nvPr/>
        </p:nvSpPr>
        <p:spPr>
          <a:xfrm>
            <a:off x="838200" y="1600200"/>
            <a:ext cx="10515600" cy="381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697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from="(-#ppt_w/2)" to="(#ppt_x)" calcmode="lin" valueType="num">
                                      <p:cBhvr>
                                        <p:cTn id="7" dur="600" fill="hold">
                                          <p:stCondLst>
                                            <p:cond delay="0"/>
                                          </p:stCondLst>
                                        </p:cTn>
                                        <p:tgtEl>
                                          <p:spTgt spid="6"/>
                                        </p:tgtEl>
                                        <p:attrNameLst>
                                          <p:attrName>ppt_x</p:attrName>
                                        </p:attrNameLst>
                                      </p:cBhvr>
                                    </p:anim>
                                    <p:anim from="0" to="-1.0" calcmode="lin" valueType="num">
                                      <p:cBhvr>
                                        <p:cTn id="8" dur="200" decel="50000" autoRev="1" fill="hold">
                                          <p:stCondLst>
                                            <p:cond delay="600"/>
                                          </p:stCondLst>
                                        </p:cTn>
                                        <p:tgtEl>
                                          <p:spTgt spid="6"/>
                                        </p:tgtEl>
                                        <p:attrNameLst>
                                          <p:attrName>xshear</p:attrName>
                                        </p:attrNameLst>
                                      </p:cBhvr>
                                    </p:anim>
                                    <p:animScale>
                                      <p:cBhvr>
                                        <p:cTn id="9" dur="200" decel="100000" autoRev="1" fill="hold">
                                          <p:stCondLst>
                                            <p:cond delay="600"/>
                                          </p:stCondLst>
                                        </p:cTn>
                                        <p:tgtEl>
                                          <p:spTgt spid="6"/>
                                        </p:tgtEl>
                                      </p:cBhvr>
                                      <p:from x="100000" y="100000"/>
                                      <p:to x="80000" y="100000"/>
                                    </p:animScale>
                                    <p:anim by="(#ppt_h/3+#ppt_w*0.1)" calcmode="lin" valueType="num">
                                      <p:cBhvr additive="sum">
                                        <p:cTn id="10" dur="200" decel="100000" autoRev="1" fill="hold">
                                          <p:stCondLst>
                                            <p:cond delay="600"/>
                                          </p:stCondLst>
                                        </p:cTn>
                                        <p:tgtEl>
                                          <p:spTgt spid="6"/>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 from="(-#ppt_w/2)" to="(#ppt_x)" calcmode="lin" valueType="num">
                                      <p:cBhvr>
                                        <p:cTn id="15" dur="600" fill="hold">
                                          <p:stCondLst>
                                            <p:cond delay="0"/>
                                          </p:stCondLst>
                                        </p:cTn>
                                        <p:tgtEl>
                                          <p:spTgt spid="9"/>
                                        </p:tgtEl>
                                        <p:attrNameLst>
                                          <p:attrName>ppt_x</p:attrName>
                                        </p:attrNameLst>
                                      </p:cBhvr>
                                    </p:anim>
                                    <p:anim from="0" to="-1.0" calcmode="lin" valueType="num">
                                      <p:cBhvr>
                                        <p:cTn id="16" dur="200" decel="50000" autoRev="1" fill="hold">
                                          <p:stCondLst>
                                            <p:cond delay="600"/>
                                          </p:stCondLst>
                                        </p:cTn>
                                        <p:tgtEl>
                                          <p:spTgt spid="9"/>
                                        </p:tgtEl>
                                        <p:attrNameLst>
                                          <p:attrName>xshear</p:attrName>
                                        </p:attrNameLst>
                                      </p:cBhvr>
                                    </p:anim>
                                    <p:animScale>
                                      <p:cBhvr>
                                        <p:cTn id="17" dur="200" decel="100000" autoRev="1" fill="hold">
                                          <p:stCondLst>
                                            <p:cond delay="600"/>
                                          </p:stCondLst>
                                        </p:cTn>
                                        <p:tgtEl>
                                          <p:spTgt spid="9"/>
                                        </p:tgtEl>
                                      </p:cBhvr>
                                      <p:from x="100000" y="100000"/>
                                      <p:to x="80000" y="100000"/>
                                    </p:animScale>
                                    <p:anim by="(#ppt_h/3+#ppt_w*0.1)" calcmode="lin" valueType="num">
                                      <p:cBhvr additive="sum">
                                        <p:cTn id="18" dur="200" decel="100000" autoRev="1" fill="hold">
                                          <p:stCondLst>
                                            <p:cond delay="600"/>
                                          </p:stCondLst>
                                        </p:cTn>
                                        <p:tgtEl>
                                          <p:spTgt spid="9"/>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220BC-F401-2AC4-1387-5CA1219B7E18}"/>
              </a:ext>
            </a:extLst>
          </p:cNvPr>
          <p:cNvSpPr>
            <a:spLocks noGrp="1"/>
          </p:cNvSpPr>
          <p:nvPr>
            <p:ph type="title"/>
          </p:nvPr>
        </p:nvSpPr>
        <p:spPr/>
        <p:txBody>
          <a:bodyPr>
            <a:noAutofit/>
          </a:bodyPr>
          <a:lstStyle/>
          <a:p>
            <a:r>
              <a:rPr lang="en-US">
                <a:solidFill>
                  <a:srgbClr val="1F3864"/>
                </a:solidFill>
              </a:rPr>
              <a:t>What does randomization buy you?</a:t>
            </a:r>
          </a:p>
        </p:txBody>
      </p:sp>
      <p:sp>
        <p:nvSpPr>
          <p:cNvPr id="4" name="Slide Number Placeholder 3">
            <a:extLst>
              <a:ext uri="{FF2B5EF4-FFF2-40B4-BE49-F238E27FC236}">
                <a16:creationId xmlns:a16="http://schemas.microsoft.com/office/drawing/2014/main" id="{BCA126EC-9647-D00A-626C-6261106C1147}"/>
              </a:ext>
            </a:extLst>
          </p:cNvPr>
          <p:cNvSpPr>
            <a:spLocks noGrp="1"/>
          </p:cNvSpPr>
          <p:nvPr>
            <p:ph type="sldNum" sz="quarter" idx="12"/>
          </p:nvPr>
        </p:nvSpPr>
        <p:spPr/>
        <p:txBody>
          <a:bodyPr/>
          <a:lstStyle/>
          <a:p>
            <a:fld id="{A80A81DD-F10A-4B1C-963A-0ABBB4865886}" type="slidenum">
              <a:rPr lang="en-US" sz="1600" smtClean="0"/>
              <a:t>7</a:t>
            </a:fld>
            <a:endParaRPr lang="en-US" sz="1600"/>
          </a:p>
        </p:txBody>
      </p:sp>
      <p:sp>
        <p:nvSpPr>
          <p:cNvPr id="5" name="TextBox 4">
            <a:extLst>
              <a:ext uri="{FF2B5EF4-FFF2-40B4-BE49-F238E27FC236}">
                <a16:creationId xmlns:a16="http://schemas.microsoft.com/office/drawing/2014/main" id="{A4B04C0C-E47B-20AC-31E4-94DC4C4ABB5F}"/>
              </a:ext>
            </a:extLst>
          </p:cNvPr>
          <p:cNvSpPr txBox="1"/>
          <p:nvPr/>
        </p:nvSpPr>
        <p:spPr>
          <a:xfrm>
            <a:off x="508000" y="2031999"/>
            <a:ext cx="3683000" cy="589280"/>
          </a:xfrm>
          <a:prstGeom prst="rect">
            <a:avLst/>
          </a:prstGeom>
          <a:noFill/>
        </p:spPr>
        <p:txBody>
          <a:bodyPr vert="horz" wrap="square" rtlCol="0">
            <a:noAutofit/>
          </a:bodyPr>
          <a:lstStyle/>
          <a:p>
            <a:r>
              <a:rPr lang="en-US" sz="1600" b="1">
                <a:solidFill>
                  <a:srgbClr val="C00000"/>
                </a:solidFill>
              </a:rPr>
              <a:t>Random sampling</a:t>
            </a:r>
            <a:r>
              <a:rPr lang="en-US" sz="1600">
                <a:solidFill>
                  <a:srgbClr val="000000"/>
                </a:solidFill>
              </a:rPr>
              <a:t> lets you generalize from the sample to the population</a:t>
            </a:r>
          </a:p>
        </p:txBody>
      </p:sp>
      <p:sp>
        <p:nvSpPr>
          <p:cNvPr id="6" name="TextBox 5">
            <a:extLst>
              <a:ext uri="{FF2B5EF4-FFF2-40B4-BE49-F238E27FC236}">
                <a16:creationId xmlns:a16="http://schemas.microsoft.com/office/drawing/2014/main" id="{04E720C4-0587-0E87-63EC-96B92E67C00D}"/>
              </a:ext>
            </a:extLst>
          </p:cNvPr>
          <p:cNvSpPr txBox="1"/>
          <p:nvPr/>
        </p:nvSpPr>
        <p:spPr>
          <a:xfrm>
            <a:off x="508000" y="2799079"/>
            <a:ext cx="3683000" cy="589280"/>
          </a:xfrm>
          <a:prstGeom prst="rect">
            <a:avLst/>
          </a:prstGeom>
          <a:noFill/>
        </p:spPr>
        <p:txBody>
          <a:bodyPr vert="horz" wrap="square" rtlCol="0">
            <a:noAutofit/>
          </a:bodyPr>
          <a:lstStyle/>
          <a:p>
            <a:r>
              <a:rPr lang="en-US" sz="1600" b="1">
                <a:solidFill>
                  <a:srgbClr val="C00000"/>
                </a:solidFill>
              </a:rPr>
              <a:t>Random assignment</a:t>
            </a:r>
            <a:r>
              <a:rPr lang="en-US" sz="1600">
                <a:solidFill>
                  <a:srgbClr val="000000"/>
                </a:solidFill>
              </a:rPr>
              <a:t> lets you conclude cause and effect</a:t>
            </a:r>
          </a:p>
        </p:txBody>
      </p:sp>
      <p:sp>
        <p:nvSpPr>
          <p:cNvPr id="7" name="TextBox 6">
            <a:extLst>
              <a:ext uri="{FF2B5EF4-FFF2-40B4-BE49-F238E27FC236}">
                <a16:creationId xmlns:a16="http://schemas.microsoft.com/office/drawing/2014/main" id="{E5592FD8-9A4E-5BB8-6D38-E386520B604D}"/>
              </a:ext>
            </a:extLst>
          </p:cNvPr>
          <p:cNvSpPr txBox="1"/>
          <p:nvPr/>
        </p:nvSpPr>
        <p:spPr>
          <a:xfrm>
            <a:off x="508000" y="3566159"/>
            <a:ext cx="3683000" cy="833120"/>
          </a:xfrm>
          <a:prstGeom prst="rect">
            <a:avLst/>
          </a:prstGeom>
          <a:noFill/>
        </p:spPr>
        <p:txBody>
          <a:bodyPr vert="horz" wrap="square" rtlCol="0">
            <a:noAutofit/>
          </a:bodyPr>
          <a:lstStyle/>
          <a:p>
            <a:r>
              <a:rPr lang="en-US" sz="1600">
                <a:solidFill>
                  <a:srgbClr val="000000"/>
                </a:solidFill>
              </a:rPr>
              <a:t>Most studies have only one. A trial on volunteers shows a vaccine works - for people like those volunteers</a:t>
            </a:r>
          </a:p>
        </p:txBody>
      </p:sp>
      <p:pic>
        <p:nvPicPr>
          <p:cNvPr id="9" name="l8_sampling_vs_assignment.png">
            <a:extLst>
              <a:ext uri="{FF2B5EF4-FFF2-40B4-BE49-F238E27FC236}">
                <a16:creationId xmlns:a16="http://schemas.microsoft.com/office/drawing/2014/main" id="{155BFB16-B6F6-9547-0319-A28383F09920}"/>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4318000" y="1854200"/>
            <a:ext cx="7747000" cy="4445000"/>
          </a:xfrm>
          <a:prstGeom prst="rect">
            <a:avLst/>
          </a:prstGeom>
        </p:spPr>
      </p:pic>
      <p:sp>
        <p:nvSpPr>
          <p:cNvPr id="3" name="Title rule">
            <a:extLst>
              <a:ext uri="{FF2B5EF4-FFF2-40B4-BE49-F238E27FC236}">
                <a16:creationId xmlns:a16="http://schemas.microsoft.com/office/drawing/2014/main" id="{1784CFE6-ACD1-AC71-8278-C12730A8BD57}"/>
              </a:ext>
            </a:extLst>
          </p:cNvPr>
          <p:cNvSpPr/>
          <p:nvPr/>
        </p:nvSpPr>
        <p:spPr>
          <a:xfrm>
            <a:off x="838200" y="1600200"/>
            <a:ext cx="10515600" cy="381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282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from="(-#ppt_w/2)" to="(#ppt_x)" calcmode="lin" valueType="num">
                                      <p:cBhvr>
                                        <p:cTn id="7" dur="600" fill="hold">
                                          <p:stCondLst>
                                            <p:cond delay="0"/>
                                          </p:stCondLst>
                                        </p:cTn>
                                        <p:tgtEl>
                                          <p:spTgt spid="6"/>
                                        </p:tgtEl>
                                        <p:attrNameLst>
                                          <p:attrName>ppt_x</p:attrName>
                                        </p:attrNameLst>
                                      </p:cBhvr>
                                    </p:anim>
                                    <p:anim from="0" to="-1.0" calcmode="lin" valueType="num">
                                      <p:cBhvr>
                                        <p:cTn id="8" dur="200" decel="50000" autoRev="1" fill="hold">
                                          <p:stCondLst>
                                            <p:cond delay="600"/>
                                          </p:stCondLst>
                                        </p:cTn>
                                        <p:tgtEl>
                                          <p:spTgt spid="6"/>
                                        </p:tgtEl>
                                        <p:attrNameLst>
                                          <p:attrName>xshear</p:attrName>
                                        </p:attrNameLst>
                                      </p:cBhvr>
                                    </p:anim>
                                    <p:animScale>
                                      <p:cBhvr>
                                        <p:cTn id="9" dur="200" decel="100000" autoRev="1" fill="hold">
                                          <p:stCondLst>
                                            <p:cond delay="600"/>
                                          </p:stCondLst>
                                        </p:cTn>
                                        <p:tgtEl>
                                          <p:spTgt spid="6"/>
                                        </p:tgtEl>
                                      </p:cBhvr>
                                      <p:from x="100000" y="100000"/>
                                      <p:to x="80000" y="100000"/>
                                    </p:animScale>
                                    <p:anim by="(#ppt_h/3+#ppt_w*0.1)" calcmode="lin" valueType="num">
                                      <p:cBhvr additive="sum">
                                        <p:cTn id="10" dur="200" decel="100000" autoRev="1" fill="hold">
                                          <p:stCondLst>
                                            <p:cond delay="600"/>
                                          </p:stCondLst>
                                        </p:cTn>
                                        <p:tgtEl>
                                          <p:spTgt spid="6"/>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from="(-#ppt_w/2)" to="(#ppt_x)" calcmode="lin" valueType="num">
                                      <p:cBhvr>
                                        <p:cTn id="15" dur="600" fill="hold">
                                          <p:stCondLst>
                                            <p:cond delay="0"/>
                                          </p:stCondLst>
                                        </p:cTn>
                                        <p:tgtEl>
                                          <p:spTgt spid="7"/>
                                        </p:tgtEl>
                                        <p:attrNameLst>
                                          <p:attrName>ppt_x</p:attrName>
                                        </p:attrNameLst>
                                      </p:cBhvr>
                                    </p:anim>
                                    <p:anim from="0" to="-1.0" calcmode="lin" valueType="num">
                                      <p:cBhvr>
                                        <p:cTn id="16" dur="200" decel="50000" autoRev="1" fill="hold">
                                          <p:stCondLst>
                                            <p:cond delay="600"/>
                                          </p:stCondLst>
                                        </p:cTn>
                                        <p:tgtEl>
                                          <p:spTgt spid="7"/>
                                        </p:tgtEl>
                                        <p:attrNameLst>
                                          <p:attrName>xshear</p:attrName>
                                        </p:attrNameLst>
                                      </p:cBhvr>
                                    </p:anim>
                                    <p:animScale>
                                      <p:cBhvr>
                                        <p:cTn id="17" dur="200" decel="100000" autoRev="1" fill="hold">
                                          <p:stCondLst>
                                            <p:cond delay="600"/>
                                          </p:stCondLst>
                                        </p:cTn>
                                        <p:tgtEl>
                                          <p:spTgt spid="7"/>
                                        </p:tgtEl>
                                      </p:cBhvr>
                                      <p:from x="100000" y="100000"/>
                                      <p:to x="80000" y="100000"/>
                                    </p:animScale>
                                    <p:anim by="(#ppt_h/3+#ppt_w*0.1)" calcmode="lin" valueType="num">
                                      <p:cBhvr additive="sum">
                                        <p:cTn id="18" dur="200" decel="100000" autoRev="1" fill="hold">
                                          <p:stCondLst>
                                            <p:cond delay="600"/>
                                          </p:stCondLst>
                                        </p:cTn>
                                        <p:tgtEl>
                                          <p:spTgt spid="7"/>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7AB41-6AD1-9EF2-7F95-46A904399681}"/>
              </a:ext>
            </a:extLst>
          </p:cNvPr>
          <p:cNvSpPr>
            <a:spLocks noGrp="1"/>
          </p:cNvSpPr>
          <p:nvPr>
            <p:ph type="title"/>
          </p:nvPr>
        </p:nvSpPr>
        <p:spPr/>
        <p:txBody>
          <a:bodyPr>
            <a:noAutofit/>
          </a:bodyPr>
          <a:lstStyle/>
          <a:p>
            <a:r>
              <a:rPr lang="en-US">
                <a:solidFill>
                  <a:srgbClr val="1F3864"/>
                </a:solidFill>
              </a:rPr>
              <a:t>Was the placebo surgery trial ethical?</a:t>
            </a:r>
          </a:p>
        </p:txBody>
      </p:sp>
      <p:sp>
        <p:nvSpPr>
          <p:cNvPr id="4" name="Slide Number Placeholder 3">
            <a:extLst>
              <a:ext uri="{FF2B5EF4-FFF2-40B4-BE49-F238E27FC236}">
                <a16:creationId xmlns:a16="http://schemas.microsoft.com/office/drawing/2014/main" id="{97D44AE5-98B5-B840-6B8A-D345C7C2E2F0}"/>
              </a:ext>
            </a:extLst>
          </p:cNvPr>
          <p:cNvSpPr>
            <a:spLocks noGrp="1"/>
          </p:cNvSpPr>
          <p:nvPr>
            <p:ph type="sldNum" sz="quarter" idx="12"/>
          </p:nvPr>
        </p:nvSpPr>
        <p:spPr/>
        <p:txBody>
          <a:bodyPr/>
          <a:lstStyle/>
          <a:p>
            <a:fld id="{A80A81DD-F10A-4B1C-963A-0ABBB4865886}" type="slidenum">
              <a:rPr lang="en-US" sz="1600" smtClean="0"/>
              <a:t>8</a:t>
            </a:fld>
            <a:endParaRPr lang="en-US" sz="1600"/>
          </a:p>
        </p:txBody>
      </p:sp>
      <p:sp>
        <p:nvSpPr>
          <p:cNvPr id="5" name="TextBox 4">
            <a:extLst>
              <a:ext uri="{FF2B5EF4-FFF2-40B4-BE49-F238E27FC236}">
                <a16:creationId xmlns:a16="http://schemas.microsoft.com/office/drawing/2014/main" id="{A34AAE17-27CE-D7A3-C663-11BB48ACBF5B}"/>
              </a:ext>
            </a:extLst>
          </p:cNvPr>
          <p:cNvSpPr txBox="1"/>
          <p:nvPr/>
        </p:nvSpPr>
        <p:spPr>
          <a:xfrm>
            <a:off x="762000" y="1841500"/>
            <a:ext cx="10668000" cy="345440"/>
          </a:xfrm>
          <a:prstGeom prst="rect">
            <a:avLst/>
          </a:prstGeom>
          <a:noFill/>
        </p:spPr>
        <p:txBody>
          <a:bodyPr vert="horz" wrap="square" rtlCol="0">
            <a:spAutoFit/>
          </a:bodyPr>
          <a:lstStyle/>
          <a:p>
            <a:pPr marL="304800" indent="-304800"/>
            <a:r>
              <a:rPr lang="en-US" sz="1600">
                <a:solidFill>
                  <a:srgbClr val="000000"/>
                </a:solidFill>
              </a:rPr>
              <a:t>Patients in the placebo arm were anaesthetised and cut open with no chance of benefit. How was that allowed?</a:t>
            </a:r>
          </a:p>
        </p:txBody>
      </p:sp>
      <p:sp>
        <p:nvSpPr>
          <p:cNvPr id="6" name="TextBox 5">
            <a:extLst>
              <a:ext uri="{FF2B5EF4-FFF2-40B4-BE49-F238E27FC236}">
                <a16:creationId xmlns:a16="http://schemas.microsoft.com/office/drawing/2014/main" id="{E410A0F8-5E1E-9A1D-B64C-50827EE6C9B2}"/>
              </a:ext>
            </a:extLst>
          </p:cNvPr>
          <p:cNvSpPr txBox="1"/>
          <p:nvPr/>
        </p:nvSpPr>
        <p:spPr>
          <a:xfrm>
            <a:off x="1117600" y="2212340"/>
            <a:ext cx="10312400" cy="584775"/>
          </a:xfrm>
          <a:prstGeom prst="rect">
            <a:avLst/>
          </a:prstGeom>
          <a:noFill/>
        </p:spPr>
        <p:txBody>
          <a:bodyPr vert="horz" wrap="square" rtlCol="0">
            <a:spAutoFit/>
          </a:bodyPr>
          <a:lstStyle/>
          <a:p>
            <a:r>
              <a:rPr lang="en-US" sz="1600" b="1">
                <a:solidFill>
                  <a:srgbClr val="C00000"/>
                </a:solidFill>
              </a:rPr>
              <a:t>Every patient signed a consent form stating explicitly that they might receive placebo surgery and that it would do nothing for their arthritis, and an institutional review board approved the trial.</a:t>
            </a:r>
          </a:p>
        </p:txBody>
      </p:sp>
      <p:sp>
        <p:nvSpPr>
          <p:cNvPr id="7" name="TextBox 6">
            <a:extLst>
              <a:ext uri="{FF2B5EF4-FFF2-40B4-BE49-F238E27FC236}">
                <a16:creationId xmlns:a16="http://schemas.microsoft.com/office/drawing/2014/main" id="{47D3CD95-D52E-5227-B663-7C0A72677B6E}"/>
              </a:ext>
            </a:extLst>
          </p:cNvPr>
          <p:cNvSpPr txBox="1"/>
          <p:nvPr/>
        </p:nvSpPr>
        <p:spPr>
          <a:xfrm>
            <a:off x="762000" y="2974915"/>
            <a:ext cx="10668000" cy="345440"/>
          </a:xfrm>
          <a:prstGeom prst="rect">
            <a:avLst/>
          </a:prstGeom>
          <a:noFill/>
        </p:spPr>
        <p:txBody>
          <a:bodyPr vert="horz" wrap="square" rtlCol="0">
            <a:spAutoFit/>
          </a:bodyPr>
          <a:lstStyle/>
          <a:p>
            <a:pPr marL="304800" indent="-304800"/>
            <a:r>
              <a:rPr lang="en-US" sz="1600">
                <a:solidFill>
                  <a:srgbClr val="000000"/>
                </a:solidFill>
              </a:rPr>
              <a:t>Why was it acceptable to withhold an operation that was already standard care?</a:t>
            </a:r>
          </a:p>
        </p:txBody>
      </p:sp>
      <p:sp>
        <p:nvSpPr>
          <p:cNvPr id="8" name="TextBox 7">
            <a:extLst>
              <a:ext uri="{FF2B5EF4-FFF2-40B4-BE49-F238E27FC236}">
                <a16:creationId xmlns:a16="http://schemas.microsoft.com/office/drawing/2014/main" id="{1CE3E601-601D-C6B1-8265-C079CB8C9269}"/>
              </a:ext>
            </a:extLst>
          </p:cNvPr>
          <p:cNvSpPr txBox="1"/>
          <p:nvPr/>
        </p:nvSpPr>
        <p:spPr>
          <a:xfrm>
            <a:off x="1117600" y="3345755"/>
            <a:ext cx="10312400" cy="830997"/>
          </a:xfrm>
          <a:prstGeom prst="rect">
            <a:avLst/>
          </a:prstGeom>
          <a:noFill/>
        </p:spPr>
        <p:txBody>
          <a:bodyPr vert="horz" wrap="square" rtlCol="0">
            <a:spAutoFit/>
          </a:bodyPr>
          <a:lstStyle/>
          <a:p>
            <a:r>
              <a:rPr lang="en-US" sz="1600" b="1">
                <a:solidFill>
                  <a:srgbClr val="C00000"/>
                </a:solidFill>
              </a:rPr>
              <a:t>Because nobody actually knew it worked. It was being performed very widely on the strength of what patients reported, with no randomized evidence behind it. When experts are genuinely uncertain, a trial is justified - that uncertainty is called equipoise.</a:t>
            </a:r>
          </a:p>
        </p:txBody>
      </p:sp>
      <p:sp>
        <p:nvSpPr>
          <p:cNvPr id="9" name="TextBox 8">
            <a:extLst>
              <a:ext uri="{FF2B5EF4-FFF2-40B4-BE49-F238E27FC236}">
                <a16:creationId xmlns:a16="http://schemas.microsoft.com/office/drawing/2014/main" id="{FB002BF4-8037-2F73-E27A-7A453477E389}"/>
              </a:ext>
            </a:extLst>
          </p:cNvPr>
          <p:cNvSpPr txBox="1"/>
          <p:nvPr/>
        </p:nvSpPr>
        <p:spPr>
          <a:xfrm>
            <a:off x="762000" y="4354552"/>
            <a:ext cx="10668000" cy="345440"/>
          </a:xfrm>
          <a:prstGeom prst="rect">
            <a:avLst/>
          </a:prstGeom>
          <a:noFill/>
        </p:spPr>
        <p:txBody>
          <a:bodyPr vert="horz" wrap="square" rtlCol="0">
            <a:spAutoFit/>
          </a:bodyPr>
          <a:lstStyle/>
          <a:p>
            <a:pPr marL="304800" indent="-304800"/>
            <a:r>
              <a:rPr lang="en-US" sz="1600">
                <a:solidFill>
                  <a:srgbClr val="000000"/>
                </a:solidFill>
              </a:rPr>
              <a:t>So, was it ethical?</a:t>
            </a:r>
          </a:p>
        </p:txBody>
      </p:sp>
      <p:sp>
        <p:nvSpPr>
          <p:cNvPr id="10" name="TextBox 9">
            <a:extLst>
              <a:ext uri="{FF2B5EF4-FFF2-40B4-BE49-F238E27FC236}">
                <a16:creationId xmlns:a16="http://schemas.microsoft.com/office/drawing/2014/main" id="{10F3B3E3-D27C-E008-C93E-ED70BD2A4754}"/>
              </a:ext>
            </a:extLst>
          </p:cNvPr>
          <p:cNvSpPr txBox="1"/>
          <p:nvPr/>
        </p:nvSpPr>
        <p:spPr>
          <a:xfrm>
            <a:off x="1117600" y="4725392"/>
            <a:ext cx="10312400" cy="830997"/>
          </a:xfrm>
          <a:prstGeom prst="rect">
            <a:avLst/>
          </a:prstGeom>
          <a:noFill/>
        </p:spPr>
        <p:txBody>
          <a:bodyPr vert="horz" wrap="square" rtlCol="0">
            <a:spAutoFit/>
          </a:bodyPr>
          <a:lstStyle/>
          <a:p>
            <a:r>
              <a:rPr lang="en-US" sz="1600" b="1">
                <a:solidFill>
                  <a:srgbClr val="C00000"/>
                </a:solidFill>
              </a:rPr>
              <a:t>On balance most would say yes: real informed consent, board approval, genuine uncertainty, and a small risk set against an answer that changed practice for hundreds of thousands of people. Sham surgery is still debated, and every such trial is judged case by case.</a:t>
            </a:r>
          </a:p>
        </p:txBody>
      </p:sp>
      <p:sp>
        <p:nvSpPr>
          <p:cNvPr id="3" name="Title rule">
            <a:extLst>
              <a:ext uri="{FF2B5EF4-FFF2-40B4-BE49-F238E27FC236}">
                <a16:creationId xmlns:a16="http://schemas.microsoft.com/office/drawing/2014/main" id="{B469CAAB-2B69-6863-7C28-0C5959E5734B}"/>
              </a:ext>
            </a:extLst>
          </p:cNvPr>
          <p:cNvSpPr/>
          <p:nvPr/>
        </p:nvSpPr>
        <p:spPr>
          <a:xfrm>
            <a:off x="838200" y="1600200"/>
            <a:ext cx="10515600" cy="381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3666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from="(-#ppt_w/2)" to="(#ppt_x)" calcmode="lin" valueType="num">
                                      <p:cBhvr>
                                        <p:cTn id="7" dur="600" fill="hold">
                                          <p:stCondLst>
                                            <p:cond delay="0"/>
                                          </p:stCondLst>
                                        </p:cTn>
                                        <p:tgtEl>
                                          <p:spTgt spid="6"/>
                                        </p:tgtEl>
                                        <p:attrNameLst>
                                          <p:attrName>ppt_x</p:attrName>
                                        </p:attrNameLst>
                                      </p:cBhvr>
                                    </p:anim>
                                    <p:anim from="0" to="-1.0" calcmode="lin" valueType="num">
                                      <p:cBhvr>
                                        <p:cTn id="8" dur="200" decel="50000" autoRev="1" fill="hold">
                                          <p:stCondLst>
                                            <p:cond delay="600"/>
                                          </p:stCondLst>
                                        </p:cTn>
                                        <p:tgtEl>
                                          <p:spTgt spid="6"/>
                                        </p:tgtEl>
                                        <p:attrNameLst>
                                          <p:attrName>xshear</p:attrName>
                                        </p:attrNameLst>
                                      </p:cBhvr>
                                    </p:anim>
                                    <p:animScale>
                                      <p:cBhvr>
                                        <p:cTn id="9" dur="200" decel="100000" autoRev="1" fill="hold">
                                          <p:stCondLst>
                                            <p:cond delay="600"/>
                                          </p:stCondLst>
                                        </p:cTn>
                                        <p:tgtEl>
                                          <p:spTgt spid="6"/>
                                        </p:tgtEl>
                                      </p:cBhvr>
                                      <p:from x="100000" y="100000"/>
                                      <p:to x="80000" y="100000"/>
                                    </p:animScale>
                                    <p:anim by="(#ppt_h/3+#ppt_w*0.1)" calcmode="lin" valueType="num">
                                      <p:cBhvr additive="sum">
                                        <p:cTn id="10" dur="200" decel="100000" autoRev="1" fill="hold">
                                          <p:stCondLst>
                                            <p:cond delay="600"/>
                                          </p:stCondLst>
                                        </p:cTn>
                                        <p:tgtEl>
                                          <p:spTgt spid="6"/>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 from="(-#ppt_w/2)" to="(#ppt_x)" calcmode="lin" valueType="num">
                                      <p:cBhvr>
                                        <p:cTn id="15" dur="600" fill="hold">
                                          <p:stCondLst>
                                            <p:cond delay="0"/>
                                          </p:stCondLst>
                                        </p:cTn>
                                        <p:tgtEl>
                                          <p:spTgt spid="8"/>
                                        </p:tgtEl>
                                        <p:attrNameLst>
                                          <p:attrName>ppt_x</p:attrName>
                                        </p:attrNameLst>
                                      </p:cBhvr>
                                    </p:anim>
                                    <p:anim from="0" to="-1.0" calcmode="lin" valueType="num">
                                      <p:cBhvr>
                                        <p:cTn id="16" dur="200" decel="50000" autoRev="1" fill="hold">
                                          <p:stCondLst>
                                            <p:cond delay="600"/>
                                          </p:stCondLst>
                                        </p:cTn>
                                        <p:tgtEl>
                                          <p:spTgt spid="8"/>
                                        </p:tgtEl>
                                        <p:attrNameLst>
                                          <p:attrName>xshear</p:attrName>
                                        </p:attrNameLst>
                                      </p:cBhvr>
                                    </p:anim>
                                    <p:animScale>
                                      <p:cBhvr>
                                        <p:cTn id="17" dur="200" decel="100000" autoRev="1" fill="hold">
                                          <p:stCondLst>
                                            <p:cond delay="600"/>
                                          </p:stCondLst>
                                        </p:cTn>
                                        <p:tgtEl>
                                          <p:spTgt spid="8"/>
                                        </p:tgtEl>
                                      </p:cBhvr>
                                      <p:from x="100000" y="100000"/>
                                      <p:to x="80000" y="100000"/>
                                    </p:animScale>
                                    <p:anim by="(#ppt_h/3+#ppt_w*0.1)" calcmode="lin" valueType="num">
                                      <p:cBhvr additive="sum">
                                        <p:cTn id="18" dur="200" decel="100000" autoRev="1" fill="hold">
                                          <p:stCondLst>
                                            <p:cond delay="600"/>
                                          </p:stCondLst>
                                        </p:cTn>
                                        <p:tgtEl>
                                          <p:spTgt spid="8"/>
                                        </p:tgtEl>
                                        <p:attrNameLst>
                                          <p:attrName>ppt_x</p:attrName>
                                        </p:attrNameLst>
                                      </p:cBhvr>
                                    </p:anim>
                                  </p:childTnLst>
                                </p:cTn>
                              </p:par>
                            </p:childTnLst>
                          </p:cTn>
                        </p:par>
                      </p:childTnLst>
                    </p:cTn>
                  </p:par>
                  <p:par>
                    <p:cTn id="19" fill="hold">
                      <p:stCondLst>
                        <p:cond delay="indefinite"/>
                      </p:stCondLst>
                      <p:childTnLst>
                        <p:par>
                          <p:cTn id="20" fill="hold">
                            <p:stCondLst>
                              <p:cond delay="0"/>
                            </p:stCondLst>
                            <p:childTnLst>
                              <p:par>
                                <p:cTn id="21" presetID="34"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 from="(-#ppt_w/2)" to="(#ppt_x)" calcmode="lin" valueType="num">
                                      <p:cBhvr>
                                        <p:cTn id="23" dur="600" fill="hold">
                                          <p:stCondLst>
                                            <p:cond delay="0"/>
                                          </p:stCondLst>
                                        </p:cTn>
                                        <p:tgtEl>
                                          <p:spTgt spid="10"/>
                                        </p:tgtEl>
                                        <p:attrNameLst>
                                          <p:attrName>ppt_x</p:attrName>
                                        </p:attrNameLst>
                                      </p:cBhvr>
                                    </p:anim>
                                    <p:anim from="0" to="-1.0" calcmode="lin" valueType="num">
                                      <p:cBhvr>
                                        <p:cTn id="24" dur="200" decel="50000" autoRev="1" fill="hold">
                                          <p:stCondLst>
                                            <p:cond delay="600"/>
                                          </p:stCondLst>
                                        </p:cTn>
                                        <p:tgtEl>
                                          <p:spTgt spid="10"/>
                                        </p:tgtEl>
                                        <p:attrNameLst>
                                          <p:attrName>xshear</p:attrName>
                                        </p:attrNameLst>
                                      </p:cBhvr>
                                    </p:anim>
                                    <p:animScale>
                                      <p:cBhvr>
                                        <p:cTn id="25" dur="200" decel="100000" autoRev="1" fill="hold">
                                          <p:stCondLst>
                                            <p:cond delay="600"/>
                                          </p:stCondLst>
                                        </p:cTn>
                                        <p:tgtEl>
                                          <p:spTgt spid="10"/>
                                        </p:tgtEl>
                                      </p:cBhvr>
                                      <p:from x="100000" y="100000"/>
                                      <p:to x="80000" y="100000"/>
                                    </p:animScale>
                                    <p:anim by="(#ppt_h/3+#ppt_w*0.1)" calcmode="lin" valueType="num">
                                      <p:cBhvr additive="sum">
                                        <p:cTn id="26" dur="200" decel="100000" autoRev="1" fill="hold">
                                          <p:stCondLst>
                                            <p:cond delay="600"/>
                                          </p:stCondLst>
                                        </p:cTn>
                                        <p:tgtEl>
                                          <p:spTgt spid="10"/>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FBCDC-48E3-34D7-E16A-ED185680B6C5}"/>
              </a:ext>
            </a:extLst>
          </p:cNvPr>
          <p:cNvSpPr>
            <a:spLocks noGrp="1"/>
          </p:cNvSpPr>
          <p:nvPr>
            <p:ph type="title"/>
          </p:nvPr>
        </p:nvSpPr>
        <p:spPr/>
        <p:txBody>
          <a:bodyPr>
            <a:noAutofit/>
          </a:bodyPr>
          <a:lstStyle/>
          <a:p>
            <a:r>
              <a:rPr lang="en-US">
                <a:solidFill>
                  <a:srgbClr val="1F3864"/>
                </a:solidFill>
              </a:rPr>
              <a:t>Ethics: the Facebook experiment</a:t>
            </a:r>
          </a:p>
        </p:txBody>
      </p:sp>
      <p:sp>
        <p:nvSpPr>
          <p:cNvPr id="4" name="Slide Number Placeholder 3">
            <a:extLst>
              <a:ext uri="{FF2B5EF4-FFF2-40B4-BE49-F238E27FC236}">
                <a16:creationId xmlns:a16="http://schemas.microsoft.com/office/drawing/2014/main" id="{867D343A-B691-3B93-BC2E-2BC7ADBAE788}"/>
              </a:ext>
            </a:extLst>
          </p:cNvPr>
          <p:cNvSpPr>
            <a:spLocks noGrp="1"/>
          </p:cNvSpPr>
          <p:nvPr>
            <p:ph type="sldNum" sz="quarter" idx="12"/>
          </p:nvPr>
        </p:nvSpPr>
        <p:spPr/>
        <p:txBody>
          <a:bodyPr/>
          <a:lstStyle/>
          <a:p>
            <a:fld id="{A80A81DD-F10A-4B1C-963A-0ABBB4865886}" type="slidenum">
              <a:rPr lang="en-US" sz="1600" smtClean="0"/>
              <a:t>9</a:t>
            </a:fld>
            <a:endParaRPr lang="en-US" sz="1600"/>
          </a:p>
        </p:txBody>
      </p:sp>
      <p:sp>
        <p:nvSpPr>
          <p:cNvPr id="5" name="TextBox 4">
            <a:extLst>
              <a:ext uri="{FF2B5EF4-FFF2-40B4-BE49-F238E27FC236}">
                <a16:creationId xmlns:a16="http://schemas.microsoft.com/office/drawing/2014/main" id="{803EF544-7BC1-830E-74B1-64EDAAE169AE}"/>
              </a:ext>
            </a:extLst>
          </p:cNvPr>
          <p:cNvSpPr txBox="1"/>
          <p:nvPr/>
        </p:nvSpPr>
        <p:spPr>
          <a:xfrm>
            <a:off x="762000" y="1841499"/>
            <a:ext cx="10668000" cy="830997"/>
          </a:xfrm>
          <a:prstGeom prst="rect">
            <a:avLst/>
          </a:prstGeom>
          <a:noFill/>
        </p:spPr>
        <p:txBody>
          <a:bodyPr vert="horz" wrap="square" rtlCol="0">
            <a:spAutoFit/>
          </a:bodyPr>
          <a:lstStyle/>
          <a:p>
            <a:pPr>
              <a:spcAft>
                <a:spcPts val="400"/>
              </a:spcAft>
            </a:pPr>
            <a:r>
              <a:rPr lang="en-US" sz="1600">
                <a:solidFill>
                  <a:srgbClr val="000000"/>
                </a:solidFill>
              </a:rPr>
              <a:t>For one week in January 2012, Facebook ran a completely randomized experiment on 689,003 users: each was assigned at random to a News Feed with fewer positive posts, with fewer negative posts, or left unchanged as a control. The results were published in 2014. The users never knew.</a:t>
            </a:r>
          </a:p>
        </p:txBody>
      </p:sp>
      <p:sp>
        <p:nvSpPr>
          <p:cNvPr id="6" name="TextBox 5">
            <a:extLst>
              <a:ext uri="{FF2B5EF4-FFF2-40B4-BE49-F238E27FC236}">
                <a16:creationId xmlns:a16="http://schemas.microsoft.com/office/drawing/2014/main" id="{173928F0-6402-96DA-08AE-79702CFCC1E5}"/>
              </a:ext>
            </a:extLst>
          </p:cNvPr>
          <p:cNvSpPr txBox="1"/>
          <p:nvPr/>
        </p:nvSpPr>
        <p:spPr>
          <a:xfrm>
            <a:off x="762000" y="2824896"/>
            <a:ext cx="10668000" cy="345440"/>
          </a:xfrm>
          <a:prstGeom prst="rect">
            <a:avLst/>
          </a:prstGeom>
          <a:noFill/>
        </p:spPr>
        <p:txBody>
          <a:bodyPr vert="horz" wrap="square" rtlCol="0">
            <a:spAutoFit/>
          </a:bodyPr>
          <a:lstStyle/>
          <a:p>
            <a:pPr marL="304800" indent="-304800"/>
            <a:r>
              <a:rPr lang="en-US" sz="1600" b="1">
                <a:solidFill>
                  <a:srgbClr val="C00000"/>
                </a:solidFill>
              </a:rPr>
              <a:t>1.</a:t>
            </a:r>
            <a:r>
              <a:rPr lang="en-US" sz="1600">
                <a:solidFill>
                  <a:srgbClr val="000000"/>
                </a:solidFill>
              </a:rPr>
              <a:t>  Facebook said agreeing to its Data Use Policy counted as informed consent. Do you agree?</a:t>
            </a:r>
          </a:p>
        </p:txBody>
      </p:sp>
      <p:sp>
        <p:nvSpPr>
          <p:cNvPr id="7" name="TextBox 6">
            <a:extLst>
              <a:ext uri="{FF2B5EF4-FFF2-40B4-BE49-F238E27FC236}">
                <a16:creationId xmlns:a16="http://schemas.microsoft.com/office/drawing/2014/main" id="{096B0234-5946-443E-D3EF-6B904164792E}"/>
              </a:ext>
            </a:extLst>
          </p:cNvPr>
          <p:cNvSpPr txBox="1"/>
          <p:nvPr/>
        </p:nvSpPr>
        <p:spPr>
          <a:xfrm>
            <a:off x="1117600" y="3195736"/>
            <a:ext cx="10312400" cy="589280"/>
          </a:xfrm>
          <a:prstGeom prst="rect">
            <a:avLst/>
          </a:prstGeom>
          <a:noFill/>
        </p:spPr>
        <p:txBody>
          <a:bodyPr vert="horz" wrap="square" rtlCol="0">
            <a:spAutoFit/>
          </a:bodyPr>
          <a:lstStyle/>
          <a:p>
            <a:r>
              <a:rPr lang="en-US" sz="1600" b="1">
                <a:solidFill>
                  <a:srgbClr val="C00000"/>
                </a:solidFill>
              </a:rPr>
              <a:t>The journal did not: its Expression of Concern said the study may not have met the principles of informed consent and the chance to opt out.</a:t>
            </a:r>
          </a:p>
        </p:txBody>
      </p:sp>
      <p:sp>
        <p:nvSpPr>
          <p:cNvPr id="8" name="TextBox 7">
            <a:extLst>
              <a:ext uri="{FF2B5EF4-FFF2-40B4-BE49-F238E27FC236}">
                <a16:creationId xmlns:a16="http://schemas.microsoft.com/office/drawing/2014/main" id="{DDBAFEBF-2B58-DFE7-62AD-B002E3656906}"/>
              </a:ext>
            </a:extLst>
          </p:cNvPr>
          <p:cNvSpPr txBox="1"/>
          <p:nvPr/>
        </p:nvSpPr>
        <p:spPr>
          <a:xfrm>
            <a:off x="762000" y="3962816"/>
            <a:ext cx="10668000" cy="345440"/>
          </a:xfrm>
          <a:prstGeom prst="rect">
            <a:avLst/>
          </a:prstGeom>
          <a:noFill/>
        </p:spPr>
        <p:txBody>
          <a:bodyPr vert="horz" wrap="square" rtlCol="0">
            <a:spAutoFit/>
          </a:bodyPr>
          <a:lstStyle/>
          <a:p>
            <a:pPr marL="304800" indent="-304800"/>
            <a:r>
              <a:rPr lang="en-US" sz="1600" b="1">
                <a:solidFill>
                  <a:srgbClr val="C00000"/>
                </a:solidFill>
              </a:rPr>
              <a:t>2.</a:t>
            </a:r>
            <a:r>
              <a:rPr lang="en-US" sz="1600">
                <a:solidFill>
                  <a:srgbClr val="000000"/>
                </a:solidFill>
              </a:rPr>
              <a:t>  Why did no ethics board stop it?</a:t>
            </a:r>
          </a:p>
        </p:txBody>
      </p:sp>
      <p:sp>
        <p:nvSpPr>
          <p:cNvPr id="9" name="TextBox 8">
            <a:extLst>
              <a:ext uri="{FF2B5EF4-FFF2-40B4-BE49-F238E27FC236}">
                <a16:creationId xmlns:a16="http://schemas.microsoft.com/office/drawing/2014/main" id="{37C5EB09-8181-01D4-0AE9-A06C5E9A6703}"/>
              </a:ext>
            </a:extLst>
          </p:cNvPr>
          <p:cNvSpPr txBox="1"/>
          <p:nvPr/>
        </p:nvSpPr>
        <p:spPr>
          <a:xfrm>
            <a:off x="1117600" y="4333656"/>
            <a:ext cx="10312400" cy="589280"/>
          </a:xfrm>
          <a:prstGeom prst="rect">
            <a:avLst/>
          </a:prstGeom>
          <a:noFill/>
        </p:spPr>
        <p:txBody>
          <a:bodyPr vert="horz" wrap="square" rtlCol="0">
            <a:spAutoFit/>
          </a:bodyPr>
          <a:lstStyle/>
          <a:p>
            <a:r>
              <a:rPr lang="en-US" sz="1600" b="1">
                <a:solidFill>
                  <a:srgbClr val="C00000"/>
                </a:solidFill>
              </a:rPr>
              <a:t>Facebook, a private company, was not bound by the federal rules. Cornell's board decided its researcher was not directly involved, so it did no review.</a:t>
            </a:r>
          </a:p>
        </p:txBody>
      </p:sp>
      <p:sp>
        <p:nvSpPr>
          <p:cNvPr id="10" name="TextBox 9">
            <a:extLst>
              <a:ext uri="{FF2B5EF4-FFF2-40B4-BE49-F238E27FC236}">
                <a16:creationId xmlns:a16="http://schemas.microsoft.com/office/drawing/2014/main" id="{2235831A-51A3-E82F-82A5-67061AA1A22E}"/>
              </a:ext>
            </a:extLst>
          </p:cNvPr>
          <p:cNvSpPr txBox="1"/>
          <p:nvPr/>
        </p:nvSpPr>
        <p:spPr>
          <a:xfrm>
            <a:off x="762000" y="5100736"/>
            <a:ext cx="10668000" cy="345440"/>
          </a:xfrm>
          <a:prstGeom prst="rect">
            <a:avLst/>
          </a:prstGeom>
          <a:noFill/>
        </p:spPr>
        <p:txBody>
          <a:bodyPr vert="horz" wrap="square" rtlCol="0">
            <a:spAutoFit/>
          </a:bodyPr>
          <a:lstStyle/>
          <a:p>
            <a:pPr marL="304800" indent="-304800"/>
            <a:r>
              <a:rPr lang="en-US" sz="1600" b="1">
                <a:solidFill>
                  <a:srgbClr val="C00000"/>
                </a:solidFill>
              </a:rPr>
              <a:t>3.</a:t>
            </a:r>
            <a:r>
              <a:rPr lang="en-US" sz="1600">
                <a:solidFill>
                  <a:srgbClr val="000000"/>
                </a:solidFill>
              </a:rPr>
              <a:t>  What is the lesson?</a:t>
            </a:r>
          </a:p>
        </p:txBody>
      </p:sp>
      <p:sp>
        <p:nvSpPr>
          <p:cNvPr id="11" name="TextBox 10">
            <a:extLst>
              <a:ext uri="{FF2B5EF4-FFF2-40B4-BE49-F238E27FC236}">
                <a16:creationId xmlns:a16="http://schemas.microsoft.com/office/drawing/2014/main" id="{7EEE7946-5EA0-8B72-F855-AEB4B6636110}"/>
              </a:ext>
            </a:extLst>
          </p:cNvPr>
          <p:cNvSpPr txBox="1"/>
          <p:nvPr/>
        </p:nvSpPr>
        <p:spPr>
          <a:xfrm>
            <a:off x="1117600" y="5471576"/>
            <a:ext cx="10312400" cy="345440"/>
          </a:xfrm>
          <a:prstGeom prst="rect">
            <a:avLst/>
          </a:prstGeom>
          <a:noFill/>
        </p:spPr>
        <p:txBody>
          <a:bodyPr vert="horz" wrap="square" rtlCol="0">
            <a:spAutoFit/>
          </a:bodyPr>
          <a:lstStyle/>
          <a:p>
            <a:r>
              <a:rPr lang="en-US" sz="1600" b="1">
                <a:solidFill>
                  <a:srgbClr val="C00000"/>
                </a:solidFill>
              </a:rPr>
              <a:t>Clicking I agree on a terms-of-service page is not informed consent - even for a well-designed experiment.</a:t>
            </a:r>
          </a:p>
        </p:txBody>
      </p:sp>
      <p:sp>
        <p:nvSpPr>
          <p:cNvPr id="12" name="TextBox 11">
            <a:extLst>
              <a:ext uri="{FF2B5EF4-FFF2-40B4-BE49-F238E27FC236}">
                <a16:creationId xmlns:a16="http://schemas.microsoft.com/office/drawing/2014/main" id="{3D8E5BD3-1CF7-2352-2707-2D7DBFFA6EBD}"/>
              </a:ext>
            </a:extLst>
          </p:cNvPr>
          <p:cNvSpPr txBox="1"/>
          <p:nvPr/>
        </p:nvSpPr>
        <p:spPr>
          <a:xfrm>
            <a:off x="762000" y="6045200"/>
            <a:ext cx="10668000" cy="345440"/>
          </a:xfrm>
          <a:prstGeom prst="rect">
            <a:avLst/>
          </a:prstGeom>
          <a:noFill/>
        </p:spPr>
        <p:txBody>
          <a:bodyPr vert="horz" wrap="square" rtlCol="0">
            <a:noAutofit/>
          </a:bodyPr>
          <a:lstStyle/>
          <a:p>
            <a:pPr algn="r"/>
            <a:r>
              <a:rPr lang="en-US" sz="1600" i="1">
                <a:solidFill>
                  <a:srgbClr val="595959"/>
                </a:solidFill>
              </a:rPr>
              <a:t>Sources: Kramer, Guillory and Hancock (2014), PNAS; PNAS Editorial Expression of Concern (2014)</a:t>
            </a:r>
          </a:p>
        </p:txBody>
      </p:sp>
      <p:sp>
        <p:nvSpPr>
          <p:cNvPr id="3" name="Title rule">
            <a:extLst>
              <a:ext uri="{FF2B5EF4-FFF2-40B4-BE49-F238E27FC236}">
                <a16:creationId xmlns:a16="http://schemas.microsoft.com/office/drawing/2014/main" id="{2A19CE9B-6143-6D05-1FF1-AF917901111D}"/>
              </a:ext>
            </a:extLst>
          </p:cNvPr>
          <p:cNvSpPr/>
          <p:nvPr/>
        </p:nvSpPr>
        <p:spPr>
          <a:xfrm>
            <a:off x="838200" y="1600200"/>
            <a:ext cx="10515600" cy="381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5584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from="(-#ppt_w/2)" to="(#ppt_x)" calcmode="lin" valueType="num">
                                      <p:cBhvr>
                                        <p:cTn id="7" dur="600" fill="hold">
                                          <p:stCondLst>
                                            <p:cond delay="0"/>
                                          </p:stCondLst>
                                        </p:cTn>
                                        <p:tgtEl>
                                          <p:spTgt spid="7"/>
                                        </p:tgtEl>
                                        <p:attrNameLst>
                                          <p:attrName>ppt_x</p:attrName>
                                        </p:attrNameLst>
                                      </p:cBhvr>
                                    </p:anim>
                                    <p:anim from="0" to="-1.0" calcmode="lin" valueType="num">
                                      <p:cBhvr>
                                        <p:cTn id="8" dur="200" decel="50000" autoRev="1" fill="hold">
                                          <p:stCondLst>
                                            <p:cond delay="600"/>
                                          </p:stCondLst>
                                        </p:cTn>
                                        <p:tgtEl>
                                          <p:spTgt spid="7"/>
                                        </p:tgtEl>
                                        <p:attrNameLst>
                                          <p:attrName>xshear</p:attrName>
                                        </p:attrNameLst>
                                      </p:cBhvr>
                                    </p:anim>
                                    <p:animScale>
                                      <p:cBhvr>
                                        <p:cTn id="9" dur="200" decel="100000" autoRev="1" fill="hold">
                                          <p:stCondLst>
                                            <p:cond delay="600"/>
                                          </p:stCondLst>
                                        </p:cTn>
                                        <p:tgtEl>
                                          <p:spTgt spid="7"/>
                                        </p:tgtEl>
                                      </p:cBhvr>
                                      <p:from x="100000" y="100000"/>
                                      <p:to x="80000" y="100000"/>
                                    </p:animScale>
                                    <p:anim by="(#ppt_h/3+#ppt_w*0.1)" calcmode="lin" valueType="num">
                                      <p:cBhvr additive="sum">
                                        <p:cTn id="10" dur="200" decel="100000" autoRev="1" fill="hold">
                                          <p:stCondLst>
                                            <p:cond delay="600"/>
                                          </p:stCondLst>
                                        </p:cTn>
                                        <p:tgtEl>
                                          <p:spTgt spid="7"/>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 from="(-#ppt_w/2)" to="(#ppt_x)" calcmode="lin" valueType="num">
                                      <p:cBhvr>
                                        <p:cTn id="15" dur="600" fill="hold">
                                          <p:stCondLst>
                                            <p:cond delay="0"/>
                                          </p:stCondLst>
                                        </p:cTn>
                                        <p:tgtEl>
                                          <p:spTgt spid="9"/>
                                        </p:tgtEl>
                                        <p:attrNameLst>
                                          <p:attrName>ppt_x</p:attrName>
                                        </p:attrNameLst>
                                      </p:cBhvr>
                                    </p:anim>
                                    <p:anim from="0" to="-1.0" calcmode="lin" valueType="num">
                                      <p:cBhvr>
                                        <p:cTn id="16" dur="200" decel="50000" autoRev="1" fill="hold">
                                          <p:stCondLst>
                                            <p:cond delay="600"/>
                                          </p:stCondLst>
                                        </p:cTn>
                                        <p:tgtEl>
                                          <p:spTgt spid="9"/>
                                        </p:tgtEl>
                                        <p:attrNameLst>
                                          <p:attrName>xshear</p:attrName>
                                        </p:attrNameLst>
                                      </p:cBhvr>
                                    </p:anim>
                                    <p:animScale>
                                      <p:cBhvr>
                                        <p:cTn id="17" dur="200" decel="100000" autoRev="1" fill="hold">
                                          <p:stCondLst>
                                            <p:cond delay="600"/>
                                          </p:stCondLst>
                                        </p:cTn>
                                        <p:tgtEl>
                                          <p:spTgt spid="9"/>
                                        </p:tgtEl>
                                      </p:cBhvr>
                                      <p:from x="100000" y="100000"/>
                                      <p:to x="80000" y="100000"/>
                                    </p:animScale>
                                    <p:anim by="(#ppt_h/3+#ppt_w*0.1)" calcmode="lin" valueType="num">
                                      <p:cBhvr additive="sum">
                                        <p:cTn id="18" dur="200" decel="100000" autoRev="1" fill="hold">
                                          <p:stCondLst>
                                            <p:cond delay="600"/>
                                          </p:stCondLst>
                                        </p:cTn>
                                        <p:tgtEl>
                                          <p:spTgt spid="9"/>
                                        </p:tgtEl>
                                        <p:attrNameLst>
                                          <p:attrName>ppt_x</p:attrName>
                                        </p:attrNameLst>
                                      </p:cBhvr>
                                    </p:anim>
                                  </p:childTnLst>
                                </p:cTn>
                              </p:par>
                            </p:childTnLst>
                          </p:cTn>
                        </p:par>
                      </p:childTnLst>
                    </p:cTn>
                  </p:par>
                  <p:par>
                    <p:cTn id="19" fill="hold">
                      <p:stCondLst>
                        <p:cond delay="indefinite"/>
                      </p:stCondLst>
                      <p:childTnLst>
                        <p:par>
                          <p:cTn id="20" fill="hold">
                            <p:stCondLst>
                              <p:cond delay="0"/>
                            </p:stCondLst>
                            <p:childTnLst>
                              <p:par>
                                <p:cTn id="21" presetID="34"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from="(-#ppt_w/2)" to="(#ppt_x)" calcmode="lin" valueType="num">
                                      <p:cBhvr>
                                        <p:cTn id="23" dur="600" fill="hold">
                                          <p:stCondLst>
                                            <p:cond delay="0"/>
                                          </p:stCondLst>
                                        </p:cTn>
                                        <p:tgtEl>
                                          <p:spTgt spid="11"/>
                                        </p:tgtEl>
                                        <p:attrNameLst>
                                          <p:attrName>ppt_x</p:attrName>
                                        </p:attrNameLst>
                                      </p:cBhvr>
                                    </p:anim>
                                    <p:anim from="0" to="-1.0" calcmode="lin" valueType="num">
                                      <p:cBhvr>
                                        <p:cTn id="24" dur="200" decel="50000" autoRev="1" fill="hold">
                                          <p:stCondLst>
                                            <p:cond delay="600"/>
                                          </p:stCondLst>
                                        </p:cTn>
                                        <p:tgtEl>
                                          <p:spTgt spid="11"/>
                                        </p:tgtEl>
                                        <p:attrNameLst>
                                          <p:attrName>xshear</p:attrName>
                                        </p:attrNameLst>
                                      </p:cBhvr>
                                    </p:anim>
                                    <p:animScale>
                                      <p:cBhvr>
                                        <p:cTn id="25" dur="200" decel="100000" autoRev="1" fill="hold">
                                          <p:stCondLst>
                                            <p:cond delay="600"/>
                                          </p:stCondLst>
                                        </p:cTn>
                                        <p:tgtEl>
                                          <p:spTgt spid="11"/>
                                        </p:tgtEl>
                                      </p:cBhvr>
                                      <p:from x="100000" y="100000"/>
                                      <p:to x="80000" y="100000"/>
                                    </p:animScale>
                                    <p:anim by="(#ppt_h/3+#ppt_w*0.1)" calcmode="lin" valueType="num">
                                      <p:cBhvr additive="sum">
                                        <p:cTn id="26" dur="200" decel="100000" autoRev="1" fill="hold">
                                          <p:stCondLst>
                                            <p:cond delay="600"/>
                                          </p:stCondLst>
                                        </p:cTn>
                                        <p:tgtEl>
                                          <p:spTgt spid="11"/>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efinition card">
            <a:extLst>
              <a:ext uri="{FF2B5EF4-FFF2-40B4-BE49-F238E27FC236}">
                <a16:creationId xmlns:a16="http://schemas.microsoft.com/office/drawing/2014/main" id="{7BD18FF9-F244-4051-FAD0-50D9E3F9B913}"/>
              </a:ext>
            </a:extLst>
          </p:cNvPr>
          <p:cNvSpPr/>
          <p:nvPr/>
        </p:nvSpPr>
        <p:spPr>
          <a:xfrm>
            <a:off x="762000" y="4909760"/>
            <a:ext cx="10668000" cy="558800"/>
          </a:xfrm>
          <a:prstGeom prst="roundRect">
            <a:avLst>
              <a:gd name="adj" fmla="val 12000"/>
            </a:avLst>
          </a:prstGeom>
          <a:solidFill>
            <a:srgbClr val="F2F6FC"/>
          </a:solidFill>
          <a:ln w="15875">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efinition card">
            <a:extLst>
              <a:ext uri="{FF2B5EF4-FFF2-40B4-BE49-F238E27FC236}">
                <a16:creationId xmlns:a16="http://schemas.microsoft.com/office/drawing/2014/main" id="{DA368FF5-4992-376F-150A-E28A94DE7BFC}"/>
              </a:ext>
            </a:extLst>
          </p:cNvPr>
          <p:cNvSpPr/>
          <p:nvPr/>
        </p:nvSpPr>
        <p:spPr>
          <a:xfrm>
            <a:off x="762000" y="4223960"/>
            <a:ext cx="10668000" cy="558800"/>
          </a:xfrm>
          <a:prstGeom prst="roundRect">
            <a:avLst>
              <a:gd name="adj" fmla="val 12000"/>
            </a:avLst>
          </a:prstGeom>
          <a:solidFill>
            <a:srgbClr val="F2F6FC"/>
          </a:solidFill>
          <a:ln w="15875">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efinition card">
            <a:extLst>
              <a:ext uri="{FF2B5EF4-FFF2-40B4-BE49-F238E27FC236}">
                <a16:creationId xmlns:a16="http://schemas.microsoft.com/office/drawing/2014/main" id="{8CF68A3F-0FA8-8ECC-D7CB-0626410EEFD1}"/>
              </a:ext>
            </a:extLst>
          </p:cNvPr>
          <p:cNvSpPr/>
          <p:nvPr/>
        </p:nvSpPr>
        <p:spPr>
          <a:xfrm>
            <a:off x="762000" y="3538160"/>
            <a:ext cx="10668000" cy="558800"/>
          </a:xfrm>
          <a:prstGeom prst="roundRect">
            <a:avLst>
              <a:gd name="adj" fmla="val 12000"/>
            </a:avLst>
          </a:prstGeom>
          <a:solidFill>
            <a:srgbClr val="F2F6FC"/>
          </a:solidFill>
          <a:ln w="15875">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6A45CA-C4F4-9D9F-D8E5-C79272808B31}"/>
              </a:ext>
            </a:extLst>
          </p:cNvPr>
          <p:cNvSpPr>
            <a:spLocks noGrp="1"/>
          </p:cNvSpPr>
          <p:nvPr>
            <p:ph type="title"/>
          </p:nvPr>
        </p:nvSpPr>
        <p:spPr/>
        <p:txBody>
          <a:bodyPr>
            <a:noAutofit/>
          </a:bodyPr>
          <a:lstStyle/>
          <a:p>
            <a:r>
              <a:rPr lang="en-US">
                <a:solidFill>
                  <a:srgbClr val="1F3864"/>
                </a:solidFill>
              </a:rPr>
              <a:t>The Belmont Report: three principles</a:t>
            </a:r>
          </a:p>
        </p:txBody>
      </p:sp>
      <p:sp>
        <p:nvSpPr>
          <p:cNvPr id="4" name="Slide Number Placeholder 3">
            <a:extLst>
              <a:ext uri="{FF2B5EF4-FFF2-40B4-BE49-F238E27FC236}">
                <a16:creationId xmlns:a16="http://schemas.microsoft.com/office/drawing/2014/main" id="{987DE2E0-7558-C45C-187E-016F1FE2839C}"/>
              </a:ext>
            </a:extLst>
          </p:cNvPr>
          <p:cNvSpPr>
            <a:spLocks noGrp="1"/>
          </p:cNvSpPr>
          <p:nvPr>
            <p:ph type="sldNum" sz="quarter" idx="12"/>
          </p:nvPr>
        </p:nvSpPr>
        <p:spPr/>
        <p:txBody>
          <a:bodyPr/>
          <a:lstStyle/>
          <a:p>
            <a:fld id="{A80A81DD-F10A-4B1C-963A-0ABBB4865886}" type="slidenum">
              <a:rPr lang="en-US" sz="1600" smtClean="0"/>
              <a:t>10</a:t>
            </a:fld>
            <a:endParaRPr lang="en-US" sz="1600"/>
          </a:p>
        </p:txBody>
      </p:sp>
      <p:sp>
        <p:nvSpPr>
          <p:cNvPr id="5" name="TextBox 4">
            <a:extLst>
              <a:ext uri="{FF2B5EF4-FFF2-40B4-BE49-F238E27FC236}">
                <a16:creationId xmlns:a16="http://schemas.microsoft.com/office/drawing/2014/main" id="{2E1E51A2-1D0E-5639-923C-392124A5CB29}"/>
              </a:ext>
            </a:extLst>
          </p:cNvPr>
          <p:cNvSpPr txBox="1"/>
          <p:nvPr/>
        </p:nvSpPr>
        <p:spPr>
          <a:xfrm>
            <a:off x="762000" y="1841499"/>
            <a:ext cx="10668000" cy="1569660"/>
          </a:xfrm>
          <a:prstGeom prst="rect">
            <a:avLst/>
          </a:prstGeom>
          <a:noFill/>
        </p:spPr>
        <p:txBody>
          <a:bodyPr vert="horz" wrap="square" rtlCol="0">
            <a:spAutoFit/>
          </a:bodyPr>
          <a:lstStyle/>
          <a:p>
            <a:r>
              <a:rPr lang="en-US" sz="1600" i="1">
                <a:solidFill>
                  <a:srgbClr val="000000"/>
                </a:solidFill>
              </a:rPr>
              <a:t>Why the rules exist: in the U.S. Public Health Service syphilis study at Tuskegee (1932 to 1972), about 600 Black men in Macon County, Alabama - some 400 of them with syphilis - were told they were being treated for "bad blood". They were never told their diagnosis, and were not offered penicillin even after it became the standard cure in the late 1940s.</a:t>
            </a:r>
          </a:p>
          <a:p>
            <a:r>
              <a:rPr lang="en-US" sz="1600" i="1">
                <a:solidFill>
                  <a:srgbClr val="000000"/>
                </a:solidFill>
              </a:rPr>
              <a:t>The study ran for forty years and stopped only when the press exposed it in 1972. Congress responded with the National Research Act of 1974, which created the commission that wrote the Belmont Report in 1979. Its three principles are the foundation of the review boards that approve human-subject research today.</a:t>
            </a:r>
          </a:p>
        </p:txBody>
      </p:sp>
      <p:sp>
        <p:nvSpPr>
          <p:cNvPr id="6" name="TextBox 5">
            <a:extLst>
              <a:ext uri="{FF2B5EF4-FFF2-40B4-BE49-F238E27FC236}">
                <a16:creationId xmlns:a16="http://schemas.microsoft.com/office/drawing/2014/main" id="{0A200ADF-E689-6E6A-E87D-5EB74130530C}"/>
              </a:ext>
            </a:extLst>
          </p:cNvPr>
          <p:cNvSpPr txBox="1"/>
          <p:nvPr/>
        </p:nvSpPr>
        <p:spPr>
          <a:xfrm>
            <a:off x="914400" y="3639760"/>
            <a:ext cx="3022600" cy="381000"/>
          </a:xfrm>
          <a:prstGeom prst="rect">
            <a:avLst/>
          </a:prstGeom>
          <a:noFill/>
        </p:spPr>
        <p:txBody>
          <a:bodyPr vert="horz" wrap="square" rtlCol="0">
            <a:noAutofit/>
          </a:bodyPr>
          <a:lstStyle/>
          <a:p>
            <a:r>
              <a:rPr lang="en-US" b="1">
                <a:solidFill>
                  <a:srgbClr val="C00000"/>
                </a:solidFill>
              </a:rPr>
              <a:t>respect for persons</a:t>
            </a:r>
          </a:p>
        </p:txBody>
      </p:sp>
      <p:sp>
        <p:nvSpPr>
          <p:cNvPr id="7" name="TextBox 6">
            <a:extLst>
              <a:ext uri="{FF2B5EF4-FFF2-40B4-BE49-F238E27FC236}">
                <a16:creationId xmlns:a16="http://schemas.microsoft.com/office/drawing/2014/main" id="{D50B713D-5F8F-97DD-C206-B99F1CEAC80A}"/>
              </a:ext>
            </a:extLst>
          </p:cNvPr>
          <p:cNvSpPr txBox="1"/>
          <p:nvPr/>
        </p:nvSpPr>
        <p:spPr>
          <a:xfrm>
            <a:off x="4013200" y="3639760"/>
            <a:ext cx="7264400" cy="381000"/>
          </a:xfrm>
          <a:prstGeom prst="rect">
            <a:avLst/>
          </a:prstGeom>
          <a:noFill/>
        </p:spPr>
        <p:txBody>
          <a:bodyPr vert="horz" wrap="square" rtlCol="0">
            <a:noAutofit/>
          </a:bodyPr>
          <a:lstStyle/>
          <a:p>
            <a:r>
              <a:rPr lang="en-US">
                <a:solidFill>
                  <a:srgbClr val="000000"/>
                </a:solidFill>
              </a:rPr>
              <a:t>people decide for themselves whether to take part</a:t>
            </a:r>
          </a:p>
        </p:txBody>
      </p:sp>
      <p:sp>
        <p:nvSpPr>
          <p:cNvPr id="9" name="TextBox 8">
            <a:extLst>
              <a:ext uri="{FF2B5EF4-FFF2-40B4-BE49-F238E27FC236}">
                <a16:creationId xmlns:a16="http://schemas.microsoft.com/office/drawing/2014/main" id="{6B51F8F8-2547-3F26-8823-D9E427FFEBB9}"/>
              </a:ext>
            </a:extLst>
          </p:cNvPr>
          <p:cNvSpPr txBox="1"/>
          <p:nvPr/>
        </p:nvSpPr>
        <p:spPr>
          <a:xfrm>
            <a:off x="914400" y="4325560"/>
            <a:ext cx="3022600" cy="381000"/>
          </a:xfrm>
          <a:prstGeom prst="rect">
            <a:avLst/>
          </a:prstGeom>
          <a:noFill/>
        </p:spPr>
        <p:txBody>
          <a:bodyPr vert="horz" wrap="square" rtlCol="0">
            <a:noAutofit/>
          </a:bodyPr>
          <a:lstStyle/>
          <a:p>
            <a:r>
              <a:rPr lang="en-US" b="1">
                <a:solidFill>
                  <a:srgbClr val="C00000"/>
                </a:solidFill>
              </a:rPr>
              <a:t>beneficence</a:t>
            </a:r>
          </a:p>
        </p:txBody>
      </p:sp>
      <p:sp>
        <p:nvSpPr>
          <p:cNvPr id="10" name="TextBox 9">
            <a:extLst>
              <a:ext uri="{FF2B5EF4-FFF2-40B4-BE49-F238E27FC236}">
                <a16:creationId xmlns:a16="http://schemas.microsoft.com/office/drawing/2014/main" id="{8640F527-F153-AAE7-3F71-CB7DAEB38160}"/>
              </a:ext>
            </a:extLst>
          </p:cNvPr>
          <p:cNvSpPr txBox="1"/>
          <p:nvPr/>
        </p:nvSpPr>
        <p:spPr>
          <a:xfrm>
            <a:off x="4013200" y="4325560"/>
            <a:ext cx="7264400" cy="381000"/>
          </a:xfrm>
          <a:prstGeom prst="rect">
            <a:avLst/>
          </a:prstGeom>
          <a:noFill/>
        </p:spPr>
        <p:txBody>
          <a:bodyPr vert="horz" wrap="square" rtlCol="0">
            <a:noAutofit/>
          </a:bodyPr>
          <a:lstStyle/>
          <a:p>
            <a:r>
              <a:rPr lang="en-US">
                <a:solidFill>
                  <a:srgbClr val="000000"/>
                </a:solidFill>
              </a:rPr>
              <a:t>do no harm: maximize the possible benefits and minimize the possible risks</a:t>
            </a:r>
          </a:p>
        </p:txBody>
      </p:sp>
      <p:sp>
        <p:nvSpPr>
          <p:cNvPr id="12" name="TextBox 11">
            <a:extLst>
              <a:ext uri="{FF2B5EF4-FFF2-40B4-BE49-F238E27FC236}">
                <a16:creationId xmlns:a16="http://schemas.microsoft.com/office/drawing/2014/main" id="{E2E5DBA7-1041-887E-1AA2-424094C359F1}"/>
              </a:ext>
            </a:extLst>
          </p:cNvPr>
          <p:cNvSpPr txBox="1"/>
          <p:nvPr/>
        </p:nvSpPr>
        <p:spPr>
          <a:xfrm>
            <a:off x="914400" y="5011360"/>
            <a:ext cx="3022600" cy="381000"/>
          </a:xfrm>
          <a:prstGeom prst="rect">
            <a:avLst/>
          </a:prstGeom>
          <a:noFill/>
        </p:spPr>
        <p:txBody>
          <a:bodyPr vert="horz" wrap="square" rtlCol="0">
            <a:noAutofit/>
          </a:bodyPr>
          <a:lstStyle/>
          <a:p>
            <a:r>
              <a:rPr lang="en-US" b="1">
                <a:solidFill>
                  <a:srgbClr val="C00000"/>
                </a:solidFill>
              </a:rPr>
              <a:t>justice</a:t>
            </a:r>
          </a:p>
        </p:txBody>
      </p:sp>
      <p:sp>
        <p:nvSpPr>
          <p:cNvPr id="13" name="TextBox 12">
            <a:extLst>
              <a:ext uri="{FF2B5EF4-FFF2-40B4-BE49-F238E27FC236}">
                <a16:creationId xmlns:a16="http://schemas.microsoft.com/office/drawing/2014/main" id="{DEB11E9C-DC32-C8BD-25C2-03DB4FF2BA76}"/>
              </a:ext>
            </a:extLst>
          </p:cNvPr>
          <p:cNvSpPr txBox="1"/>
          <p:nvPr/>
        </p:nvSpPr>
        <p:spPr>
          <a:xfrm>
            <a:off x="4013200" y="5011360"/>
            <a:ext cx="7264400" cy="381000"/>
          </a:xfrm>
          <a:prstGeom prst="rect">
            <a:avLst/>
          </a:prstGeom>
          <a:noFill/>
        </p:spPr>
        <p:txBody>
          <a:bodyPr vert="horz" wrap="square" rtlCol="0">
            <a:noAutofit/>
          </a:bodyPr>
          <a:lstStyle/>
          <a:p>
            <a:r>
              <a:rPr lang="en-US">
                <a:solidFill>
                  <a:srgbClr val="000000"/>
                </a:solidFill>
              </a:rPr>
              <a:t>the burdens and benefits of research are shared fairly</a:t>
            </a:r>
          </a:p>
        </p:txBody>
      </p:sp>
      <p:sp>
        <p:nvSpPr>
          <p:cNvPr id="3" name="Title rule">
            <a:extLst>
              <a:ext uri="{FF2B5EF4-FFF2-40B4-BE49-F238E27FC236}">
                <a16:creationId xmlns:a16="http://schemas.microsoft.com/office/drawing/2014/main" id="{102D1C2D-D027-E787-DF9B-D90AB9F6F919}"/>
              </a:ext>
            </a:extLst>
          </p:cNvPr>
          <p:cNvSpPr/>
          <p:nvPr/>
        </p:nvSpPr>
        <p:spPr>
          <a:xfrm>
            <a:off x="838200" y="1600200"/>
            <a:ext cx="10515600" cy="381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3235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from="(-#ppt_w/2)" to="(#ppt_x)" calcmode="lin" valueType="num">
                                      <p:cBhvr>
                                        <p:cTn id="7" dur="600" fill="hold">
                                          <p:stCondLst>
                                            <p:cond delay="0"/>
                                          </p:stCondLst>
                                        </p:cTn>
                                        <p:tgtEl>
                                          <p:spTgt spid="7"/>
                                        </p:tgtEl>
                                        <p:attrNameLst>
                                          <p:attrName>ppt_x</p:attrName>
                                        </p:attrNameLst>
                                      </p:cBhvr>
                                    </p:anim>
                                    <p:anim from="0" to="-1.0" calcmode="lin" valueType="num">
                                      <p:cBhvr>
                                        <p:cTn id="8" dur="200" decel="50000" autoRev="1" fill="hold">
                                          <p:stCondLst>
                                            <p:cond delay="600"/>
                                          </p:stCondLst>
                                        </p:cTn>
                                        <p:tgtEl>
                                          <p:spTgt spid="7"/>
                                        </p:tgtEl>
                                        <p:attrNameLst>
                                          <p:attrName>xshear</p:attrName>
                                        </p:attrNameLst>
                                      </p:cBhvr>
                                    </p:anim>
                                    <p:animScale>
                                      <p:cBhvr>
                                        <p:cTn id="9" dur="200" decel="100000" autoRev="1" fill="hold">
                                          <p:stCondLst>
                                            <p:cond delay="600"/>
                                          </p:stCondLst>
                                        </p:cTn>
                                        <p:tgtEl>
                                          <p:spTgt spid="7"/>
                                        </p:tgtEl>
                                      </p:cBhvr>
                                      <p:from x="100000" y="100000"/>
                                      <p:to x="80000" y="100000"/>
                                    </p:animScale>
                                    <p:anim by="(#ppt_h/3+#ppt_w*0.1)" calcmode="lin" valueType="num">
                                      <p:cBhvr additive="sum">
                                        <p:cTn id="10" dur="200" decel="100000" autoRev="1" fill="hold">
                                          <p:stCondLst>
                                            <p:cond delay="600"/>
                                          </p:stCondLst>
                                        </p:cTn>
                                        <p:tgtEl>
                                          <p:spTgt spid="7"/>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 from="(-#ppt_w/2)" to="(#ppt_x)" calcmode="lin" valueType="num">
                                      <p:cBhvr>
                                        <p:cTn id="15" dur="600" fill="hold">
                                          <p:stCondLst>
                                            <p:cond delay="0"/>
                                          </p:stCondLst>
                                        </p:cTn>
                                        <p:tgtEl>
                                          <p:spTgt spid="10"/>
                                        </p:tgtEl>
                                        <p:attrNameLst>
                                          <p:attrName>ppt_x</p:attrName>
                                        </p:attrNameLst>
                                      </p:cBhvr>
                                    </p:anim>
                                    <p:anim from="0" to="-1.0" calcmode="lin" valueType="num">
                                      <p:cBhvr>
                                        <p:cTn id="16" dur="200" decel="50000" autoRev="1" fill="hold">
                                          <p:stCondLst>
                                            <p:cond delay="600"/>
                                          </p:stCondLst>
                                        </p:cTn>
                                        <p:tgtEl>
                                          <p:spTgt spid="10"/>
                                        </p:tgtEl>
                                        <p:attrNameLst>
                                          <p:attrName>xshear</p:attrName>
                                        </p:attrNameLst>
                                      </p:cBhvr>
                                    </p:anim>
                                    <p:animScale>
                                      <p:cBhvr>
                                        <p:cTn id="17" dur="200" decel="100000" autoRev="1" fill="hold">
                                          <p:stCondLst>
                                            <p:cond delay="600"/>
                                          </p:stCondLst>
                                        </p:cTn>
                                        <p:tgtEl>
                                          <p:spTgt spid="10"/>
                                        </p:tgtEl>
                                      </p:cBhvr>
                                      <p:from x="100000" y="100000"/>
                                      <p:to x="80000" y="100000"/>
                                    </p:animScale>
                                    <p:anim by="(#ppt_h/3+#ppt_w*0.1)" calcmode="lin" valueType="num">
                                      <p:cBhvr additive="sum">
                                        <p:cTn id="18" dur="200" decel="100000" autoRev="1" fill="hold">
                                          <p:stCondLst>
                                            <p:cond delay="600"/>
                                          </p:stCondLst>
                                        </p:cTn>
                                        <p:tgtEl>
                                          <p:spTgt spid="10"/>
                                        </p:tgtEl>
                                        <p:attrNameLst>
                                          <p:attrName>ppt_x</p:attrName>
                                        </p:attrNameLst>
                                      </p:cBhvr>
                                    </p:anim>
                                  </p:childTnLst>
                                </p:cTn>
                              </p:par>
                            </p:childTnLst>
                          </p:cTn>
                        </p:par>
                      </p:childTnLst>
                    </p:cTn>
                  </p:par>
                  <p:par>
                    <p:cTn id="19" fill="hold">
                      <p:stCondLst>
                        <p:cond delay="indefinite"/>
                      </p:stCondLst>
                      <p:childTnLst>
                        <p:par>
                          <p:cTn id="20" fill="hold">
                            <p:stCondLst>
                              <p:cond delay="0"/>
                            </p:stCondLst>
                            <p:childTnLst>
                              <p:par>
                                <p:cTn id="21" presetID="34"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 from="(-#ppt_w/2)" to="(#ppt_x)" calcmode="lin" valueType="num">
                                      <p:cBhvr>
                                        <p:cTn id="23" dur="600" fill="hold">
                                          <p:stCondLst>
                                            <p:cond delay="0"/>
                                          </p:stCondLst>
                                        </p:cTn>
                                        <p:tgtEl>
                                          <p:spTgt spid="13"/>
                                        </p:tgtEl>
                                        <p:attrNameLst>
                                          <p:attrName>ppt_x</p:attrName>
                                        </p:attrNameLst>
                                      </p:cBhvr>
                                    </p:anim>
                                    <p:anim from="0" to="-1.0" calcmode="lin" valueType="num">
                                      <p:cBhvr>
                                        <p:cTn id="24" dur="200" decel="50000" autoRev="1" fill="hold">
                                          <p:stCondLst>
                                            <p:cond delay="600"/>
                                          </p:stCondLst>
                                        </p:cTn>
                                        <p:tgtEl>
                                          <p:spTgt spid="13"/>
                                        </p:tgtEl>
                                        <p:attrNameLst>
                                          <p:attrName>xshear</p:attrName>
                                        </p:attrNameLst>
                                      </p:cBhvr>
                                    </p:anim>
                                    <p:animScale>
                                      <p:cBhvr>
                                        <p:cTn id="25" dur="200" decel="100000" autoRev="1" fill="hold">
                                          <p:stCondLst>
                                            <p:cond delay="600"/>
                                          </p:stCondLst>
                                        </p:cTn>
                                        <p:tgtEl>
                                          <p:spTgt spid="13"/>
                                        </p:tgtEl>
                                      </p:cBhvr>
                                      <p:from x="100000" y="100000"/>
                                      <p:to x="80000" y="100000"/>
                                    </p:animScale>
                                    <p:anim by="(#ppt_h/3+#ppt_w*0.1)" calcmode="lin" valueType="num">
                                      <p:cBhvr additive="sum">
                                        <p:cTn id="26" dur="200" decel="100000" autoRev="1" fill="hold">
                                          <p:stCondLst>
                                            <p:cond delay="600"/>
                                          </p:stCondLst>
                                        </p:cTn>
                                        <p:tgtEl>
                                          <p:spTgt spid="13"/>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efinition card">
            <a:extLst>
              <a:ext uri="{FF2B5EF4-FFF2-40B4-BE49-F238E27FC236}">
                <a16:creationId xmlns:a16="http://schemas.microsoft.com/office/drawing/2014/main" id="{8A4F3FCB-C7A9-82F3-8E10-9339C32AE6DF}"/>
              </a:ext>
            </a:extLst>
          </p:cNvPr>
          <p:cNvSpPr/>
          <p:nvPr/>
        </p:nvSpPr>
        <p:spPr>
          <a:xfrm>
            <a:off x="762000" y="3751580"/>
            <a:ext cx="10668000" cy="828040"/>
          </a:xfrm>
          <a:prstGeom prst="roundRect">
            <a:avLst>
              <a:gd name="adj" fmla="val 12000"/>
            </a:avLst>
          </a:prstGeom>
          <a:solidFill>
            <a:srgbClr val="F2F6FC"/>
          </a:solidFill>
          <a:ln w="15875">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efinition card">
            <a:extLst>
              <a:ext uri="{FF2B5EF4-FFF2-40B4-BE49-F238E27FC236}">
                <a16:creationId xmlns:a16="http://schemas.microsoft.com/office/drawing/2014/main" id="{62506592-1FEC-CE15-6D30-62EAE03D82AD}"/>
              </a:ext>
            </a:extLst>
          </p:cNvPr>
          <p:cNvSpPr/>
          <p:nvPr/>
        </p:nvSpPr>
        <p:spPr>
          <a:xfrm>
            <a:off x="762000" y="2796540"/>
            <a:ext cx="10668000" cy="828040"/>
          </a:xfrm>
          <a:prstGeom prst="roundRect">
            <a:avLst>
              <a:gd name="adj" fmla="val 12000"/>
            </a:avLst>
          </a:prstGeom>
          <a:solidFill>
            <a:srgbClr val="F2F6FC"/>
          </a:solidFill>
          <a:ln w="15875">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efinition card">
            <a:extLst>
              <a:ext uri="{FF2B5EF4-FFF2-40B4-BE49-F238E27FC236}">
                <a16:creationId xmlns:a16="http://schemas.microsoft.com/office/drawing/2014/main" id="{62CB8193-5F73-50AC-3051-4D642866D20A}"/>
              </a:ext>
            </a:extLst>
          </p:cNvPr>
          <p:cNvSpPr/>
          <p:nvPr/>
        </p:nvSpPr>
        <p:spPr>
          <a:xfrm>
            <a:off x="762000" y="1841500"/>
            <a:ext cx="10668000" cy="828040"/>
          </a:xfrm>
          <a:prstGeom prst="roundRect">
            <a:avLst>
              <a:gd name="adj" fmla="val 12000"/>
            </a:avLst>
          </a:prstGeom>
          <a:solidFill>
            <a:srgbClr val="F2F6FC"/>
          </a:solidFill>
          <a:ln w="15875">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CC5247-8B4B-54C8-3455-0EB32B299270}"/>
              </a:ext>
            </a:extLst>
          </p:cNvPr>
          <p:cNvSpPr>
            <a:spLocks noGrp="1"/>
          </p:cNvSpPr>
          <p:nvPr>
            <p:ph type="title"/>
          </p:nvPr>
        </p:nvSpPr>
        <p:spPr/>
        <p:txBody>
          <a:bodyPr>
            <a:noAutofit/>
          </a:bodyPr>
          <a:lstStyle/>
          <a:p>
            <a:r>
              <a:rPr lang="en-US">
                <a:solidFill>
                  <a:srgbClr val="1F3864"/>
                </a:solidFill>
              </a:rPr>
              <a:t>Research ethics today</a:t>
            </a:r>
          </a:p>
        </p:txBody>
      </p:sp>
      <p:sp>
        <p:nvSpPr>
          <p:cNvPr id="4" name="Slide Number Placeholder 3">
            <a:extLst>
              <a:ext uri="{FF2B5EF4-FFF2-40B4-BE49-F238E27FC236}">
                <a16:creationId xmlns:a16="http://schemas.microsoft.com/office/drawing/2014/main" id="{DA598EAA-E7F8-FC9B-8A28-8101A22738FE}"/>
              </a:ext>
            </a:extLst>
          </p:cNvPr>
          <p:cNvSpPr>
            <a:spLocks noGrp="1"/>
          </p:cNvSpPr>
          <p:nvPr>
            <p:ph type="sldNum" sz="quarter" idx="12"/>
          </p:nvPr>
        </p:nvSpPr>
        <p:spPr/>
        <p:txBody>
          <a:bodyPr/>
          <a:lstStyle/>
          <a:p>
            <a:fld id="{A80A81DD-F10A-4B1C-963A-0ABBB4865886}" type="slidenum">
              <a:rPr lang="en-US" sz="1600" smtClean="0"/>
              <a:t>11</a:t>
            </a:fld>
            <a:endParaRPr lang="en-US" sz="1600"/>
          </a:p>
        </p:txBody>
      </p:sp>
      <p:sp>
        <p:nvSpPr>
          <p:cNvPr id="5" name="TextBox 4">
            <a:extLst>
              <a:ext uri="{FF2B5EF4-FFF2-40B4-BE49-F238E27FC236}">
                <a16:creationId xmlns:a16="http://schemas.microsoft.com/office/drawing/2014/main" id="{238AF89E-601A-B5F9-2D65-135EBA0406FB}"/>
              </a:ext>
            </a:extLst>
          </p:cNvPr>
          <p:cNvSpPr txBox="1"/>
          <p:nvPr/>
        </p:nvSpPr>
        <p:spPr>
          <a:xfrm>
            <a:off x="914400" y="1943100"/>
            <a:ext cx="3022600" cy="381000"/>
          </a:xfrm>
          <a:prstGeom prst="rect">
            <a:avLst/>
          </a:prstGeom>
          <a:noFill/>
        </p:spPr>
        <p:txBody>
          <a:bodyPr vert="horz" wrap="square" rtlCol="0">
            <a:noAutofit/>
          </a:bodyPr>
          <a:lstStyle/>
          <a:p>
            <a:r>
              <a:rPr lang="en-US" b="1">
                <a:solidFill>
                  <a:srgbClr val="C00000"/>
                </a:solidFill>
              </a:rPr>
              <a:t>informed consent</a:t>
            </a:r>
          </a:p>
        </p:txBody>
      </p:sp>
      <p:sp>
        <p:nvSpPr>
          <p:cNvPr id="6" name="TextBox 5">
            <a:extLst>
              <a:ext uri="{FF2B5EF4-FFF2-40B4-BE49-F238E27FC236}">
                <a16:creationId xmlns:a16="http://schemas.microsoft.com/office/drawing/2014/main" id="{4C2C5DDB-F229-9070-C88A-A2681B8F3FF5}"/>
              </a:ext>
            </a:extLst>
          </p:cNvPr>
          <p:cNvSpPr txBox="1"/>
          <p:nvPr/>
        </p:nvSpPr>
        <p:spPr>
          <a:xfrm>
            <a:off x="4013200" y="1943099"/>
            <a:ext cx="7264400" cy="650240"/>
          </a:xfrm>
          <a:prstGeom prst="rect">
            <a:avLst/>
          </a:prstGeom>
          <a:noFill/>
        </p:spPr>
        <p:txBody>
          <a:bodyPr vert="horz" wrap="square" rtlCol="0">
            <a:noAutofit/>
          </a:bodyPr>
          <a:lstStyle/>
          <a:p>
            <a:r>
              <a:rPr lang="en-US">
                <a:solidFill>
                  <a:srgbClr val="000000"/>
                </a:solidFill>
              </a:rPr>
              <a:t>subjects are told the purpose, procedures and risks in advance, and can refuse or quit at any time</a:t>
            </a:r>
          </a:p>
        </p:txBody>
      </p:sp>
      <p:sp>
        <p:nvSpPr>
          <p:cNvPr id="8" name="TextBox 7">
            <a:extLst>
              <a:ext uri="{FF2B5EF4-FFF2-40B4-BE49-F238E27FC236}">
                <a16:creationId xmlns:a16="http://schemas.microsoft.com/office/drawing/2014/main" id="{4DBB26A7-0561-F122-F164-A6F6ADA86702}"/>
              </a:ext>
            </a:extLst>
          </p:cNvPr>
          <p:cNvSpPr txBox="1"/>
          <p:nvPr/>
        </p:nvSpPr>
        <p:spPr>
          <a:xfrm>
            <a:off x="914400" y="2898140"/>
            <a:ext cx="3022600" cy="381000"/>
          </a:xfrm>
          <a:prstGeom prst="rect">
            <a:avLst/>
          </a:prstGeom>
          <a:noFill/>
        </p:spPr>
        <p:txBody>
          <a:bodyPr vert="horz" wrap="square" rtlCol="0">
            <a:noAutofit/>
          </a:bodyPr>
          <a:lstStyle/>
          <a:p>
            <a:r>
              <a:rPr lang="en-US" b="1">
                <a:solidFill>
                  <a:srgbClr val="C00000"/>
                </a:solidFill>
              </a:rPr>
              <a:t>confidentiality</a:t>
            </a:r>
          </a:p>
        </p:txBody>
      </p:sp>
      <p:sp>
        <p:nvSpPr>
          <p:cNvPr id="9" name="TextBox 8">
            <a:extLst>
              <a:ext uri="{FF2B5EF4-FFF2-40B4-BE49-F238E27FC236}">
                <a16:creationId xmlns:a16="http://schemas.microsoft.com/office/drawing/2014/main" id="{4C2E6370-67AB-0ED8-7D3B-CC849A8AFECD}"/>
              </a:ext>
            </a:extLst>
          </p:cNvPr>
          <p:cNvSpPr txBox="1"/>
          <p:nvPr/>
        </p:nvSpPr>
        <p:spPr>
          <a:xfrm>
            <a:off x="4013200" y="2898139"/>
            <a:ext cx="7264400" cy="650240"/>
          </a:xfrm>
          <a:prstGeom prst="rect">
            <a:avLst/>
          </a:prstGeom>
          <a:noFill/>
        </p:spPr>
        <p:txBody>
          <a:bodyPr vert="horz" wrap="square" rtlCol="0">
            <a:noAutofit/>
          </a:bodyPr>
          <a:lstStyle/>
          <a:p>
            <a:r>
              <a:rPr lang="en-US">
                <a:solidFill>
                  <a:srgbClr val="000000"/>
                </a:solidFill>
              </a:rPr>
              <a:t>information about individuals is protected and never released in a form that identifies them</a:t>
            </a:r>
          </a:p>
        </p:txBody>
      </p:sp>
      <p:sp>
        <p:nvSpPr>
          <p:cNvPr id="11" name="TextBox 10">
            <a:extLst>
              <a:ext uri="{FF2B5EF4-FFF2-40B4-BE49-F238E27FC236}">
                <a16:creationId xmlns:a16="http://schemas.microsoft.com/office/drawing/2014/main" id="{9B12902B-5B96-ABFE-050C-EECF749813D9}"/>
              </a:ext>
            </a:extLst>
          </p:cNvPr>
          <p:cNvSpPr txBox="1"/>
          <p:nvPr/>
        </p:nvSpPr>
        <p:spPr>
          <a:xfrm>
            <a:off x="914400" y="3853179"/>
            <a:ext cx="3022600" cy="650240"/>
          </a:xfrm>
          <a:prstGeom prst="rect">
            <a:avLst/>
          </a:prstGeom>
          <a:noFill/>
        </p:spPr>
        <p:txBody>
          <a:bodyPr vert="horz" wrap="square" rtlCol="0">
            <a:noAutofit/>
          </a:bodyPr>
          <a:lstStyle/>
          <a:p>
            <a:r>
              <a:rPr lang="en-US" b="1">
                <a:solidFill>
                  <a:srgbClr val="C00000"/>
                </a:solidFill>
              </a:rPr>
              <a:t>Institutional Review Board (IRB)</a:t>
            </a:r>
          </a:p>
        </p:txBody>
      </p:sp>
      <p:sp>
        <p:nvSpPr>
          <p:cNvPr id="12" name="TextBox 11">
            <a:extLst>
              <a:ext uri="{FF2B5EF4-FFF2-40B4-BE49-F238E27FC236}">
                <a16:creationId xmlns:a16="http://schemas.microsoft.com/office/drawing/2014/main" id="{B8934950-E37B-7F6C-1D87-713CC1B80B52}"/>
              </a:ext>
            </a:extLst>
          </p:cNvPr>
          <p:cNvSpPr txBox="1"/>
          <p:nvPr/>
        </p:nvSpPr>
        <p:spPr>
          <a:xfrm>
            <a:off x="4013200" y="3853179"/>
            <a:ext cx="7264400" cy="650240"/>
          </a:xfrm>
          <a:prstGeom prst="rect">
            <a:avLst/>
          </a:prstGeom>
          <a:noFill/>
        </p:spPr>
        <p:txBody>
          <a:bodyPr vert="horz" wrap="square" rtlCol="0">
            <a:noAutofit/>
          </a:bodyPr>
          <a:lstStyle/>
          <a:p>
            <a:r>
              <a:rPr lang="en-US">
                <a:solidFill>
                  <a:srgbClr val="000000"/>
                </a:solidFill>
              </a:rPr>
              <a:t>reviews and approves studies on human subjects before they start</a:t>
            </a:r>
          </a:p>
          <a:p>
            <a:r>
              <a:rPr lang="en-US" i="1">
                <a:solidFill>
                  <a:srgbClr val="595959"/>
                </a:solidFill>
              </a:rPr>
              <a:t>at UI, through the Office of Research Assurances</a:t>
            </a:r>
          </a:p>
        </p:txBody>
      </p:sp>
      <p:sp>
        <p:nvSpPr>
          <p:cNvPr id="3" name="Title rule">
            <a:extLst>
              <a:ext uri="{FF2B5EF4-FFF2-40B4-BE49-F238E27FC236}">
                <a16:creationId xmlns:a16="http://schemas.microsoft.com/office/drawing/2014/main" id="{18159BBA-B771-78A5-3930-056EC59B3DC2}"/>
              </a:ext>
            </a:extLst>
          </p:cNvPr>
          <p:cNvSpPr/>
          <p:nvPr/>
        </p:nvSpPr>
        <p:spPr>
          <a:xfrm>
            <a:off x="838200" y="1600200"/>
            <a:ext cx="10515600" cy="381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2805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from="(-#ppt_w/2)" to="(#ppt_x)" calcmode="lin" valueType="num">
                                      <p:cBhvr>
                                        <p:cTn id="7" dur="600" fill="hold">
                                          <p:stCondLst>
                                            <p:cond delay="0"/>
                                          </p:stCondLst>
                                        </p:cTn>
                                        <p:tgtEl>
                                          <p:spTgt spid="6"/>
                                        </p:tgtEl>
                                        <p:attrNameLst>
                                          <p:attrName>ppt_x</p:attrName>
                                        </p:attrNameLst>
                                      </p:cBhvr>
                                    </p:anim>
                                    <p:anim from="0" to="-1.0" calcmode="lin" valueType="num">
                                      <p:cBhvr>
                                        <p:cTn id="8" dur="200" decel="50000" autoRev="1" fill="hold">
                                          <p:stCondLst>
                                            <p:cond delay="600"/>
                                          </p:stCondLst>
                                        </p:cTn>
                                        <p:tgtEl>
                                          <p:spTgt spid="6"/>
                                        </p:tgtEl>
                                        <p:attrNameLst>
                                          <p:attrName>xshear</p:attrName>
                                        </p:attrNameLst>
                                      </p:cBhvr>
                                    </p:anim>
                                    <p:animScale>
                                      <p:cBhvr>
                                        <p:cTn id="9" dur="200" decel="100000" autoRev="1" fill="hold">
                                          <p:stCondLst>
                                            <p:cond delay="600"/>
                                          </p:stCondLst>
                                        </p:cTn>
                                        <p:tgtEl>
                                          <p:spTgt spid="6"/>
                                        </p:tgtEl>
                                      </p:cBhvr>
                                      <p:from x="100000" y="100000"/>
                                      <p:to x="80000" y="100000"/>
                                    </p:animScale>
                                    <p:anim by="(#ppt_h/3+#ppt_w*0.1)" calcmode="lin" valueType="num">
                                      <p:cBhvr additive="sum">
                                        <p:cTn id="10" dur="200" decel="100000" autoRev="1" fill="hold">
                                          <p:stCondLst>
                                            <p:cond delay="600"/>
                                          </p:stCondLst>
                                        </p:cTn>
                                        <p:tgtEl>
                                          <p:spTgt spid="6"/>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 from="(-#ppt_w/2)" to="(#ppt_x)" calcmode="lin" valueType="num">
                                      <p:cBhvr>
                                        <p:cTn id="15" dur="600" fill="hold">
                                          <p:stCondLst>
                                            <p:cond delay="0"/>
                                          </p:stCondLst>
                                        </p:cTn>
                                        <p:tgtEl>
                                          <p:spTgt spid="9"/>
                                        </p:tgtEl>
                                        <p:attrNameLst>
                                          <p:attrName>ppt_x</p:attrName>
                                        </p:attrNameLst>
                                      </p:cBhvr>
                                    </p:anim>
                                    <p:anim from="0" to="-1.0" calcmode="lin" valueType="num">
                                      <p:cBhvr>
                                        <p:cTn id="16" dur="200" decel="50000" autoRev="1" fill="hold">
                                          <p:stCondLst>
                                            <p:cond delay="600"/>
                                          </p:stCondLst>
                                        </p:cTn>
                                        <p:tgtEl>
                                          <p:spTgt spid="9"/>
                                        </p:tgtEl>
                                        <p:attrNameLst>
                                          <p:attrName>xshear</p:attrName>
                                        </p:attrNameLst>
                                      </p:cBhvr>
                                    </p:anim>
                                    <p:animScale>
                                      <p:cBhvr>
                                        <p:cTn id="17" dur="200" decel="100000" autoRev="1" fill="hold">
                                          <p:stCondLst>
                                            <p:cond delay="600"/>
                                          </p:stCondLst>
                                        </p:cTn>
                                        <p:tgtEl>
                                          <p:spTgt spid="9"/>
                                        </p:tgtEl>
                                      </p:cBhvr>
                                      <p:from x="100000" y="100000"/>
                                      <p:to x="80000" y="100000"/>
                                    </p:animScale>
                                    <p:anim by="(#ppt_h/3+#ppt_w*0.1)" calcmode="lin" valueType="num">
                                      <p:cBhvr additive="sum">
                                        <p:cTn id="18" dur="200" decel="100000" autoRev="1" fill="hold">
                                          <p:stCondLst>
                                            <p:cond delay="600"/>
                                          </p:stCondLst>
                                        </p:cTn>
                                        <p:tgtEl>
                                          <p:spTgt spid="9"/>
                                        </p:tgtEl>
                                        <p:attrNameLst>
                                          <p:attrName>ppt_x</p:attrName>
                                        </p:attrNameLst>
                                      </p:cBhvr>
                                    </p:anim>
                                  </p:childTnLst>
                                </p:cTn>
                              </p:par>
                            </p:childTnLst>
                          </p:cTn>
                        </p:par>
                      </p:childTnLst>
                    </p:cTn>
                  </p:par>
                  <p:par>
                    <p:cTn id="19" fill="hold">
                      <p:stCondLst>
                        <p:cond delay="indefinite"/>
                      </p:stCondLst>
                      <p:childTnLst>
                        <p:par>
                          <p:cTn id="20" fill="hold">
                            <p:stCondLst>
                              <p:cond delay="0"/>
                            </p:stCondLst>
                            <p:childTnLst>
                              <p:par>
                                <p:cTn id="21" presetID="34"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from="(-#ppt_w/2)" to="(#ppt_x)" calcmode="lin" valueType="num">
                                      <p:cBhvr>
                                        <p:cTn id="23" dur="600" fill="hold">
                                          <p:stCondLst>
                                            <p:cond delay="0"/>
                                          </p:stCondLst>
                                        </p:cTn>
                                        <p:tgtEl>
                                          <p:spTgt spid="12"/>
                                        </p:tgtEl>
                                        <p:attrNameLst>
                                          <p:attrName>ppt_x</p:attrName>
                                        </p:attrNameLst>
                                      </p:cBhvr>
                                    </p:anim>
                                    <p:anim from="0" to="-1.0" calcmode="lin" valueType="num">
                                      <p:cBhvr>
                                        <p:cTn id="24" dur="200" decel="50000" autoRev="1" fill="hold">
                                          <p:stCondLst>
                                            <p:cond delay="600"/>
                                          </p:stCondLst>
                                        </p:cTn>
                                        <p:tgtEl>
                                          <p:spTgt spid="12"/>
                                        </p:tgtEl>
                                        <p:attrNameLst>
                                          <p:attrName>xshear</p:attrName>
                                        </p:attrNameLst>
                                      </p:cBhvr>
                                    </p:anim>
                                    <p:animScale>
                                      <p:cBhvr>
                                        <p:cTn id="25" dur="200" decel="100000" autoRev="1" fill="hold">
                                          <p:stCondLst>
                                            <p:cond delay="600"/>
                                          </p:stCondLst>
                                        </p:cTn>
                                        <p:tgtEl>
                                          <p:spTgt spid="12"/>
                                        </p:tgtEl>
                                      </p:cBhvr>
                                      <p:from x="100000" y="100000"/>
                                      <p:to x="80000" y="100000"/>
                                    </p:animScale>
                                    <p:anim by="(#ppt_h/3+#ppt_w*0.1)" calcmode="lin" valueType="num">
                                      <p:cBhvr additive="sum">
                                        <p:cTn id="26" dur="200" decel="100000" autoRev="1" fill="hold">
                                          <p:stCondLst>
                                            <p:cond delay="600"/>
                                          </p:stCondLst>
                                        </p:cTn>
                                        <p:tgtEl>
                                          <p:spTgt spid="12"/>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FBCDC-48E3-34D7-E16A-ED185680B6C5}"/>
              </a:ext>
            </a:extLst>
          </p:cNvPr>
          <p:cNvSpPr>
            <a:spLocks noGrp="1"/>
          </p:cNvSpPr>
          <p:nvPr>
            <p:ph type="title"/>
          </p:nvPr>
        </p:nvSpPr>
        <p:spPr/>
        <p:txBody>
          <a:bodyPr>
            <a:noAutofit/>
          </a:bodyPr>
          <a:lstStyle/>
          <a:p>
            <a:r>
              <a:rPr lang="en-US">
                <a:solidFill>
                  <a:srgbClr val="1F3864"/>
                </a:solidFill>
              </a:rPr>
              <a:t>Ethics: honest data</a:t>
            </a:r>
          </a:p>
        </p:txBody>
      </p:sp>
      <p:sp>
        <p:nvSpPr>
          <p:cNvPr id="4" name="Slide Number Placeholder 3">
            <a:extLst>
              <a:ext uri="{FF2B5EF4-FFF2-40B4-BE49-F238E27FC236}">
                <a16:creationId xmlns:a16="http://schemas.microsoft.com/office/drawing/2014/main" id="{867D343A-B691-3B93-BC2E-2BC7ADBAE788}"/>
              </a:ext>
            </a:extLst>
          </p:cNvPr>
          <p:cNvSpPr>
            <a:spLocks noGrp="1"/>
          </p:cNvSpPr>
          <p:nvPr>
            <p:ph type="sldNum" sz="quarter" idx="12"/>
          </p:nvPr>
        </p:nvSpPr>
        <p:spPr/>
        <p:txBody>
          <a:bodyPr/>
          <a:lstStyle/>
          <a:p>
            <a:fld id="{A80A81DD-F10A-4B1C-963A-0ABBB4865886}" type="slidenum">
              <a:rPr lang="en-US" sz="1600" smtClean="0"/>
              <a:t>12</a:t>
            </a:fld>
            <a:endParaRPr lang="en-US" sz="1600"/>
          </a:p>
        </p:txBody>
      </p:sp>
      <p:sp>
        <p:nvSpPr>
          <p:cNvPr id="5" name="TextBox 4">
            <a:extLst>
              <a:ext uri="{FF2B5EF4-FFF2-40B4-BE49-F238E27FC236}">
                <a16:creationId xmlns:a16="http://schemas.microsoft.com/office/drawing/2014/main" id="{803EF544-7BC1-830E-74B1-64EDAAE169AE}"/>
              </a:ext>
            </a:extLst>
          </p:cNvPr>
          <p:cNvSpPr txBox="1"/>
          <p:nvPr/>
        </p:nvSpPr>
        <p:spPr>
          <a:xfrm>
            <a:off x="762000" y="1841499"/>
            <a:ext cx="10668000" cy="830997"/>
          </a:xfrm>
          <a:prstGeom prst="rect">
            <a:avLst/>
          </a:prstGeom>
          <a:noFill/>
        </p:spPr>
        <p:txBody>
          <a:bodyPr vert="horz" wrap="square" rtlCol="0">
            <a:spAutoFit/>
          </a:bodyPr>
          <a:lstStyle/>
          <a:p>
            <a:pPr>
              <a:spcAft>
                <a:spcPts val="400"/>
              </a:spcAft>
            </a:pPr>
            <a:r>
              <a:rPr lang="en-US" sz="1600">
                <a:solidFill>
                  <a:srgbClr val="000000"/>
                </a:solidFill>
              </a:rPr>
              <a:t>Ethics also means honest data. An investigation of the social psychologist Diederik Stapel found he had invented data outright, tainting more than 55 of his papers and 10 PhD dissertations he supervised. But a problem does not have to be that big to matter. A researcher is surveying households in a community. What is wrong with each of these?</a:t>
            </a:r>
          </a:p>
        </p:txBody>
      </p:sp>
      <p:sp>
        <p:nvSpPr>
          <p:cNvPr id="6" name="TextBox 5">
            <a:extLst>
              <a:ext uri="{FF2B5EF4-FFF2-40B4-BE49-F238E27FC236}">
                <a16:creationId xmlns:a16="http://schemas.microsoft.com/office/drawing/2014/main" id="{173928F0-6402-96DA-08AE-79702CFCC1E5}"/>
              </a:ext>
            </a:extLst>
          </p:cNvPr>
          <p:cNvSpPr txBox="1"/>
          <p:nvPr/>
        </p:nvSpPr>
        <p:spPr>
          <a:xfrm>
            <a:off x="762000" y="2824896"/>
            <a:ext cx="10668000" cy="345440"/>
          </a:xfrm>
          <a:prstGeom prst="rect">
            <a:avLst/>
          </a:prstGeom>
          <a:noFill/>
        </p:spPr>
        <p:txBody>
          <a:bodyPr vert="horz" wrap="square" rtlCol="0">
            <a:spAutoFit/>
          </a:bodyPr>
          <a:lstStyle/>
          <a:p>
            <a:pPr marL="304800" indent="-304800"/>
            <a:r>
              <a:rPr lang="en-US" sz="1600" b="1">
                <a:solidFill>
                  <a:srgbClr val="C00000"/>
                </a:solidFill>
              </a:rPr>
              <a:t>1.</a:t>
            </a:r>
            <a:r>
              <a:rPr lang="en-US" sz="1600">
                <a:solidFill>
                  <a:srgbClr val="000000"/>
                </a:solidFill>
              </a:rPr>
              <a:t>  She picks a block where she already knows a lot of the neighbours.</a:t>
            </a:r>
          </a:p>
        </p:txBody>
      </p:sp>
      <p:sp>
        <p:nvSpPr>
          <p:cNvPr id="7" name="TextBox 6">
            <a:extLst>
              <a:ext uri="{FF2B5EF4-FFF2-40B4-BE49-F238E27FC236}">
                <a16:creationId xmlns:a16="http://schemas.microsoft.com/office/drawing/2014/main" id="{096B0234-5946-443E-D3EF-6B904164792E}"/>
              </a:ext>
            </a:extLst>
          </p:cNvPr>
          <p:cNvSpPr txBox="1"/>
          <p:nvPr/>
        </p:nvSpPr>
        <p:spPr>
          <a:xfrm>
            <a:off x="1117600" y="3195736"/>
            <a:ext cx="10312400" cy="338554"/>
          </a:xfrm>
          <a:prstGeom prst="rect">
            <a:avLst/>
          </a:prstGeom>
          <a:noFill/>
        </p:spPr>
        <p:txBody>
          <a:bodyPr vert="horz" wrap="square" rtlCol="0">
            <a:spAutoFit/>
          </a:bodyPr>
          <a:lstStyle/>
          <a:p>
            <a:r>
              <a:rPr lang="en-US" sz="1600" b="1">
                <a:solidFill>
                  <a:srgbClr val="C00000"/>
                </a:solidFill>
              </a:rPr>
              <a:t>A convenience sample. It is biased, and presenting it as representative of the community is misleading.</a:t>
            </a:r>
          </a:p>
        </p:txBody>
      </p:sp>
      <p:sp>
        <p:nvSpPr>
          <p:cNvPr id="8" name="TextBox 7">
            <a:extLst>
              <a:ext uri="{FF2B5EF4-FFF2-40B4-BE49-F238E27FC236}">
                <a16:creationId xmlns:a16="http://schemas.microsoft.com/office/drawing/2014/main" id="{DDBAFEBF-2B58-DFE7-62AD-B002E3656906}"/>
              </a:ext>
            </a:extLst>
          </p:cNvPr>
          <p:cNvSpPr txBox="1"/>
          <p:nvPr/>
        </p:nvSpPr>
        <p:spPr>
          <a:xfrm>
            <a:off x="762000" y="3712090"/>
            <a:ext cx="10668000" cy="345440"/>
          </a:xfrm>
          <a:prstGeom prst="rect">
            <a:avLst/>
          </a:prstGeom>
          <a:noFill/>
        </p:spPr>
        <p:txBody>
          <a:bodyPr vert="horz" wrap="square" rtlCol="0">
            <a:spAutoFit/>
          </a:bodyPr>
          <a:lstStyle/>
          <a:p>
            <a:pPr marL="304800" indent="-304800"/>
            <a:r>
              <a:rPr lang="en-US" sz="1600" b="1">
                <a:solidFill>
                  <a:srgbClr val="C00000"/>
                </a:solidFill>
              </a:rPr>
              <a:t>2.</a:t>
            </a:r>
            <a:r>
              <a:rPr lang="en-US" sz="1600">
                <a:solidFill>
                  <a:srgbClr val="000000"/>
                </a:solidFill>
              </a:rPr>
              <a:t>  Four houses have nobody home. She skips them and never goes back.</a:t>
            </a:r>
          </a:p>
        </p:txBody>
      </p:sp>
      <p:sp>
        <p:nvSpPr>
          <p:cNvPr id="9" name="TextBox 8">
            <a:extLst>
              <a:ext uri="{FF2B5EF4-FFF2-40B4-BE49-F238E27FC236}">
                <a16:creationId xmlns:a16="http://schemas.microsoft.com/office/drawing/2014/main" id="{37C5EB09-8181-01D4-0AE9-A06C5E9A6703}"/>
              </a:ext>
            </a:extLst>
          </p:cNvPr>
          <p:cNvSpPr txBox="1"/>
          <p:nvPr/>
        </p:nvSpPr>
        <p:spPr>
          <a:xfrm>
            <a:off x="1117600" y="4082930"/>
            <a:ext cx="10312400" cy="589280"/>
          </a:xfrm>
          <a:prstGeom prst="rect">
            <a:avLst/>
          </a:prstGeom>
          <a:noFill/>
        </p:spPr>
        <p:txBody>
          <a:bodyPr vert="horz" wrap="square" rtlCol="0">
            <a:spAutoFit/>
          </a:bodyPr>
          <a:lstStyle/>
          <a:p>
            <a:r>
              <a:rPr lang="en-US" sz="1600" b="1">
                <a:solidFill>
                  <a:srgbClr val="C00000"/>
                </a:solidFill>
              </a:rPr>
              <a:t>Nonresponse. The households she misses are not a random subset - working families are exactly the ones least likely to be home in the daytime.</a:t>
            </a:r>
          </a:p>
        </p:txBody>
      </p:sp>
      <p:sp>
        <p:nvSpPr>
          <p:cNvPr id="10" name="TextBox 9">
            <a:extLst>
              <a:ext uri="{FF2B5EF4-FFF2-40B4-BE49-F238E27FC236}">
                <a16:creationId xmlns:a16="http://schemas.microsoft.com/office/drawing/2014/main" id="{2235831A-51A3-E82F-82A5-67061AA1A22E}"/>
              </a:ext>
            </a:extLst>
          </p:cNvPr>
          <p:cNvSpPr txBox="1"/>
          <p:nvPr/>
        </p:nvSpPr>
        <p:spPr>
          <a:xfrm>
            <a:off x="762000" y="4850010"/>
            <a:ext cx="10668000" cy="345440"/>
          </a:xfrm>
          <a:prstGeom prst="rect">
            <a:avLst/>
          </a:prstGeom>
          <a:noFill/>
        </p:spPr>
        <p:txBody>
          <a:bodyPr vert="horz" wrap="square" rtlCol="0">
            <a:spAutoFit/>
          </a:bodyPr>
          <a:lstStyle/>
          <a:p>
            <a:pPr marL="304800" indent="-304800"/>
            <a:r>
              <a:rPr lang="en-US" sz="1600" b="1">
                <a:solidFill>
                  <a:srgbClr val="C00000"/>
                </a:solidFill>
              </a:rPr>
              <a:t>3.</a:t>
            </a:r>
            <a:r>
              <a:rPr lang="en-US" sz="1600">
                <a:solidFill>
                  <a:srgbClr val="000000"/>
                </a:solidFill>
              </a:rPr>
              <a:t>  She fills in those four forms with answers copied from the neighbours.</a:t>
            </a:r>
          </a:p>
        </p:txBody>
      </p:sp>
      <p:sp>
        <p:nvSpPr>
          <p:cNvPr id="11" name="TextBox 10">
            <a:extLst>
              <a:ext uri="{FF2B5EF4-FFF2-40B4-BE49-F238E27FC236}">
                <a16:creationId xmlns:a16="http://schemas.microsoft.com/office/drawing/2014/main" id="{7EEE7946-5EA0-8B72-F855-AEB4B6636110}"/>
              </a:ext>
            </a:extLst>
          </p:cNvPr>
          <p:cNvSpPr txBox="1"/>
          <p:nvPr/>
        </p:nvSpPr>
        <p:spPr>
          <a:xfrm>
            <a:off x="1117600" y="5220850"/>
            <a:ext cx="10312400" cy="345440"/>
          </a:xfrm>
          <a:prstGeom prst="rect">
            <a:avLst/>
          </a:prstGeom>
          <a:noFill/>
        </p:spPr>
        <p:txBody>
          <a:bodyPr vert="horz" wrap="square" rtlCol="0">
            <a:spAutoFit/>
          </a:bodyPr>
          <a:lstStyle/>
          <a:p>
            <a:r>
              <a:rPr lang="en-US" sz="1600" b="1">
                <a:solidFill>
                  <a:srgbClr val="C00000"/>
                </a:solidFill>
              </a:rPr>
              <a:t>Fabricated data. However small the study, this is never acceptable.</a:t>
            </a:r>
          </a:p>
        </p:txBody>
      </p:sp>
      <p:sp>
        <p:nvSpPr>
          <p:cNvPr id="12" name="TextBox 11">
            <a:extLst>
              <a:ext uri="{FF2B5EF4-FFF2-40B4-BE49-F238E27FC236}">
                <a16:creationId xmlns:a16="http://schemas.microsoft.com/office/drawing/2014/main" id="{3D8E5BD3-1CF7-2352-2707-2D7DBFFA6EBD}"/>
              </a:ext>
            </a:extLst>
          </p:cNvPr>
          <p:cNvSpPr txBox="1"/>
          <p:nvPr/>
        </p:nvSpPr>
        <p:spPr>
          <a:xfrm>
            <a:off x="762000" y="6045200"/>
            <a:ext cx="10668000" cy="345440"/>
          </a:xfrm>
          <a:prstGeom prst="rect">
            <a:avLst/>
          </a:prstGeom>
          <a:noFill/>
        </p:spPr>
        <p:txBody>
          <a:bodyPr vert="horz" wrap="square" rtlCol="0">
            <a:noAutofit/>
          </a:bodyPr>
          <a:lstStyle/>
          <a:p>
            <a:pPr algn="r"/>
            <a:r>
              <a:rPr lang="en-US" sz="1600" i="1">
                <a:solidFill>
                  <a:srgbClr val="595959"/>
                </a:solidFill>
              </a:rPr>
              <a:t>Source: Introductory Statistics 2e (OpenStax), Section 1.4 and Example 1.22</a:t>
            </a:r>
          </a:p>
        </p:txBody>
      </p:sp>
      <p:sp>
        <p:nvSpPr>
          <p:cNvPr id="3" name="Title rule">
            <a:extLst>
              <a:ext uri="{FF2B5EF4-FFF2-40B4-BE49-F238E27FC236}">
                <a16:creationId xmlns:a16="http://schemas.microsoft.com/office/drawing/2014/main" id="{2A19CE9B-6143-6D05-1FF1-AF917901111D}"/>
              </a:ext>
            </a:extLst>
          </p:cNvPr>
          <p:cNvSpPr/>
          <p:nvPr/>
        </p:nvSpPr>
        <p:spPr>
          <a:xfrm>
            <a:off x="838200" y="1600200"/>
            <a:ext cx="10515600" cy="381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4242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from="(-#ppt_w/2)" to="(#ppt_x)" calcmode="lin" valueType="num">
                                      <p:cBhvr>
                                        <p:cTn id="7" dur="600" fill="hold">
                                          <p:stCondLst>
                                            <p:cond delay="0"/>
                                          </p:stCondLst>
                                        </p:cTn>
                                        <p:tgtEl>
                                          <p:spTgt spid="7"/>
                                        </p:tgtEl>
                                        <p:attrNameLst>
                                          <p:attrName>ppt_x</p:attrName>
                                        </p:attrNameLst>
                                      </p:cBhvr>
                                    </p:anim>
                                    <p:anim from="0" to="-1.0" calcmode="lin" valueType="num">
                                      <p:cBhvr>
                                        <p:cTn id="8" dur="200" decel="50000" autoRev="1" fill="hold">
                                          <p:stCondLst>
                                            <p:cond delay="600"/>
                                          </p:stCondLst>
                                        </p:cTn>
                                        <p:tgtEl>
                                          <p:spTgt spid="7"/>
                                        </p:tgtEl>
                                        <p:attrNameLst>
                                          <p:attrName>xshear</p:attrName>
                                        </p:attrNameLst>
                                      </p:cBhvr>
                                    </p:anim>
                                    <p:animScale>
                                      <p:cBhvr>
                                        <p:cTn id="9" dur="200" decel="100000" autoRev="1" fill="hold">
                                          <p:stCondLst>
                                            <p:cond delay="600"/>
                                          </p:stCondLst>
                                        </p:cTn>
                                        <p:tgtEl>
                                          <p:spTgt spid="7"/>
                                        </p:tgtEl>
                                      </p:cBhvr>
                                      <p:from x="100000" y="100000"/>
                                      <p:to x="80000" y="100000"/>
                                    </p:animScale>
                                    <p:anim by="(#ppt_h/3+#ppt_w*0.1)" calcmode="lin" valueType="num">
                                      <p:cBhvr additive="sum">
                                        <p:cTn id="10" dur="200" decel="100000" autoRev="1" fill="hold">
                                          <p:stCondLst>
                                            <p:cond delay="600"/>
                                          </p:stCondLst>
                                        </p:cTn>
                                        <p:tgtEl>
                                          <p:spTgt spid="7"/>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 from="(-#ppt_w/2)" to="(#ppt_x)" calcmode="lin" valueType="num">
                                      <p:cBhvr>
                                        <p:cTn id="15" dur="600" fill="hold">
                                          <p:stCondLst>
                                            <p:cond delay="0"/>
                                          </p:stCondLst>
                                        </p:cTn>
                                        <p:tgtEl>
                                          <p:spTgt spid="9"/>
                                        </p:tgtEl>
                                        <p:attrNameLst>
                                          <p:attrName>ppt_x</p:attrName>
                                        </p:attrNameLst>
                                      </p:cBhvr>
                                    </p:anim>
                                    <p:anim from="0" to="-1.0" calcmode="lin" valueType="num">
                                      <p:cBhvr>
                                        <p:cTn id="16" dur="200" decel="50000" autoRev="1" fill="hold">
                                          <p:stCondLst>
                                            <p:cond delay="600"/>
                                          </p:stCondLst>
                                        </p:cTn>
                                        <p:tgtEl>
                                          <p:spTgt spid="9"/>
                                        </p:tgtEl>
                                        <p:attrNameLst>
                                          <p:attrName>xshear</p:attrName>
                                        </p:attrNameLst>
                                      </p:cBhvr>
                                    </p:anim>
                                    <p:animScale>
                                      <p:cBhvr>
                                        <p:cTn id="17" dur="200" decel="100000" autoRev="1" fill="hold">
                                          <p:stCondLst>
                                            <p:cond delay="600"/>
                                          </p:stCondLst>
                                        </p:cTn>
                                        <p:tgtEl>
                                          <p:spTgt spid="9"/>
                                        </p:tgtEl>
                                      </p:cBhvr>
                                      <p:from x="100000" y="100000"/>
                                      <p:to x="80000" y="100000"/>
                                    </p:animScale>
                                    <p:anim by="(#ppt_h/3+#ppt_w*0.1)" calcmode="lin" valueType="num">
                                      <p:cBhvr additive="sum">
                                        <p:cTn id="18" dur="200" decel="100000" autoRev="1" fill="hold">
                                          <p:stCondLst>
                                            <p:cond delay="600"/>
                                          </p:stCondLst>
                                        </p:cTn>
                                        <p:tgtEl>
                                          <p:spTgt spid="9"/>
                                        </p:tgtEl>
                                        <p:attrNameLst>
                                          <p:attrName>ppt_x</p:attrName>
                                        </p:attrNameLst>
                                      </p:cBhvr>
                                    </p:anim>
                                  </p:childTnLst>
                                </p:cTn>
                              </p:par>
                            </p:childTnLst>
                          </p:cTn>
                        </p:par>
                      </p:childTnLst>
                    </p:cTn>
                  </p:par>
                  <p:par>
                    <p:cTn id="19" fill="hold">
                      <p:stCondLst>
                        <p:cond delay="indefinite"/>
                      </p:stCondLst>
                      <p:childTnLst>
                        <p:par>
                          <p:cTn id="20" fill="hold">
                            <p:stCondLst>
                              <p:cond delay="0"/>
                            </p:stCondLst>
                            <p:childTnLst>
                              <p:par>
                                <p:cTn id="21" presetID="34"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from="(-#ppt_w/2)" to="(#ppt_x)" calcmode="lin" valueType="num">
                                      <p:cBhvr>
                                        <p:cTn id="23" dur="600" fill="hold">
                                          <p:stCondLst>
                                            <p:cond delay="0"/>
                                          </p:stCondLst>
                                        </p:cTn>
                                        <p:tgtEl>
                                          <p:spTgt spid="11"/>
                                        </p:tgtEl>
                                        <p:attrNameLst>
                                          <p:attrName>ppt_x</p:attrName>
                                        </p:attrNameLst>
                                      </p:cBhvr>
                                    </p:anim>
                                    <p:anim from="0" to="-1.0" calcmode="lin" valueType="num">
                                      <p:cBhvr>
                                        <p:cTn id="24" dur="200" decel="50000" autoRev="1" fill="hold">
                                          <p:stCondLst>
                                            <p:cond delay="600"/>
                                          </p:stCondLst>
                                        </p:cTn>
                                        <p:tgtEl>
                                          <p:spTgt spid="11"/>
                                        </p:tgtEl>
                                        <p:attrNameLst>
                                          <p:attrName>xshear</p:attrName>
                                        </p:attrNameLst>
                                      </p:cBhvr>
                                    </p:anim>
                                    <p:animScale>
                                      <p:cBhvr>
                                        <p:cTn id="25" dur="200" decel="100000" autoRev="1" fill="hold">
                                          <p:stCondLst>
                                            <p:cond delay="600"/>
                                          </p:stCondLst>
                                        </p:cTn>
                                        <p:tgtEl>
                                          <p:spTgt spid="11"/>
                                        </p:tgtEl>
                                      </p:cBhvr>
                                      <p:from x="100000" y="100000"/>
                                      <p:to x="80000" y="100000"/>
                                    </p:animScale>
                                    <p:anim by="(#ppt_h/3+#ppt_w*0.1)" calcmode="lin" valueType="num">
                                      <p:cBhvr additive="sum">
                                        <p:cTn id="26" dur="200" decel="100000" autoRev="1" fill="hold">
                                          <p:stCondLst>
                                            <p:cond delay="600"/>
                                          </p:stCondLst>
                                        </p:cTn>
                                        <p:tgtEl>
                                          <p:spTgt spid="11"/>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7AB41-6AD1-9EF2-7F95-46A904399681}"/>
              </a:ext>
            </a:extLst>
          </p:cNvPr>
          <p:cNvSpPr>
            <a:spLocks noGrp="1"/>
          </p:cNvSpPr>
          <p:nvPr>
            <p:ph type="title"/>
          </p:nvPr>
        </p:nvSpPr>
        <p:spPr/>
        <p:txBody>
          <a:bodyPr>
            <a:noAutofit/>
          </a:bodyPr>
          <a:lstStyle/>
          <a:p>
            <a:r>
              <a:rPr lang="en-US">
                <a:solidFill>
                  <a:srgbClr val="1F3864"/>
                </a:solidFill>
              </a:rPr>
              <a:t>Practice: what design, and can it show cause?</a:t>
            </a:r>
          </a:p>
        </p:txBody>
      </p:sp>
      <p:sp>
        <p:nvSpPr>
          <p:cNvPr id="4" name="Slide Number Placeholder 3">
            <a:extLst>
              <a:ext uri="{FF2B5EF4-FFF2-40B4-BE49-F238E27FC236}">
                <a16:creationId xmlns:a16="http://schemas.microsoft.com/office/drawing/2014/main" id="{97D44AE5-98B5-B840-6B8A-D345C7C2E2F0}"/>
              </a:ext>
            </a:extLst>
          </p:cNvPr>
          <p:cNvSpPr>
            <a:spLocks noGrp="1"/>
          </p:cNvSpPr>
          <p:nvPr>
            <p:ph type="sldNum" sz="quarter" idx="12"/>
          </p:nvPr>
        </p:nvSpPr>
        <p:spPr/>
        <p:txBody>
          <a:bodyPr/>
          <a:lstStyle/>
          <a:p>
            <a:fld id="{A80A81DD-F10A-4B1C-963A-0ABBB4865886}" type="slidenum">
              <a:rPr lang="en-US" sz="1600" smtClean="0"/>
              <a:t>13</a:t>
            </a:fld>
            <a:endParaRPr lang="en-US" sz="1600"/>
          </a:p>
        </p:txBody>
      </p:sp>
      <p:sp>
        <p:nvSpPr>
          <p:cNvPr id="5" name="TextBox 4">
            <a:extLst>
              <a:ext uri="{FF2B5EF4-FFF2-40B4-BE49-F238E27FC236}">
                <a16:creationId xmlns:a16="http://schemas.microsoft.com/office/drawing/2014/main" id="{A34AAE17-27CE-D7A3-C663-11BB48ACBF5B}"/>
              </a:ext>
            </a:extLst>
          </p:cNvPr>
          <p:cNvSpPr txBox="1"/>
          <p:nvPr/>
        </p:nvSpPr>
        <p:spPr>
          <a:xfrm>
            <a:off x="762000" y="1841500"/>
            <a:ext cx="10668000" cy="345440"/>
          </a:xfrm>
          <a:prstGeom prst="rect">
            <a:avLst/>
          </a:prstGeom>
          <a:noFill/>
        </p:spPr>
        <p:txBody>
          <a:bodyPr vert="horz" wrap="square" rtlCol="0">
            <a:noAutofit/>
          </a:bodyPr>
          <a:lstStyle/>
          <a:p>
            <a:pPr marL="304800" indent="-304800"/>
            <a:r>
              <a:rPr lang="en-US" sz="1600" b="1">
                <a:solidFill>
                  <a:srgbClr val="C00000"/>
                </a:solidFill>
              </a:rPr>
              <a:t>1.</a:t>
            </a:r>
            <a:r>
              <a:rPr lang="en-US" sz="1600">
                <a:solidFill>
                  <a:srgbClr val="000000"/>
                </a:solidFill>
              </a:rPr>
              <a:t>  A survey finds that people who own dogs have lower blood pressure than people who do not.</a:t>
            </a:r>
          </a:p>
        </p:txBody>
      </p:sp>
      <p:sp>
        <p:nvSpPr>
          <p:cNvPr id="6" name="TextBox 5">
            <a:extLst>
              <a:ext uri="{FF2B5EF4-FFF2-40B4-BE49-F238E27FC236}">
                <a16:creationId xmlns:a16="http://schemas.microsoft.com/office/drawing/2014/main" id="{E410A0F8-5E1E-9A1D-B64C-50827EE6C9B2}"/>
              </a:ext>
            </a:extLst>
          </p:cNvPr>
          <p:cNvSpPr txBox="1"/>
          <p:nvPr/>
        </p:nvSpPr>
        <p:spPr>
          <a:xfrm>
            <a:off x="1117600" y="2136140"/>
            <a:ext cx="10312400" cy="345440"/>
          </a:xfrm>
          <a:prstGeom prst="rect">
            <a:avLst/>
          </a:prstGeom>
          <a:noFill/>
        </p:spPr>
        <p:txBody>
          <a:bodyPr vert="horz" wrap="square" rtlCol="0">
            <a:noAutofit/>
          </a:bodyPr>
          <a:lstStyle/>
          <a:p>
            <a:r>
              <a:rPr lang="en-US" sz="1600" b="1">
                <a:solidFill>
                  <a:srgbClr val="C00000"/>
                </a:solidFill>
              </a:rPr>
              <a:t>Observational - nobody was assigned a dog. Active people may both own dogs and have lower blood pressure.</a:t>
            </a:r>
          </a:p>
        </p:txBody>
      </p:sp>
      <p:sp>
        <p:nvSpPr>
          <p:cNvPr id="7" name="TextBox 6">
            <a:extLst>
              <a:ext uri="{FF2B5EF4-FFF2-40B4-BE49-F238E27FC236}">
                <a16:creationId xmlns:a16="http://schemas.microsoft.com/office/drawing/2014/main" id="{47D3CD95-D52E-5227-B663-7C0A72677B6E}"/>
              </a:ext>
            </a:extLst>
          </p:cNvPr>
          <p:cNvSpPr txBox="1"/>
          <p:nvPr/>
        </p:nvSpPr>
        <p:spPr>
          <a:xfrm>
            <a:off x="762000" y="2633980"/>
            <a:ext cx="10668000" cy="345440"/>
          </a:xfrm>
          <a:prstGeom prst="rect">
            <a:avLst/>
          </a:prstGeom>
          <a:noFill/>
        </p:spPr>
        <p:txBody>
          <a:bodyPr vert="horz" wrap="square" rtlCol="0">
            <a:noAutofit/>
          </a:bodyPr>
          <a:lstStyle/>
          <a:p>
            <a:pPr marL="304800" indent="-304800"/>
            <a:r>
              <a:rPr lang="en-US" sz="1600" b="1">
                <a:solidFill>
                  <a:srgbClr val="C00000"/>
                </a:solidFill>
              </a:rPr>
              <a:t>2.</a:t>
            </a:r>
            <a:r>
              <a:rPr lang="en-US" sz="1600">
                <a:solidFill>
                  <a:srgbClr val="000000"/>
                </a:solidFill>
              </a:rPr>
              <a:t>  60 volunteers with insomnia are randomly split: 30 get melatonin, 30 get an identical-looking placebo.</a:t>
            </a:r>
          </a:p>
        </p:txBody>
      </p:sp>
      <p:sp>
        <p:nvSpPr>
          <p:cNvPr id="8" name="TextBox 7">
            <a:extLst>
              <a:ext uri="{FF2B5EF4-FFF2-40B4-BE49-F238E27FC236}">
                <a16:creationId xmlns:a16="http://schemas.microsoft.com/office/drawing/2014/main" id="{1CE3E601-601D-C6B1-8265-C079CB8C9269}"/>
              </a:ext>
            </a:extLst>
          </p:cNvPr>
          <p:cNvSpPr txBox="1"/>
          <p:nvPr/>
        </p:nvSpPr>
        <p:spPr>
          <a:xfrm>
            <a:off x="1117600" y="2928620"/>
            <a:ext cx="10312400" cy="345440"/>
          </a:xfrm>
          <a:prstGeom prst="rect">
            <a:avLst/>
          </a:prstGeom>
          <a:noFill/>
        </p:spPr>
        <p:txBody>
          <a:bodyPr vert="horz" wrap="square" rtlCol="0">
            <a:noAutofit/>
          </a:bodyPr>
          <a:lstStyle/>
          <a:p>
            <a:r>
              <a:rPr lang="en-US" sz="1600" b="1">
                <a:solidFill>
                  <a:srgbClr val="C00000"/>
                </a:solidFill>
              </a:rPr>
              <a:t>Completely randomized experiment - it can show cause, for people like these volunteers.</a:t>
            </a:r>
          </a:p>
        </p:txBody>
      </p:sp>
      <p:sp>
        <p:nvSpPr>
          <p:cNvPr id="9" name="TextBox 8">
            <a:extLst>
              <a:ext uri="{FF2B5EF4-FFF2-40B4-BE49-F238E27FC236}">
                <a16:creationId xmlns:a16="http://schemas.microsoft.com/office/drawing/2014/main" id="{FB002BF4-8037-2F73-E27A-7A453477E389}"/>
              </a:ext>
            </a:extLst>
          </p:cNvPr>
          <p:cNvSpPr txBox="1"/>
          <p:nvPr/>
        </p:nvSpPr>
        <p:spPr>
          <a:xfrm>
            <a:off x="762000" y="3426460"/>
            <a:ext cx="10668000" cy="345440"/>
          </a:xfrm>
          <a:prstGeom prst="rect">
            <a:avLst/>
          </a:prstGeom>
          <a:noFill/>
        </p:spPr>
        <p:txBody>
          <a:bodyPr vert="horz" wrap="square" rtlCol="0">
            <a:noAutofit/>
          </a:bodyPr>
          <a:lstStyle/>
          <a:p>
            <a:pPr marL="304800" indent="-304800"/>
            <a:r>
              <a:rPr lang="en-US" sz="1600" b="1">
                <a:solidFill>
                  <a:srgbClr val="C00000"/>
                </a:solidFill>
              </a:rPr>
              <a:t>3.</a:t>
            </a:r>
            <a:r>
              <a:rPr lang="en-US" sz="1600">
                <a:solidFill>
                  <a:srgbClr val="000000"/>
                </a:solidFill>
              </a:rPr>
              <a:t>  In each of 4 greenhouses, tomato plants are randomly assigned to fertilizer A or fertilizer B.</a:t>
            </a:r>
          </a:p>
        </p:txBody>
      </p:sp>
      <p:sp>
        <p:nvSpPr>
          <p:cNvPr id="10" name="TextBox 9">
            <a:extLst>
              <a:ext uri="{FF2B5EF4-FFF2-40B4-BE49-F238E27FC236}">
                <a16:creationId xmlns:a16="http://schemas.microsoft.com/office/drawing/2014/main" id="{10F3B3E3-D27C-E008-C93E-ED70BD2A4754}"/>
              </a:ext>
            </a:extLst>
          </p:cNvPr>
          <p:cNvSpPr txBox="1"/>
          <p:nvPr/>
        </p:nvSpPr>
        <p:spPr>
          <a:xfrm>
            <a:off x="1117600" y="3721100"/>
            <a:ext cx="10312400" cy="345440"/>
          </a:xfrm>
          <a:prstGeom prst="rect">
            <a:avLst/>
          </a:prstGeom>
          <a:noFill/>
        </p:spPr>
        <p:txBody>
          <a:bodyPr vert="horz" wrap="square" rtlCol="0">
            <a:noAutofit/>
          </a:bodyPr>
          <a:lstStyle/>
          <a:p>
            <a:r>
              <a:rPr lang="en-US" sz="1600" b="1">
                <a:solidFill>
                  <a:srgbClr val="C00000"/>
                </a:solidFill>
              </a:rPr>
              <a:t>Randomized block design, with greenhouses as the blocks - it can show cause.</a:t>
            </a:r>
          </a:p>
        </p:txBody>
      </p:sp>
      <p:sp>
        <p:nvSpPr>
          <p:cNvPr id="3" name="Title rule">
            <a:extLst>
              <a:ext uri="{FF2B5EF4-FFF2-40B4-BE49-F238E27FC236}">
                <a16:creationId xmlns:a16="http://schemas.microsoft.com/office/drawing/2014/main" id="{B469CAAB-2B69-6863-7C28-0C5959E5734B}"/>
              </a:ext>
            </a:extLst>
          </p:cNvPr>
          <p:cNvSpPr/>
          <p:nvPr/>
        </p:nvSpPr>
        <p:spPr>
          <a:xfrm>
            <a:off x="838200" y="1600200"/>
            <a:ext cx="10515600" cy="381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6080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from="(-#ppt_w/2)" to="(#ppt_x)" calcmode="lin" valueType="num">
                                      <p:cBhvr>
                                        <p:cTn id="7" dur="600" fill="hold">
                                          <p:stCondLst>
                                            <p:cond delay="0"/>
                                          </p:stCondLst>
                                        </p:cTn>
                                        <p:tgtEl>
                                          <p:spTgt spid="6"/>
                                        </p:tgtEl>
                                        <p:attrNameLst>
                                          <p:attrName>ppt_x</p:attrName>
                                        </p:attrNameLst>
                                      </p:cBhvr>
                                    </p:anim>
                                    <p:anim from="0" to="-1.0" calcmode="lin" valueType="num">
                                      <p:cBhvr>
                                        <p:cTn id="8" dur="200" decel="50000" autoRev="1" fill="hold">
                                          <p:stCondLst>
                                            <p:cond delay="600"/>
                                          </p:stCondLst>
                                        </p:cTn>
                                        <p:tgtEl>
                                          <p:spTgt spid="6"/>
                                        </p:tgtEl>
                                        <p:attrNameLst>
                                          <p:attrName>xshear</p:attrName>
                                        </p:attrNameLst>
                                      </p:cBhvr>
                                    </p:anim>
                                    <p:animScale>
                                      <p:cBhvr>
                                        <p:cTn id="9" dur="200" decel="100000" autoRev="1" fill="hold">
                                          <p:stCondLst>
                                            <p:cond delay="600"/>
                                          </p:stCondLst>
                                        </p:cTn>
                                        <p:tgtEl>
                                          <p:spTgt spid="6"/>
                                        </p:tgtEl>
                                      </p:cBhvr>
                                      <p:from x="100000" y="100000"/>
                                      <p:to x="80000" y="100000"/>
                                    </p:animScale>
                                    <p:anim by="(#ppt_h/3+#ppt_w*0.1)" calcmode="lin" valueType="num">
                                      <p:cBhvr additive="sum">
                                        <p:cTn id="10" dur="200" decel="100000" autoRev="1" fill="hold">
                                          <p:stCondLst>
                                            <p:cond delay="600"/>
                                          </p:stCondLst>
                                        </p:cTn>
                                        <p:tgtEl>
                                          <p:spTgt spid="6"/>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 from="(-#ppt_w/2)" to="(#ppt_x)" calcmode="lin" valueType="num">
                                      <p:cBhvr>
                                        <p:cTn id="15" dur="600" fill="hold">
                                          <p:stCondLst>
                                            <p:cond delay="0"/>
                                          </p:stCondLst>
                                        </p:cTn>
                                        <p:tgtEl>
                                          <p:spTgt spid="8"/>
                                        </p:tgtEl>
                                        <p:attrNameLst>
                                          <p:attrName>ppt_x</p:attrName>
                                        </p:attrNameLst>
                                      </p:cBhvr>
                                    </p:anim>
                                    <p:anim from="0" to="-1.0" calcmode="lin" valueType="num">
                                      <p:cBhvr>
                                        <p:cTn id="16" dur="200" decel="50000" autoRev="1" fill="hold">
                                          <p:stCondLst>
                                            <p:cond delay="600"/>
                                          </p:stCondLst>
                                        </p:cTn>
                                        <p:tgtEl>
                                          <p:spTgt spid="8"/>
                                        </p:tgtEl>
                                        <p:attrNameLst>
                                          <p:attrName>xshear</p:attrName>
                                        </p:attrNameLst>
                                      </p:cBhvr>
                                    </p:anim>
                                    <p:animScale>
                                      <p:cBhvr>
                                        <p:cTn id="17" dur="200" decel="100000" autoRev="1" fill="hold">
                                          <p:stCondLst>
                                            <p:cond delay="600"/>
                                          </p:stCondLst>
                                        </p:cTn>
                                        <p:tgtEl>
                                          <p:spTgt spid="8"/>
                                        </p:tgtEl>
                                      </p:cBhvr>
                                      <p:from x="100000" y="100000"/>
                                      <p:to x="80000" y="100000"/>
                                    </p:animScale>
                                    <p:anim by="(#ppt_h/3+#ppt_w*0.1)" calcmode="lin" valueType="num">
                                      <p:cBhvr additive="sum">
                                        <p:cTn id="18" dur="200" decel="100000" autoRev="1" fill="hold">
                                          <p:stCondLst>
                                            <p:cond delay="600"/>
                                          </p:stCondLst>
                                        </p:cTn>
                                        <p:tgtEl>
                                          <p:spTgt spid="8"/>
                                        </p:tgtEl>
                                        <p:attrNameLst>
                                          <p:attrName>ppt_x</p:attrName>
                                        </p:attrNameLst>
                                      </p:cBhvr>
                                    </p:anim>
                                  </p:childTnLst>
                                </p:cTn>
                              </p:par>
                            </p:childTnLst>
                          </p:cTn>
                        </p:par>
                      </p:childTnLst>
                    </p:cTn>
                  </p:par>
                  <p:par>
                    <p:cTn id="19" fill="hold">
                      <p:stCondLst>
                        <p:cond delay="indefinite"/>
                      </p:stCondLst>
                      <p:childTnLst>
                        <p:par>
                          <p:cTn id="20" fill="hold">
                            <p:stCondLst>
                              <p:cond delay="0"/>
                            </p:stCondLst>
                            <p:childTnLst>
                              <p:par>
                                <p:cTn id="21" presetID="34"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 from="(-#ppt_w/2)" to="(#ppt_x)" calcmode="lin" valueType="num">
                                      <p:cBhvr>
                                        <p:cTn id="23" dur="600" fill="hold">
                                          <p:stCondLst>
                                            <p:cond delay="0"/>
                                          </p:stCondLst>
                                        </p:cTn>
                                        <p:tgtEl>
                                          <p:spTgt spid="10"/>
                                        </p:tgtEl>
                                        <p:attrNameLst>
                                          <p:attrName>ppt_x</p:attrName>
                                        </p:attrNameLst>
                                      </p:cBhvr>
                                    </p:anim>
                                    <p:anim from="0" to="-1.0" calcmode="lin" valueType="num">
                                      <p:cBhvr>
                                        <p:cTn id="24" dur="200" decel="50000" autoRev="1" fill="hold">
                                          <p:stCondLst>
                                            <p:cond delay="600"/>
                                          </p:stCondLst>
                                        </p:cTn>
                                        <p:tgtEl>
                                          <p:spTgt spid="10"/>
                                        </p:tgtEl>
                                        <p:attrNameLst>
                                          <p:attrName>xshear</p:attrName>
                                        </p:attrNameLst>
                                      </p:cBhvr>
                                    </p:anim>
                                    <p:animScale>
                                      <p:cBhvr>
                                        <p:cTn id="25" dur="200" decel="100000" autoRev="1" fill="hold">
                                          <p:stCondLst>
                                            <p:cond delay="600"/>
                                          </p:stCondLst>
                                        </p:cTn>
                                        <p:tgtEl>
                                          <p:spTgt spid="10"/>
                                        </p:tgtEl>
                                      </p:cBhvr>
                                      <p:from x="100000" y="100000"/>
                                      <p:to x="80000" y="100000"/>
                                    </p:animScale>
                                    <p:anim by="(#ppt_h/3+#ppt_w*0.1)" calcmode="lin" valueType="num">
                                      <p:cBhvr additive="sum">
                                        <p:cTn id="26" dur="200" decel="100000" autoRev="1" fill="hold">
                                          <p:stCondLst>
                                            <p:cond delay="600"/>
                                          </p:stCondLst>
                                        </p:cTn>
                                        <p:tgtEl>
                                          <p:spTgt spid="10"/>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7AB41-6AD1-9EF2-7F95-46A904399681}"/>
              </a:ext>
            </a:extLst>
          </p:cNvPr>
          <p:cNvSpPr>
            <a:spLocks noGrp="1"/>
          </p:cNvSpPr>
          <p:nvPr>
            <p:ph type="title"/>
          </p:nvPr>
        </p:nvSpPr>
        <p:spPr/>
        <p:txBody>
          <a:bodyPr>
            <a:noAutofit/>
          </a:bodyPr>
          <a:lstStyle/>
          <a:p>
            <a:r>
              <a:rPr lang="en-US">
                <a:solidFill>
                  <a:srgbClr val="1F3864"/>
                </a:solidFill>
              </a:rPr>
              <a:t>What you should know: kinds of study</a:t>
            </a:r>
          </a:p>
        </p:txBody>
      </p:sp>
      <p:sp>
        <p:nvSpPr>
          <p:cNvPr id="4" name="Slide Number Placeholder 3">
            <a:extLst>
              <a:ext uri="{FF2B5EF4-FFF2-40B4-BE49-F238E27FC236}">
                <a16:creationId xmlns:a16="http://schemas.microsoft.com/office/drawing/2014/main" id="{97D44AE5-98B5-B840-6B8A-D345C7C2E2F0}"/>
              </a:ext>
            </a:extLst>
          </p:cNvPr>
          <p:cNvSpPr>
            <a:spLocks noGrp="1"/>
          </p:cNvSpPr>
          <p:nvPr>
            <p:ph type="sldNum" sz="quarter" idx="12"/>
          </p:nvPr>
        </p:nvSpPr>
        <p:spPr/>
        <p:txBody>
          <a:bodyPr/>
          <a:lstStyle/>
          <a:p>
            <a:fld id="{A80A81DD-F10A-4B1C-963A-0ABBB4865886}" type="slidenum">
              <a:rPr lang="en-US" sz="1600" smtClean="0"/>
              <a:t>14</a:t>
            </a:fld>
            <a:endParaRPr lang="en-US" sz="1600"/>
          </a:p>
        </p:txBody>
      </p:sp>
      <p:sp>
        <p:nvSpPr>
          <p:cNvPr id="5" name="TextBox 4">
            <a:extLst>
              <a:ext uri="{FF2B5EF4-FFF2-40B4-BE49-F238E27FC236}">
                <a16:creationId xmlns:a16="http://schemas.microsoft.com/office/drawing/2014/main" id="{A34AAE17-27CE-D7A3-C663-11BB48ACBF5B}"/>
              </a:ext>
            </a:extLst>
          </p:cNvPr>
          <p:cNvSpPr txBox="1"/>
          <p:nvPr/>
        </p:nvSpPr>
        <p:spPr>
          <a:xfrm>
            <a:off x="762000" y="1841500"/>
            <a:ext cx="10668000" cy="345440"/>
          </a:xfrm>
          <a:prstGeom prst="rect">
            <a:avLst/>
          </a:prstGeom>
          <a:noFill/>
        </p:spPr>
        <p:txBody>
          <a:bodyPr vert="horz" wrap="square" rtlCol="0">
            <a:spAutoFit/>
          </a:bodyPr>
          <a:lstStyle/>
          <a:p>
            <a:pPr marL="304800" indent="-304800"/>
            <a:r>
              <a:rPr lang="en-US" sz="1600">
                <a:solidFill>
                  <a:srgbClr val="000000"/>
                </a:solidFill>
              </a:rPr>
              <a:t>Experimental study</a:t>
            </a:r>
          </a:p>
        </p:txBody>
      </p:sp>
      <p:sp>
        <p:nvSpPr>
          <p:cNvPr id="6" name="TextBox 5">
            <a:extLst>
              <a:ext uri="{FF2B5EF4-FFF2-40B4-BE49-F238E27FC236}">
                <a16:creationId xmlns:a16="http://schemas.microsoft.com/office/drawing/2014/main" id="{E410A0F8-5E1E-9A1D-B64C-50827EE6C9B2}"/>
              </a:ext>
            </a:extLst>
          </p:cNvPr>
          <p:cNvSpPr txBox="1"/>
          <p:nvPr/>
        </p:nvSpPr>
        <p:spPr>
          <a:xfrm>
            <a:off x="1117600" y="2212340"/>
            <a:ext cx="10312400" cy="584775"/>
          </a:xfrm>
          <a:prstGeom prst="rect">
            <a:avLst/>
          </a:prstGeom>
          <a:noFill/>
        </p:spPr>
        <p:txBody>
          <a:bodyPr vert="horz" wrap="square" rtlCol="0">
            <a:spAutoFit/>
          </a:bodyPr>
          <a:lstStyle/>
          <a:p>
            <a:r>
              <a:rPr lang="en-US" sz="1600" b="1">
                <a:solidFill>
                  <a:srgbClr val="C00000"/>
                </a:solidFill>
              </a:rPr>
              <a:t>A study in which the units are assigned to treatments by chance rather than by judgement, and the response is then measured. The study creates the groups.</a:t>
            </a:r>
          </a:p>
        </p:txBody>
      </p:sp>
      <p:sp>
        <p:nvSpPr>
          <p:cNvPr id="7" name="TextBox 6">
            <a:extLst>
              <a:ext uri="{FF2B5EF4-FFF2-40B4-BE49-F238E27FC236}">
                <a16:creationId xmlns:a16="http://schemas.microsoft.com/office/drawing/2014/main" id="{47D3CD95-D52E-5227-B663-7C0A72677B6E}"/>
              </a:ext>
            </a:extLst>
          </p:cNvPr>
          <p:cNvSpPr txBox="1"/>
          <p:nvPr/>
        </p:nvSpPr>
        <p:spPr>
          <a:xfrm>
            <a:off x="762000" y="2974915"/>
            <a:ext cx="10668000" cy="345440"/>
          </a:xfrm>
          <a:prstGeom prst="rect">
            <a:avLst/>
          </a:prstGeom>
          <a:noFill/>
        </p:spPr>
        <p:txBody>
          <a:bodyPr vert="horz" wrap="square" rtlCol="0">
            <a:spAutoFit/>
          </a:bodyPr>
          <a:lstStyle/>
          <a:p>
            <a:pPr marL="304800" indent="-304800"/>
            <a:r>
              <a:rPr lang="en-US" sz="1600">
                <a:solidFill>
                  <a:srgbClr val="000000"/>
                </a:solidFill>
              </a:rPr>
              <a:t>Observational study</a:t>
            </a:r>
          </a:p>
        </p:txBody>
      </p:sp>
      <p:sp>
        <p:nvSpPr>
          <p:cNvPr id="8" name="TextBox 7">
            <a:extLst>
              <a:ext uri="{FF2B5EF4-FFF2-40B4-BE49-F238E27FC236}">
                <a16:creationId xmlns:a16="http://schemas.microsoft.com/office/drawing/2014/main" id="{1CE3E601-601D-C6B1-8265-C079CB8C9269}"/>
              </a:ext>
            </a:extLst>
          </p:cNvPr>
          <p:cNvSpPr txBox="1"/>
          <p:nvPr/>
        </p:nvSpPr>
        <p:spPr>
          <a:xfrm>
            <a:off x="1117600" y="3345755"/>
            <a:ext cx="10312400" cy="830997"/>
          </a:xfrm>
          <a:prstGeom prst="rect">
            <a:avLst/>
          </a:prstGeom>
          <a:noFill/>
        </p:spPr>
        <p:txBody>
          <a:bodyPr vert="horz" wrap="square" rtlCol="0">
            <a:spAutoFit/>
          </a:bodyPr>
          <a:lstStyle/>
          <a:p>
            <a:r>
              <a:rPr lang="en-US" sz="1600" b="1">
                <a:solidFill>
                  <a:srgbClr val="C00000"/>
                </a:solidFill>
              </a:rPr>
              <a:t>A study in which the explanatory and response variables are measured for each unit without trying to influence anything. The groups already exist, through the choices the units made, or through circumstance, and nothing is assigned.</a:t>
            </a:r>
          </a:p>
        </p:txBody>
      </p:sp>
      <p:sp>
        <p:nvSpPr>
          <p:cNvPr id="9" name="TextBox 8">
            <a:extLst>
              <a:ext uri="{FF2B5EF4-FFF2-40B4-BE49-F238E27FC236}">
                <a16:creationId xmlns:a16="http://schemas.microsoft.com/office/drawing/2014/main" id="{FB002BF4-8037-2F73-E27A-7A453477E389}"/>
              </a:ext>
            </a:extLst>
          </p:cNvPr>
          <p:cNvSpPr txBox="1"/>
          <p:nvPr/>
        </p:nvSpPr>
        <p:spPr>
          <a:xfrm>
            <a:off x="762000" y="4354552"/>
            <a:ext cx="10668000" cy="345440"/>
          </a:xfrm>
          <a:prstGeom prst="rect">
            <a:avLst/>
          </a:prstGeom>
          <a:noFill/>
        </p:spPr>
        <p:txBody>
          <a:bodyPr vert="horz" wrap="square" rtlCol="0">
            <a:spAutoFit/>
          </a:bodyPr>
          <a:lstStyle/>
          <a:p>
            <a:pPr marL="304800" indent="-304800"/>
            <a:r>
              <a:rPr lang="en-US" sz="1600">
                <a:solidFill>
                  <a:srgbClr val="000000"/>
                </a:solidFill>
              </a:rPr>
              <a:t>Survey</a:t>
            </a:r>
          </a:p>
        </p:txBody>
      </p:sp>
      <p:sp>
        <p:nvSpPr>
          <p:cNvPr id="10" name="TextBox 9">
            <a:extLst>
              <a:ext uri="{FF2B5EF4-FFF2-40B4-BE49-F238E27FC236}">
                <a16:creationId xmlns:a16="http://schemas.microsoft.com/office/drawing/2014/main" id="{10F3B3E3-D27C-E008-C93E-ED70BD2A4754}"/>
              </a:ext>
            </a:extLst>
          </p:cNvPr>
          <p:cNvSpPr txBox="1"/>
          <p:nvPr/>
        </p:nvSpPr>
        <p:spPr>
          <a:xfrm>
            <a:off x="1117600" y="4725392"/>
            <a:ext cx="10312400" cy="584775"/>
          </a:xfrm>
          <a:prstGeom prst="rect">
            <a:avLst/>
          </a:prstGeom>
          <a:noFill/>
        </p:spPr>
        <p:txBody>
          <a:bodyPr vert="horz" wrap="square" rtlCol="0">
            <a:spAutoFit/>
          </a:bodyPr>
          <a:lstStyle/>
          <a:p>
            <a:r>
              <a:rPr lang="en-US" sz="1600" b="1">
                <a:solidFill>
                  <a:srgbClr val="C00000"/>
                </a:solidFill>
              </a:rPr>
              <a:t>A study in which units are selected from a population and asked questions, in order to describe that population. A survey is generally a type of observational study - nothing is assigned.</a:t>
            </a:r>
          </a:p>
        </p:txBody>
      </p:sp>
      <p:sp>
        <p:nvSpPr>
          <p:cNvPr id="3" name="Title rule">
            <a:extLst>
              <a:ext uri="{FF2B5EF4-FFF2-40B4-BE49-F238E27FC236}">
                <a16:creationId xmlns:a16="http://schemas.microsoft.com/office/drawing/2014/main" id="{B469CAAB-2B69-6863-7C28-0C5959E5734B}"/>
              </a:ext>
            </a:extLst>
          </p:cNvPr>
          <p:cNvSpPr/>
          <p:nvPr/>
        </p:nvSpPr>
        <p:spPr>
          <a:xfrm>
            <a:off x="838200" y="1600200"/>
            <a:ext cx="10515600" cy="381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0958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from="(-#ppt_w/2)" to="(#ppt_x)" calcmode="lin" valueType="num">
                                      <p:cBhvr>
                                        <p:cTn id="7" dur="600" fill="hold">
                                          <p:stCondLst>
                                            <p:cond delay="0"/>
                                          </p:stCondLst>
                                        </p:cTn>
                                        <p:tgtEl>
                                          <p:spTgt spid="6"/>
                                        </p:tgtEl>
                                        <p:attrNameLst>
                                          <p:attrName>ppt_x</p:attrName>
                                        </p:attrNameLst>
                                      </p:cBhvr>
                                    </p:anim>
                                    <p:anim from="0" to="-1.0" calcmode="lin" valueType="num">
                                      <p:cBhvr>
                                        <p:cTn id="8" dur="200" decel="50000" autoRev="1" fill="hold">
                                          <p:stCondLst>
                                            <p:cond delay="600"/>
                                          </p:stCondLst>
                                        </p:cTn>
                                        <p:tgtEl>
                                          <p:spTgt spid="6"/>
                                        </p:tgtEl>
                                        <p:attrNameLst>
                                          <p:attrName>xshear</p:attrName>
                                        </p:attrNameLst>
                                      </p:cBhvr>
                                    </p:anim>
                                    <p:animScale>
                                      <p:cBhvr>
                                        <p:cTn id="9" dur="200" decel="100000" autoRev="1" fill="hold">
                                          <p:stCondLst>
                                            <p:cond delay="600"/>
                                          </p:stCondLst>
                                        </p:cTn>
                                        <p:tgtEl>
                                          <p:spTgt spid="6"/>
                                        </p:tgtEl>
                                      </p:cBhvr>
                                      <p:from x="100000" y="100000"/>
                                      <p:to x="80000" y="100000"/>
                                    </p:animScale>
                                    <p:anim by="(#ppt_h/3+#ppt_w*0.1)" calcmode="lin" valueType="num">
                                      <p:cBhvr additive="sum">
                                        <p:cTn id="10" dur="200" decel="100000" autoRev="1" fill="hold">
                                          <p:stCondLst>
                                            <p:cond delay="600"/>
                                          </p:stCondLst>
                                        </p:cTn>
                                        <p:tgtEl>
                                          <p:spTgt spid="6"/>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 from="(-#ppt_w/2)" to="(#ppt_x)" calcmode="lin" valueType="num">
                                      <p:cBhvr>
                                        <p:cTn id="15" dur="600" fill="hold">
                                          <p:stCondLst>
                                            <p:cond delay="0"/>
                                          </p:stCondLst>
                                        </p:cTn>
                                        <p:tgtEl>
                                          <p:spTgt spid="8"/>
                                        </p:tgtEl>
                                        <p:attrNameLst>
                                          <p:attrName>ppt_x</p:attrName>
                                        </p:attrNameLst>
                                      </p:cBhvr>
                                    </p:anim>
                                    <p:anim from="0" to="-1.0" calcmode="lin" valueType="num">
                                      <p:cBhvr>
                                        <p:cTn id="16" dur="200" decel="50000" autoRev="1" fill="hold">
                                          <p:stCondLst>
                                            <p:cond delay="600"/>
                                          </p:stCondLst>
                                        </p:cTn>
                                        <p:tgtEl>
                                          <p:spTgt spid="8"/>
                                        </p:tgtEl>
                                        <p:attrNameLst>
                                          <p:attrName>xshear</p:attrName>
                                        </p:attrNameLst>
                                      </p:cBhvr>
                                    </p:anim>
                                    <p:animScale>
                                      <p:cBhvr>
                                        <p:cTn id="17" dur="200" decel="100000" autoRev="1" fill="hold">
                                          <p:stCondLst>
                                            <p:cond delay="600"/>
                                          </p:stCondLst>
                                        </p:cTn>
                                        <p:tgtEl>
                                          <p:spTgt spid="8"/>
                                        </p:tgtEl>
                                      </p:cBhvr>
                                      <p:from x="100000" y="100000"/>
                                      <p:to x="80000" y="100000"/>
                                    </p:animScale>
                                    <p:anim by="(#ppt_h/3+#ppt_w*0.1)" calcmode="lin" valueType="num">
                                      <p:cBhvr additive="sum">
                                        <p:cTn id="18" dur="200" decel="100000" autoRev="1" fill="hold">
                                          <p:stCondLst>
                                            <p:cond delay="600"/>
                                          </p:stCondLst>
                                        </p:cTn>
                                        <p:tgtEl>
                                          <p:spTgt spid="8"/>
                                        </p:tgtEl>
                                        <p:attrNameLst>
                                          <p:attrName>ppt_x</p:attrName>
                                        </p:attrNameLst>
                                      </p:cBhvr>
                                    </p:anim>
                                  </p:childTnLst>
                                </p:cTn>
                              </p:par>
                            </p:childTnLst>
                          </p:cTn>
                        </p:par>
                      </p:childTnLst>
                    </p:cTn>
                  </p:par>
                  <p:par>
                    <p:cTn id="19" fill="hold">
                      <p:stCondLst>
                        <p:cond delay="indefinite"/>
                      </p:stCondLst>
                      <p:childTnLst>
                        <p:par>
                          <p:cTn id="20" fill="hold">
                            <p:stCondLst>
                              <p:cond delay="0"/>
                            </p:stCondLst>
                            <p:childTnLst>
                              <p:par>
                                <p:cTn id="21" presetID="34"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 from="(-#ppt_w/2)" to="(#ppt_x)" calcmode="lin" valueType="num">
                                      <p:cBhvr>
                                        <p:cTn id="23" dur="600" fill="hold">
                                          <p:stCondLst>
                                            <p:cond delay="0"/>
                                          </p:stCondLst>
                                        </p:cTn>
                                        <p:tgtEl>
                                          <p:spTgt spid="10"/>
                                        </p:tgtEl>
                                        <p:attrNameLst>
                                          <p:attrName>ppt_x</p:attrName>
                                        </p:attrNameLst>
                                      </p:cBhvr>
                                    </p:anim>
                                    <p:anim from="0" to="-1.0" calcmode="lin" valueType="num">
                                      <p:cBhvr>
                                        <p:cTn id="24" dur="200" decel="50000" autoRev="1" fill="hold">
                                          <p:stCondLst>
                                            <p:cond delay="600"/>
                                          </p:stCondLst>
                                        </p:cTn>
                                        <p:tgtEl>
                                          <p:spTgt spid="10"/>
                                        </p:tgtEl>
                                        <p:attrNameLst>
                                          <p:attrName>xshear</p:attrName>
                                        </p:attrNameLst>
                                      </p:cBhvr>
                                    </p:anim>
                                    <p:animScale>
                                      <p:cBhvr>
                                        <p:cTn id="25" dur="200" decel="100000" autoRev="1" fill="hold">
                                          <p:stCondLst>
                                            <p:cond delay="600"/>
                                          </p:stCondLst>
                                        </p:cTn>
                                        <p:tgtEl>
                                          <p:spTgt spid="10"/>
                                        </p:tgtEl>
                                      </p:cBhvr>
                                      <p:from x="100000" y="100000"/>
                                      <p:to x="80000" y="100000"/>
                                    </p:animScale>
                                    <p:anim by="(#ppt_h/3+#ppt_w*0.1)" calcmode="lin" valueType="num">
                                      <p:cBhvr additive="sum">
                                        <p:cTn id="26" dur="200" decel="100000" autoRev="1" fill="hold">
                                          <p:stCondLst>
                                            <p:cond delay="600"/>
                                          </p:stCondLst>
                                        </p:cTn>
                                        <p:tgtEl>
                                          <p:spTgt spid="10"/>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7AB41-6AD1-9EF2-7F95-46A904399681}"/>
              </a:ext>
            </a:extLst>
          </p:cNvPr>
          <p:cNvSpPr>
            <a:spLocks noGrp="1"/>
          </p:cNvSpPr>
          <p:nvPr>
            <p:ph type="title"/>
          </p:nvPr>
        </p:nvSpPr>
        <p:spPr/>
        <p:txBody>
          <a:bodyPr>
            <a:noAutofit/>
          </a:bodyPr>
          <a:lstStyle/>
          <a:p>
            <a:r>
              <a:rPr lang="en-US">
                <a:solidFill>
                  <a:srgbClr val="1F3864"/>
                </a:solidFill>
              </a:rPr>
              <a:t>What you should know: sampling designs</a:t>
            </a:r>
          </a:p>
        </p:txBody>
      </p:sp>
      <p:sp>
        <p:nvSpPr>
          <p:cNvPr id="4" name="Slide Number Placeholder 3">
            <a:extLst>
              <a:ext uri="{FF2B5EF4-FFF2-40B4-BE49-F238E27FC236}">
                <a16:creationId xmlns:a16="http://schemas.microsoft.com/office/drawing/2014/main" id="{97D44AE5-98B5-B840-6B8A-D345C7C2E2F0}"/>
              </a:ext>
            </a:extLst>
          </p:cNvPr>
          <p:cNvSpPr>
            <a:spLocks noGrp="1"/>
          </p:cNvSpPr>
          <p:nvPr>
            <p:ph type="sldNum" sz="quarter" idx="12"/>
          </p:nvPr>
        </p:nvSpPr>
        <p:spPr/>
        <p:txBody>
          <a:bodyPr/>
          <a:lstStyle/>
          <a:p>
            <a:fld id="{A80A81DD-F10A-4B1C-963A-0ABBB4865886}" type="slidenum">
              <a:rPr lang="en-US" sz="1600" smtClean="0"/>
              <a:t>15</a:t>
            </a:fld>
            <a:endParaRPr lang="en-US" sz="1600"/>
          </a:p>
        </p:txBody>
      </p:sp>
      <p:sp>
        <p:nvSpPr>
          <p:cNvPr id="5" name="TextBox 4">
            <a:extLst>
              <a:ext uri="{FF2B5EF4-FFF2-40B4-BE49-F238E27FC236}">
                <a16:creationId xmlns:a16="http://schemas.microsoft.com/office/drawing/2014/main" id="{A34AAE17-27CE-D7A3-C663-11BB48ACBF5B}"/>
              </a:ext>
            </a:extLst>
          </p:cNvPr>
          <p:cNvSpPr txBox="1"/>
          <p:nvPr/>
        </p:nvSpPr>
        <p:spPr>
          <a:xfrm>
            <a:off x="762000" y="1841500"/>
            <a:ext cx="10668000" cy="345440"/>
          </a:xfrm>
          <a:prstGeom prst="rect">
            <a:avLst/>
          </a:prstGeom>
          <a:noFill/>
        </p:spPr>
        <p:txBody>
          <a:bodyPr vert="horz" wrap="square" rtlCol="0">
            <a:spAutoFit/>
          </a:bodyPr>
          <a:lstStyle/>
          <a:p>
            <a:pPr marL="304800" indent="-304800"/>
            <a:r>
              <a:rPr lang="en-US" sz="1600">
                <a:solidFill>
                  <a:srgbClr val="000000"/>
                </a:solidFill>
              </a:rPr>
              <a:t>Simple random sample (SRS), and systematic sample</a:t>
            </a:r>
          </a:p>
        </p:txBody>
      </p:sp>
      <p:sp>
        <p:nvSpPr>
          <p:cNvPr id="6" name="TextBox 5">
            <a:extLst>
              <a:ext uri="{FF2B5EF4-FFF2-40B4-BE49-F238E27FC236}">
                <a16:creationId xmlns:a16="http://schemas.microsoft.com/office/drawing/2014/main" id="{E410A0F8-5E1E-9A1D-B64C-50827EE6C9B2}"/>
              </a:ext>
            </a:extLst>
          </p:cNvPr>
          <p:cNvSpPr txBox="1"/>
          <p:nvPr/>
        </p:nvSpPr>
        <p:spPr>
          <a:xfrm>
            <a:off x="1117600" y="2212340"/>
            <a:ext cx="10312400" cy="584775"/>
          </a:xfrm>
          <a:prstGeom prst="rect">
            <a:avLst/>
          </a:prstGeom>
          <a:noFill/>
        </p:spPr>
        <p:txBody>
          <a:bodyPr vert="horz" wrap="square" rtlCol="0">
            <a:spAutoFit/>
          </a:bodyPr>
          <a:lstStyle/>
          <a:p>
            <a:r>
              <a:rPr lang="en-US" sz="1600" b="1">
                <a:solidFill>
                  <a:srgbClr val="C00000"/>
                </a:solidFill>
              </a:rPr>
              <a:t>SRS: every possible sample of n units is equally likely. Systematic: choose a random starting point, then take every kth unit from the sampling frame.</a:t>
            </a:r>
          </a:p>
        </p:txBody>
      </p:sp>
      <p:sp>
        <p:nvSpPr>
          <p:cNvPr id="7" name="TextBox 6">
            <a:extLst>
              <a:ext uri="{FF2B5EF4-FFF2-40B4-BE49-F238E27FC236}">
                <a16:creationId xmlns:a16="http://schemas.microsoft.com/office/drawing/2014/main" id="{47D3CD95-D52E-5227-B663-7C0A72677B6E}"/>
              </a:ext>
            </a:extLst>
          </p:cNvPr>
          <p:cNvSpPr txBox="1"/>
          <p:nvPr/>
        </p:nvSpPr>
        <p:spPr>
          <a:xfrm>
            <a:off x="762000" y="2974915"/>
            <a:ext cx="10668000" cy="345440"/>
          </a:xfrm>
          <a:prstGeom prst="rect">
            <a:avLst/>
          </a:prstGeom>
          <a:noFill/>
        </p:spPr>
        <p:txBody>
          <a:bodyPr vert="horz" wrap="square" rtlCol="0">
            <a:spAutoFit/>
          </a:bodyPr>
          <a:lstStyle/>
          <a:p>
            <a:pPr marL="304800" indent="-304800"/>
            <a:r>
              <a:rPr lang="en-US" sz="1600">
                <a:solidFill>
                  <a:srgbClr val="000000"/>
                </a:solidFill>
              </a:rPr>
              <a:t>Stratified random sample, and cluster sample</a:t>
            </a:r>
          </a:p>
        </p:txBody>
      </p:sp>
      <p:sp>
        <p:nvSpPr>
          <p:cNvPr id="8" name="TextBox 7">
            <a:extLst>
              <a:ext uri="{FF2B5EF4-FFF2-40B4-BE49-F238E27FC236}">
                <a16:creationId xmlns:a16="http://schemas.microsoft.com/office/drawing/2014/main" id="{1CE3E601-601D-C6B1-8265-C079CB8C9269}"/>
              </a:ext>
            </a:extLst>
          </p:cNvPr>
          <p:cNvSpPr txBox="1"/>
          <p:nvPr/>
        </p:nvSpPr>
        <p:spPr>
          <a:xfrm>
            <a:off x="1117600" y="3345755"/>
            <a:ext cx="10312400" cy="830997"/>
          </a:xfrm>
          <a:prstGeom prst="rect">
            <a:avLst/>
          </a:prstGeom>
          <a:noFill/>
        </p:spPr>
        <p:txBody>
          <a:bodyPr vert="horz" wrap="square" rtlCol="0">
            <a:spAutoFit/>
          </a:bodyPr>
          <a:lstStyle/>
          <a:p>
            <a:r>
              <a:rPr lang="en-US" sz="1600" b="1">
                <a:solidFill>
                  <a:srgbClr val="C00000"/>
                </a:solidFill>
              </a:rPr>
              <a:t>Stratified: split the population into strata that are alike within, then draw an independent SRS from each one. Cluster: split it into clusters, each a mini-population, then randomly select whole clusters and measure everyone in them. A two-stage cluster sample then samples units inside the chosen clusters instead of taking all of them.</a:t>
            </a:r>
          </a:p>
        </p:txBody>
      </p:sp>
      <p:sp>
        <p:nvSpPr>
          <p:cNvPr id="9" name="TextBox 8">
            <a:extLst>
              <a:ext uri="{FF2B5EF4-FFF2-40B4-BE49-F238E27FC236}">
                <a16:creationId xmlns:a16="http://schemas.microsoft.com/office/drawing/2014/main" id="{FB002BF4-8037-2F73-E27A-7A453477E389}"/>
              </a:ext>
            </a:extLst>
          </p:cNvPr>
          <p:cNvSpPr txBox="1"/>
          <p:nvPr/>
        </p:nvSpPr>
        <p:spPr>
          <a:xfrm>
            <a:off x="762000" y="4354552"/>
            <a:ext cx="10668000" cy="345440"/>
          </a:xfrm>
          <a:prstGeom prst="rect">
            <a:avLst/>
          </a:prstGeom>
          <a:noFill/>
        </p:spPr>
        <p:txBody>
          <a:bodyPr vert="horz" wrap="square" rtlCol="0">
            <a:spAutoFit/>
          </a:bodyPr>
          <a:lstStyle/>
          <a:p>
            <a:pPr marL="304800" indent="-304800"/>
            <a:r>
              <a:rPr lang="en-US" sz="1600">
                <a:solidFill>
                  <a:srgbClr val="000000"/>
                </a:solidFill>
              </a:rPr>
              <a:t>Convenience sample, and voluntary response sample</a:t>
            </a:r>
          </a:p>
        </p:txBody>
      </p:sp>
      <p:sp>
        <p:nvSpPr>
          <p:cNvPr id="10" name="TextBox 9">
            <a:extLst>
              <a:ext uri="{FF2B5EF4-FFF2-40B4-BE49-F238E27FC236}">
                <a16:creationId xmlns:a16="http://schemas.microsoft.com/office/drawing/2014/main" id="{10F3B3E3-D27C-E008-C93E-ED70BD2A4754}"/>
              </a:ext>
            </a:extLst>
          </p:cNvPr>
          <p:cNvSpPr txBox="1"/>
          <p:nvPr/>
        </p:nvSpPr>
        <p:spPr>
          <a:xfrm>
            <a:off x="1117600" y="4725392"/>
            <a:ext cx="10312400" cy="584775"/>
          </a:xfrm>
          <a:prstGeom prst="rect">
            <a:avLst/>
          </a:prstGeom>
          <a:noFill/>
        </p:spPr>
        <p:txBody>
          <a:bodyPr vert="horz" wrap="square" rtlCol="0">
            <a:spAutoFit/>
          </a:bodyPr>
          <a:lstStyle/>
          <a:p>
            <a:r>
              <a:rPr lang="en-US" sz="1600" b="1">
                <a:solidFill>
                  <a:srgbClr val="C00000"/>
                </a:solidFill>
              </a:rPr>
              <a:t>Convenience: a sample of whoever is easiest to reach. Voluntary response: a sample of people who select themselves by responding. Neither is random, and both are biased no matter how large they get.</a:t>
            </a:r>
          </a:p>
        </p:txBody>
      </p:sp>
      <p:sp>
        <p:nvSpPr>
          <p:cNvPr id="3" name="Title rule">
            <a:extLst>
              <a:ext uri="{FF2B5EF4-FFF2-40B4-BE49-F238E27FC236}">
                <a16:creationId xmlns:a16="http://schemas.microsoft.com/office/drawing/2014/main" id="{B469CAAB-2B69-6863-7C28-0C5959E5734B}"/>
              </a:ext>
            </a:extLst>
          </p:cNvPr>
          <p:cNvSpPr/>
          <p:nvPr/>
        </p:nvSpPr>
        <p:spPr>
          <a:xfrm>
            <a:off x="838200" y="1600200"/>
            <a:ext cx="10515600" cy="381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7220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from="(-#ppt_w/2)" to="(#ppt_x)" calcmode="lin" valueType="num">
                                      <p:cBhvr>
                                        <p:cTn id="7" dur="600" fill="hold">
                                          <p:stCondLst>
                                            <p:cond delay="0"/>
                                          </p:stCondLst>
                                        </p:cTn>
                                        <p:tgtEl>
                                          <p:spTgt spid="6"/>
                                        </p:tgtEl>
                                        <p:attrNameLst>
                                          <p:attrName>ppt_x</p:attrName>
                                        </p:attrNameLst>
                                      </p:cBhvr>
                                    </p:anim>
                                    <p:anim from="0" to="-1.0" calcmode="lin" valueType="num">
                                      <p:cBhvr>
                                        <p:cTn id="8" dur="200" decel="50000" autoRev="1" fill="hold">
                                          <p:stCondLst>
                                            <p:cond delay="600"/>
                                          </p:stCondLst>
                                        </p:cTn>
                                        <p:tgtEl>
                                          <p:spTgt spid="6"/>
                                        </p:tgtEl>
                                        <p:attrNameLst>
                                          <p:attrName>xshear</p:attrName>
                                        </p:attrNameLst>
                                      </p:cBhvr>
                                    </p:anim>
                                    <p:animScale>
                                      <p:cBhvr>
                                        <p:cTn id="9" dur="200" decel="100000" autoRev="1" fill="hold">
                                          <p:stCondLst>
                                            <p:cond delay="600"/>
                                          </p:stCondLst>
                                        </p:cTn>
                                        <p:tgtEl>
                                          <p:spTgt spid="6"/>
                                        </p:tgtEl>
                                      </p:cBhvr>
                                      <p:from x="100000" y="100000"/>
                                      <p:to x="80000" y="100000"/>
                                    </p:animScale>
                                    <p:anim by="(#ppt_h/3+#ppt_w*0.1)" calcmode="lin" valueType="num">
                                      <p:cBhvr additive="sum">
                                        <p:cTn id="10" dur="200" decel="100000" autoRev="1" fill="hold">
                                          <p:stCondLst>
                                            <p:cond delay="600"/>
                                          </p:stCondLst>
                                        </p:cTn>
                                        <p:tgtEl>
                                          <p:spTgt spid="6"/>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 from="(-#ppt_w/2)" to="(#ppt_x)" calcmode="lin" valueType="num">
                                      <p:cBhvr>
                                        <p:cTn id="15" dur="600" fill="hold">
                                          <p:stCondLst>
                                            <p:cond delay="0"/>
                                          </p:stCondLst>
                                        </p:cTn>
                                        <p:tgtEl>
                                          <p:spTgt spid="8"/>
                                        </p:tgtEl>
                                        <p:attrNameLst>
                                          <p:attrName>ppt_x</p:attrName>
                                        </p:attrNameLst>
                                      </p:cBhvr>
                                    </p:anim>
                                    <p:anim from="0" to="-1.0" calcmode="lin" valueType="num">
                                      <p:cBhvr>
                                        <p:cTn id="16" dur="200" decel="50000" autoRev="1" fill="hold">
                                          <p:stCondLst>
                                            <p:cond delay="600"/>
                                          </p:stCondLst>
                                        </p:cTn>
                                        <p:tgtEl>
                                          <p:spTgt spid="8"/>
                                        </p:tgtEl>
                                        <p:attrNameLst>
                                          <p:attrName>xshear</p:attrName>
                                        </p:attrNameLst>
                                      </p:cBhvr>
                                    </p:anim>
                                    <p:animScale>
                                      <p:cBhvr>
                                        <p:cTn id="17" dur="200" decel="100000" autoRev="1" fill="hold">
                                          <p:stCondLst>
                                            <p:cond delay="600"/>
                                          </p:stCondLst>
                                        </p:cTn>
                                        <p:tgtEl>
                                          <p:spTgt spid="8"/>
                                        </p:tgtEl>
                                      </p:cBhvr>
                                      <p:from x="100000" y="100000"/>
                                      <p:to x="80000" y="100000"/>
                                    </p:animScale>
                                    <p:anim by="(#ppt_h/3+#ppt_w*0.1)" calcmode="lin" valueType="num">
                                      <p:cBhvr additive="sum">
                                        <p:cTn id="18" dur="200" decel="100000" autoRev="1" fill="hold">
                                          <p:stCondLst>
                                            <p:cond delay="600"/>
                                          </p:stCondLst>
                                        </p:cTn>
                                        <p:tgtEl>
                                          <p:spTgt spid="8"/>
                                        </p:tgtEl>
                                        <p:attrNameLst>
                                          <p:attrName>ppt_x</p:attrName>
                                        </p:attrNameLst>
                                      </p:cBhvr>
                                    </p:anim>
                                  </p:childTnLst>
                                </p:cTn>
                              </p:par>
                            </p:childTnLst>
                          </p:cTn>
                        </p:par>
                      </p:childTnLst>
                    </p:cTn>
                  </p:par>
                  <p:par>
                    <p:cTn id="19" fill="hold">
                      <p:stCondLst>
                        <p:cond delay="indefinite"/>
                      </p:stCondLst>
                      <p:childTnLst>
                        <p:par>
                          <p:cTn id="20" fill="hold">
                            <p:stCondLst>
                              <p:cond delay="0"/>
                            </p:stCondLst>
                            <p:childTnLst>
                              <p:par>
                                <p:cTn id="21" presetID="34"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 from="(-#ppt_w/2)" to="(#ppt_x)" calcmode="lin" valueType="num">
                                      <p:cBhvr>
                                        <p:cTn id="23" dur="600" fill="hold">
                                          <p:stCondLst>
                                            <p:cond delay="0"/>
                                          </p:stCondLst>
                                        </p:cTn>
                                        <p:tgtEl>
                                          <p:spTgt spid="10"/>
                                        </p:tgtEl>
                                        <p:attrNameLst>
                                          <p:attrName>ppt_x</p:attrName>
                                        </p:attrNameLst>
                                      </p:cBhvr>
                                    </p:anim>
                                    <p:anim from="0" to="-1.0" calcmode="lin" valueType="num">
                                      <p:cBhvr>
                                        <p:cTn id="24" dur="200" decel="50000" autoRev="1" fill="hold">
                                          <p:stCondLst>
                                            <p:cond delay="600"/>
                                          </p:stCondLst>
                                        </p:cTn>
                                        <p:tgtEl>
                                          <p:spTgt spid="10"/>
                                        </p:tgtEl>
                                        <p:attrNameLst>
                                          <p:attrName>xshear</p:attrName>
                                        </p:attrNameLst>
                                      </p:cBhvr>
                                    </p:anim>
                                    <p:animScale>
                                      <p:cBhvr>
                                        <p:cTn id="25" dur="200" decel="100000" autoRev="1" fill="hold">
                                          <p:stCondLst>
                                            <p:cond delay="600"/>
                                          </p:stCondLst>
                                        </p:cTn>
                                        <p:tgtEl>
                                          <p:spTgt spid="10"/>
                                        </p:tgtEl>
                                      </p:cBhvr>
                                      <p:from x="100000" y="100000"/>
                                      <p:to x="80000" y="100000"/>
                                    </p:animScale>
                                    <p:anim by="(#ppt_h/3+#ppt_w*0.1)" calcmode="lin" valueType="num">
                                      <p:cBhvr additive="sum">
                                        <p:cTn id="26" dur="200" decel="100000" autoRev="1" fill="hold">
                                          <p:stCondLst>
                                            <p:cond delay="600"/>
                                          </p:stCondLst>
                                        </p:cTn>
                                        <p:tgtEl>
                                          <p:spTgt spid="10"/>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7AB41-6AD1-9EF2-7F95-46A904399681}"/>
              </a:ext>
            </a:extLst>
          </p:cNvPr>
          <p:cNvSpPr>
            <a:spLocks noGrp="1"/>
          </p:cNvSpPr>
          <p:nvPr>
            <p:ph type="title"/>
          </p:nvPr>
        </p:nvSpPr>
        <p:spPr/>
        <p:txBody>
          <a:bodyPr>
            <a:noAutofit/>
          </a:bodyPr>
          <a:lstStyle/>
          <a:p>
            <a:r>
              <a:rPr lang="en-US">
                <a:solidFill>
                  <a:srgbClr val="1F3864"/>
                </a:solidFill>
              </a:rPr>
              <a:t>What you should know: experimental designs</a:t>
            </a:r>
          </a:p>
        </p:txBody>
      </p:sp>
      <p:sp>
        <p:nvSpPr>
          <p:cNvPr id="4" name="Slide Number Placeholder 3">
            <a:extLst>
              <a:ext uri="{FF2B5EF4-FFF2-40B4-BE49-F238E27FC236}">
                <a16:creationId xmlns:a16="http://schemas.microsoft.com/office/drawing/2014/main" id="{97D44AE5-98B5-B840-6B8A-D345C7C2E2F0}"/>
              </a:ext>
            </a:extLst>
          </p:cNvPr>
          <p:cNvSpPr>
            <a:spLocks noGrp="1"/>
          </p:cNvSpPr>
          <p:nvPr>
            <p:ph type="sldNum" sz="quarter" idx="12"/>
          </p:nvPr>
        </p:nvSpPr>
        <p:spPr/>
        <p:txBody>
          <a:bodyPr/>
          <a:lstStyle/>
          <a:p>
            <a:fld id="{A80A81DD-F10A-4B1C-963A-0ABBB4865886}" type="slidenum">
              <a:rPr lang="en-US" sz="1600" smtClean="0"/>
              <a:t>16</a:t>
            </a:fld>
            <a:endParaRPr lang="en-US" sz="1600"/>
          </a:p>
        </p:txBody>
      </p:sp>
      <p:sp>
        <p:nvSpPr>
          <p:cNvPr id="5" name="TextBox 4">
            <a:extLst>
              <a:ext uri="{FF2B5EF4-FFF2-40B4-BE49-F238E27FC236}">
                <a16:creationId xmlns:a16="http://schemas.microsoft.com/office/drawing/2014/main" id="{A34AAE17-27CE-D7A3-C663-11BB48ACBF5B}"/>
              </a:ext>
            </a:extLst>
          </p:cNvPr>
          <p:cNvSpPr txBox="1"/>
          <p:nvPr/>
        </p:nvSpPr>
        <p:spPr>
          <a:xfrm>
            <a:off x="762000" y="1841500"/>
            <a:ext cx="10668000" cy="345440"/>
          </a:xfrm>
          <a:prstGeom prst="rect">
            <a:avLst/>
          </a:prstGeom>
          <a:noFill/>
        </p:spPr>
        <p:txBody>
          <a:bodyPr vert="horz" wrap="square" rtlCol="0">
            <a:spAutoFit/>
          </a:bodyPr>
          <a:lstStyle/>
          <a:p>
            <a:pPr marL="304800" indent="-304800"/>
            <a:r>
              <a:rPr lang="en-US" sz="1600">
                <a:solidFill>
                  <a:srgbClr val="000000"/>
                </a:solidFill>
              </a:rPr>
              <a:t>Completely randomized design</a:t>
            </a:r>
          </a:p>
        </p:txBody>
      </p:sp>
      <p:sp>
        <p:nvSpPr>
          <p:cNvPr id="6" name="TextBox 5">
            <a:extLst>
              <a:ext uri="{FF2B5EF4-FFF2-40B4-BE49-F238E27FC236}">
                <a16:creationId xmlns:a16="http://schemas.microsoft.com/office/drawing/2014/main" id="{E410A0F8-5E1E-9A1D-B64C-50827EE6C9B2}"/>
              </a:ext>
            </a:extLst>
          </p:cNvPr>
          <p:cNvSpPr txBox="1"/>
          <p:nvPr/>
        </p:nvSpPr>
        <p:spPr>
          <a:xfrm>
            <a:off x="1117600" y="2212340"/>
            <a:ext cx="10312400" cy="345440"/>
          </a:xfrm>
          <a:prstGeom prst="rect">
            <a:avLst/>
          </a:prstGeom>
          <a:noFill/>
        </p:spPr>
        <p:txBody>
          <a:bodyPr vert="horz" wrap="square" rtlCol="0">
            <a:spAutoFit/>
          </a:bodyPr>
          <a:lstStyle/>
          <a:p>
            <a:r>
              <a:rPr lang="en-US" sz="1600" b="1">
                <a:solidFill>
                  <a:srgbClr val="C00000"/>
                </a:solidFill>
              </a:rPr>
              <a:t>Every experimental unit is assigned to a treatment completely at random. The simplest design.</a:t>
            </a:r>
          </a:p>
        </p:txBody>
      </p:sp>
      <p:sp>
        <p:nvSpPr>
          <p:cNvPr id="7" name="TextBox 6">
            <a:extLst>
              <a:ext uri="{FF2B5EF4-FFF2-40B4-BE49-F238E27FC236}">
                <a16:creationId xmlns:a16="http://schemas.microsoft.com/office/drawing/2014/main" id="{47D3CD95-D52E-5227-B663-7C0A72677B6E}"/>
              </a:ext>
            </a:extLst>
          </p:cNvPr>
          <p:cNvSpPr txBox="1"/>
          <p:nvPr/>
        </p:nvSpPr>
        <p:spPr>
          <a:xfrm>
            <a:off x="762000" y="2735580"/>
            <a:ext cx="10668000" cy="345440"/>
          </a:xfrm>
          <a:prstGeom prst="rect">
            <a:avLst/>
          </a:prstGeom>
          <a:noFill/>
        </p:spPr>
        <p:txBody>
          <a:bodyPr vert="horz" wrap="square" rtlCol="0">
            <a:spAutoFit/>
          </a:bodyPr>
          <a:lstStyle/>
          <a:p>
            <a:pPr marL="304800" indent="-304800"/>
            <a:r>
              <a:rPr lang="en-US" sz="1600">
                <a:solidFill>
                  <a:srgbClr val="000000"/>
                </a:solidFill>
              </a:rPr>
              <a:t>Randomized block design</a:t>
            </a:r>
          </a:p>
        </p:txBody>
      </p:sp>
      <p:sp>
        <p:nvSpPr>
          <p:cNvPr id="8" name="TextBox 7">
            <a:extLst>
              <a:ext uri="{FF2B5EF4-FFF2-40B4-BE49-F238E27FC236}">
                <a16:creationId xmlns:a16="http://schemas.microsoft.com/office/drawing/2014/main" id="{1CE3E601-601D-C6B1-8265-C079CB8C9269}"/>
              </a:ext>
            </a:extLst>
          </p:cNvPr>
          <p:cNvSpPr txBox="1"/>
          <p:nvPr/>
        </p:nvSpPr>
        <p:spPr>
          <a:xfrm>
            <a:off x="1117600" y="3106420"/>
            <a:ext cx="10312400" cy="584775"/>
          </a:xfrm>
          <a:prstGeom prst="rect">
            <a:avLst/>
          </a:prstGeom>
          <a:noFill/>
        </p:spPr>
        <p:txBody>
          <a:bodyPr vert="horz" wrap="square" rtlCol="0">
            <a:spAutoFit/>
          </a:bodyPr>
          <a:lstStyle/>
          <a:p>
            <a:r>
              <a:rPr lang="en-US" sz="1600" b="1">
                <a:solidFill>
                  <a:srgbClr val="C00000"/>
                </a:solidFill>
              </a:rPr>
              <a:t>Units are first grouped into blocks that are alike in a way expected to affect the response, and the random assignment is then carried out separately within each block. Blocking is to experiments what stratifying is to sampling.</a:t>
            </a:r>
          </a:p>
        </p:txBody>
      </p:sp>
      <p:sp>
        <p:nvSpPr>
          <p:cNvPr id="9" name="TextBox 8">
            <a:extLst>
              <a:ext uri="{FF2B5EF4-FFF2-40B4-BE49-F238E27FC236}">
                <a16:creationId xmlns:a16="http://schemas.microsoft.com/office/drawing/2014/main" id="{FB002BF4-8037-2F73-E27A-7A453477E389}"/>
              </a:ext>
            </a:extLst>
          </p:cNvPr>
          <p:cNvSpPr txBox="1"/>
          <p:nvPr/>
        </p:nvSpPr>
        <p:spPr>
          <a:xfrm>
            <a:off x="762000" y="3868995"/>
            <a:ext cx="10668000" cy="345440"/>
          </a:xfrm>
          <a:prstGeom prst="rect">
            <a:avLst/>
          </a:prstGeom>
          <a:noFill/>
        </p:spPr>
        <p:txBody>
          <a:bodyPr vert="horz" wrap="square" rtlCol="0">
            <a:spAutoFit/>
          </a:bodyPr>
          <a:lstStyle/>
          <a:p>
            <a:pPr marL="304800" indent="-304800"/>
            <a:r>
              <a:rPr lang="en-US" sz="1600">
                <a:solidFill>
                  <a:srgbClr val="000000"/>
                </a:solidFill>
              </a:rPr>
              <a:t>Matched pairs design</a:t>
            </a:r>
          </a:p>
        </p:txBody>
      </p:sp>
      <p:sp>
        <p:nvSpPr>
          <p:cNvPr id="10" name="TextBox 9">
            <a:extLst>
              <a:ext uri="{FF2B5EF4-FFF2-40B4-BE49-F238E27FC236}">
                <a16:creationId xmlns:a16="http://schemas.microsoft.com/office/drawing/2014/main" id="{10F3B3E3-D27C-E008-C93E-ED70BD2A4754}"/>
              </a:ext>
            </a:extLst>
          </p:cNvPr>
          <p:cNvSpPr txBox="1"/>
          <p:nvPr/>
        </p:nvSpPr>
        <p:spPr>
          <a:xfrm>
            <a:off x="1117600" y="4239835"/>
            <a:ext cx="10312400" cy="584775"/>
          </a:xfrm>
          <a:prstGeom prst="rect">
            <a:avLst/>
          </a:prstGeom>
          <a:noFill/>
        </p:spPr>
        <p:txBody>
          <a:bodyPr vert="horz" wrap="square" rtlCol="0">
            <a:spAutoFit/>
          </a:bodyPr>
          <a:lstStyle/>
          <a:p>
            <a:r>
              <a:rPr lang="en-US" sz="1600" b="1">
                <a:solidFill>
                  <a:srgbClr val="C00000"/>
                </a:solidFill>
              </a:rPr>
              <a:t>A block design in which each block is a pair of very similar units, such as twins or two adjacent plots - or a single subject who receives both treatments in a random order.</a:t>
            </a:r>
          </a:p>
        </p:txBody>
      </p:sp>
      <p:sp>
        <p:nvSpPr>
          <p:cNvPr id="3" name="Title rule">
            <a:extLst>
              <a:ext uri="{FF2B5EF4-FFF2-40B4-BE49-F238E27FC236}">
                <a16:creationId xmlns:a16="http://schemas.microsoft.com/office/drawing/2014/main" id="{B469CAAB-2B69-6863-7C28-0C5959E5734B}"/>
              </a:ext>
            </a:extLst>
          </p:cNvPr>
          <p:cNvSpPr/>
          <p:nvPr/>
        </p:nvSpPr>
        <p:spPr>
          <a:xfrm>
            <a:off x="838200" y="1600200"/>
            <a:ext cx="10515600" cy="381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8865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from="(-#ppt_w/2)" to="(#ppt_x)" calcmode="lin" valueType="num">
                                      <p:cBhvr>
                                        <p:cTn id="7" dur="600" fill="hold">
                                          <p:stCondLst>
                                            <p:cond delay="0"/>
                                          </p:stCondLst>
                                        </p:cTn>
                                        <p:tgtEl>
                                          <p:spTgt spid="6"/>
                                        </p:tgtEl>
                                        <p:attrNameLst>
                                          <p:attrName>ppt_x</p:attrName>
                                        </p:attrNameLst>
                                      </p:cBhvr>
                                    </p:anim>
                                    <p:anim from="0" to="-1.0" calcmode="lin" valueType="num">
                                      <p:cBhvr>
                                        <p:cTn id="8" dur="200" decel="50000" autoRev="1" fill="hold">
                                          <p:stCondLst>
                                            <p:cond delay="600"/>
                                          </p:stCondLst>
                                        </p:cTn>
                                        <p:tgtEl>
                                          <p:spTgt spid="6"/>
                                        </p:tgtEl>
                                        <p:attrNameLst>
                                          <p:attrName>xshear</p:attrName>
                                        </p:attrNameLst>
                                      </p:cBhvr>
                                    </p:anim>
                                    <p:animScale>
                                      <p:cBhvr>
                                        <p:cTn id="9" dur="200" decel="100000" autoRev="1" fill="hold">
                                          <p:stCondLst>
                                            <p:cond delay="600"/>
                                          </p:stCondLst>
                                        </p:cTn>
                                        <p:tgtEl>
                                          <p:spTgt spid="6"/>
                                        </p:tgtEl>
                                      </p:cBhvr>
                                      <p:from x="100000" y="100000"/>
                                      <p:to x="80000" y="100000"/>
                                    </p:animScale>
                                    <p:anim by="(#ppt_h/3+#ppt_w*0.1)" calcmode="lin" valueType="num">
                                      <p:cBhvr additive="sum">
                                        <p:cTn id="10" dur="200" decel="100000" autoRev="1" fill="hold">
                                          <p:stCondLst>
                                            <p:cond delay="600"/>
                                          </p:stCondLst>
                                        </p:cTn>
                                        <p:tgtEl>
                                          <p:spTgt spid="6"/>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 from="(-#ppt_w/2)" to="(#ppt_x)" calcmode="lin" valueType="num">
                                      <p:cBhvr>
                                        <p:cTn id="15" dur="600" fill="hold">
                                          <p:stCondLst>
                                            <p:cond delay="0"/>
                                          </p:stCondLst>
                                        </p:cTn>
                                        <p:tgtEl>
                                          <p:spTgt spid="8"/>
                                        </p:tgtEl>
                                        <p:attrNameLst>
                                          <p:attrName>ppt_x</p:attrName>
                                        </p:attrNameLst>
                                      </p:cBhvr>
                                    </p:anim>
                                    <p:anim from="0" to="-1.0" calcmode="lin" valueType="num">
                                      <p:cBhvr>
                                        <p:cTn id="16" dur="200" decel="50000" autoRev="1" fill="hold">
                                          <p:stCondLst>
                                            <p:cond delay="600"/>
                                          </p:stCondLst>
                                        </p:cTn>
                                        <p:tgtEl>
                                          <p:spTgt spid="8"/>
                                        </p:tgtEl>
                                        <p:attrNameLst>
                                          <p:attrName>xshear</p:attrName>
                                        </p:attrNameLst>
                                      </p:cBhvr>
                                    </p:anim>
                                    <p:animScale>
                                      <p:cBhvr>
                                        <p:cTn id="17" dur="200" decel="100000" autoRev="1" fill="hold">
                                          <p:stCondLst>
                                            <p:cond delay="600"/>
                                          </p:stCondLst>
                                        </p:cTn>
                                        <p:tgtEl>
                                          <p:spTgt spid="8"/>
                                        </p:tgtEl>
                                      </p:cBhvr>
                                      <p:from x="100000" y="100000"/>
                                      <p:to x="80000" y="100000"/>
                                    </p:animScale>
                                    <p:anim by="(#ppt_h/3+#ppt_w*0.1)" calcmode="lin" valueType="num">
                                      <p:cBhvr additive="sum">
                                        <p:cTn id="18" dur="200" decel="100000" autoRev="1" fill="hold">
                                          <p:stCondLst>
                                            <p:cond delay="600"/>
                                          </p:stCondLst>
                                        </p:cTn>
                                        <p:tgtEl>
                                          <p:spTgt spid="8"/>
                                        </p:tgtEl>
                                        <p:attrNameLst>
                                          <p:attrName>ppt_x</p:attrName>
                                        </p:attrNameLst>
                                      </p:cBhvr>
                                    </p:anim>
                                  </p:childTnLst>
                                </p:cTn>
                              </p:par>
                            </p:childTnLst>
                          </p:cTn>
                        </p:par>
                      </p:childTnLst>
                    </p:cTn>
                  </p:par>
                  <p:par>
                    <p:cTn id="19" fill="hold">
                      <p:stCondLst>
                        <p:cond delay="indefinite"/>
                      </p:stCondLst>
                      <p:childTnLst>
                        <p:par>
                          <p:cTn id="20" fill="hold">
                            <p:stCondLst>
                              <p:cond delay="0"/>
                            </p:stCondLst>
                            <p:childTnLst>
                              <p:par>
                                <p:cTn id="21" presetID="34"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 from="(-#ppt_w/2)" to="(#ppt_x)" calcmode="lin" valueType="num">
                                      <p:cBhvr>
                                        <p:cTn id="23" dur="600" fill="hold">
                                          <p:stCondLst>
                                            <p:cond delay="0"/>
                                          </p:stCondLst>
                                        </p:cTn>
                                        <p:tgtEl>
                                          <p:spTgt spid="10"/>
                                        </p:tgtEl>
                                        <p:attrNameLst>
                                          <p:attrName>ppt_x</p:attrName>
                                        </p:attrNameLst>
                                      </p:cBhvr>
                                    </p:anim>
                                    <p:anim from="0" to="-1.0" calcmode="lin" valueType="num">
                                      <p:cBhvr>
                                        <p:cTn id="24" dur="200" decel="50000" autoRev="1" fill="hold">
                                          <p:stCondLst>
                                            <p:cond delay="600"/>
                                          </p:stCondLst>
                                        </p:cTn>
                                        <p:tgtEl>
                                          <p:spTgt spid="10"/>
                                        </p:tgtEl>
                                        <p:attrNameLst>
                                          <p:attrName>xshear</p:attrName>
                                        </p:attrNameLst>
                                      </p:cBhvr>
                                    </p:anim>
                                    <p:animScale>
                                      <p:cBhvr>
                                        <p:cTn id="25" dur="200" decel="100000" autoRev="1" fill="hold">
                                          <p:stCondLst>
                                            <p:cond delay="600"/>
                                          </p:stCondLst>
                                        </p:cTn>
                                        <p:tgtEl>
                                          <p:spTgt spid="10"/>
                                        </p:tgtEl>
                                      </p:cBhvr>
                                      <p:from x="100000" y="100000"/>
                                      <p:to x="80000" y="100000"/>
                                    </p:animScale>
                                    <p:anim by="(#ppt_h/3+#ppt_w*0.1)" calcmode="lin" valueType="num">
                                      <p:cBhvr additive="sum">
                                        <p:cTn id="26" dur="200" decel="100000" autoRev="1" fill="hold">
                                          <p:stCondLst>
                                            <p:cond delay="600"/>
                                          </p:stCondLst>
                                        </p:cTn>
                                        <p:tgtEl>
                                          <p:spTgt spid="10"/>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7AB41-6AD1-9EF2-7F95-46A904399681}"/>
              </a:ext>
            </a:extLst>
          </p:cNvPr>
          <p:cNvSpPr>
            <a:spLocks noGrp="1"/>
          </p:cNvSpPr>
          <p:nvPr>
            <p:ph type="title"/>
          </p:nvPr>
        </p:nvSpPr>
        <p:spPr/>
        <p:txBody>
          <a:bodyPr>
            <a:noAutofit/>
          </a:bodyPr>
          <a:lstStyle/>
          <a:p>
            <a:r>
              <a:rPr lang="en-US">
                <a:solidFill>
                  <a:srgbClr val="1F3864"/>
                </a:solidFill>
              </a:rPr>
              <a:t>What you should know: terminology</a:t>
            </a:r>
          </a:p>
        </p:txBody>
      </p:sp>
      <p:sp>
        <p:nvSpPr>
          <p:cNvPr id="4" name="Slide Number Placeholder 3">
            <a:extLst>
              <a:ext uri="{FF2B5EF4-FFF2-40B4-BE49-F238E27FC236}">
                <a16:creationId xmlns:a16="http://schemas.microsoft.com/office/drawing/2014/main" id="{97D44AE5-98B5-B840-6B8A-D345C7C2E2F0}"/>
              </a:ext>
            </a:extLst>
          </p:cNvPr>
          <p:cNvSpPr>
            <a:spLocks noGrp="1"/>
          </p:cNvSpPr>
          <p:nvPr>
            <p:ph type="sldNum" sz="quarter" idx="12"/>
          </p:nvPr>
        </p:nvSpPr>
        <p:spPr/>
        <p:txBody>
          <a:bodyPr/>
          <a:lstStyle/>
          <a:p>
            <a:fld id="{A80A81DD-F10A-4B1C-963A-0ABBB4865886}" type="slidenum">
              <a:rPr lang="en-US" sz="1600" smtClean="0"/>
              <a:t>17</a:t>
            </a:fld>
            <a:endParaRPr lang="en-US" sz="1600"/>
          </a:p>
        </p:txBody>
      </p:sp>
      <p:sp>
        <p:nvSpPr>
          <p:cNvPr id="5" name="TextBox 4">
            <a:extLst>
              <a:ext uri="{FF2B5EF4-FFF2-40B4-BE49-F238E27FC236}">
                <a16:creationId xmlns:a16="http://schemas.microsoft.com/office/drawing/2014/main" id="{A34AAE17-27CE-D7A3-C663-11BB48ACBF5B}"/>
              </a:ext>
            </a:extLst>
          </p:cNvPr>
          <p:cNvSpPr txBox="1"/>
          <p:nvPr/>
        </p:nvSpPr>
        <p:spPr>
          <a:xfrm>
            <a:off x="762000" y="1841500"/>
            <a:ext cx="10668000" cy="345440"/>
          </a:xfrm>
          <a:prstGeom prst="rect">
            <a:avLst/>
          </a:prstGeom>
          <a:noFill/>
        </p:spPr>
        <p:txBody>
          <a:bodyPr vert="horz" wrap="square" rtlCol="0">
            <a:spAutoFit/>
          </a:bodyPr>
          <a:lstStyle/>
          <a:p>
            <a:pPr marL="304800" indent="-304800"/>
            <a:r>
              <a:rPr lang="en-US" sz="1600">
                <a:solidFill>
                  <a:srgbClr val="000000"/>
                </a:solidFill>
              </a:rPr>
              <a:t>The language of an experiment</a:t>
            </a:r>
          </a:p>
        </p:txBody>
      </p:sp>
      <p:sp>
        <p:nvSpPr>
          <p:cNvPr id="6" name="TextBox 5">
            <a:extLst>
              <a:ext uri="{FF2B5EF4-FFF2-40B4-BE49-F238E27FC236}">
                <a16:creationId xmlns:a16="http://schemas.microsoft.com/office/drawing/2014/main" id="{E410A0F8-5E1E-9A1D-B64C-50827EE6C9B2}"/>
              </a:ext>
            </a:extLst>
          </p:cNvPr>
          <p:cNvSpPr txBox="1"/>
          <p:nvPr/>
        </p:nvSpPr>
        <p:spPr>
          <a:xfrm>
            <a:off x="1117600" y="2212340"/>
            <a:ext cx="10312400" cy="345440"/>
          </a:xfrm>
          <a:prstGeom prst="rect">
            <a:avLst/>
          </a:prstGeom>
          <a:noFill/>
        </p:spPr>
        <p:txBody>
          <a:bodyPr vert="horz" wrap="square" rtlCol="0">
            <a:spAutoFit/>
          </a:bodyPr>
          <a:lstStyle/>
          <a:p>
            <a:r>
              <a:rPr lang="en-US" sz="1600" b="1">
                <a:solidFill>
                  <a:srgbClr val="C00000"/>
                </a:solidFill>
              </a:rPr>
              <a:t>Experimental units, the factor, its levels, the treatments, the control group, a placebo, blinding and double blinding.</a:t>
            </a:r>
          </a:p>
        </p:txBody>
      </p:sp>
      <p:sp>
        <p:nvSpPr>
          <p:cNvPr id="7" name="TextBox 6">
            <a:extLst>
              <a:ext uri="{FF2B5EF4-FFF2-40B4-BE49-F238E27FC236}">
                <a16:creationId xmlns:a16="http://schemas.microsoft.com/office/drawing/2014/main" id="{47D3CD95-D52E-5227-B663-7C0A72677B6E}"/>
              </a:ext>
            </a:extLst>
          </p:cNvPr>
          <p:cNvSpPr txBox="1"/>
          <p:nvPr/>
        </p:nvSpPr>
        <p:spPr>
          <a:xfrm>
            <a:off x="762000" y="2735580"/>
            <a:ext cx="10668000" cy="345440"/>
          </a:xfrm>
          <a:prstGeom prst="rect">
            <a:avLst/>
          </a:prstGeom>
          <a:noFill/>
        </p:spPr>
        <p:txBody>
          <a:bodyPr vert="horz" wrap="square" rtlCol="0">
            <a:spAutoFit/>
          </a:bodyPr>
          <a:lstStyle/>
          <a:p>
            <a:pPr marL="304800" indent="-304800"/>
            <a:r>
              <a:rPr lang="en-US" sz="1600">
                <a:solidFill>
                  <a:srgbClr val="000000"/>
                </a:solidFill>
              </a:rPr>
              <a:t>Association is not causation</a:t>
            </a:r>
          </a:p>
        </p:txBody>
      </p:sp>
      <p:sp>
        <p:nvSpPr>
          <p:cNvPr id="8" name="TextBox 7">
            <a:extLst>
              <a:ext uri="{FF2B5EF4-FFF2-40B4-BE49-F238E27FC236}">
                <a16:creationId xmlns:a16="http://schemas.microsoft.com/office/drawing/2014/main" id="{1CE3E601-601D-C6B1-8265-C079CB8C9269}"/>
              </a:ext>
            </a:extLst>
          </p:cNvPr>
          <p:cNvSpPr txBox="1"/>
          <p:nvPr/>
        </p:nvSpPr>
        <p:spPr>
          <a:xfrm>
            <a:off x="1117600" y="3106420"/>
            <a:ext cx="10312400" cy="584775"/>
          </a:xfrm>
          <a:prstGeom prst="rect">
            <a:avLst/>
          </a:prstGeom>
          <a:noFill/>
        </p:spPr>
        <p:txBody>
          <a:bodyPr vert="horz" wrap="square" rtlCol="0">
            <a:spAutoFit/>
          </a:bodyPr>
          <a:lstStyle/>
          <a:p>
            <a:r>
              <a:rPr lang="en-US" sz="1600" b="1">
                <a:solidFill>
                  <a:srgbClr val="C00000"/>
                </a:solidFill>
              </a:rPr>
              <a:t>A lurking variable is associated with both the explanatory and the response variable, and can produce an association where there is no causal link.</a:t>
            </a:r>
          </a:p>
        </p:txBody>
      </p:sp>
      <p:sp>
        <p:nvSpPr>
          <p:cNvPr id="9" name="TextBox 8">
            <a:extLst>
              <a:ext uri="{FF2B5EF4-FFF2-40B4-BE49-F238E27FC236}">
                <a16:creationId xmlns:a16="http://schemas.microsoft.com/office/drawing/2014/main" id="{FB002BF4-8037-2F73-E27A-7A453477E389}"/>
              </a:ext>
            </a:extLst>
          </p:cNvPr>
          <p:cNvSpPr txBox="1"/>
          <p:nvPr/>
        </p:nvSpPr>
        <p:spPr>
          <a:xfrm>
            <a:off x="762000" y="3868995"/>
            <a:ext cx="10668000" cy="345440"/>
          </a:xfrm>
          <a:prstGeom prst="rect">
            <a:avLst/>
          </a:prstGeom>
          <a:noFill/>
        </p:spPr>
        <p:txBody>
          <a:bodyPr vert="horz" wrap="square" rtlCol="0">
            <a:spAutoFit/>
          </a:bodyPr>
          <a:lstStyle/>
          <a:p>
            <a:pPr marL="304800" indent="-304800"/>
            <a:r>
              <a:rPr lang="en-US" sz="1600">
                <a:solidFill>
                  <a:srgbClr val="000000"/>
                </a:solidFill>
              </a:rPr>
              <a:t>The two things randomness buys you</a:t>
            </a:r>
          </a:p>
        </p:txBody>
      </p:sp>
      <p:sp>
        <p:nvSpPr>
          <p:cNvPr id="10" name="TextBox 9">
            <a:extLst>
              <a:ext uri="{FF2B5EF4-FFF2-40B4-BE49-F238E27FC236}">
                <a16:creationId xmlns:a16="http://schemas.microsoft.com/office/drawing/2014/main" id="{10F3B3E3-D27C-E008-C93E-ED70BD2A4754}"/>
              </a:ext>
            </a:extLst>
          </p:cNvPr>
          <p:cNvSpPr txBox="1"/>
          <p:nvPr/>
        </p:nvSpPr>
        <p:spPr>
          <a:xfrm>
            <a:off x="1117600" y="4239835"/>
            <a:ext cx="10312400" cy="584775"/>
          </a:xfrm>
          <a:prstGeom prst="rect">
            <a:avLst/>
          </a:prstGeom>
          <a:noFill/>
        </p:spPr>
        <p:txBody>
          <a:bodyPr vert="horz" wrap="square" rtlCol="0">
            <a:spAutoFit/>
          </a:bodyPr>
          <a:lstStyle/>
          <a:p>
            <a:r>
              <a:rPr lang="en-US" sz="1600" b="1">
                <a:solidFill>
                  <a:srgbClr val="C00000"/>
                </a:solidFill>
              </a:rPr>
              <a:t>Random sampling lets you generalize to the population. Random assignment lets you claim cause. A bigger sample shrinks sampling error, but it never removes bias.</a:t>
            </a:r>
          </a:p>
        </p:txBody>
      </p:sp>
      <p:sp>
        <p:nvSpPr>
          <p:cNvPr id="3" name="Title rule">
            <a:extLst>
              <a:ext uri="{FF2B5EF4-FFF2-40B4-BE49-F238E27FC236}">
                <a16:creationId xmlns:a16="http://schemas.microsoft.com/office/drawing/2014/main" id="{B469CAAB-2B69-6863-7C28-0C5959E5734B}"/>
              </a:ext>
            </a:extLst>
          </p:cNvPr>
          <p:cNvSpPr/>
          <p:nvPr/>
        </p:nvSpPr>
        <p:spPr>
          <a:xfrm>
            <a:off x="838200" y="1600200"/>
            <a:ext cx="10515600" cy="381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115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from="(-#ppt_w/2)" to="(#ppt_x)" calcmode="lin" valueType="num">
                                      <p:cBhvr>
                                        <p:cTn id="7" dur="600" fill="hold">
                                          <p:stCondLst>
                                            <p:cond delay="0"/>
                                          </p:stCondLst>
                                        </p:cTn>
                                        <p:tgtEl>
                                          <p:spTgt spid="6"/>
                                        </p:tgtEl>
                                        <p:attrNameLst>
                                          <p:attrName>ppt_x</p:attrName>
                                        </p:attrNameLst>
                                      </p:cBhvr>
                                    </p:anim>
                                    <p:anim from="0" to="-1.0" calcmode="lin" valueType="num">
                                      <p:cBhvr>
                                        <p:cTn id="8" dur="200" decel="50000" autoRev="1" fill="hold">
                                          <p:stCondLst>
                                            <p:cond delay="600"/>
                                          </p:stCondLst>
                                        </p:cTn>
                                        <p:tgtEl>
                                          <p:spTgt spid="6"/>
                                        </p:tgtEl>
                                        <p:attrNameLst>
                                          <p:attrName>xshear</p:attrName>
                                        </p:attrNameLst>
                                      </p:cBhvr>
                                    </p:anim>
                                    <p:animScale>
                                      <p:cBhvr>
                                        <p:cTn id="9" dur="200" decel="100000" autoRev="1" fill="hold">
                                          <p:stCondLst>
                                            <p:cond delay="600"/>
                                          </p:stCondLst>
                                        </p:cTn>
                                        <p:tgtEl>
                                          <p:spTgt spid="6"/>
                                        </p:tgtEl>
                                      </p:cBhvr>
                                      <p:from x="100000" y="100000"/>
                                      <p:to x="80000" y="100000"/>
                                    </p:animScale>
                                    <p:anim by="(#ppt_h/3+#ppt_w*0.1)" calcmode="lin" valueType="num">
                                      <p:cBhvr additive="sum">
                                        <p:cTn id="10" dur="200" decel="100000" autoRev="1" fill="hold">
                                          <p:stCondLst>
                                            <p:cond delay="600"/>
                                          </p:stCondLst>
                                        </p:cTn>
                                        <p:tgtEl>
                                          <p:spTgt spid="6"/>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 from="(-#ppt_w/2)" to="(#ppt_x)" calcmode="lin" valueType="num">
                                      <p:cBhvr>
                                        <p:cTn id="15" dur="600" fill="hold">
                                          <p:stCondLst>
                                            <p:cond delay="0"/>
                                          </p:stCondLst>
                                        </p:cTn>
                                        <p:tgtEl>
                                          <p:spTgt spid="8"/>
                                        </p:tgtEl>
                                        <p:attrNameLst>
                                          <p:attrName>ppt_x</p:attrName>
                                        </p:attrNameLst>
                                      </p:cBhvr>
                                    </p:anim>
                                    <p:anim from="0" to="-1.0" calcmode="lin" valueType="num">
                                      <p:cBhvr>
                                        <p:cTn id="16" dur="200" decel="50000" autoRev="1" fill="hold">
                                          <p:stCondLst>
                                            <p:cond delay="600"/>
                                          </p:stCondLst>
                                        </p:cTn>
                                        <p:tgtEl>
                                          <p:spTgt spid="8"/>
                                        </p:tgtEl>
                                        <p:attrNameLst>
                                          <p:attrName>xshear</p:attrName>
                                        </p:attrNameLst>
                                      </p:cBhvr>
                                    </p:anim>
                                    <p:animScale>
                                      <p:cBhvr>
                                        <p:cTn id="17" dur="200" decel="100000" autoRev="1" fill="hold">
                                          <p:stCondLst>
                                            <p:cond delay="600"/>
                                          </p:stCondLst>
                                        </p:cTn>
                                        <p:tgtEl>
                                          <p:spTgt spid="8"/>
                                        </p:tgtEl>
                                      </p:cBhvr>
                                      <p:from x="100000" y="100000"/>
                                      <p:to x="80000" y="100000"/>
                                    </p:animScale>
                                    <p:anim by="(#ppt_h/3+#ppt_w*0.1)" calcmode="lin" valueType="num">
                                      <p:cBhvr additive="sum">
                                        <p:cTn id="18" dur="200" decel="100000" autoRev="1" fill="hold">
                                          <p:stCondLst>
                                            <p:cond delay="600"/>
                                          </p:stCondLst>
                                        </p:cTn>
                                        <p:tgtEl>
                                          <p:spTgt spid="8"/>
                                        </p:tgtEl>
                                        <p:attrNameLst>
                                          <p:attrName>ppt_x</p:attrName>
                                        </p:attrNameLst>
                                      </p:cBhvr>
                                    </p:anim>
                                  </p:childTnLst>
                                </p:cTn>
                              </p:par>
                            </p:childTnLst>
                          </p:cTn>
                        </p:par>
                      </p:childTnLst>
                    </p:cTn>
                  </p:par>
                  <p:par>
                    <p:cTn id="19" fill="hold">
                      <p:stCondLst>
                        <p:cond delay="indefinite"/>
                      </p:stCondLst>
                      <p:childTnLst>
                        <p:par>
                          <p:cTn id="20" fill="hold">
                            <p:stCondLst>
                              <p:cond delay="0"/>
                            </p:stCondLst>
                            <p:childTnLst>
                              <p:par>
                                <p:cTn id="21" presetID="34"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 from="(-#ppt_w/2)" to="(#ppt_x)" calcmode="lin" valueType="num">
                                      <p:cBhvr>
                                        <p:cTn id="23" dur="600" fill="hold">
                                          <p:stCondLst>
                                            <p:cond delay="0"/>
                                          </p:stCondLst>
                                        </p:cTn>
                                        <p:tgtEl>
                                          <p:spTgt spid="10"/>
                                        </p:tgtEl>
                                        <p:attrNameLst>
                                          <p:attrName>ppt_x</p:attrName>
                                        </p:attrNameLst>
                                      </p:cBhvr>
                                    </p:anim>
                                    <p:anim from="0" to="-1.0" calcmode="lin" valueType="num">
                                      <p:cBhvr>
                                        <p:cTn id="24" dur="200" decel="50000" autoRev="1" fill="hold">
                                          <p:stCondLst>
                                            <p:cond delay="600"/>
                                          </p:stCondLst>
                                        </p:cTn>
                                        <p:tgtEl>
                                          <p:spTgt spid="10"/>
                                        </p:tgtEl>
                                        <p:attrNameLst>
                                          <p:attrName>xshear</p:attrName>
                                        </p:attrNameLst>
                                      </p:cBhvr>
                                    </p:anim>
                                    <p:animScale>
                                      <p:cBhvr>
                                        <p:cTn id="25" dur="200" decel="100000" autoRev="1" fill="hold">
                                          <p:stCondLst>
                                            <p:cond delay="600"/>
                                          </p:stCondLst>
                                        </p:cTn>
                                        <p:tgtEl>
                                          <p:spTgt spid="10"/>
                                        </p:tgtEl>
                                      </p:cBhvr>
                                      <p:from x="100000" y="100000"/>
                                      <p:to x="80000" y="100000"/>
                                    </p:animScale>
                                    <p:anim by="(#ppt_h/3+#ppt_w*0.1)" calcmode="lin" valueType="num">
                                      <p:cBhvr additive="sum">
                                        <p:cTn id="26" dur="200" decel="100000" autoRev="1" fill="hold">
                                          <p:stCondLst>
                                            <p:cond delay="600"/>
                                          </p:stCondLst>
                                        </p:cTn>
                                        <p:tgtEl>
                                          <p:spTgt spid="10"/>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D30B1-1864-30EF-7EAB-9BEE656C0012}"/>
              </a:ext>
            </a:extLst>
          </p:cNvPr>
          <p:cNvSpPr>
            <a:spLocks noGrp="1"/>
          </p:cNvSpPr>
          <p:nvPr>
            <p:ph type="title"/>
          </p:nvPr>
        </p:nvSpPr>
        <p:spPr/>
        <p:txBody>
          <a:bodyPr>
            <a:noAutofit/>
          </a:bodyPr>
          <a:lstStyle/>
          <a:p>
            <a:r>
              <a:rPr lang="en-US">
                <a:solidFill>
                  <a:srgbClr val="1F3864"/>
                </a:solidFill>
              </a:rPr>
              <a:t>Which one is further from typical?</a:t>
            </a:r>
          </a:p>
        </p:txBody>
      </p:sp>
      <p:sp>
        <p:nvSpPr>
          <p:cNvPr id="4" name="Slide Number Placeholder 3">
            <a:extLst>
              <a:ext uri="{FF2B5EF4-FFF2-40B4-BE49-F238E27FC236}">
                <a16:creationId xmlns:a16="http://schemas.microsoft.com/office/drawing/2014/main" id="{3F875068-D051-44AE-498E-1BEBEDE3A7C8}"/>
              </a:ext>
            </a:extLst>
          </p:cNvPr>
          <p:cNvSpPr>
            <a:spLocks noGrp="1"/>
          </p:cNvSpPr>
          <p:nvPr>
            <p:ph type="sldNum" sz="quarter" idx="12"/>
          </p:nvPr>
        </p:nvSpPr>
        <p:spPr/>
        <p:txBody>
          <a:bodyPr/>
          <a:lstStyle/>
          <a:p>
            <a:fld id="{A80A81DD-F10A-4B1C-963A-0ABBB4865886}" type="slidenum">
              <a:rPr lang="en-US" sz="1600" smtClean="0"/>
              <a:t>18</a:t>
            </a:fld>
            <a:endParaRPr lang="en-US" sz="1600"/>
          </a:p>
        </p:txBody>
      </p:sp>
      <p:sp>
        <p:nvSpPr>
          <p:cNvPr id="5" name="TextBox 4">
            <a:extLst>
              <a:ext uri="{FF2B5EF4-FFF2-40B4-BE49-F238E27FC236}">
                <a16:creationId xmlns:a16="http://schemas.microsoft.com/office/drawing/2014/main" id="{0F4C9AC6-4D0C-1228-AAA9-21B804DFEE48}"/>
              </a:ext>
            </a:extLst>
          </p:cNvPr>
          <p:cNvSpPr txBox="1"/>
          <p:nvPr/>
        </p:nvSpPr>
        <p:spPr>
          <a:xfrm>
            <a:off x="762000" y="1905000"/>
            <a:ext cx="10668000" cy="2123658"/>
          </a:xfrm>
          <a:prstGeom prst="rect">
            <a:avLst/>
          </a:prstGeom>
          <a:noFill/>
        </p:spPr>
        <p:txBody>
          <a:bodyPr vert="horz" wrap="square" rtlCol="0">
            <a:spAutoFit/>
          </a:bodyPr>
          <a:lstStyle/>
          <a:p>
            <a:pPr>
              <a:spcAft>
                <a:spcPts val="800"/>
              </a:spcAft>
            </a:pPr>
            <a:r>
              <a:rPr lang="en-US" sz="1600">
                <a:solidFill>
                  <a:srgbClr val="000000"/>
                </a:solidFill>
              </a:rPr>
              <a:t>So far “far from the center” has been measured in whatever units we happened to be using - points, grams, milligrams. Here are two deviations, each from a different variable:</a:t>
            </a:r>
          </a:p>
          <a:p>
            <a:pPr>
              <a:spcAft>
                <a:spcPts val="800"/>
              </a:spcAft>
            </a:pPr>
            <a:r>
              <a:rPr lang="en-US" sz="1600">
                <a:solidFill>
                  <a:srgbClr val="000000"/>
                </a:solidFill>
              </a:rPr>
              <a:t>A student scores 86 on an exam. The class mean was 74 and the standard deviation was 8 points, so she is 12 points above the mean.</a:t>
            </a:r>
          </a:p>
          <a:p>
            <a:pPr>
              <a:spcAft>
                <a:spcPts val="800"/>
              </a:spcAft>
            </a:pPr>
            <a:r>
              <a:rPr lang="en-US" sz="1600">
                <a:solidFill>
                  <a:srgbClr val="000000"/>
                </a:solidFill>
              </a:rPr>
              <a:t>Rice Krispies has 290 mg of sodium. Across the twenty cereals from Week 3 the mean was 167 mg and the standard deviation about 77 mg, so it is 123 mg above the mean.</a:t>
            </a:r>
          </a:p>
          <a:p>
            <a:pPr>
              <a:spcAft>
                <a:spcPts val="800"/>
              </a:spcAft>
            </a:pPr>
            <a:r>
              <a:rPr lang="en-US" sz="1600" b="1">
                <a:solidFill>
                  <a:srgbClr val="1F3864"/>
                </a:solidFill>
              </a:rPr>
              <a:t>123 is more than ten times 12. Is Rice Krispies ten times as unusual as the student?</a:t>
            </a:r>
          </a:p>
        </p:txBody>
      </p:sp>
      <p:sp>
        <p:nvSpPr>
          <p:cNvPr id="6" name="Rectangle: Rounded Corners 5">
            <a:extLst>
              <a:ext uri="{FF2B5EF4-FFF2-40B4-BE49-F238E27FC236}">
                <a16:creationId xmlns:a16="http://schemas.microsoft.com/office/drawing/2014/main" id="{430B310F-DAC4-4E75-0390-F480FCCED58F}"/>
              </a:ext>
            </a:extLst>
          </p:cNvPr>
          <p:cNvSpPr/>
          <p:nvPr/>
        </p:nvSpPr>
        <p:spPr>
          <a:xfrm>
            <a:off x="762000" y="4257258"/>
            <a:ext cx="10668000" cy="1411784"/>
          </a:xfrm>
          <a:prstGeom prst="roundRect">
            <a:avLst>
              <a:gd name="adj" fmla="val 4000"/>
            </a:avLst>
          </a:prstGeom>
          <a:solidFill>
            <a:srgbClr val="F2F6FC"/>
          </a:solidFill>
          <a:ln w="15875">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76200" rIns="152400" bIns="76200" rtlCol="0" anchor="ctr">
            <a:spAutoFit/>
          </a:bodyPr>
          <a:lstStyle/>
          <a:p>
            <a:r>
              <a:rPr lang="en-US" sz="1600" b="1">
                <a:solidFill>
                  <a:srgbClr val="C00000"/>
                </a:solidFill>
              </a:rPr>
              <a:t>No - and as it stands the question has no answer at all.</a:t>
            </a:r>
          </a:p>
          <a:p>
            <a:r>
              <a:rPr lang="en-US" sz="1600">
                <a:solidFill>
                  <a:srgbClr val="000000"/>
                </a:solidFill>
              </a:rPr>
              <a:t>Points and milligrams are not the same scale, so the two deviations cannot be compared while they still carry their units. Divide each one by the standard deviation of its own variable and they can be: the student is 12 / 8 = 1.5 standard deviations above her mean, and Rice Krispies is 123 / 77 = 1.6 above its own. More than ten times the deviation in raw numbers, and almost exactly the same distance from typical.</a:t>
            </a:r>
          </a:p>
        </p:txBody>
      </p:sp>
      <p:sp>
        <p:nvSpPr>
          <p:cNvPr id="7" name="TextBox 6">
            <a:extLst>
              <a:ext uri="{FF2B5EF4-FFF2-40B4-BE49-F238E27FC236}">
                <a16:creationId xmlns:a16="http://schemas.microsoft.com/office/drawing/2014/main" id="{79606FF6-2B22-36E5-8DCE-A56C8CF16F63}"/>
              </a:ext>
            </a:extLst>
          </p:cNvPr>
          <p:cNvSpPr txBox="1"/>
          <p:nvPr/>
        </p:nvSpPr>
        <p:spPr>
          <a:xfrm>
            <a:off x="762000" y="5821442"/>
            <a:ext cx="10668000" cy="345440"/>
          </a:xfrm>
          <a:prstGeom prst="rect">
            <a:avLst/>
          </a:prstGeom>
          <a:noFill/>
        </p:spPr>
        <p:txBody>
          <a:bodyPr vert="horz" wrap="square" rtlCol="0">
            <a:spAutoFit/>
          </a:bodyPr>
          <a:lstStyle/>
          <a:p>
            <a:r>
              <a:rPr lang="en-US" sz="1600" i="1">
                <a:solidFill>
                  <a:srgbClr val="595959"/>
                </a:solidFill>
              </a:rPr>
              <a:t>So: stop measuring a distance in the original units, and measure it in standard deviations instead.</a:t>
            </a:r>
          </a:p>
        </p:txBody>
      </p:sp>
      <p:sp>
        <p:nvSpPr>
          <p:cNvPr id="3" name="Title rule">
            <a:extLst>
              <a:ext uri="{FF2B5EF4-FFF2-40B4-BE49-F238E27FC236}">
                <a16:creationId xmlns:a16="http://schemas.microsoft.com/office/drawing/2014/main" id="{30656AA8-9645-F028-C769-A313710853CC}"/>
              </a:ext>
            </a:extLst>
          </p:cNvPr>
          <p:cNvSpPr/>
          <p:nvPr/>
        </p:nvSpPr>
        <p:spPr>
          <a:xfrm>
            <a:off x="838200" y="1600200"/>
            <a:ext cx="10515600" cy="381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2415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from="(-#ppt_w/2)" to="(#ppt_x)" calcmode="lin" valueType="num">
                                      <p:cBhvr>
                                        <p:cTn id="7" dur="600" fill="hold">
                                          <p:stCondLst>
                                            <p:cond delay="0"/>
                                          </p:stCondLst>
                                        </p:cTn>
                                        <p:tgtEl>
                                          <p:spTgt spid="6"/>
                                        </p:tgtEl>
                                        <p:attrNameLst>
                                          <p:attrName>ppt_x</p:attrName>
                                        </p:attrNameLst>
                                      </p:cBhvr>
                                    </p:anim>
                                    <p:anim from="0" to="-1.0" calcmode="lin" valueType="num">
                                      <p:cBhvr>
                                        <p:cTn id="8" dur="200" decel="50000" autoRev="1" fill="hold">
                                          <p:stCondLst>
                                            <p:cond delay="600"/>
                                          </p:stCondLst>
                                        </p:cTn>
                                        <p:tgtEl>
                                          <p:spTgt spid="6"/>
                                        </p:tgtEl>
                                        <p:attrNameLst>
                                          <p:attrName>xshear</p:attrName>
                                        </p:attrNameLst>
                                      </p:cBhvr>
                                    </p:anim>
                                    <p:animScale>
                                      <p:cBhvr>
                                        <p:cTn id="9" dur="200" decel="100000" autoRev="1" fill="hold">
                                          <p:stCondLst>
                                            <p:cond delay="600"/>
                                          </p:stCondLst>
                                        </p:cTn>
                                        <p:tgtEl>
                                          <p:spTgt spid="6"/>
                                        </p:tgtEl>
                                      </p:cBhvr>
                                      <p:from x="100000" y="100000"/>
                                      <p:to x="80000" y="100000"/>
                                    </p:animScale>
                                    <p:anim by="(#ppt_h/3+#ppt_w*0.1)" calcmode="lin" valueType="num">
                                      <p:cBhvr additive="sum">
                                        <p:cTn id="10" dur="200" decel="100000" autoRev="1" fill="hold">
                                          <p:stCondLst>
                                            <p:cond delay="600"/>
                                          </p:stCondLst>
                                        </p:cTn>
                                        <p:tgtEl>
                                          <p:spTgt spid="6"/>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825F3-CA5C-D321-A12F-235D7E6C102E}"/>
              </a:ext>
            </a:extLst>
          </p:cNvPr>
          <p:cNvSpPr>
            <a:spLocks noGrp="1"/>
          </p:cNvSpPr>
          <p:nvPr>
            <p:ph type="title"/>
          </p:nvPr>
        </p:nvSpPr>
        <p:spPr/>
        <p:txBody>
          <a:bodyPr>
            <a:noAutofit/>
          </a:bodyPr>
          <a:lstStyle/>
          <a:p>
            <a:r>
              <a:rPr lang="en-US">
                <a:solidFill>
                  <a:srgbClr val="1F3864"/>
                </a:solidFill>
              </a:rPr>
              <a:t>Measuring a deviation in standard deviations</a:t>
            </a:r>
          </a:p>
        </p:txBody>
      </p:sp>
      <p:sp>
        <p:nvSpPr>
          <p:cNvPr id="4" name="Slide Number Placeholder 3">
            <a:extLst>
              <a:ext uri="{FF2B5EF4-FFF2-40B4-BE49-F238E27FC236}">
                <a16:creationId xmlns:a16="http://schemas.microsoft.com/office/drawing/2014/main" id="{632F5803-1B77-5AE0-EEB8-17B8E3F9722A}"/>
              </a:ext>
            </a:extLst>
          </p:cNvPr>
          <p:cNvSpPr>
            <a:spLocks noGrp="1"/>
          </p:cNvSpPr>
          <p:nvPr>
            <p:ph type="sldNum" sz="quarter" idx="12"/>
          </p:nvPr>
        </p:nvSpPr>
        <p:spPr/>
        <p:txBody>
          <a:bodyPr/>
          <a:lstStyle/>
          <a:p>
            <a:fld id="{A80A81DD-F10A-4B1C-963A-0ABBB4865886}" type="slidenum">
              <a:rPr lang="en-US" sz="1600" smtClean="0"/>
              <a:t>19</a:t>
            </a:fld>
            <a:endParaRPr lang="en-US" sz="1600"/>
          </a:p>
        </p:txBody>
      </p:sp>
      <p:sp>
        <p:nvSpPr>
          <p:cNvPr id="5" name="TextBox 4">
            <a:extLst>
              <a:ext uri="{FF2B5EF4-FFF2-40B4-BE49-F238E27FC236}">
                <a16:creationId xmlns:a16="http://schemas.microsoft.com/office/drawing/2014/main" id="{F2C3E119-33DB-B84A-C9CB-1DA41099D1A1}"/>
              </a:ext>
            </a:extLst>
          </p:cNvPr>
          <p:cNvSpPr txBox="1"/>
          <p:nvPr/>
        </p:nvSpPr>
        <p:spPr>
          <a:xfrm>
            <a:off x="762000" y="1841500"/>
            <a:ext cx="3175000" cy="345440"/>
          </a:xfrm>
          <a:prstGeom prst="rect">
            <a:avLst/>
          </a:prstGeom>
          <a:noFill/>
        </p:spPr>
        <p:txBody>
          <a:bodyPr vert="horz" wrap="square" rtlCol="0">
            <a:spAutoFit/>
          </a:bodyPr>
          <a:lstStyle/>
          <a:p>
            <a:r>
              <a:rPr lang="en-US" sz="1600" b="1">
                <a:solidFill>
                  <a:srgbClr val="C00000"/>
                </a:solidFill>
              </a:rPr>
              <a:t>How unusual is Raisin Bran?</a:t>
            </a:r>
          </a:p>
        </p:txBody>
      </p:sp>
      <p:sp>
        <p:nvSpPr>
          <p:cNvPr id="6" name="TextBox 5">
            <a:extLst>
              <a:ext uri="{FF2B5EF4-FFF2-40B4-BE49-F238E27FC236}">
                <a16:creationId xmlns:a16="http://schemas.microsoft.com/office/drawing/2014/main" id="{377D380C-8635-8A53-300D-33D0068157E3}"/>
              </a:ext>
            </a:extLst>
          </p:cNvPr>
          <p:cNvSpPr txBox="1"/>
          <p:nvPr/>
        </p:nvSpPr>
        <p:spPr>
          <a:xfrm>
            <a:off x="4038600" y="1841499"/>
            <a:ext cx="7391400" cy="1077218"/>
          </a:xfrm>
          <a:prstGeom prst="rect">
            <a:avLst/>
          </a:prstGeom>
          <a:noFill/>
        </p:spPr>
        <p:txBody>
          <a:bodyPr vert="horz" wrap="square" rtlCol="0">
            <a:spAutoFit/>
          </a:bodyPr>
          <a:lstStyle/>
          <a:p>
            <a:r>
              <a:rPr lang="en-US" sz="1600">
                <a:solidFill>
                  <a:srgbClr val="000000"/>
                </a:solidFill>
              </a:rPr>
              <a:t>340 - 167 = 173 mg above the mean, and s is about 77 mg, so the deviation is 173 / 77 = 2.25 standard deviations. Raisin Bran has far more sodium than most of these cereals.</a:t>
            </a:r>
          </a:p>
          <a:p>
            <a:r>
              <a:rPr lang="en-US" sz="1600" i="1">
                <a:solidFill>
                  <a:srgbClr val="000000"/>
                </a:solidFill>
              </a:rPr>
              <a:t>A deviation divided by the standard deviation is called a z-score:    z = (x - x̄) / s</a:t>
            </a:r>
          </a:p>
        </p:txBody>
      </p:sp>
      <p:sp>
        <p:nvSpPr>
          <p:cNvPr id="9" name="TextBox 8">
            <a:extLst>
              <a:ext uri="{FF2B5EF4-FFF2-40B4-BE49-F238E27FC236}">
                <a16:creationId xmlns:a16="http://schemas.microsoft.com/office/drawing/2014/main" id="{854AE21D-EF44-4EB5-7BCB-35F9FA4BF6CF}"/>
              </a:ext>
            </a:extLst>
          </p:cNvPr>
          <p:cNvSpPr txBox="1"/>
          <p:nvPr/>
        </p:nvSpPr>
        <p:spPr>
          <a:xfrm>
            <a:off x="762000" y="5827017"/>
            <a:ext cx="10668000" cy="584775"/>
          </a:xfrm>
          <a:prstGeom prst="rect">
            <a:avLst/>
          </a:prstGeom>
          <a:noFill/>
        </p:spPr>
        <p:txBody>
          <a:bodyPr vert="horz" wrap="square" rtlCol="0">
            <a:spAutoFit/>
          </a:bodyPr>
          <a:lstStyle/>
          <a:p>
            <a:r>
              <a:rPr lang="en-US" sz="1600">
                <a:solidFill>
                  <a:srgbClr val="000000"/>
                </a:solidFill>
              </a:rPr>
              <a:t>A cereal at z = 2.25 and a student at z = 2.25 are equally unusual within their own distributions, even though one is milligrams and the other is exam points</a:t>
            </a:r>
          </a:p>
        </p:txBody>
      </p:sp>
      <p:sp>
        <p:nvSpPr>
          <p:cNvPr id="3" name="Title rule">
            <a:extLst>
              <a:ext uri="{FF2B5EF4-FFF2-40B4-BE49-F238E27FC236}">
                <a16:creationId xmlns:a16="http://schemas.microsoft.com/office/drawing/2014/main" id="{784C6B91-DD86-0BA1-4A71-C454C38471E5}"/>
              </a:ext>
            </a:extLst>
          </p:cNvPr>
          <p:cNvSpPr/>
          <p:nvPr/>
        </p:nvSpPr>
        <p:spPr>
          <a:xfrm>
            <a:off x="838200" y="1600200"/>
            <a:ext cx="10515600" cy="381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l11_cereal_sodium.png">
            <a:extLst>
              <a:ext uri="{FF2B5EF4-FFF2-40B4-BE49-F238E27FC236}">
                <a16:creationId xmlns:a16="http://schemas.microsoft.com/office/drawing/2014/main" id="{C9E8205D-2943-F307-6BCE-0235550DCC7B}"/>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762000" y="3096517"/>
            <a:ext cx="10668000" cy="2603500"/>
          </a:xfrm>
          <a:prstGeom prst="rect">
            <a:avLst/>
          </a:prstGeom>
        </p:spPr>
      </p:pic>
    </p:spTree>
    <p:extLst>
      <p:ext uri="{BB962C8B-B14F-4D97-AF65-F5344CB8AC3E}">
        <p14:creationId xmlns:p14="http://schemas.microsoft.com/office/powerpoint/2010/main" val="2385101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from="(-#ppt_w/2)" to="(#ppt_x)" calcmode="lin" valueType="num">
                                      <p:cBhvr>
                                        <p:cTn id="7" dur="600" fill="hold">
                                          <p:stCondLst>
                                            <p:cond delay="0"/>
                                          </p:stCondLst>
                                        </p:cTn>
                                        <p:tgtEl>
                                          <p:spTgt spid="6"/>
                                        </p:tgtEl>
                                        <p:attrNameLst>
                                          <p:attrName>ppt_x</p:attrName>
                                        </p:attrNameLst>
                                      </p:cBhvr>
                                    </p:anim>
                                    <p:anim from="0" to="-1.0" calcmode="lin" valueType="num">
                                      <p:cBhvr>
                                        <p:cTn id="8" dur="200" decel="50000" autoRev="1" fill="hold">
                                          <p:stCondLst>
                                            <p:cond delay="600"/>
                                          </p:stCondLst>
                                        </p:cTn>
                                        <p:tgtEl>
                                          <p:spTgt spid="6"/>
                                        </p:tgtEl>
                                        <p:attrNameLst>
                                          <p:attrName>xshear</p:attrName>
                                        </p:attrNameLst>
                                      </p:cBhvr>
                                    </p:anim>
                                    <p:animScale>
                                      <p:cBhvr>
                                        <p:cTn id="9" dur="200" decel="100000" autoRev="1" fill="hold">
                                          <p:stCondLst>
                                            <p:cond delay="600"/>
                                          </p:stCondLst>
                                        </p:cTn>
                                        <p:tgtEl>
                                          <p:spTgt spid="6"/>
                                        </p:tgtEl>
                                      </p:cBhvr>
                                      <p:from x="100000" y="100000"/>
                                      <p:to x="80000" y="100000"/>
                                    </p:animScale>
                                    <p:anim by="(#ppt_h/3+#ppt_w*0.1)" calcmode="lin" valueType="num">
                                      <p:cBhvr additive="sum">
                                        <p:cTn id="10" dur="200" decel="100000" autoRev="1" fill="hold">
                                          <p:stCondLst>
                                            <p:cond delay="600"/>
                                          </p:stCondLst>
                                        </p:cTn>
                                        <p:tgtEl>
                                          <p:spTgt spid="6"/>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 from="(-#ppt_w/2)" to="(#ppt_x)" calcmode="lin" valueType="num">
                                      <p:cBhvr>
                                        <p:cTn id="15" dur="600" fill="hold">
                                          <p:stCondLst>
                                            <p:cond delay="0"/>
                                          </p:stCondLst>
                                        </p:cTn>
                                        <p:tgtEl>
                                          <p:spTgt spid="9"/>
                                        </p:tgtEl>
                                        <p:attrNameLst>
                                          <p:attrName>ppt_x</p:attrName>
                                        </p:attrNameLst>
                                      </p:cBhvr>
                                    </p:anim>
                                    <p:anim from="0" to="-1.0" calcmode="lin" valueType="num">
                                      <p:cBhvr>
                                        <p:cTn id="16" dur="200" decel="50000" autoRev="1" fill="hold">
                                          <p:stCondLst>
                                            <p:cond delay="600"/>
                                          </p:stCondLst>
                                        </p:cTn>
                                        <p:tgtEl>
                                          <p:spTgt spid="9"/>
                                        </p:tgtEl>
                                        <p:attrNameLst>
                                          <p:attrName>xshear</p:attrName>
                                        </p:attrNameLst>
                                      </p:cBhvr>
                                    </p:anim>
                                    <p:animScale>
                                      <p:cBhvr>
                                        <p:cTn id="17" dur="200" decel="100000" autoRev="1" fill="hold">
                                          <p:stCondLst>
                                            <p:cond delay="600"/>
                                          </p:stCondLst>
                                        </p:cTn>
                                        <p:tgtEl>
                                          <p:spTgt spid="9"/>
                                        </p:tgtEl>
                                      </p:cBhvr>
                                      <p:from x="100000" y="100000"/>
                                      <p:to x="80000" y="100000"/>
                                    </p:animScale>
                                    <p:anim by="(#ppt_h/3+#ppt_w*0.1)" calcmode="lin" valueType="num">
                                      <p:cBhvr additive="sum">
                                        <p:cTn id="18" dur="200" decel="100000" autoRev="1" fill="hold">
                                          <p:stCondLst>
                                            <p:cond delay="600"/>
                                          </p:stCondLst>
                                        </p:cTn>
                                        <p:tgtEl>
                                          <p:spTgt spid="9"/>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825F3-CA5C-D321-A12F-235D7E6C102E}"/>
              </a:ext>
            </a:extLst>
          </p:cNvPr>
          <p:cNvSpPr>
            <a:spLocks noGrp="1"/>
          </p:cNvSpPr>
          <p:nvPr>
            <p:ph type="title"/>
          </p:nvPr>
        </p:nvSpPr>
        <p:spPr/>
        <p:txBody>
          <a:bodyPr>
            <a:noAutofit/>
          </a:bodyPr>
          <a:lstStyle/>
          <a:p>
            <a:r>
              <a:rPr lang="en-US">
                <a:solidFill>
                  <a:srgbClr val="1F3864"/>
                </a:solidFill>
              </a:rPr>
              <a:t>Density curves</a:t>
            </a:r>
          </a:p>
        </p:txBody>
      </p:sp>
      <p:sp>
        <p:nvSpPr>
          <p:cNvPr id="4" name="Slide Number Placeholder 3">
            <a:extLst>
              <a:ext uri="{FF2B5EF4-FFF2-40B4-BE49-F238E27FC236}">
                <a16:creationId xmlns:a16="http://schemas.microsoft.com/office/drawing/2014/main" id="{632F5803-1B77-5AE0-EEB8-17B8E3F9722A}"/>
              </a:ext>
            </a:extLst>
          </p:cNvPr>
          <p:cNvSpPr>
            <a:spLocks noGrp="1"/>
          </p:cNvSpPr>
          <p:nvPr>
            <p:ph type="sldNum" sz="quarter" idx="12"/>
          </p:nvPr>
        </p:nvSpPr>
        <p:spPr/>
        <p:txBody>
          <a:bodyPr/>
          <a:lstStyle/>
          <a:p>
            <a:fld id="{A80A81DD-F10A-4B1C-963A-0ABBB4865886}" type="slidenum">
              <a:rPr lang="en-US" sz="1600" smtClean="0"/>
              <a:t>20</a:t>
            </a:fld>
            <a:endParaRPr lang="en-US" sz="1600"/>
          </a:p>
        </p:txBody>
      </p:sp>
      <p:sp>
        <p:nvSpPr>
          <p:cNvPr id="5" name="TextBox 4">
            <a:extLst>
              <a:ext uri="{FF2B5EF4-FFF2-40B4-BE49-F238E27FC236}">
                <a16:creationId xmlns:a16="http://schemas.microsoft.com/office/drawing/2014/main" id="{F2C3E119-33DB-B84A-C9CB-1DA41099D1A1}"/>
              </a:ext>
            </a:extLst>
          </p:cNvPr>
          <p:cNvSpPr txBox="1"/>
          <p:nvPr/>
        </p:nvSpPr>
        <p:spPr>
          <a:xfrm>
            <a:off x="762000" y="1841500"/>
            <a:ext cx="3175000" cy="345440"/>
          </a:xfrm>
          <a:prstGeom prst="rect">
            <a:avLst/>
          </a:prstGeom>
          <a:noFill/>
        </p:spPr>
        <p:txBody>
          <a:bodyPr vert="horz" wrap="square" rtlCol="0">
            <a:spAutoFit/>
          </a:bodyPr>
          <a:lstStyle/>
          <a:p>
            <a:r>
              <a:rPr lang="en-US" sz="1600" b="1">
                <a:solidFill>
                  <a:srgbClr val="C00000"/>
                </a:solidFill>
              </a:rPr>
              <a:t>density curve</a:t>
            </a:r>
          </a:p>
        </p:txBody>
      </p:sp>
      <p:sp>
        <p:nvSpPr>
          <p:cNvPr id="6" name="TextBox 5">
            <a:extLst>
              <a:ext uri="{FF2B5EF4-FFF2-40B4-BE49-F238E27FC236}">
                <a16:creationId xmlns:a16="http://schemas.microsoft.com/office/drawing/2014/main" id="{377D380C-8635-8A53-300D-33D0068157E3}"/>
              </a:ext>
            </a:extLst>
          </p:cNvPr>
          <p:cNvSpPr txBox="1"/>
          <p:nvPr/>
        </p:nvSpPr>
        <p:spPr>
          <a:xfrm>
            <a:off x="4038600" y="1841499"/>
            <a:ext cx="7391400" cy="1077218"/>
          </a:xfrm>
          <a:prstGeom prst="rect">
            <a:avLst/>
          </a:prstGeom>
          <a:noFill/>
        </p:spPr>
        <p:txBody>
          <a:bodyPr vert="horz" wrap="square" rtlCol="0">
            <a:spAutoFit/>
          </a:bodyPr>
          <a:lstStyle/>
          <a:p>
            <a:r>
              <a:rPr lang="en-US" sz="1600">
                <a:solidFill>
                  <a:srgbClr val="000000"/>
                </a:solidFill>
              </a:rPr>
              <a:t>a smooth curve standing for the distribution of a continuous variable in theory, where the height of the curve is a continuous measure of how often values occur nearby</a:t>
            </a:r>
          </a:p>
          <a:p>
            <a:r>
              <a:rPr lang="en-US" sz="1600" i="1">
                <a:solidFill>
                  <a:srgbClr val="595959"/>
                </a:solidFill>
              </a:rPr>
              <a:t>A histogram's bars are counts inside intervals we chose. A continuous variable has no intervals, so in theory its distribution is a curve, not bars.</a:t>
            </a:r>
          </a:p>
        </p:txBody>
      </p:sp>
      <p:sp>
        <p:nvSpPr>
          <p:cNvPr id="9" name="TextBox 8">
            <a:extLst>
              <a:ext uri="{FF2B5EF4-FFF2-40B4-BE49-F238E27FC236}">
                <a16:creationId xmlns:a16="http://schemas.microsoft.com/office/drawing/2014/main" id="{854AE21D-EF44-4EB5-7BCB-35F9FA4BF6CF}"/>
              </a:ext>
            </a:extLst>
          </p:cNvPr>
          <p:cNvSpPr txBox="1"/>
          <p:nvPr/>
        </p:nvSpPr>
        <p:spPr>
          <a:xfrm>
            <a:off x="762000" y="6081017"/>
            <a:ext cx="10668000" cy="345440"/>
          </a:xfrm>
          <a:prstGeom prst="rect">
            <a:avLst/>
          </a:prstGeom>
          <a:noFill/>
        </p:spPr>
        <p:txBody>
          <a:bodyPr vert="horz" wrap="square" rtlCol="0">
            <a:spAutoFit/>
          </a:bodyPr>
          <a:lstStyle/>
          <a:p>
            <a:r>
              <a:rPr lang="en-US" sz="1600">
                <a:solidFill>
                  <a:srgbClr val="000000"/>
                </a:solidFill>
              </a:rPr>
              <a:t>The bars are the sample we happened to collect; the curve is the distribution behind it</a:t>
            </a:r>
          </a:p>
        </p:txBody>
      </p:sp>
      <p:sp>
        <p:nvSpPr>
          <p:cNvPr id="3" name="Title rule">
            <a:extLst>
              <a:ext uri="{FF2B5EF4-FFF2-40B4-BE49-F238E27FC236}">
                <a16:creationId xmlns:a16="http://schemas.microsoft.com/office/drawing/2014/main" id="{784C6B91-DD86-0BA1-4A71-C454C38471E5}"/>
              </a:ext>
            </a:extLst>
          </p:cNvPr>
          <p:cNvSpPr/>
          <p:nvPr/>
        </p:nvSpPr>
        <p:spPr>
          <a:xfrm>
            <a:off x="838200" y="1600200"/>
            <a:ext cx="10515600" cy="381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l11_density_curve.png">
            <a:extLst>
              <a:ext uri="{FF2B5EF4-FFF2-40B4-BE49-F238E27FC236}">
                <a16:creationId xmlns:a16="http://schemas.microsoft.com/office/drawing/2014/main" id="{AA292772-2F51-BAEE-7EE9-C0EC36AF5770}"/>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159000" y="3096517"/>
            <a:ext cx="7874000" cy="2857500"/>
          </a:xfrm>
          <a:prstGeom prst="rect">
            <a:avLst/>
          </a:prstGeom>
        </p:spPr>
      </p:pic>
    </p:spTree>
    <p:extLst>
      <p:ext uri="{BB962C8B-B14F-4D97-AF65-F5344CB8AC3E}">
        <p14:creationId xmlns:p14="http://schemas.microsoft.com/office/powerpoint/2010/main" val="2052454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from="(-#ppt_w/2)" to="(#ppt_x)" calcmode="lin" valueType="num">
                                      <p:cBhvr>
                                        <p:cTn id="7" dur="600" fill="hold">
                                          <p:stCondLst>
                                            <p:cond delay="0"/>
                                          </p:stCondLst>
                                        </p:cTn>
                                        <p:tgtEl>
                                          <p:spTgt spid="6"/>
                                        </p:tgtEl>
                                        <p:attrNameLst>
                                          <p:attrName>ppt_x</p:attrName>
                                        </p:attrNameLst>
                                      </p:cBhvr>
                                    </p:anim>
                                    <p:anim from="0" to="-1.0" calcmode="lin" valueType="num">
                                      <p:cBhvr>
                                        <p:cTn id="8" dur="200" decel="50000" autoRev="1" fill="hold">
                                          <p:stCondLst>
                                            <p:cond delay="600"/>
                                          </p:stCondLst>
                                        </p:cTn>
                                        <p:tgtEl>
                                          <p:spTgt spid="6"/>
                                        </p:tgtEl>
                                        <p:attrNameLst>
                                          <p:attrName>xshear</p:attrName>
                                        </p:attrNameLst>
                                      </p:cBhvr>
                                    </p:anim>
                                    <p:animScale>
                                      <p:cBhvr>
                                        <p:cTn id="9" dur="200" decel="100000" autoRev="1" fill="hold">
                                          <p:stCondLst>
                                            <p:cond delay="600"/>
                                          </p:stCondLst>
                                        </p:cTn>
                                        <p:tgtEl>
                                          <p:spTgt spid="6"/>
                                        </p:tgtEl>
                                      </p:cBhvr>
                                      <p:from x="100000" y="100000"/>
                                      <p:to x="80000" y="100000"/>
                                    </p:animScale>
                                    <p:anim by="(#ppt_h/3+#ppt_w*0.1)" calcmode="lin" valueType="num">
                                      <p:cBhvr additive="sum">
                                        <p:cTn id="10" dur="200" decel="100000" autoRev="1" fill="hold">
                                          <p:stCondLst>
                                            <p:cond delay="600"/>
                                          </p:stCondLst>
                                        </p:cTn>
                                        <p:tgtEl>
                                          <p:spTgt spid="6"/>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 from="(-#ppt_w/2)" to="(#ppt_x)" calcmode="lin" valueType="num">
                                      <p:cBhvr>
                                        <p:cTn id="15" dur="600" fill="hold">
                                          <p:stCondLst>
                                            <p:cond delay="0"/>
                                          </p:stCondLst>
                                        </p:cTn>
                                        <p:tgtEl>
                                          <p:spTgt spid="9"/>
                                        </p:tgtEl>
                                        <p:attrNameLst>
                                          <p:attrName>ppt_x</p:attrName>
                                        </p:attrNameLst>
                                      </p:cBhvr>
                                    </p:anim>
                                    <p:anim from="0" to="-1.0" calcmode="lin" valueType="num">
                                      <p:cBhvr>
                                        <p:cTn id="16" dur="200" decel="50000" autoRev="1" fill="hold">
                                          <p:stCondLst>
                                            <p:cond delay="600"/>
                                          </p:stCondLst>
                                        </p:cTn>
                                        <p:tgtEl>
                                          <p:spTgt spid="9"/>
                                        </p:tgtEl>
                                        <p:attrNameLst>
                                          <p:attrName>xshear</p:attrName>
                                        </p:attrNameLst>
                                      </p:cBhvr>
                                    </p:anim>
                                    <p:animScale>
                                      <p:cBhvr>
                                        <p:cTn id="17" dur="200" decel="100000" autoRev="1" fill="hold">
                                          <p:stCondLst>
                                            <p:cond delay="600"/>
                                          </p:stCondLst>
                                        </p:cTn>
                                        <p:tgtEl>
                                          <p:spTgt spid="9"/>
                                        </p:tgtEl>
                                      </p:cBhvr>
                                      <p:from x="100000" y="100000"/>
                                      <p:to x="80000" y="100000"/>
                                    </p:animScale>
                                    <p:anim by="(#ppt_h/3+#ppt_w*0.1)" calcmode="lin" valueType="num">
                                      <p:cBhvr additive="sum">
                                        <p:cTn id="18" dur="200" decel="100000" autoRev="1" fill="hold">
                                          <p:stCondLst>
                                            <p:cond delay="600"/>
                                          </p:stCondLst>
                                        </p:cTn>
                                        <p:tgtEl>
                                          <p:spTgt spid="9"/>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825F3-CA5C-D321-A12F-235D7E6C102E}"/>
              </a:ext>
            </a:extLst>
          </p:cNvPr>
          <p:cNvSpPr>
            <a:spLocks noGrp="1"/>
          </p:cNvSpPr>
          <p:nvPr>
            <p:ph type="title"/>
          </p:nvPr>
        </p:nvSpPr>
        <p:spPr/>
        <p:txBody>
          <a:bodyPr>
            <a:noAutofit/>
          </a:bodyPr>
          <a:lstStyle/>
          <a:p>
            <a:r>
              <a:rPr lang="en-US">
                <a:solidFill>
                  <a:srgbClr val="1F3864"/>
                </a:solidFill>
              </a:rPr>
              <a:t>The normal distribution</a:t>
            </a:r>
          </a:p>
        </p:txBody>
      </p:sp>
      <p:sp>
        <p:nvSpPr>
          <p:cNvPr id="4" name="Slide Number Placeholder 3">
            <a:extLst>
              <a:ext uri="{FF2B5EF4-FFF2-40B4-BE49-F238E27FC236}">
                <a16:creationId xmlns:a16="http://schemas.microsoft.com/office/drawing/2014/main" id="{632F5803-1B77-5AE0-EEB8-17B8E3F9722A}"/>
              </a:ext>
            </a:extLst>
          </p:cNvPr>
          <p:cNvSpPr>
            <a:spLocks noGrp="1"/>
          </p:cNvSpPr>
          <p:nvPr>
            <p:ph type="sldNum" sz="quarter" idx="12"/>
          </p:nvPr>
        </p:nvSpPr>
        <p:spPr/>
        <p:txBody>
          <a:bodyPr/>
          <a:lstStyle/>
          <a:p>
            <a:fld id="{A80A81DD-F10A-4B1C-963A-0ABBB4865886}" type="slidenum">
              <a:rPr lang="en-US" sz="1600" smtClean="0"/>
              <a:t>21</a:t>
            </a:fld>
            <a:endParaRPr lang="en-US" sz="1600"/>
          </a:p>
        </p:txBody>
      </p:sp>
      <p:sp>
        <p:nvSpPr>
          <p:cNvPr id="5" name="TextBox 4">
            <a:extLst>
              <a:ext uri="{FF2B5EF4-FFF2-40B4-BE49-F238E27FC236}">
                <a16:creationId xmlns:a16="http://schemas.microsoft.com/office/drawing/2014/main" id="{F2C3E119-33DB-B84A-C9CB-1DA41099D1A1}"/>
              </a:ext>
            </a:extLst>
          </p:cNvPr>
          <p:cNvSpPr txBox="1"/>
          <p:nvPr/>
        </p:nvSpPr>
        <p:spPr>
          <a:xfrm>
            <a:off x="762000" y="1841500"/>
            <a:ext cx="3175000" cy="345440"/>
          </a:xfrm>
          <a:prstGeom prst="rect">
            <a:avLst/>
          </a:prstGeom>
          <a:noFill/>
        </p:spPr>
        <p:txBody>
          <a:bodyPr vert="horz" wrap="square" rtlCol="0">
            <a:spAutoFit/>
          </a:bodyPr>
          <a:lstStyle/>
          <a:p>
            <a:r>
              <a:rPr lang="en-US" sz="1600" b="1">
                <a:solidFill>
                  <a:srgbClr val="C00000"/>
                </a:solidFill>
              </a:rPr>
              <a:t>normal distribution</a:t>
            </a:r>
          </a:p>
        </p:txBody>
      </p:sp>
      <p:sp>
        <p:nvSpPr>
          <p:cNvPr id="6" name="TextBox 5">
            <a:extLst>
              <a:ext uri="{FF2B5EF4-FFF2-40B4-BE49-F238E27FC236}">
                <a16:creationId xmlns:a16="http://schemas.microsoft.com/office/drawing/2014/main" id="{377D380C-8635-8A53-300D-33D0068157E3}"/>
              </a:ext>
            </a:extLst>
          </p:cNvPr>
          <p:cNvSpPr txBox="1"/>
          <p:nvPr/>
        </p:nvSpPr>
        <p:spPr>
          <a:xfrm>
            <a:off x="4038600" y="1841499"/>
            <a:ext cx="7391400" cy="1077218"/>
          </a:xfrm>
          <a:prstGeom prst="rect">
            <a:avLst/>
          </a:prstGeom>
          <a:noFill/>
        </p:spPr>
        <p:txBody>
          <a:bodyPr vert="horz" wrap="square" rtlCol="0">
            <a:spAutoFit/>
          </a:bodyPr>
          <a:lstStyle/>
          <a:p>
            <a:r>
              <a:rPr lang="en-US" sz="1600">
                <a:solidFill>
                  <a:srgbClr val="000000"/>
                </a:solidFill>
              </a:rPr>
              <a:t>a family of density curves, all symmetric and bell shaped with the peak at the mean. Two parameters pick one out: the mean μ locates the center, the standard deviation σ sets the spread.</a:t>
            </a:r>
          </a:p>
          <a:p>
            <a:r>
              <a:rPr lang="en-US" sz="1600" i="1">
                <a:solidFill>
                  <a:srgbClr val="595959"/>
                </a:solidFill>
              </a:rPr>
              <a:t>Shorthand: x ~ N(μ, σ).  Next class: the empirical rule.</a:t>
            </a:r>
          </a:p>
        </p:txBody>
      </p:sp>
      <p:sp>
        <p:nvSpPr>
          <p:cNvPr id="9" name="TextBox 8">
            <a:extLst>
              <a:ext uri="{FF2B5EF4-FFF2-40B4-BE49-F238E27FC236}">
                <a16:creationId xmlns:a16="http://schemas.microsoft.com/office/drawing/2014/main" id="{854AE21D-EF44-4EB5-7BCB-35F9FA4BF6CF}"/>
              </a:ext>
            </a:extLst>
          </p:cNvPr>
          <p:cNvSpPr txBox="1"/>
          <p:nvPr/>
        </p:nvSpPr>
        <p:spPr>
          <a:xfrm>
            <a:off x="762000" y="6081017"/>
            <a:ext cx="10668000" cy="345440"/>
          </a:xfrm>
          <a:prstGeom prst="rect">
            <a:avLst/>
          </a:prstGeom>
          <a:noFill/>
        </p:spPr>
        <p:txBody>
          <a:bodyPr vert="horz" wrap="square" rtlCol="0">
            <a:spAutoFit/>
          </a:bodyPr>
          <a:lstStyle/>
          <a:p>
            <a:r>
              <a:rPr lang="en-US" sz="1600">
                <a:solidFill>
                  <a:srgbClr val="000000"/>
                </a:solidFill>
              </a:rPr>
              <a:t>Small σ: tall and narrow. Large σ: short and broad. The center never moves.</a:t>
            </a:r>
          </a:p>
        </p:txBody>
      </p:sp>
      <p:sp>
        <p:nvSpPr>
          <p:cNvPr id="3" name="Title rule">
            <a:extLst>
              <a:ext uri="{FF2B5EF4-FFF2-40B4-BE49-F238E27FC236}">
                <a16:creationId xmlns:a16="http://schemas.microsoft.com/office/drawing/2014/main" id="{784C6B91-DD86-0BA1-4A71-C454C38471E5}"/>
              </a:ext>
            </a:extLst>
          </p:cNvPr>
          <p:cNvSpPr/>
          <p:nvPr/>
        </p:nvSpPr>
        <p:spPr>
          <a:xfrm>
            <a:off x="838200" y="1600200"/>
            <a:ext cx="10515600" cy="381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l11_normal_params.png">
            <a:extLst>
              <a:ext uri="{FF2B5EF4-FFF2-40B4-BE49-F238E27FC236}">
                <a16:creationId xmlns:a16="http://schemas.microsoft.com/office/drawing/2014/main" id="{8FBB5105-EF28-5CA3-CFC5-8E8D7C64EEB2}"/>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762000" y="3096517"/>
            <a:ext cx="10668000" cy="2857500"/>
          </a:xfrm>
          <a:prstGeom prst="rect">
            <a:avLst/>
          </a:prstGeom>
        </p:spPr>
      </p:pic>
    </p:spTree>
    <p:extLst>
      <p:ext uri="{BB962C8B-B14F-4D97-AF65-F5344CB8AC3E}">
        <p14:creationId xmlns:p14="http://schemas.microsoft.com/office/powerpoint/2010/main" val="1605922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from="(-#ppt_w/2)" to="(#ppt_x)" calcmode="lin" valueType="num">
                                      <p:cBhvr>
                                        <p:cTn id="7" dur="600" fill="hold">
                                          <p:stCondLst>
                                            <p:cond delay="0"/>
                                          </p:stCondLst>
                                        </p:cTn>
                                        <p:tgtEl>
                                          <p:spTgt spid="6"/>
                                        </p:tgtEl>
                                        <p:attrNameLst>
                                          <p:attrName>ppt_x</p:attrName>
                                        </p:attrNameLst>
                                      </p:cBhvr>
                                    </p:anim>
                                    <p:anim from="0" to="-1.0" calcmode="lin" valueType="num">
                                      <p:cBhvr>
                                        <p:cTn id="8" dur="200" decel="50000" autoRev="1" fill="hold">
                                          <p:stCondLst>
                                            <p:cond delay="600"/>
                                          </p:stCondLst>
                                        </p:cTn>
                                        <p:tgtEl>
                                          <p:spTgt spid="6"/>
                                        </p:tgtEl>
                                        <p:attrNameLst>
                                          <p:attrName>xshear</p:attrName>
                                        </p:attrNameLst>
                                      </p:cBhvr>
                                    </p:anim>
                                    <p:animScale>
                                      <p:cBhvr>
                                        <p:cTn id="9" dur="200" decel="100000" autoRev="1" fill="hold">
                                          <p:stCondLst>
                                            <p:cond delay="600"/>
                                          </p:stCondLst>
                                        </p:cTn>
                                        <p:tgtEl>
                                          <p:spTgt spid="6"/>
                                        </p:tgtEl>
                                      </p:cBhvr>
                                      <p:from x="100000" y="100000"/>
                                      <p:to x="80000" y="100000"/>
                                    </p:animScale>
                                    <p:anim by="(#ppt_h/3+#ppt_w*0.1)" calcmode="lin" valueType="num">
                                      <p:cBhvr additive="sum">
                                        <p:cTn id="10" dur="200" decel="100000" autoRev="1" fill="hold">
                                          <p:stCondLst>
                                            <p:cond delay="600"/>
                                          </p:stCondLst>
                                        </p:cTn>
                                        <p:tgtEl>
                                          <p:spTgt spid="6"/>
                                        </p:tgtEl>
                                        <p:attrNameLst>
                                          <p:attrName>ppt_x</p:attrName>
                                        </p:attrNameLst>
                                      </p:cBhvr>
                                    </p:anim>
                                  </p:childTnLst>
                                </p:cTn>
                              </p:par>
                            </p:childTnLst>
                          </p:cTn>
                        </p:par>
                      </p:childTnLst>
                    </p:cTn>
                  </p:par>
                  <p:par>
                    <p:cTn id="11" fill="hold">
                      <p:stCondLst>
                        <p:cond delay="indefinite"/>
                      </p:stCondLst>
                      <p:childTnLst>
                        <p:par>
                          <p:cTn id="12" fill="hold">
                            <p:stCondLst>
                              <p:cond delay="0"/>
                            </p:stCondLst>
                            <p:childTnLst>
                              <p:par>
                                <p:cTn id="13" presetID="34"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 from="(-#ppt_w/2)" to="(#ppt_x)" calcmode="lin" valueType="num">
                                      <p:cBhvr>
                                        <p:cTn id="15" dur="600" fill="hold">
                                          <p:stCondLst>
                                            <p:cond delay="0"/>
                                          </p:stCondLst>
                                        </p:cTn>
                                        <p:tgtEl>
                                          <p:spTgt spid="9"/>
                                        </p:tgtEl>
                                        <p:attrNameLst>
                                          <p:attrName>ppt_x</p:attrName>
                                        </p:attrNameLst>
                                      </p:cBhvr>
                                    </p:anim>
                                    <p:anim from="0" to="-1.0" calcmode="lin" valueType="num">
                                      <p:cBhvr>
                                        <p:cTn id="16" dur="200" decel="50000" autoRev="1" fill="hold">
                                          <p:stCondLst>
                                            <p:cond delay="600"/>
                                          </p:stCondLst>
                                        </p:cTn>
                                        <p:tgtEl>
                                          <p:spTgt spid="9"/>
                                        </p:tgtEl>
                                        <p:attrNameLst>
                                          <p:attrName>xshear</p:attrName>
                                        </p:attrNameLst>
                                      </p:cBhvr>
                                    </p:anim>
                                    <p:animScale>
                                      <p:cBhvr>
                                        <p:cTn id="17" dur="200" decel="100000" autoRev="1" fill="hold">
                                          <p:stCondLst>
                                            <p:cond delay="600"/>
                                          </p:stCondLst>
                                        </p:cTn>
                                        <p:tgtEl>
                                          <p:spTgt spid="9"/>
                                        </p:tgtEl>
                                      </p:cBhvr>
                                      <p:from x="100000" y="100000"/>
                                      <p:to x="80000" y="100000"/>
                                    </p:animScale>
                                    <p:anim by="(#ppt_h/3+#ppt_w*0.1)" calcmode="lin" valueType="num">
                                      <p:cBhvr additive="sum">
                                        <p:cTn id="18" dur="200" decel="100000" autoRev="1" fill="hold">
                                          <p:stCondLst>
                                            <p:cond delay="600"/>
                                          </p:stCondLst>
                                        </p:cTn>
                                        <p:tgtEl>
                                          <p:spTgt spid="9"/>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2196</TotalTime>
  <Words>2476</Words>
  <Application>Microsoft Office PowerPoint</Application>
  <PresentationFormat>Widescreen</PresentationFormat>
  <Paragraphs>155</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Lecture 11 Experimental Design and Research Ethics</vt:lpstr>
      <vt:lpstr>Review</vt:lpstr>
      <vt:lpstr>A placebo surgery</vt:lpstr>
      <vt:lpstr>Completely randomized design</vt:lpstr>
      <vt:lpstr>Randomized block design</vt:lpstr>
      <vt:lpstr>Matched pairs design</vt:lpstr>
      <vt:lpstr>What does randomization buy you?</vt:lpstr>
      <vt:lpstr>Was the placebo surgery trial ethical?</vt:lpstr>
      <vt:lpstr>Ethics: the Facebook experiment</vt:lpstr>
      <vt:lpstr>The Belmont Report: three principles</vt:lpstr>
      <vt:lpstr>Research ethics today</vt:lpstr>
      <vt:lpstr>Ethics: honest data</vt:lpstr>
      <vt:lpstr>Practice: what design, and can it show cause?</vt:lpstr>
      <vt:lpstr>What you should know: kinds of study</vt:lpstr>
      <vt:lpstr>What you should know: sampling designs</vt:lpstr>
      <vt:lpstr>What you should know: experimental designs</vt:lpstr>
      <vt:lpstr>What you should know: terminology</vt:lpstr>
      <vt:lpstr>Which one is further from typical?</vt:lpstr>
      <vt:lpstr>Measuring a deviation in standard deviations</vt:lpstr>
      <vt:lpstr>Density curves</vt:lpstr>
      <vt:lpstr>The normal distribution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Jarred Kvamme</dc:creator>
  <cp:lastModifiedBy>Jarred Kvamme</cp:lastModifiedBy>
  <cp:revision>373</cp:revision>
  <dcterms:created xsi:type="dcterms:W3CDTF">2023-08-05T23:57:41Z</dcterms:created>
  <dcterms:modified xsi:type="dcterms:W3CDTF">2026-09-25T19:38:41Z</dcterms:modified>
</cp:coreProperties>
</file>