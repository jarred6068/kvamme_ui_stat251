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317" r:id="rId2"/>
    <p:sldId id="318" r:id="rId3"/>
    <p:sldId id="319" r:id="rId4"/>
    <p:sldId id="298" r:id="rId5"/>
    <p:sldId id="299" r:id="rId6"/>
    <p:sldId id="300" r:id="rId7"/>
    <p:sldId id="301" r:id="rId8"/>
    <p:sldId id="302" r:id="rId9"/>
    <p:sldId id="320" r:id="rId10"/>
    <p:sldId id="304" r:id="rId11"/>
    <p:sldId id="305" r:id="rId12"/>
    <p:sldId id="306" r:id="rId13"/>
    <p:sldId id="325" r:id="rId14"/>
    <p:sldId id="308" r:id="rId15"/>
    <p:sldId id="321" r:id="rId16"/>
    <p:sldId id="322" r:id="rId17"/>
    <p:sldId id="323" r:id="rId18"/>
    <p:sldId id="32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p:scale>
          <a:sx n="76" d="100"/>
          <a:sy n="76" d="100"/>
        </p:scale>
        <p:origin x="682"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821C1-92D8-0827-CE2B-80FEA840C2B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F4EA748-2C8E-5D78-5734-D9BCC16ECD0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A15553-DE39-3C41-4AFF-70F29A86EAC2}"/>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1872837C-8079-1B7F-0DCF-61C39ED303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95E205-162F-206E-F4C6-EB23D9DC159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4258746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13490-30A7-12A6-2775-77578A346E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37B95F-B119-D057-5670-8EC21A84E5A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AD001D-CEFB-FD30-FB40-0BEA5B52DC2E}"/>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BBD3377D-E7F3-D264-FB03-A4AF3E3364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F48992-A907-9503-F005-BAA8A33CEA5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660803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6B320-EDC1-EDD2-5F4C-2A675BD0CAE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F58A940-1637-AC6F-0247-A5E578765F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B2A479-CAFF-245E-F61F-3D6F3E5C8839}"/>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F0324E38-70F9-0CAE-F19E-6DDE60057A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E74C88-12BC-0657-008B-8419B1E10F3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891099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02A09-336F-FDC8-F0C1-F84E09726A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E5F6849-08AF-456F-8C3C-E6DE37B3B93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F7E5562-6B4C-F11F-DF48-D254599EAA1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BA69C05-114E-11FE-5C76-D6F191757A56}"/>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6" name="Footer Placeholder 5">
            <a:extLst>
              <a:ext uri="{FF2B5EF4-FFF2-40B4-BE49-F238E27FC236}">
                <a16:creationId xmlns:a16="http://schemas.microsoft.com/office/drawing/2014/main" id="{4E71C5D0-A8D9-EEF2-15E4-CE74A390A86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9944C5-75A0-666E-C3DD-6839AB176F09}"/>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395107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AEC19E-080C-F794-EB45-FB4903CDDA3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585744A-FDBE-87AE-7AF1-3AC154DB2C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31970E4-B2B1-0370-3C26-0D1A5A00238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FA4F036-B8A8-878F-A1CB-05DAE58015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8B7F82-EBC0-322A-130D-972F39800FB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A21A5BB-D71E-872F-6F0E-2279BE484D87}"/>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8" name="Footer Placeholder 7">
            <a:extLst>
              <a:ext uri="{FF2B5EF4-FFF2-40B4-BE49-F238E27FC236}">
                <a16:creationId xmlns:a16="http://schemas.microsoft.com/office/drawing/2014/main" id="{86C56747-8CBE-BF00-C39A-F442E724C4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2C14A-6287-B5B6-C760-7F506FD876DE}"/>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840436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E9713-B0F2-9D1D-23FC-F5900F773F1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36FC7EC-16C8-C311-316C-6D99B4F99531}"/>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4" name="Footer Placeholder 3">
            <a:extLst>
              <a:ext uri="{FF2B5EF4-FFF2-40B4-BE49-F238E27FC236}">
                <a16:creationId xmlns:a16="http://schemas.microsoft.com/office/drawing/2014/main" id="{D4FE4DA7-A4C5-460E-592C-CEF23DF381A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76F3F89-7820-6BF8-A747-E433ED21AA91}"/>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132440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7EAD0FD-7A61-970C-10A9-76E2B39DAF02}"/>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3" name="Footer Placeholder 2">
            <a:extLst>
              <a:ext uri="{FF2B5EF4-FFF2-40B4-BE49-F238E27FC236}">
                <a16:creationId xmlns:a16="http://schemas.microsoft.com/office/drawing/2014/main" id="{D9F95651-C89A-3C9B-3D47-F7E5CAF6B23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2509228-92F1-54DE-D9B2-4AC018D50B88}"/>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303032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3F474-02F7-A264-4B8D-717F5EB00FF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0FA8C9F-750F-7D81-0E80-7FBCDEBEBC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0A1C0B-C510-B118-D8FA-12722456A8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194604E-EC60-44AD-4B70-12B2B49AEB6B}"/>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6" name="Footer Placeholder 5">
            <a:extLst>
              <a:ext uri="{FF2B5EF4-FFF2-40B4-BE49-F238E27FC236}">
                <a16:creationId xmlns:a16="http://schemas.microsoft.com/office/drawing/2014/main" id="{2922C4B9-91B9-9E0E-9278-1C0433768A5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21E60F-F796-8B15-08E9-61BA30F0DFA0}"/>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935051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0E564D-22A0-8A8D-C6FE-D62998433E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9713DEA-5246-B946-AFE4-3B305BCDB1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D4208CC-31DD-00AF-BFC4-37F7B4BF3C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77E30D-B05F-B2CA-9A3C-E01E2B6B0DFE}"/>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6" name="Footer Placeholder 5">
            <a:extLst>
              <a:ext uri="{FF2B5EF4-FFF2-40B4-BE49-F238E27FC236}">
                <a16:creationId xmlns:a16="http://schemas.microsoft.com/office/drawing/2014/main" id="{99E08FCE-463A-D1B2-8A60-3B67442025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438537-A621-46D4-781D-4E36BF83620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1932425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105C2-17EC-1173-1FC9-8A7FC1018F3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6BBB4A-325C-1F27-06A3-6F4F1A8F5C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9A6F55-A1EF-6AEC-99F0-DBF50F5EBFC3}"/>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EDA1FD1D-86F4-EDE3-1CCE-ADED2161B9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DE0593-ABE9-0E50-7A75-9252A5A1F036}"/>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25339657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487FF77-0DAD-7CA9-B02D-208C0204890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59298FA-F111-2C9C-551D-A1F30B23948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F1B556-1ED0-55E4-9235-352E1A162B44}"/>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5C44A71E-8AC3-EA68-1DCB-99E68A4657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1CF60-74F8-B2C5-26C3-77536C36C671}"/>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3333660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18B48B-0371-7ADD-E5C3-345B4D6CBF2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2BB5A92-73C5-8CE0-7C84-BE7902E6003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35212B-F67A-E417-B1FE-C389458DF26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7DC9799A-D006-E28E-8EED-4BE2AFCB8D3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6069CB4-3B3A-FD13-F7E0-B4A0F347673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80A81DD-F10A-4B1C-963A-0ABBB4865886}" type="slidenum">
              <a:rPr lang="en-US" smtClean="0"/>
              <a:t>‹#›</a:t>
            </a:fld>
            <a:endParaRPr lang="en-US"/>
          </a:p>
        </p:txBody>
      </p:sp>
    </p:spTree>
    <p:extLst>
      <p:ext uri="{BB962C8B-B14F-4D97-AF65-F5344CB8AC3E}">
        <p14:creationId xmlns:p14="http://schemas.microsoft.com/office/powerpoint/2010/main" val="31450919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F151A-3AFE-974F-DDC4-9B99389C348D}"/>
              </a:ext>
            </a:extLst>
          </p:cNvPr>
          <p:cNvSpPr>
            <a:spLocks noGrp="1"/>
          </p:cNvSpPr>
          <p:nvPr>
            <p:ph type="ctrTitle"/>
          </p:nvPr>
        </p:nvSpPr>
        <p:spPr>
          <a:xfrm>
            <a:off x="1524000" y="1122362"/>
            <a:ext cx="9144000" cy="4105419"/>
          </a:xfrm>
        </p:spPr>
        <p:txBody>
          <a:bodyPr>
            <a:noAutofit/>
          </a:bodyPr>
          <a:lstStyle/>
          <a:p>
            <a:r>
              <a:rPr lang="en-US">
                <a:solidFill>
                  <a:srgbClr val="1F3864"/>
                </a:solidFill>
              </a:rPr>
              <a:t>Lecture 11</a:t>
            </a:r>
            <a:br>
              <a:rPr lang="en-US">
                <a:solidFill>
                  <a:srgbClr val="1F3864"/>
                </a:solidFill>
              </a:rPr>
            </a:br>
            <a:r>
              <a:rPr lang="en-US">
                <a:solidFill>
                  <a:srgbClr val="1F3864"/>
                </a:solidFill>
              </a:rPr>
              <a:t>Experimental Design and Research Ethics</a:t>
            </a:r>
            <a:endParaRPr lang="en-US" dirty="0">
              <a:solidFill>
                <a:srgbClr val="1F3864"/>
              </a:solidFill>
            </a:endParaRPr>
          </a:p>
        </p:txBody>
      </p:sp>
    </p:spTree>
    <p:extLst>
      <p:ext uri="{BB962C8B-B14F-4D97-AF65-F5344CB8AC3E}">
        <p14:creationId xmlns:p14="http://schemas.microsoft.com/office/powerpoint/2010/main" val="19541658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705104"/>
          </a:xfrm>
        </p:spPr>
        <p:txBody>
          <a:bodyPr>
            <a:noAutofit/>
          </a:bodyPr>
          <a:lstStyle/>
          <a:p>
            <a:r>
              <a:rPr lang="en-US">
                <a:solidFill>
                  <a:srgbClr val="1F3864"/>
                </a:solidFill>
              </a:rPr>
              <a:t>Review</a:t>
            </a:r>
            <a:endParaRPr lang="en-US" dirty="0">
              <a:solidFill>
                <a:srgbClr val="1F3864"/>
              </a:solidFill>
            </a:endParaRPr>
          </a:p>
        </p:txBody>
      </p:sp>
      <p:sp>
        <p:nvSpPr>
          <p:cNvPr id="3" name="Question 1"/>
          <p:cNvSpPr/>
          <p:nvPr/>
        </p:nvSpPr>
        <p:spPr>
          <a:xfrm>
            <a:off x="838200" y="107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Autofit/>
          </a:bodyPr>
          <a:lstStyle/>
          <a:p>
            <a:pPr marL="0" indent="0">
              <a:buNone/>
            </a:pPr>
            <a:r>
              <a:rPr lang="en-US" b="1">
                <a:solidFill>
                  <a:srgbClr val="C00000"/>
                </a:solidFill>
              </a:rPr>
              <a:t>1   What is the difference between an observational study and an experiment?</a:t>
            </a:r>
            <a:endParaRPr lang="en-US" b="1" dirty="0">
              <a:solidFill>
                <a:srgbClr val="000000"/>
              </a:solidFill>
            </a:endParaRPr>
          </a:p>
        </p:txBody>
      </p:sp>
      <p:sp>
        <p:nvSpPr>
          <p:cNvPr id="4" name="Answer 1"/>
          <p:cNvSpPr txBox="1"/>
          <p:nvPr/>
        </p:nvSpPr>
        <p:spPr>
          <a:xfrm>
            <a:off x="1066800" y="1655688"/>
            <a:ext cx="10058400" cy="650240"/>
          </a:xfrm>
          <a:prstGeom prst="rect">
            <a:avLst/>
          </a:prstGeom>
          <a:noFill/>
        </p:spPr>
        <p:txBody>
          <a:bodyPr wrap="square" lIns="0" tIns="0" rIns="0" bIns="0">
            <a:noAutofit/>
          </a:bodyPr>
          <a:lstStyle/>
          <a:p>
            <a:pPr marL="0" indent="0">
              <a:buNone/>
            </a:pPr>
            <a:r>
              <a:rPr lang="en-US" sz="1600">
                <a:solidFill>
                  <a:srgbClr val="C00000"/>
                </a:solidFill>
              </a:rPr>
              <a:t>An experiment assigns the treatments; an observational study only watches and measures. The test is who decided which group each unit ended up in.</a:t>
            </a:r>
            <a:endParaRPr lang="en-US" sz="1600" dirty="0">
              <a:solidFill>
                <a:srgbClr val="C00000"/>
              </a:solidFill>
            </a:endParaRPr>
          </a:p>
        </p:txBody>
      </p:sp>
      <p:sp>
        <p:nvSpPr>
          <p:cNvPr id="5" name="Question 2"/>
          <p:cNvSpPr/>
          <p:nvPr/>
        </p:nvSpPr>
        <p:spPr>
          <a:xfrm>
            <a:off x="838200" y="238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Autofit/>
          </a:bodyPr>
          <a:lstStyle/>
          <a:p>
            <a:pPr marL="0" indent="0">
              <a:buNone/>
            </a:pPr>
            <a:r>
              <a:rPr lang="en-US" b="1">
                <a:solidFill>
                  <a:srgbClr val="C00000"/>
                </a:solidFill>
              </a:rPr>
              <a:t>2   What is a lurking variable?</a:t>
            </a:r>
            <a:endParaRPr lang="en-US" b="1" dirty="0">
              <a:solidFill>
                <a:srgbClr val="000000"/>
              </a:solidFill>
            </a:endParaRPr>
          </a:p>
        </p:txBody>
      </p:sp>
      <p:sp>
        <p:nvSpPr>
          <p:cNvPr id="6" name="Answer 2"/>
          <p:cNvSpPr txBox="1"/>
          <p:nvPr/>
        </p:nvSpPr>
        <p:spPr>
          <a:xfrm>
            <a:off x="1066800" y="2965688"/>
            <a:ext cx="10058400" cy="589280"/>
          </a:xfrm>
          <a:prstGeom prst="rect">
            <a:avLst/>
          </a:prstGeom>
          <a:noFill/>
        </p:spPr>
        <p:txBody>
          <a:bodyPr wrap="square" lIns="0" tIns="0" rIns="0" bIns="0">
            <a:noAutofit/>
          </a:bodyPr>
          <a:lstStyle/>
          <a:p>
            <a:pPr marL="0" indent="0">
              <a:buNone/>
            </a:pPr>
            <a:r>
              <a:rPr lang="en-US" sz="1600">
                <a:solidFill>
                  <a:srgbClr val="C00000"/>
                </a:solidFill>
              </a:rPr>
              <a:t>A variable associated with both the explanatory and the response variable, which can make two things look related when neither causes the other.</a:t>
            </a:r>
            <a:endParaRPr lang="en-US" sz="1600" dirty="0">
              <a:solidFill>
                <a:srgbClr val="C00000"/>
              </a:solidFill>
            </a:endParaRPr>
          </a:p>
        </p:txBody>
      </p:sp>
      <p:sp>
        <p:nvSpPr>
          <p:cNvPr id="7" name="Question 3"/>
          <p:cNvSpPr/>
          <p:nvPr/>
        </p:nvSpPr>
        <p:spPr>
          <a:xfrm>
            <a:off x="838200" y="369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Autofit/>
          </a:bodyPr>
          <a:lstStyle/>
          <a:p>
            <a:pPr marL="0" indent="0">
              <a:buNone/>
            </a:pPr>
            <a:r>
              <a:rPr lang="en-US" b="1">
                <a:solidFill>
                  <a:srgbClr val="C00000"/>
                </a:solidFill>
              </a:rPr>
              <a:t>3   What does it mean for a study to be blinded, and what makes it double blind?</a:t>
            </a:r>
            <a:endParaRPr lang="en-US" b="1" dirty="0">
              <a:solidFill>
                <a:srgbClr val="000000"/>
              </a:solidFill>
            </a:endParaRPr>
          </a:p>
        </p:txBody>
      </p:sp>
      <p:sp>
        <p:nvSpPr>
          <p:cNvPr id="8" name="Answer 3"/>
          <p:cNvSpPr txBox="1"/>
          <p:nvPr/>
        </p:nvSpPr>
        <p:spPr>
          <a:xfrm>
            <a:off x="1066800" y="4275688"/>
            <a:ext cx="10058400" cy="558560"/>
          </a:xfrm>
          <a:prstGeom prst="rect">
            <a:avLst/>
          </a:prstGeom>
          <a:noFill/>
        </p:spPr>
        <p:txBody>
          <a:bodyPr wrap="square" lIns="0" tIns="0" rIns="0" bIns="0">
            <a:noAutofit/>
          </a:bodyPr>
          <a:lstStyle/>
          <a:p>
            <a:pPr marL="0" indent="0">
              <a:buNone/>
            </a:pPr>
            <a:r>
              <a:rPr lang="en-US" sz="1600">
                <a:solidFill>
                  <a:srgbClr val="C00000"/>
                </a:solidFill>
              </a:rPr>
              <a:t>Blinded: the subjects do not know which treatment they received. Double blind: the people measuring the response do not know either.</a:t>
            </a:r>
            <a:endParaRPr lang="en-US" sz="1600" dirty="0">
              <a:solidFill>
                <a:srgbClr val="C00000"/>
              </a:solidFill>
            </a:endParaRPr>
          </a:p>
        </p:txBody>
      </p:sp>
      <p:sp>
        <p:nvSpPr>
          <p:cNvPr id="11" name="Slide Number Placeholder 10">
            <a:extLst>
              <a:ext uri="{FF2B5EF4-FFF2-40B4-BE49-F238E27FC236}">
                <a16:creationId xmlns:a16="http://schemas.microsoft.com/office/drawing/2014/main" id="{266091C9-B7EB-6BBE-A602-1479CDF9719E}"/>
              </a:ext>
            </a:extLst>
          </p:cNvPr>
          <p:cNvSpPr>
            <a:spLocks noGrp="1"/>
          </p:cNvSpPr>
          <p:nvPr>
            <p:ph type="sldNum" sz="quarter" idx="12"/>
          </p:nvPr>
        </p:nvSpPr>
        <p:spPr/>
        <p:txBody>
          <a:bodyPr/>
          <a:lstStyle/>
          <a:p>
            <a:fld id="{A80A81DD-F10A-4B1C-963A-0ABBB4865886}" type="slidenum">
              <a:rPr lang="en-US" sz="1600" smtClean="0"/>
              <a:t>2</a:t>
            </a:fld>
            <a:endParaRPr lang="en-US" sz="1600"/>
          </a:p>
        </p:txBody>
      </p:sp>
    </p:spTree>
    <p:extLst>
      <p:ext uri="{BB962C8B-B14F-4D97-AF65-F5344CB8AC3E}">
        <p14:creationId xmlns:p14="http://schemas.microsoft.com/office/powerpoint/2010/main" val="1361040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239F2B-D79C-B061-7D7C-D0E3E9E9F703}"/>
              </a:ext>
            </a:extLst>
          </p:cNvPr>
          <p:cNvSpPr>
            <a:spLocks noGrp="1"/>
          </p:cNvSpPr>
          <p:nvPr>
            <p:ph type="title"/>
          </p:nvPr>
        </p:nvSpPr>
        <p:spPr/>
        <p:txBody>
          <a:bodyPr>
            <a:noAutofit/>
          </a:bodyPr>
          <a:lstStyle/>
          <a:p>
            <a:r>
              <a:rPr lang="en-US">
                <a:solidFill>
                  <a:srgbClr val="1F3864"/>
                </a:solidFill>
              </a:rPr>
              <a:t>Example: the VITAL trial</a:t>
            </a:r>
          </a:p>
        </p:txBody>
      </p:sp>
      <p:sp>
        <p:nvSpPr>
          <p:cNvPr id="4" name="Slide Number Placeholder 3">
            <a:extLst>
              <a:ext uri="{FF2B5EF4-FFF2-40B4-BE49-F238E27FC236}">
                <a16:creationId xmlns:a16="http://schemas.microsoft.com/office/drawing/2014/main" id="{50869749-915A-A889-6AF8-EEE3DE2B6C67}"/>
              </a:ext>
            </a:extLst>
          </p:cNvPr>
          <p:cNvSpPr>
            <a:spLocks noGrp="1"/>
          </p:cNvSpPr>
          <p:nvPr>
            <p:ph type="sldNum" sz="quarter" idx="12"/>
          </p:nvPr>
        </p:nvSpPr>
        <p:spPr/>
        <p:txBody>
          <a:bodyPr/>
          <a:lstStyle/>
          <a:p>
            <a:fld id="{A80A81DD-F10A-4B1C-963A-0ABBB4865886}" type="slidenum">
              <a:rPr lang="en-US" sz="1600" smtClean="0"/>
              <a:t>3</a:t>
            </a:fld>
            <a:endParaRPr lang="en-US" sz="1600"/>
          </a:p>
        </p:txBody>
      </p:sp>
      <p:sp>
        <p:nvSpPr>
          <p:cNvPr id="5" name="TextBox 4">
            <a:extLst>
              <a:ext uri="{FF2B5EF4-FFF2-40B4-BE49-F238E27FC236}">
                <a16:creationId xmlns:a16="http://schemas.microsoft.com/office/drawing/2014/main" id="{0154EC98-752B-E4E1-3A6C-D7C162824379}"/>
              </a:ext>
            </a:extLst>
          </p:cNvPr>
          <p:cNvSpPr txBox="1"/>
          <p:nvPr/>
        </p:nvSpPr>
        <p:spPr>
          <a:xfrm>
            <a:off x="762000" y="1841499"/>
            <a:ext cx="10668000" cy="584775"/>
          </a:xfrm>
          <a:prstGeom prst="rect">
            <a:avLst/>
          </a:prstGeom>
          <a:noFill/>
        </p:spPr>
        <p:txBody>
          <a:bodyPr vert="horz" wrap="square" rtlCol="0">
            <a:spAutoFit/>
          </a:bodyPr>
          <a:lstStyle/>
          <a:p>
            <a:pPr>
              <a:spcAft>
                <a:spcPts val="400"/>
              </a:spcAft>
            </a:pPr>
            <a:r>
              <a:rPr lang="en-US" sz="1600">
                <a:solidFill>
                  <a:srgbClr val="000000"/>
                </a:solidFill>
              </a:rPr>
              <a:t>VITAL randomly assigned 25,871 U.S. adults to vitamin D (2,000 IU a day) or a placebo, AND to omega-3 fish oil (1 g a day) or a placebo - nobody knew who got what - then followed them for about 5 years.</a:t>
            </a:r>
          </a:p>
        </p:txBody>
      </p:sp>
      <p:sp>
        <p:nvSpPr>
          <p:cNvPr id="6" name="TextBox 5">
            <a:extLst>
              <a:ext uri="{FF2B5EF4-FFF2-40B4-BE49-F238E27FC236}">
                <a16:creationId xmlns:a16="http://schemas.microsoft.com/office/drawing/2014/main" id="{FEA24511-5DA8-139E-D168-B30F6FC9D645}"/>
              </a:ext>
            </a:extLst>
          </p:cNvPr>
          <p:cNvSpPr txBox="1"/>
          <p:nvPr/>
        </p:nvSpPr>
        <p:spPr>
          <a:xfrm>
            <a:off x="762000" y="2578674"/>
            <a:ext cx="10668000" cy="345440"/>
          </a:xfrm>
          <a:prstGeom prst="rect">
            <a:avLst/>
          </a:prstGeom>
          <a:noFill/>
        </p:spPr>
        <p:txBody>
          <a:bodyPr vert="horz" wrap="square" rtlCol="0">
            <a:spAutoFit/>
          </a:bodyPr>
          <a:lstStyle/>
          <a:p>
            <a:pPr marL="304800" indent="-304800"/>
            <a:r>
              <a:rPr lang="en-US" sz="1600" b="1">
                <a:solidFill>
                  <a:srgbClr val="C00000"/>
                </a:solidFill>
              </a:rPr>
              <a:t>1.</a:t>
            </a:r>
            <a:r>
              <a:rPr lang="en-US" sz="1600">
                <a:solidFill>
                  <a:srgbClr val="000000"/>
                </a:solidFill>
              </a:rPr>
              <a:t>  What are the experimental units - and what do we call them?</a:t>
            </a:r>
          </a:p>
        </p:txBody>
      </p:sp>
      <p:sp>
        <p:nvSpPr>
          <p:cNvPr id="7" name="TextBox 6">
            <a:extLst>
              <a:ext uri="{FF2B5EF4-FFF2-40B4-BE49-F238E27FC236}">
                <a16:creationId xmlns:a16="http://schemas.microsoft.com/office/drawing/2014/main" id="{36AD3336-BE2D-C5F7-C1A2-C937A4C032A2}"/>
              </a:ext>
            </a:extLst>
          </p:cNvPr>
          <p:cNvSpPr txBox="1"/>
          <p:nvPr/>
        </p:nvSpPr>
        <p:spPr>
          <a:xfrm>
            <a:off x="1117600" y="2936814"/>
            <a:ext cx="10312400" cy="345440"/>
          </a:xfrm>
          <a:prstGeom prst="rect">
            <a:avLst/>
          </a:prstGeom>
          <a:noFill/>
        </p:spPr>
        <p:txBody>
          <a:bodyPr vert="horz" wrap="square" rtlCol="0">
            <a:spAutoFit/>
          </a:bodyPr>
          <a:lstStyle/>
          <a:p>
            <a:r>
              <a:rPr lang="en-US" sz="1600" b="1">
                <a:solidFill>
                  <a:srgbClr val="C00000"/>
                </a:solidFill>
              </a:rPr>
              <a:t>The 25,871 adults. They are people, so they are subjects.</a:t>
            </a:r>
          </a:p>
        </p:txBody>
      </p:sp>
      <p:sp>
        <p:nvSpPr>
          <p:cNvPr id="8" name="TextBox 7">
            <a:extLst>
              <a:ext uri="{FF2B5EF4-FFF2-40B4-BE49-F238E27FC236}">
                <a16:creationId xmlns:a16="http://schemas.microsoft.com/office/drawing/2014/main" id="{CE03E08D-862C-AF03-64BB-BE6B12D52B9E}"/>
              </a:ext>
            </a:extLst>
          </p:cNvPr>
          <p:cNvSpPr txBox="1"/>
          <p:nvPr/>
        </p:nvSpPr>
        <p:spPr>
          <a:xfrm>
            <a:off x="762000" y="3383854"/>
            <a:ext cx="10668000" cy="345440"/>
          </a:xfrm>
          <a:prstGeom prst="rect">
            <a:avLst/>
          </a:prstGeom>
          <a:noFill/>
        </p:spPr>
        <p:txBody>
          <a:bodyPr vert="horz" wrap="square" rtlCol="0">
            <a:spAutoFit/>
          </a:bodyPr>
          <a:lstStyle/>
          <a:p>
            <a:pPr marL="304800" indent="-304800"/>
            <a:r>
              <a:rPr lang="en-US" sz="1600" b="1">
                <a:solidFill>
                  <a:srgbClr val="C00000"/>
                </a:solidFill>
              </a:rPr>
              <a:t>2.</a:t>
            </a:r>
            <a:r>
              <a:rPr lang="en-US" sz="1600">
                <a:solidFill>
                  <a:srgbClr val="000000"/>
                </a:solidFill>
              </a:rPr>
              <a:t>  What are the factors, and how many levels does each have?</a:t>
            </a:r>
          </a:p>
        </p:txBody>
      </p:sp>
      <p:sp>
        <p:nvSpPr>
          <p:cNvPr id="9" name="TextBox 8">
            <a:extLst>
              <a:ext uri="{FF2B5EF4-FFF2-40B4-BE49-F238E27FC236}">
                <a16:creationId xmlns:a16="http://schemas.microsoft.com/office/drawing/2014/main" id="{6193DCC8-196D-E1A6-C6DA-904079F554A1}"/>
              </a:ext>
            </a:extLst>
          </p:cNvPr>
          <p:cNvSpPr txBox="1"/>
          <p:nvPr/>
        </p:nvSpPr>
        <p:spPr>
          <a:xfrm>
            <a:off x="1117600" y="3741994"/>
            <a:ext cx="10312400" cy="345440"/>
          </a:xfrm>
          <a:prstGeom prst="rect">
            <a:avLst/>
          </a:prstGeom>
          <a:noFill/>
        </p:spPr>
        <p:txBody>
          <a:bodyPr vert="horz" wrap="square" rtlCol="0">
            <a:spAutoFit/>
          </a:bodyPr>
          <a:lstStyle/>
          <a:p>
            <a:r>
              <a:rPr lang="en-US" sz="1600" b="1">
                <a:solidFill>
                  <a:srgbClr val="C00000"/>
                </a:solidFill>
              </a:rPr>
              <a:t>Vitamin D and omega-3 - 2 levels each (the supplement or a placebo).</a:t>
            </a:r>
          </a:p>
        </p:txBody>
      </p:sp>
      <p:sp>
        <p:nvSpPr>
          <p:cNvPr id="10" name="TextBox 9">
            <a:extLst>
              <a:ext uri="{FF2B5EF4-FFF2-40B4-BE49-F238E27FC236}">
                <a16:creationId xmlns:a16="http://schemas.microsoft.com/office/drawing/2014/main" id="{30E25D4A-4773-05CB-3292-48B30A495FCF}"/>
              </a:ext>
            </a:extLst>
          </p:cNvPr>
          <p:cNvSpPr txBox="1"/>
          <p:nvPr/>
        </p:nvSpPr>
        <p:spPr>
          <a:xfrm>
            <a:off x="762000" y="4189034"/>
            <a:ext cx="10668000" cy="345440"/>
          </a:xfrm>
          <a:prstGeom prst="rect">
            <a:avLst/>
          </a:prstGeom>
          <a:noFill/>
        </p:spPr>
        <p:txBody>
          <a:bodyPr vert="horz" wrap="square" rtlCol="0">
            <a:spAutoFit/>
          </a:bodyPr>
          <a:lstStyle/>
          <a:p>
            <a:pPr marL="304800" indent="-304800"/>
            <a:r>
              <a:rPr lang="en-US" sz="1600" b="1">
                <a:solidFill>
                  <a:srgbClr val="C00000"/>
                </a:solidFill>
              </a:rPr>
              <a:t>3.</a:t>
            </a:r>
            <a:r>
              <a:rPr lang="en-US" sz="1600">
                <a:solidFill>
                  <a:srgbClr val="000000"/>
                </a:solidFill>
              </a:rPr>
              <a:t>  How many treatments are there?</a:t>
            </a:r>
          </a:p>
        </p:txBody>
      </p:sp>
      <p:sp>
        <p:nvSpPr>
          <p:cNvPr id="11" name="TextBox 10">
            <a:extLst>
              <a:ext uri="{FF2B5EF4-FFF2-40B4-BE49-F238E27FC236}">
                <a16:creationId xmlns:a16="http://schemas.microsoft.com/office/drawing/2014/main" id="{03F8927A-06B7-68FB-674D-7CEEB23B0E4F}"/>
              </a:ext>
            </a:extLst>
          </p:cNvPr>
          <p:cNvSpPr txBox="1"/>
          <p:nvPr/>
        </p:nvSpPr>
        <p:spPr>
          <a:xfrm>
            <a:off x="1117600" y="4547174"/>
            <a:ext cx="10312400" cy="345440"/>
          </a:xfrm>
          <a:prstGeom prst="rect">
            <a:avLst/>
          </a:prstGeom>
          <a:noFill/>
        </p:spPr>
        <p:txBody>
          <a:bodyPr vert="horz" wrap="square" rtlCol="0">
            <a:spAutoFit/>
          </a:bodyPr>
          <a:lstStyle/>
          <a:p>
            <a:r>
              <a:rPr lang="en-US" sz="1600" b="1">
                <a:solidFill>
                  <a:srgbClr val="C00000"/>
                </a:solidFill>
              </a:rPr>
              <a:t>2 x 2 = 4: vitamin D + omega-3, vitamin D + placebo, placebo + omega-3, placebo + placebo.</a:t>
            </a:r>
          </a:p>
        </p:txBody>
      </p:sp>
      <p:sp>
        <p:nvSpPr>
          <p:cNvPr id="12" name="TextBox 11">
            <a:extLst>
              <a:ext uri="{FF2B5EF4-FFF2-40B4-BE49-F238E27FC236}">
                <a16:creationId xmlns:a16="http://schemas.microsoft.com/office/drawing/2014/main" id="{43AC598D-D11F-462C-0B3E-1312AD123B2D}"/>
              </a:ext>
            </a:extLst>
          </p:cNvPr>
          <p:cNvSpPr txBox="1"/>
          <p:nvPr/>
        </p:nvSpPr>
        <p:spPr>
          <a:xfrm>
            <a:off x="762000" y="4994214"/>
            <a:ext cx="10668000" cy="345440"/>
          </a:xfrm>
          <a:prstGeom prst="rect">
            <a:avLst/>
          </a:prstGeom>
          <a:noFill/>
        </p:spPr>
        <p:txBody>
          <a:bodyPr vert="horz" wrap="square" rtlCol="0">
            <a:spAutoFit/>
          </a:bodyPr>
          <a:lstStyle/>
          <a:p>
            <a:pPr marL="304800" indent="-304800"/>
            <a:r>
              <a:rPr lang="en-US" sz="1600" b="1">
                <a:solidFill>
                  <a:srgbClr val="C00000"/>
                </a:solidFill>
              </a:rPr>
              <a:t>4.</a:t>
            </a:r>
            <a:r>
              <a:rPr lang="en-US" sz="1600">
                <a:solidFill>
                  <a:srgbClr val="000000"/>
                </a:solidFill>
              </a:rPr>
              <a:t>  What kind of design is this, and is it blinded?</a:t>
            </a:r>
          </a:p>
        </p:txBody>
      </p:sp>
      <p:sp>
        <p:nvSpPr>
          <p:cNvPr id="13" name="TextBox 12">
            <a:extLst>
              <a:ext uri="{FF2B5EF4-FFF2-40B4-BE49-F238E27FC236}">
                <a16:creationId xmlns:a16="http://schemas.microsoft.com/office/drawing/2014/main" id="{DE32CBC3-2896-472B-A54A-0EF0CDD6FDC6}"/>
              </a:ext>
            </a:extLst>
          </p:cNvPr>
          <p:cNvSpPr txBox="1"/>
          <p:nvPr/>
        </p:nvSpPr>
        <p:spPr>
          <a:xfrm>
            <a:off x="1117600" y="5352354"/>
            <a:ext cx="10312400" cy="584775"/>
          </a:xfrm>
          <a:prstGeom prst="rect">
            <a:avLst/>
          </a:prstGeom>
          <a:noFill/>
        </p:spPr>
        <p:txBody>
          <a:bodyPr vert="horz" wrap="square" rtlCol="0">
            <a:spAutoFit/>
          </a:bodyPr>
          <a:lstStyle/>
          <a:p>
            <a:r>
              <a:rPr lang="en-US" sz="1600" b="1">
                <a:solidFill>
                  <a:srgbClr val="C00000"/>
                </a:solidFill>
              </a:rPr>
              <a:t>A completely randomized 2 x 2 factorial design, double blind and placebo controlled. Neither supplement lowered the rate of invasive cancer or of major cardiovascular events.</a:t>
            </a:r>
          </a:p>
        </p:txBody>
      </p:sp>
      <p:sp>
        <p:nvSpPr>
          <p:cNvPr id="14" name="TextBox 13">
            <a:extLst>
              <a:ext uri="{FF2B5EF4-FFF2-40B4-BE49-F238E27FC236}">
                <a16:creationId xmlns:a16="http://schemas.microsoft.com/office/drawing/2014/main" id="{EA15CB9B-7BE5-0C0D-696A-48328ABA1439}"/>
              </a:ext>
            </a:extLst>
          </p:cNvPr>
          <p:cNvSpPr txBox="1"/>
          <p:nvPr/>
        </p:nvSpPr>
        <p:spPr>
          <a:xfrm>
            <a:off x="762000" y="6045200"/>
            <a:ext cx="10668000" cy="345440"/>
          </a:xfrm>
          <a:prstGeom prst="rect">
            <a:avLst/>
          </a:prstGeom>
          <a:noFill/>
        </p:spPr>
        <p:txBody>
          <a:bodyPr vert="horz" wrap="square" rtlCol="0">
            <a:noAutofit/>
          </a:bodyPr>
          <a:lstStyle/>
          <a:p>
            <a:pPr algn="r"/>
            <a:r>
              <a:rPr lang="en-US" sz="1600" i="1">
                <a:solidFill>
                  <a:srgbClr val="595959"/>
                </a:solidFill>
              </a:rPr>
              <a:t>Source: Manson et al. (2019), New England Journal of Medicine</a:t>
            </a:r>
          </a:p>
        </p:txBody>
      </p:sp>
      <p:sp>
        <p:nvSpPr>
          <p:cNvPr id="3" name="Title rule">
            <a:extLst>
              <a:ext uri="{FF2B5EF4-FFF2-40B4-BE49-F238E27FC236}">
                <a16:creationId xmlns:a16="http://schemas.microsoft.com/office/drawing/2014/main" id="{33842B88-3FD8-7BBF-86D4-D79A31D0D324}"/>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61640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from="(-#ppt_w/2)" to="(#ppt_x)" calcmode="lin" valueType="num">
                                      <p:cBhvr>
                                        <p:cTn id="7" dur="600" fill="hold">
                                          <p:stCondLst>
                                            <p:cond delay="0"/>
                                          </p:stCondLst>
                                        </p:cTn>
                                        <p:tgtEl>
                                          <p:spTgt spid="7"/>
                                        </p:tgtEl>
                                        <p:attrNameLst>
                                          <p:attrName>ppt_x</p:attrName>
                                        </p:attrNameLst>
                                      </p:cBhvr>
                                    </p:anim>
                                    <p:anim from="0" to="-1.0" calcmode="lin" valueType="num">
                                      <p:cBhvr>
                                        <p:cTn id="8" dur="200" decel="50000" autoRev="1" fill="hold">
                                          <p:stCondLst>
                                            <p:cond delay="600"/>
                                          </p:stCondLst>
                                        </p:cTn>
                                        <p:tgtEl>
                                          <p:spTgt spid="7"/>
                                        </p:tgtEl>
                                        <p:attrNameLst>
                                          <p:attrName>xshear</p:attrName>
                                        </p:attrNameLst>
                                      </p:cBhvr>
                                    </p:anim>
                                    <p:animScale>
                                      <p:cBhvr>
                                        <p:cTn id="9" dur="200" decel="100000" autoRev="1" fill="hold">
                                          <p:stCondLst>
                                            <p:cond delay="600"/>
                                          </p:stCondLst>
                                        </p:cTn>
                                        <p:tgtEl>
                                          <p:spTgt spid="7"/>
                                        </p:tgtEl>
                                      </p:cBhvr>
                                      <p:from x="100000" y="100000"/>
                                      <p:to x="80000" y="100000"/>
                                    </p:animScale>
                                    <p:anim by="(#ppt_h/3+#ppt_w*0.1)" calcmode="lin" valueType="num">
                                      <p:cBhvr additive="sum">
                                        <p:cTn id="10" dur="200" decel="100000" autoRev="1" fill="hold">
                                          <p:stCondLst>
                                            <p:cond delay="600"/>
                                          </p:stCondLst>
                                        </p:cTn>
                                        <p:tgtEl>
                                          <p:spTgt spid="7"/>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from="(-#ppt_w/2)" to="(#ppt_x)" calcmode="lin" valueType="num">
                                      <p:cBhvr>
                                        <p:cTn id="15" dur="600" fill="hold">
                                          <p:stCondLst>
                                            <p:cond delay="0"/>
                                          </p:stCondLst>
                                        </p:cTn>
                                        <p:tgtEl>
                                          <p:spTgt spid="9"/>
                                        </p:tgtEl>
                                        <p:attrNameLst>
                                          <p:attrName>ppt_x</p:attrName>
                                        </p:attrNameLst>
                                      </p:cBhvr>
                                    </p:anim>
                                    <p:anim from="0" to="-1.0" calcmode="lin" valueType="num">
                                      <p:cBhvr>
                                        <p:cTn id="16" dur="200" decel="50000" autoRev="1" fill="hold">
                                          <p:stCondLst>
                                            <p:cond delay="600"/>
                                          </p:stCondLst>
                                        </p:cTn>
                                        <p:tgtEl>
                                          <p:spTgt spid="9"/>
                                        </p:tgtEl>
                                        <p:attrNameLst>
                                          <p:attrName>xshear</p:attrName>
                                        </p:attrNameLst>
                                      </p:cBhvr>
                                    </p:anim>
                                    <p:animScale>
                                      <p:cBhvr>
                                        <p:cTn id="17" dur="200" decel="100000" autoRev="1" fill="hold">
                                          <p:stCondLst>
                                            <p:cond delay="600"/>
                                          </p:stCondLst>
                                        </p:cTn>
                                        <p:tgtEl>
                                          <p:spTgt spid="9"/>
                                        </p:tgtEl>
                                      </p:cBhvr>
                                      <p:from x="100000" y="100000"/>
                                      <p:to x="80000" y="100000"/>
                                    </p:animScale>
                                    <p:anim by="(#ppt_h/3+#ppt_w*0.1)" calcmode="lin" valueType="num">
                                      <p:cBhvr additive="sum">
                                        <p:cTn id="18" dur="200" decel="100000" autoRev="1" fill="hold">
                                          <p:stCondLst>
                                            <p:cond delay="600"/>
                                          </p:stCondLst>
                                        </p:cTn>
                                        <p:tgtEl>
                                          <p:spTgt spid="9"/>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 from="(-#ppt_w/2)" to="(#ppt_x)" calcmode="lin" valueType="num">
                                      <p:cBhvr>
                                        <p:cTn id="23" dur="600" fill="hold">
                                          <p:stCondLst>
                                            <p:cond delay="0"/>
                                          </p:stCondLst>
                                        </p:cTn>
                                        <p:tgtEl>
                                          <p:spTgt spid="11"/>
                                        </p:tgtEl>
                                        <p:attrNameLst>
                                          <p:attrName>ppt_x</p:attrName>
                                        </p:attrNameLst>
                                      </p:cBhvr>
                                    </p:anim>
                                    <p:anim from="0" to="-1.0" calcmode="lin" valueType="num">
                                      <p:cBhvr>
                                        <p:cTn id="24" dur="200" decel="50000" autoRev="1" fill="hold">
                                          <p:stCondLst>
                                            <p:cond delay="600"/>
                                          </p:stCondLst>
                                        </p:cTn>
                                        <p:tgtEl>
                                          <p:spTgt spid="11"/>
                                        </p:tgtEl>
                                        <p:attrNameLst>
                                          <p:attrName>xshear</p:attrName>
                                        </p:attrNameLst>
                                      </p:cBhvr>
                                    </p:anim>
                                    <p:animScale>
                                      <p:cBhvr>
                                        <p:cTn id="25" dur="200" decel="100000" autoRev="1" fill="hold">
                                          <p:stCondLst>
                                            <p:cond delay="600"/>
                                          </p:stCondLst>
                                        </p:cTn>
                                        <p:tgtEl>
                                          <p:spTgt spid="11"/>
                                        </p:tgtEl>
                                      </p:cBhvr>
                                      <p:from x="100000" y="100000"/>
                                      <p:to x="80000" y="100000"/>
                                    </p:animScale>
                                    <p:anim by="(#ppt_h/3+#ppt_w*0.1)" calcmode="lin" valueType="num">
                                      <p:cBhvr additive="sum">
                                        <p:cTn id="26" dur="200" decel="100000" autoRev="1" fill="hold">
                                          <p:stCondLst>
                                            <p:cond delay="600"/>
                                          </p:stCondLst>
                                        </p:cTn>
                                        <p:tgtEl>
                                          <p:spTgt spid="11"/>
                                        </p:tgtEl>
                                        <p:attrNameLst>
                                          <p:attrName>ppt_x</p:attrName>
                                        </p:attrNameLst>
                                      </p:cBhvr>
                                    </p:anim>
                                  </p:childTnLst>
                                </p:cTn>
                              </p:par>
                            </p:childTnLst>
                          </p:cTn>
                        </p:par>
                      </p:childTnLst>
                    </p:cTn>
                  </p:par>
                  <p:par>
                    <p:cTn id="27" fill="hold">
                      <p:stCondLst>
                        <p:cond delay="indefinite"/>
                      </p:stCondLst>
                      <p:childTnLst>
                        <p:par>
                          <p:cTn id="28" fill="hold">
                            <p:stCondLst>
                              <p:cond delay="0"/>
                            </p:stCondLst>
                            <p:childTnLst>
                              <p:par>
                                <p:cTn id="29" presetID="34"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 from="(-#ppt_w/2)" to="(#ppt_x)" calcmode="lin" valueType="num">
                                      <p:cBhvr>
                                        <p:cTn id="31" dur="600" fill="hold">
                                          <p:stCondLst>
                                            <p:cond delay="0"/>
                                          </p:stCondLst>
                                        </p:cTn>
                                        <p:tgtEl>
                                          <p:spTgt spid="13"/>
                                        </p:tgtEl>
                                        <p:attrNameLst>
                                          <p:attrName>ppt_x</p:attrName>
                                        </p:attrNameLst>
                                      </p:cBhvr>
                                    </p:anim>
                                    <p:anim from="0" to="-1.0" calcmode="lin" valueType="num">
                                      <p:cBhvr>
                                        <p:cTn id="32" dur="200" decel="50000" autoRev="1" fill="hold">
                                          <p:stCondLst>
                                            <p:cond delay="600"/>
                                          </p:stCondLst>
                                        </p:cTn>
                                        <p:tgtEl>
                                          <p:spTgt spid="13"/>
                                        </p:tgtEl>
                                        <p:attrNameLst>
                                          <p:attrName>xshear</p:attrName>
                                        </p:attrNameLst>
                                      </p:cBhvr>
                                    </p:anim>
                                    <p:animScale>
                                      <p:cBhvr>
                                        <p:cTn id="33" dur="200" decel="100000" autoRev="1" fill="hold">
                                          <p:stCondLst>
                                            <p:cond delay="600"/>
                                          </p:stCondLst>
                                        </p:cTn>
                                        <p:tgtEl>
                                          <p:spTgt spid="13"/>
                                        </p:tgtEl>
                                      </p:cBhvr>
                                      <p:from x="100000" y="100000"/>
                                      <p:to x="80000" y="100000"/>
                                    </p:animScale>
                                    <p:anim by="(#ppt_h/3+#ppt_w*0.1)" calcmode="lin" valueType="num">
                                      <p:cBhvr additive="sum">
                                        <p:cTn id="34" dur="200" decel="100000" autoRev="1" fill="hold">
                                          <p:stCondLst>
                                            <p:cond delay="600"/>
                                          </p:stCondLst>
                                        </p:cTn>
                                        <p:tgtEl>
                                          <p:spTgt spid="13"/>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1" grpId="0"/>
      <p:bldP spid="1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D30B1-1864-30EF-7EAB-9BEE656C0012}"/>
              </a:ext>
            </a:extLst>
          </p:cNvPr>
          <p:cNvSpPr>
            <a:spLocks noGrp="1"/>
          </p:cNvSpPr>
          <p:nvPr>
            <p:ph type="title"/>
          </p:nvPr>
        </p:nvSpPr>
        <p:spPr/>
        <p:txBody>
          <a:bodyPr>
            <a:noAutofit/>
          </a:bodyPr>
          <a:lstStyle/>
          <a:p>
            <a:r>
              <a:rPr lang="en-US">
                <a:solidFill>
                  <a:srgbClr val="1F3864"/>
                </a:solidFill>
              </a:rPr>
              <a:t>A placebo surgery</a:t>
            </a:r>
          </a:p>
        </p:txBody>
      </p:sp>
      <p:sp>
        <p:nvSpPr>
          <p:cNvPr id="4" name="Slide Number Placeholder 3">
            <a:extLst>
              <a:ext uri="{FF2B5EF4-FFF2-40B4-BE49-F238E27FC236}">
                <a16:creationId xmlns:a16="http://schemas.microsoft.com/office/drawing/2014/main" id="{3F875068-D051-44AE-498E-1BEBEDE3A7C8}"/>
              </a:ext>
            </a:extLst>
          </p:cNvPr>
          <p:cNvSpPr>
            <a:spLocks noGrp="1"/>
          </p:cNvSpPr>
          <p:nvPr>
            <p:ph type="sldNum" sz="quarter" idx="12"/>
          </p:nvPr>
        </p:nvSpPr>
        <p:spPr/>
        <p:txBody>
          <a:bodyPr/>
          <a:lstStyle/>
          <a:p>
            <a:fld id="{A80A81DD-F10A-4B1C-963A-0ABBB4865886}" type="slidenum">
              <a:rPr lang="en-US" sz="1600" smtClean="0"/>
              <a:t>4</a:t>
            </a:fld>
            <a:endParaRPr lang="en-US" sz="1600"/>
          </a:p>
        </p:txBody>
      </p:sp>
      <p:sp>
        <p:nvSpPr>
          <p:cNvPr id="5" name="TextBox 4">
            <a:extLst>
              <a:ext uri="{FF2B5EF4-FFF2-40B4-BE49-F238E27FC236}">
                <a16:creationId xmlns:a16="http://schemas.microsoft.com/office/drawing/2014/main" id="{0F4C9AC6-4D0C-1228-AAA9-21B804DFEE48}"/>
              </a:ext>
            </a:extLst>
          </p:cNvPr>
          <p:cNvSpPr txBox="1"/>
          <p:nvPr/>
        </p:nvSpPr>
        <p:spPr>
          <a:xfrm>
            <a:off x="762000" y="1905000"/>
            <a:ext cx="10668000" cy="2369880"/>
          </a:xfrm>
          <a:prstGeom prst="rect">
            <a:avLst/>
          </a:prstGeom>
          <a:noFill/>
        </p:spPr>
        <p:txBody>
          <a:bodyPr vert="horz" wrap="square" rtlCol="0">
            <a:spAutoFit/>
          </a:bodyPr>
          <a:lstStyle/>
          <a:p>
            <a:pPr>
              <a:spcAft>
                <a:spcPts val="800"/>
              </a:spcAft>
            </a:pPr>
            <a:r>
              <a:rPr lang="en-US" sz="1600">
                <a:solidFill>
                  <a:srgbClr val="000000"/>
                </a:solidFill>
              </a:rPr>
              <a:t>Arthroscopic knee surgery for osteoarthritis was one of the most common operations in the United States, and patients said it helped.</a:t>
            </a:r>
          </a:p>
          <a:p>
            <a:pPr>
              <a:spcAft>
                <a:spcPts val="800"/>
              </a:spcAft>
            </a:pPr>
            <a:r>
              <a:rPr lang="en-US" sz="1600">
                <a:solidFill>
                  <a:srgbClr val="000000"/>
                </a:solidFill>
              </a:rPr>
              <a:t>Moseley and colleagues (2002) enrolled 180 patients with knee osteoarthritis at the Houston VA Medical Center and assigned each of them at random to one of three groups: arthroscopic debridement, arthroscopic lavage, or placebo surgery - skin incisions and a simulated procedure, with no arthroscope inserted.</a:t>
            </a:r>
          </a:p>
          <a:p>
            <a:pPr>
              <a:spcAft>
                <a:spcPts val="800"/>
              </a:spcAft>
            </a:pPr>
            <a:r>
              <a:rPr lang="en-US" sz="1600">
                <a:solidFill>
                  <a:srgbClr val="000000"/>
                </a:solidFill>
              </a:rPr>
              <a:t>Neither the patients nor the staff who later measured their pain and function knew which group a patient was in. Every patient was followed for two years.</a:t>
            </a:r>
          </a:p>
          <a:p>
            <a:pPr>
              <a:spcAft>
                <a:spcPts val="800"/>
              </a:spcAft>
            </a:pPr>
            <a:r>
              <a:rPr lang="en-US" sz="1600" b="1">
                <a:solidFill>
                  <a:srgbClr val="1F3864"/>
                </a:solidFill>
              </a:rPr>
              <a:t>What kind of study is this, and what is it about the design that lets it answer the question?</a:t>
            </a:r>
          </a:p>
        </p:txBody>
      </p:sp>
      <p:sp>
        <p:nvSpPr>
          <p:cNvPr id="6" name="Rectangle: Rounded Corners 5">
            <a:extLst>
              <a:ext uri="{FF2B5EF4-FFF2-40B4-BE49-F238E27FC236}">
                <a16:creationId xmlns:a16="http://schemas.microsoft.com/office/drawing/2014/main" id="{430B310F-DAC4-4E75-0390-F480FCCED58F}"/>
              </a:ext>
            </a:extLst>
          </p:cNvPr>
          <p:cNvSpPr/>
          <p:nvPr/>
        </p:nvSpPr>
        <p:spPr>
          <a:xfrm>
            <a:off x="762000" y="4503480"/>
            <a:ext cx="10668000" cy="1411784"/>
          </a:xfrm>
          <a:prstGeom prst="roundRect">
            <a:avLst>
              <a:gd name="adj" fmla="val 4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76200" rIns="152400" bIns="76200" rtlCol="0" anchor="ctr">
            <a:spAutoFit/>
          </a:bodyPr>
          <a:lstStyle/>
          <a:p>
            <a:r>
              <a:rPr lang="en-US" sz="1600" b="1">
                <a:solidFill>
                  <a:srgbClr val="C00000"/>
                </a:solidFill>
              </a:rPr>
              <a:t>A completely randomized, double blind experiment.</a:t>
            </a:r>
          </a:p>
          <a:p>
            <a:r>
              <a:rPr lang="en-US" sz="1600">
                <a:solidFill>
                  <a:srgbClr val="000000"/>
                </a:solidFill>
              </a:rPr>
              <a:t>Three treatments assigned at random, one of them a placebo; double blind because both the patients and the assessors were kept unaware of who got which. Over two years neither surgery group did better than the placebo group on pain or function - the benefit patients felt came from believing they had been treated. Without a placebo arm and blinding, nobody would have known.</a:t>
            </a:r>
          </a:p>
        </p:txBody>
      </p:sp>
      <p:sp>
        <p:nvSpPr>
          <p:cNvPr id="7" name="TextBox 6">
            <a:extLst>
              <a:ext uri="{FF2B5EF4-FFF2-40B4-BE49-F238E27FC236}">
                <a16:creationId xmlns:a16="http://schemas.microsoft.com/office/drawing/2014/main" id="{79606FF6-2B22-36E5-8DCE-A56C8CF16F63}"/>
              </a:ext>
            </a:extLst>
          </p:cNvPr>
          <p:cNvSpPr txBox="1"/>
          <p:nvPr/>
        </p:nvSpPr>
        <p:spPr>
          <a:xfrm>
            <a:off x="762000" y="6045200"/>
            <a:ext cx="10668000" cy="345440"/>
          </a:xfrm>
          <a:prstGeom prst="rect">
            <a:avLst/>
          </a:prstGeom>
          <a:noFill/>
        </p:spPr>
        <p:txBody>
          <a:bodyPr vert="horz" wrap="square" rtlCol="0">
            <a:noAutofit/>
          </a:bodyPr>
          <a:lstStyle/>
          <a:p>
            <a:pPr algn="r"/>
            <a:r>
              <a:rPr lang="en-US" sz="1600" i="1">
                <a:solidFill>
                  <a:srgbClr val="595959"/>
                </a:solidFill>
              </a:rPr>
              <a:t>Source: Moseley et al. (2002), New England Journal of Medicine</a:t>
            </a:r>
          </a:p>
        </p:txBody>
      </p:sp>
      <p:sp>
        <p:nvSpPr>
          <p:cNvPr id="3" name="Title rule">
            <a:extLst>
              <a:ext uri="{FF2B5EF4-FFF2-40B4-BE49-F238E27FC236}">
                <a16:creationId xmlns:a16="http://schemas.microsoft.com/office/drawing/2014/main" id="{30656AA8-9645-F028-C769-A313710853CC}"/>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576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DFFFD-794F-2D51-6BF6-99175D91ADBC}"/>
              </a:ext>
            </a:extLst>
          </p:cNvPr>
          <p:cNvSpPr>
            <a:spLocks noGrp="1"/>
          </p:cNvSpPr>
          <p:nvPr>
            <p:ph type="title"/>
          </p:nvPr>
        </p:nvSpPr>
        <p:spPr/>
        <p:txBody>
          <a:bodyPr>
            <a:noAutofit/>
          </a:bodyPr>
          <a:lstStyle/>
          <a:p>
            <a:r>
              <a:rPr lang="en-US">
                <a:solidFill>
                  <a:srgbClr val="1F3864"/>
                </a:solidFill>
              </a:rPr>
              <a:t>Completely randomized design</a:t>
            </a:r>
          </a:p>
        </p:txBody>
      </p:sp>
      <p:sp>
        <p:nvSpPr>
          <p:cNvPr id="4" name="Slide Number Placeholder 3">
            <a:extLst>
              <a:ext uri="{FF2B5EF4-FFF2-40B4-BE49-F238E27FC236}">
                <a16:creationId xmlns:a16="http://schemas.microsoft.com/office/drawing/2014/main" id="{C74F55A9-BBE0-BEF2-E763-410F3F2D8A6D}"/>
              </a:ext>
            </a:extLst>
          </p:cNvPr>
          <p:cNvSpPr>
            <a:spLocks noGrp="1"/>
          </p:cNvSpPr>
          <p:nvPr>
            <p:ph type="sldNum" sz="quarter" idx="12"/>
          </p:nvPr>
        </p:nvSpPr>
        <p:spPr/>
        <p:txBody>
          <a:bodyPr/>
          <a:lstStyle/>
          <a:p>
            <a:fld id="{A80A81DD-F10A-4B1C-963A-0ABBB4865886}" type="slidenum">
              <a:rPr lang="en-US" sz="1600" smtClean="0"/>
              <a:t>5</a:t>
            </a:fld>
            <a:endParaRPr lang="en-US" sz="1600"/>
          </a:p>
        </p:txBody>
      </p:sp>
      <p:sp>
        <p:nvSpPr>
          <p:cNvPr id="5" name="TextBox 4">
            <a:extLst>
              <a:ext uri="{FF2B5EF4-FFF2-40B4-BE49-F238E27FC236}">
                <a16:creationId xmlns:a16="http://schemas.microsoft.com/office/drawing/2014/main" id="{1FB25ADE-6103-7A0C-04BB-BDC5C6DAFA8D}"/>
              </a:ext>
            </a:extLst>
          </p:cNvPr>
          <p:cNvSpPr txBox="1"/>
          <p:nvPr/>
        </p:nvSpPr>
        <p:spPr>
          <a:xfrm>
            <a:off x="762000" y="1841500"/>
            <a:ext cx="3556000" cy="345440"/>
          </a:xfrm>
          <a:prstGeom prst="rect">
            <a:avLst/>
          </a:prstGeom>
          <a:noFill/>
        </p:spPr>
        <p:txBody>
          <a:bodyPr vert="horz" wrap="square" rtlCol="0">
            <a:noAutofit/>
          </a:bodyPr>
          <a:lstStyle/>
          <a:p>
            <a:r>
              <a:rPr lang="en-US" sz="1600" b="1">
                <a:solidFill>
                  <a:srgbClr val="C00000"/>
                </a:solidFill>
              </a:rPr>
              <a:t>completely randomized design</a:t>
            </a:r>
          </a:p>
        </p:txBody>
      </p:sp>
      <p:sp>
        <p:nvSpPr>
          <p:cNvPr id="6" name="TextBox 5">
            <a:extLst>
              <a:ext uri="{FF2B5EF4-FFF2-40B4-BE49-F238E27FC236}">
                <a16:creationId xmlns:a16="http://schemas.microsoft.com/office/drawing/2014/main" id="{9A944CA3-DDEF-F323-A745-E769C814FD58}"/>
              </a:ext>
            </a:extLst>
          </p:cNvPr>
          <p:cNvSpPr txBox="1"/>
          <p:nvPr/>
        </p:nvSpPr>
        <p:spPr>
          <a:xfrm>
            <a:off x="4419600" y="1841500"/>
            <a:ext cx="7010400" cy="345440"/>
          </a:xfrm>
          <a:prstGeom prst="rect">
            <a:avLst/>
          </a:prstGeom>
          <a:noFill/>
        </p:spPr>
        <p:txBody>
          <a:bodyPr vert="horz" wrap="square" rtlCol="0">
            <a:noAutofit/>
          </a:bodyPr>
          <a:lstStyle/>
          <a:p>
            <a:r>
              <a:rPr lang="en-US" sz="1600">
                <a:solidFill>
                  <a:srgbClr val="000000"/>
                </a:solidFill>
              </a:rPr>
              <a:t>every unit is assigned to a treatment completely at random - the simplest design</a:t>
            </a:r>
          </a:p>
        </p:txBody>
      </p:sp>
      <p:pic>
        <p:nvPicPr>
          <p:cNvPr id="8" name="l8_crd.png">
            <a:extLst>
              <a:ext uri="{FF2B5EF4-FFF2-40B4-BE49-F238E27FC236}">
                <a16:creationId xmlns:a16="http://schemas.microsoft.com/office/drawing/2014/main" id="{3FC0221E-5D8D-7C80-A7E6-B2E075C913A7}"/>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62000" y="2415540"/>
            <a:ext cx="10668000" cy="3175000"/>
          </a:xfrm>
          <a:prstGeom prst="rect">
            <a:avLst/>
          </a:prstGeom>
        </p:spPr>
      </p:pic>
      <p:sp>
        <p:nvSpPr>
          <p:cNvPr id="9" name="TextBox 8">
            <a:extLst>
              <a:ext uri="{FF2B5EF4-FFF2-40B4-BE49-F238E27FC236}">
                <a16:creationId xmlns:a16="http://schemas.microsoft.com/office/drawing/2014/main" id="{82EA08B7-5DFB-36CD-640D-6116218D8A8F}"/>
              </a:ext>
            </a:extLst>
          </p:cNvPr>
          <p:cNvSpPr txBox="1"/>
          <p:nvPr/>
        </p:nvSpPr>
        <p:spPr>
          <a:xfrm>
            <a:off x="762000" y="5969000"/>
            <a:ext cx="10668000" cy="345440"/>
          </a:xfrm>
          <a:prstGeom prst="rect">
            <a:avLst/>
          </a:prstGeom>
          <a:noFill/>
        </p:spPr>
        <p:txBody>
          <a:bodyPr vert="horz" wrap="square" rtlCol="0">
            <a:noAutofit/>
          </a:bodyPr>
          <a:lstStyle/>
          <a:p>
            <a:r>
              <a:rPr lang="en-US" sz="1600">
                <a:solidFill>
                  <a:srgbClr val="000000"/>
                </a:solidFill>
              </a:rPr>
              <a:t>The Pfizer-BioNTech vaccine trial was a completely randomized design with two groups</a:t>
            </a:r>
          </a:p>
        </p:txBody>
      </p:sp>
      <p:sp>
        <p:nvSpPr>
          <p:cNvPr id="3" name="Title rule">
            <a:extLst>
              <a:ext uri="{FF2B5EF4-FFF2-40B4-BE49-F238E27FC236}">
                <a16:creationId xmlns:a16="http://schemas.microsoft.com/office/drawing/2014/main" id="{9CF4558A-F54B-AF72-380B-784DCD25734D}"/>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07642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63B3A-82BB-BE51-84B8-B8AF27E3C5AE}"/>
              </a:ext>
            </a:extLst>
          </p:cNvPr>
          <p:cNvSpPr>
            <a:spLocks noGrp="1"/>
          </p:cNvSpPr>
          <p:nvPr>
            <p:ph type="title"/>
          </p:nvPr>
        </p:nvSpPr>
        <p:spPr/>
        <p:txBody>
          <a:bodyPr>
            <a:noAutofit/>
          </a:bodyPr>
          <a:lstStyle/>
          <a:p>
            <a:r>
              <a:rPr lang="en-US">
                <a:solidFill>
                  <a:srgbClr val="1F3864"/>
                </a:solidFill>
              </a:rPr>
              <a:t>Randomized block design</a:t>
            </a:r>
          </a:p>
        </p:txBody>
      </p:sp>
      <p:sp>
        <p:nvSpPr>
          <p:cNvPr id="4" name="Slide Number Placeholder 3">
            <a:extLst>
              <a:ext uri="{FF2B5EF4-FFF2-40B4-BE49-F238E27FC236}">
                <a16:creationId xmlns:a16="http://schemas.microsoft.com/office/drawing/2014/main" id="{F37082B3-3A15-6187-05D8-948D87958DA4}"/>
              </a:ext>
            </a:extLst>
          </p:cNvPr>
          <p:cNvSpPr>
            <a:spLocks noGrp="1"/>
          </p:cNvSpPr>
          <p:nvPr>
            <p:ph type="sldNum" sz="quarter" idx="12"/>
          </p:nvPr>
        </p:nvSpPr>
        <p:spPr/>
        <p:txBody>
          <a:bodyPr/>
          <a:lstStyle/>
          <a:p>
            <a:fld id="{A80A81DD-F10A-4B1C-963A-0ABBB4865886}" type="slidenum">
              <a:rPr lang="en-US" sz="1600" smtClean="0"/>
              <a:t>6</a:t>
            </a:fld>
            <a:endParaRPr lang="en-US" sz="1600"/>
          </a:p>
        </p:txBody>
      </p:sp>
      <p:sp>
        <p:nvSpPr>
          <p:cNvPr id="5" name="TextBox 4">
            <a:extLst>
              <a:ext uri="{FF2B5EF4-FFF2-40B4-BE49-F238E27FC236}">
                <a16:creationId xmlns:a16="http://schemas.microsoft.com/office/drawing/2014/main" id="{F98D7313-2EFA-DDCC-83CD-016A2EA319DF}"/>
              </a:ext>
            </a:extLst>
          </p:cNvPr>
          <p:cNvSpPr txBox="1"/>
          <p:nvPr/>
        </p:nvSpPr>
        <p:spPr>
          <a:xfrm>
            <a:off x="762000" y="1841500"/>
            <a:ext cx="3175000" cy="345440"/>
          </a:xfrm>
          <a:prstGeom prst="rect">
            <a:avLst/>
          </a:prstGeom>
          <a:noFill/>
        </p:spPr>
        <p:txBody>
          <a:bodyPr vert="horz" wrap="square" rtlCol="0">
            <a:noAutofit/>
          </a:bodyPr>
          <a:lstStyle/>
          <a:p>
            <a:r>
              <a:rPr lang="en-US" sz="1600" b="1">
                <a:solidFill>
                  <a:srgbClr val="C00000"/>
                </a:solidFill>
              </a:rPr>
              <a:t>block</a:t>
            </a:r>
          </a:p>
        </p:txBody>
      </p:sp>
      <p:sp>
        <p:nvSpPr>
          <p:cNvPr id="6" name="TextBox 5">
            <a:extLst>
              <a:ext uri="{FF2B5EF4-FFF2-40B4-BE49-F238E27FC236}">
                <a16:creationId xmlns:a16="http://schemas.microsoft.com/office/drawing/2014/main" id="{CE68491B-42D0-6F62-D1EB-414351AE3540}"/>
              </a:ext>
            </a:extLst>
          </p:cNvPr>
          <p:cNvSpPr txBox="1"/>
          <p:nvPr/>
        </p:nvSpPr>
        <p:spPr>
          <a:xfrm>
            <a:off x="4038600" y="1841499"/>
            <a:ext cx="7391400" cy="589280"/>
          </a:xfrm>
          <a:prstGeom prst="rect">
            <a:avLst/>
          </a:prstGeom>
          <a:noFill/>
        </p:spPr>
        <p:txBody>
          <a:bodyPr vert="horz" wrap="square" rtlCol="0">
            <a:noAutofit/>
          </a:bodyPr>
          <a:lstStyle/>
          <a:p>
            <a:r>
              <a:rPr lang="en-US" sz="1600">
                <a:solidFill>
                  <a:srgbClr val="000000"/>
                </a:solidFill>
              </a:rPr>
              <a:t>a group of units that are alike in a way that affects the response, formed BEFORE treatments are assigned</a:t>
            </a:r>
          </a:p>
        </p:txBody>
      </p:sp>
      <p:sp>
        <p:nvSpPr>
          <p:cNvPr id="7" name="TextBox 6">
            <a:extLst>
              <a:ext uri="{FF2B5EF4-FFF2-40B4-BE49-F238E27FC236}">
                <a16:creationId xmlns:a16="http://schemas.microsoft.com/office/drawing/2014/main" id="{B1111355-2EF9-878B-BBF5-3AD598A60D7B}"/>
              </a:ext>
            </a:extLst>
          </p:cNvPr>
          <p:cNvSpPr txBox="1"/>
          <p:nvPr/>
        </p:nvSpPr>
        <p:spPr>
          <a:xfrm>
            <a:off x="762000" y="2506980"/>
            <a:ext cx="3175000" cy="345440"/>
          </a:xfrm>
          <a:prstGeom prst="rect">
            <a:avLst/>
          </a:prstGeom>
          <a:noFill/>
        </p:spPr>
        <p:txBody>
          <a:bodyPr vert="horz" wrap="square" rtlCol="0">
            <a:noAutofit/>
          </a:bodyPr>
          <a:lstStyle/>
          <a:p>
            <a:r>
              <a:rPr lang="en-US" sz="1600" b="1">
                <a:solidFill>
                  <a:srgbClr val="C00000"/>
                </a:solidFill>
              </a:rPr>
              <a:t>randomized block design</a:t>
            </a:r>
          </a:p>
        </p:txBody>
      </p:sp>
      <p:sp>
        <p:nvSpPr>
          <p:cNvPr id="8" name="TextBox 7">
            <a:extLst>
              <a:ext uri="{FF2B5EF4-FFF2-40B4-BE49-F238E27FC236}">
                <a16:creationId xmlns:a16="http://schemas.microsoft.com/office/drawing/2014/main" id="{594EE7E9-B4FA-AE7D-2F32-7824F8BEBECC}"/>
              </a:ext>
            </a:extLst>
          </p:cNvPr>
          <p:cNvSpPr txBox="1"/>
          <p:nvPr/>
        </p:nvSpPr>
        <p:spPr>
          <a:xfrm>
            <a:off x="4038600" y="2506979"/>
            <a:ext cx="7391400" cy="833120"/>
          </a:xfrm>
          <a:prstGeom prst="rect">
            <a:avLst/>
          </a:prstGeom>
          <a:noFill/>
        </p:spPr>
        <p:txBody>
          <a:bodyPr vert="horz" wrap="square" rtlCol="0">
            <a:noAutofit/>
          </a:bodyPr>
          <a:lstStyle/>
          <a:p>
            <a:r>
              <a:rPr lang="en-US" sz="1600">
                <a:solidFill>
                  <a:srgbClr val="000000"/>
                </a:solidFill>
              </a:rPr>
              <a:t>randomize treatments separately inside each block, then compare treatments within blocks</a:t>
            </a:r>
          </a:p>
          <a:p>
            <a:r>
              <a:rPr lang="en-US" sz="1600" i="1">
                <a:solidFill>
                  <a:srgbClr val="595959"/>
                </a:solidFill>
              </a:rPr>
              <a:t>blocking is to experiments what stratifying is to sampling</a:t>
            </a:r>
          </a:p>
        </p:txBody>
      </p:sp>
      <p:pic>
        <p:nvPicPr>
          <p:cNvPr id="10" name="l8_rcbd.png">
            <a:extLst>
              <a:ext uri="{FF2B5EF4-FFF2-40B4-BE49-F238E27FC236}">
                <a16:creationId xmlns:a16="http://schemas.microsoft.com/office/drawing/2014/main" id="{4D9C6247-9EE5-17B5-FA09-387DA7C382E5}"/>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62000" y="3429000"/>
            <a:ext cx="10668000" cy="2870200"/>
          </a:xfrm>
          <a:prstGeom prst="rect">
            <a:avLst/>
          </a:prstGeom>
        </p:spPr>
      </p:pic>
      <p:sp>
        <p:nvSpPr>
          <p:cNvPr id="3" name="Title rule">
            <a:extLst>
              <a:ext uri="{FF2B5EF4-FFF2-40B4-BE49-F238E27FC236}">
                <a16:creationId xmlns:a16="http://schemas.microsoft.com/office/drawing/2014/main" id="{683653CB-384B-87DB-C6CB-FB5F26D39118}"/>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34600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E825F3-CA5C-D321-A12F-235D7E6C102E}"/>
              </a:ext>
            </a:extLst>
          </p:cNvPr>
          <p:cNvSpPr>
            <a:spLocks noGrp="1"/>
          </p:cNvSpPr>
          <p:nvPr>
            <p:ph type="title"/>
          </p:nvPr>
        </p:nvSpPr>
        <p:spPr/>
        <p:txBody>
          <a:bodyPr>
            <a:noAutofit/>
          </a:bodyPr>
          <a:lstStyle/>
          <a:p>
            <a:r>
              <a:rPr lang="en-US">
                <a:solidFill>
                  <a:srgbClr val="1F3864"/>
                </a:solidFill>
              </a:rPr>
              <a:t>Matched pairs design</a:t>
            </a:r>
          </a:p>
        </p:txBody>
      </p:sp>
      <p:sp>
        <p:nvSpPr>
          <p:cNvPr id="4" name="Slide Number Placeholder 3">
            <a:extLst>
              <a:ext uri="{FF2B5EF4-FFF2-40B4-BE49-F238E27FC236}">
                <a16:creationId xmlns:a16="http://schemas.microsoft.com/office/drawing/2014/main" id="{632F5803-1B77-5AE0-EEB8-17B8E3F9722A}"/>
              </a:ext>
            </a:extLst>
          </p:cNvPr>
          <p:cNvSpPr>
            <a:spLocks noGrp="1"/>
          </p:cNvSpPr>
          <p:nvPr>
            <p:ph type="sldNum" sz="quarter" idx="12"/>
          </p:nvPr>
        </p:nvSpPr>
        <p:spPr/>
        <p:txBody>
          <a:bodyPr/>
          <a:lstStyle/>
          <a:p>
            <a:fld id="{A80A81DD-F10A-4B1C-963A-0ABBB4865886}" type="slidenum">
              <a:rPr lang="en-US" sz="1600" smtClean="0"/>
              <a:t>7</a:t>
            </a:fld>
            <a:endParaRPr lang="en-US" sz="1600"/>
          </a:p>
        </p:txBody>
      </p:sp>
      <p:sp>
        <p:nvSpPr>
          <p:cNvPr id="5" name="TextBox 4">
            <a:extLst>
              <a:ext uri="{FF2B5EF4-FFF2-40B4-BE49-F238E27FC236}">
                <a16:creationId xmlns:a16="http://schemas.microsoft.com/office/drawing/2014/main" id="{F2C3E119-33DB-B84A-C9CB-1DA41099D1A1}"/>
              </a:ext>
            </a:extLst>
          </p:cNvPr>
          <p:cNvSpPr txBox="1"/>
          <p:nvPr/>
        </p:nvSpPr>
        <p:spPr>
          <a:xfrm>
            <a:off x="762000" y="1841500"/>
            <a:ext cx="3175000" cy="345440"/>
          </a:xfrm>
          <a:prstGeom prst="rect">
            <a:avLst/>
          </a:prstGeom>
          <a:noFill/>
        </p:spPr>
        <p:txBody>
          <a:bodyPr vert="horz" wrap="square" rtlCol="0">
            <a:noAutofit/>
          </a:bodyPr>
          <a:lstStyle/>
          <a:p>
            <a:r>
              <a:rPr lang="en-US" sz="1600" b="1">
                <a:solidFill>
                  <a:srgbClr val="C00000"/>
                </a:solidFill>
              </a:rPr>
              <a:t>matched pairs design</a:t>
            </a:r>
          </a:p>
        </p:txBody>
      </p:sp>
      <p:sp>
        <p:nvSpPr>
          <p:cNvPr id="6" name="TextBox 5">
            <a:extLst>
              <a:ext uri="{FF2B5EF4-FFF2-40B4-BE49-F238E27FC236}">
                <a16:creationId xmlns:a16="http://schemas.microsoft.com/office/drawing/2014/main" id="{377D380C-8635-8A53-300D-33D0068157E3}"/>
              </a:ext>
            </a:extLst>
          </p:cNvPr>
          <p:cNvSpPr txBox="1"/>
          <p:nvPr/>
        </p:nvSpPr>
        <p:spPr>
          <a:xfrm>
            <a:off x="4038600" y="1841499"/>
            <a:ext cx="7391400" cy="833120"/>
          </a:xfrm>
          <a:prstGeom prst="rect">
            <a:avLst/>
          </a:prstGeom>
          <a:noFill/>
        </p:spPr>
        <p:txBody>
          <a:bodyPr vert="horz" wrap="square" rtlCol="0">
            <a:noAutofit/>
          </a:bodyPr>
          <a:lstStyle/>
          <a:p>
            <a:r>
              <a:rPr lang="en-US" sz="1600">
                <a:solidFill>
                  <a:srgbClr val="000000"/>
                </a:solidFill>
              </a:rPr>
              <a:t>a block design where every block is a pair of very similar units, and a coin flip decides which one gets each treatment</a:t>
            </a:r>
          </a:p>
          <a:p>
            <a:r>
              <a:rPr lang="en-US" sz="1600" i="1">
                <a:solidFill>
                  <a:srgbClr val="595959"/>
                </a:solidFill>
              </a:rPr>
              <a:t>or each subject is their own pair, receiving both treatments in a random order</a:t>
            </a:r>
          </a:p>
        </p:txBody>
      </p:sp>
      <p:pic>
        <p:nvPicPr>
          <p:cNvPr id="8" name="l8_matched_pairs.png">
            <a:extLst>
              <a:ext uri="{FF2B5EF4-FFF2-40B4-BE49-F238E27FC236}">
                <a16:creationId xmlns:a16="http://schemas.microsoft.com/office/drawing/2014/main" id="{3439A8BA-7800-029C-E47E-C6620E508DF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62000" y="2852420"/>
            <a:ext cx="10668000" cy="2921000"/>
          </a:xfrm>
          <a:prstGeom prst="rect">
            <a:avLst/>
          </a:prstGeom>
        </p:spPr>
      </p:pic>
      <p:sp>
        <p:nvSpPr>
          <p:cNvPr id="9" name="TextBox 8">
            <a:extLst>
              <a:ext uri="{FF2B5EF4-FFF2-40B4-BE49-F238E27FC236}">
                <a16:creationId xmlns:a16="http://schemas.microsoft.com/office/drawing/2014/main" id="{854AE21D-EF44-4EB5-7BCB-35F9FA4BF6CF}"/>
              </a:ext>
            </a:extLst>
          </p:cNvPr>
          <p:cNvSpPr txBox="1"/>
          <p:nvPr/>
        </p:nvSpPr>
        <p:spPr>
          <a:xfrm>
            <a:off x="762000" y="5994400"/>
            <a:ext cx="10668000" cy="345440"/>
          </a:xfrm>
          <a:prstGeom prst="rect">
            <a:avLst/>
          </a:prstGeom>
          <a:noFill/>
        </p:spPr>
        <p:txBody>
          <a:bodyPr vert="horz" wrap="square" rtlCol="0">
            <a:noAutofit/>
          </a:bodyPr>
          <a:lstStyle/>
          <a:p>
            <a:r>
              <a:rPr lang="en-US" sz="1600">
                <a:solidFill>
                  <a:srgbClr val="000000"/>
                </a:solidFill>
              </a:rPr>
              <a:t>Before-and-after data with no random order or control group is much weaker evidence</a:t>
            </a:r>
          </a:p>
        </p:txBody>
      </p:sp>
      <p:sp>
        <p:nvSpPr>
          <p:cNvPr id="3" name="Title rule">
            <a:extLst>
              <a:ext uri="{FF2B5EF4-FFF2-40B4-BE49-F238E27FC236}">
                <a16:creationId xmlns:a16="http://schemas.microsoft.com/office/drawing/2014/main" id="{784C6B91-DD86-0BA1-4A71-C454C38471E5}"/>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0697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from="(-#ppt_w/2)" to="(#ppt_x)" calcmode="lin" valueType="num">
                                      <p:cBhvr>
                                        <p:cTn id="15" dur="600" fill="hold">
                                          <p:stCondLst>
                                            <p:cond delay="0"/>
                                          </p:stCondLst>
                                        </p:cTn>
                                        <p:tgtEl>
                                          <p:spTgt spid="9"/>
                                        </p:tgtEl>
                                        <p:attrNameLst>
                                          <p:attrName>ppt_x</p:attrName>
                                        </p:attrNameLst>
                                      </p:cBhvr>
                                    </p:anim>
                                    <p:anim from="0" to="-1.0" calcmode="lin" valueType="num">
                                      <p:cBhvr>
                                        <p:cTn id="16" dur="200" decel="50000" autoRev="1" fill="hold">
                                          <p:stCondLst>
                                            <p:cond delay="600"/>
                                          </p:stCondLst>
                                        </p:cTn>
                                        <p:tgtEl>
                                          <p:spTgt spid="9"/>
                                        </p:tgtEl>
                                        <p:attrNameLst>
                                          <p:attrName>xshear</p:attrName>
                                        </p:attrNameLst>
                                      </p:cBhvr>
                                    </p:anim>
                                    <p:animScale>
                                      <p:cBhvr>
                                        <p:cTn id="17" dur="200" decel="100000" autoRev="1" fill="hold">
                                          <p:stCondLst>
                                            <p:cond delay="600"/>
                                          </p:stCondLst>
                                        </p:cTn>
                                        <p:tgtEl>
                                          <p:spTgt spid="9"/>
                                        </p:tgtEl>
                                      </p:cBhvr>
                                      <p:from x="100000" y="100000"/>
                                      <p:to x="80000" y="100000"/>
                                    </p:animScale>
                                    <p:anim by="(#ppt_h/3+#ppt_w*0.1)" calcmode="lin" valueType="num">
                                      <p:cBhvr additive="sum">
                                        <p:cTn id="18" dur="200" decel="100000" autoRev="1" fill="hold">
                                          <p:stCondLst>
                                            <p:cond delay="600"/>
                                          </p:stCondLst>
                                        </p:cTn>
                                        <p:tgtEl>
                                          <p:spTgt spid="9"/>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4220BC-F401-2AC4-1387-5CA1219B7E18}"/>
              </a:ext>
            </a:extLst>
          </p:cNvPr>
          <p:cNvSpPr>
            <a:spLocks noGrp="1"/>
          </p:cNvSpPr>
          <p:nvPr>
            <p:ph type="title"/>
          </p:nvPr>
        </p:nvSpPr>
        <p:spPr/>
        <p:txBody>
          <a:bodyPr>
            <a:noAutofit/>
          </a:bodyPr>
          <a:lstStyle/>
          <a:p>
            <a:r>
              <a:rPr lang="en-US">
                <a:solidFill>
                  <a:srgbClr val="1F3864"/>
                </a:solidFill>
              </a:rPr>
              <a:t>What does randomization buy you?</a:t>
            </a:r>
          </a:p>
        </p:txBody>
      </p:sp>
      <p:sp>
        <p:nvSpPr>
          <p:cNvPr id="4" name="Slide Number Placeholder 3">
            <a:extLst>
              <a:ext uri="{FF2B5EF4-FFF2-40B4-BE49-F238E27FC236}">
                <a16:creationId xmlns:a16="http://schemas.microsoft.com/office/drawing/2014/main" id="{BCA126EC-9647-D00A-626C-6261106C1147}"/>
              </a:ext>
            </a:extLst>
          </p:cNvPr>
          <p:cNvSpPr>
            <a:spLocks noGrp="1"/>
          </p:cNvSpPr>
          <p:nvPr>
            <p:ph type="sldNum" sz="quarter" idx="12"/>
          </p:nvPr>
        </p:nvSpPr>
        <p:spPr/>
        <p:txBody>
          <a:bodyPr/>
          <a:lstStyle/>
          <a:p>
            <a:fld id="{A80A81DD-F10A-4B1C-963A-0ABBB4865886}" type="slidenum">
              <a:rPr lang="en-US" sz="1600" smtClean="0"/>
              <a:t>8</a:t>
            </a:fld>
            <a:endParaRPr lang="en-US" sz="1600"/>
          </a:p>
        </p:txBody>
      </p:sp>
      <p:sp>
        <p:nvSpPr>
          <p:cNvPr id="5" name="TextBox 4">
            <a:extLst>
              <a:ext uri="{FF2B5EF4-FFF2-40B4-BE49-F238E27FC236}">
                <a16:creationId xmlns:a16="http://schemas.microsoft.com/office/drawing/2014/main" id="{A4B04C0C-E47B-20AC-31E4-94DC4C4ABB5F}"/>
              </a:ext>
            </a:extLst>
          </p:cNvPr>
          <p:cNvSpPr txBox="1"/>
          <p:nvPr/>
        </p:nvSpPr>
        <p:spPr>
          <a:xfrm>
            <a:off x="508000" y="2031999"/>
            <a:ext cx="3683000" cy="589280"/>
          </a:xfrm>
          <a:prstGeom prst="rect">
            <a:avLst/>
          </a:prstGeom>
          <a:noFill/>
        </p:spPr>
        <p:txBody>
          <a:bodyPr vert="horz" wrap="square" rtlCol="0">
            <a:noAutofit/>
          </a:bodyPr>
          <a:lstStyle/>
          <a:p>
            <a:r>
              <a:rPr lang="en-US" sz="1600" b="1">
                <a:solidFill>
                  <a:srgbClr val="C00000"/>
                </a:solidFill>
              </a:rPr>
              <a:t>Random sampling</a:t>
            </a:r>
            <a:r>
              <a:rPr lang="en-US" sz="1600">
                <a:solidFill>
                  <a:srgbClr val="000000"/>
                </a:solidFill>
              </a:rPr>
              <a:t> lets you generalize from the sample to the population</a:t>
            </a:r>
          </a:p>
        </p:txBody>
      </p:sp>
      <p:sp>
        <p:nvSpPr>
          <p:cNvPr id="6" name="TextBox 5">
            <a:extLst>
              <a:ext uri="{FF2B5EF4-FFF2-40B4-BE49-F238E27FC236}">
                <a16:creationId xmlns:a16="http://schemas.microsoft.com/office/drawing/2014/main" id="{04E720C4-0587-0E87-63EC-96B92E67C00D}"/>
              </a:ext>
            </a:extLst>
          </p:cNvPr>
          <p:cNvSpPr txBox="1"/>
          <p:nvPr/>
        </p:nvSpPr>
        <p:spPr>
          <a:xfrm>
            <a:off x="508000" y="2799079"/>
            <a:ext cx="3683000" cy="589280"/>
          </a:xfrm>
          <a:prstGeom prst="rect">
            <a:avLst/>
          </a:prstGeom>
          <a:noFill/>
        </p:spPr>
        <p:txBody>
          <a:bodyPr vert="horz" wrap="square" rtlCol="0">
            <a:noAutofit/>
          </a:bodyPr>
          <a:lstStyle/>
          <a:p>
            <a:r>
              <a:rPr lang="en-US" sz="1600" b="1">
                <a:solidFill>
                  <a:srgbClr val="C00000"/>
                </a:solidFill>
              </a:rPr>
              <a:t>Random assignment</a:t>
            </a:r>
            <a:r>
              <a:rPr lang="en-US" sz="1600">
                <a:solidFill>
                  <a:srgbClr val="000000"/>
                </a:solidFill>
              </a:rPr>
              <a:t> lets you conclude cause and effect</a:t>
            </a:r>
          </a:p>
        </p:txBody>
      </p:sp>
      <p:sp>
        <p:nvSpPr>
          <p:cNvPr id="7" name="TextBox 6">
            <a:extLst>
              <a:ext uri="{FF2B5EF4-FFF2-40B4-BE49-F238E27FC236}">
                <a16:creationId xmlns:a16="http://schemas.microsoft.com/office/drawing/2014/main" id="{E5592FD8-9A4E-5BB8-6D38-E386520B604D}"/>
              </a:ext>
            </a:extLst>
          </p:cNvPr>
          <p:cNvSpPr txBox="1"/>
          <p:nvPr/>
        </p:nvSpPr>
        <p:spPr>
          <a:xfrm>
            <a:off x="508000" y="3566159"/>
            <a:ext cx="3683000" cy="833120"/>
          </a:xfrm>
          <a:prstGeom prst="rect">
            <a:avLst/>
          </a:prstGeom>
          <a:noFill/>
        </p:spPr>
        <p:txBody>
          <a:bodyPr vert="horz" wrap="square" rtlCol="0">
            <a:noAutofit/>
          </a:bodyPr>
          <a:lstStyle/>
          <a:p>
            <a:r>
              <a:rPr lang="en-US" sz="1600">
                <a:solidFill>
                  <a:srgbClr val="000000"/>
                </a:solidFill>
              </a:rPr>
              <a:t>Most studies have only one. A trial on volunteers shows a vaccine works - for people like those volunteers</a:t>
            </a:r>
          </a:p>
        </p:txBody>
      </p:sp>
      <p:pic>
        <p:nvPicPr>
          <p:cNvPr id="9" name="l8_sampling_vs_assignment.png">
            <a:extLst>
              <a:ext uri="{FF2B5EF4-FFF2-40B4-BE49-F238E27FC236}">
                <a16:creationId xmlns:a16="http://schemas.microsoft.com/office/drawing/2014/main" id="{155BFB16-B6F6-9547-0319-A28383F09920}"/>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4318000" y="1854200"/>
            <a:ext cx="7747000" cy="4445000"/>
          </a:xfrm>
          <a:prstGeom prst="rect">
            <a:avLst/>
          </a:prstGeom>
        </p:spPr>
      </p:pic>
      <p:sp>
        <p:nvSpPr>
          <p:cNvPr id="3" name="Title rule">
            <a:extLst>
              <a:ext uri="{FF2B5EF4-FFF2-40B4-BE49-F238E27FC236}">
                <a16:creationId xmlns:a16="http://schemas.microsoft.com/office/drawing/2014/main" id="{1784CFE6-ACD1-AC71-8278-C12730A8BD57}"/>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5282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 from="(-#ppt_w/2)" to="(#ppt_x)" calcmode="lin" valueType="num">
                                      <p:cBhvr>
                                        <p:cTn id="15" dur="600" fill="hold">
                                          <p:stCondLst>
                                            <p:cond delay="0"/>
                                          </p:stCondLst>
                                        </p:cTn>
                                        <p:tgtEl>
                                          <p:spTgt spid="7"/>
                                        </p:tgtEl>
                                        <p:attrNameLst>
                                          <p:attrName>ppt_x</p:attrName>
                                        </p:attrNameLst>
                                      </p:cBhvr>
                                    </p:anim>
                                    <p:anim from="0" to="-1.0" calcmode="lin" valueType="num">
                                      <p:cBhvr>
                                        <p:cTn id="16" dur="200" decel="50000" autoRev="1" fill="hold">
                                          <p:stCondLst>
                                            <p:cond delay="600"/>
                                          </p:stCondLst>
                                        </p:cTn>
                                        <p:tgtEl>
                                          <p:spTgt spid="7"/>
                                        </p:tgtEl>
                                        <p:attrNameLst>
                                          <p:attrName>xshear</p:attrName>
                                        </p:attrNameLst>
                                      </p:cBhvr>
                                    </p:anim>
                                    <p:animScale>
                                      <p:cBhvr>
                                        <p:cTn id="17" dur="200" decel="100000" autoRev="1" fill="hold">
                                          <p:stCondLst>
                                            <p:cond delay="600"/>
                                          </p:stCondLst>
                                        </p:cTn>
                                        <p:tgtEl>
                                          <p:spTgt spid="7"/>
                                        </p:tgtEl>
                                      </p:cBhvr>
                                      <p:from x="100000" y="100000"/>
                                      <p:to x="80000" y="100000"/>
                                    </p:animScale>
                                    <p:anim by="(#ppt_h/3+#ppt_w*0.1)" calcmode="lin" valueType="num">
                                      <p:cBhvr additive="sum">
                                        <p:cTn id="18" dur="200" decel="100000" autoRev="1" fill="hold">
                                          <p:stCondLst>
                                            <p:cond delay="600"/>
                                          </p:stCondLst>
                                        </p:cTn>
                                        <p:tgtEl>
                                          <p:spTgt spid="7"/>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Was the placebo surgery trial ethical?</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9</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Patients in the placebo arm were anaesthetised and cut open with no chance of benefit. How was that allowed?</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584775"/>
          </a:xfrm>
          <a:prstGeom prst="rect">
            <a:avLst/>
          </a:prstGeom>
          <a:noFill/>
        </p:spPr>
        <p:txBody>
          <a:bodyPr vert="horz" wrap="square" rtlCol="0">
            <a:spAutoFit/>
          </a:bodyPr>
          <a:lstStyle/>
          <a:p>
            <a:r>
              <a:rPr lang="en-US" sz="1600" b="1">
                <a:solidFill>
                  <a:srgbClr val="C00000"/>
                </a:solidFill>
              </a:rPr>
              <a:t>Every patient signed a consent form stating explicitly that they might receive placebo surgery and that it would do nothing for their arthritis, and an institutional review board approved the trial.</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974915"/>
            <a:ext cx="10668000" cy="345440"/>
          </a:xfrm>
          <a:prstGeom prst="rect">
            <a:avLst/>
          </a:prstGeom>
          <a:noFill/>
        </p:spPr>
        <p:txBody>
          <a:bodyPr vert="horz" wrap="square" rtlCol="0">
            <a:spAutoFit/>
          </a:bodyPr>
          <a:lstStyle/>
          <a:p>
            <a:pPr marL="304800" indent="-304800"/>
            <a:r>
              <a:rPr lang="en-US" sz="1600">
                <a:solidFill>
                  <a:srgbClr val="000000"/>
                </a:solidFill>
              </a:rPr>
              <a:t>Why was it acceptable to withhold an operation that was already standard care?</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345755"/>
            <a:ext cx="10312400" cy="830997"/>
          </a:xfrm>
          <a:prstGeom prst="rect">
            <a:avLst/>
          </a:prstGeom>
          <a:noFill/>
        </p:spPr>
        <p:txBody>
          <a:bodyPr vert="horz" wrap="square" rtlCol="0">
            <a:spAutoFit/>
          </a:bodyPr>
          <a:lstStyle/>
          <a:p>
            <a:r>
              <a:rPr lang="en-US" sz="1600" b="1">
                <a:solidFill>
                  <a:srgbClr val="C00000"/>
                </a:solidFill>
              </a:rPr>
              <a:t>Because nobody actually knew it worked. It was being performed very widely on the strength of what patients reported, with no randomized evidence behind it. When experts are genuinely uncertain, a trial is justified - that uncertainty is called equipoise.</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4354552"/>
            <a:ext cx="10668000" cy="345440"/>
          </a:xfrm>
          <a:prstGeom prst="rect">
            <a:avLst/>
          </a:prstGeom>
          <a:noFill/>
        </p:spPr>
        <p:txBody>
          <a:bodyPr vert="horz" wrap="square" rtlCol="0">
            <a:spAutoFit/>
          </a:bodyPr>
          <a:lstStyle/>
          <a:p>
            <a:pPr marL="304800" indent="-304800"/>
            <a:r>
              <a:rPr lang="en-US" sz="1600">
                <a:solidFill>
                  <a:srgbClr val="000000"/>
                </a:solidFill>
              </a:rPr>
              <a:t>So, was it ethical?</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725392"/>
            <a:ext cx="10312400" cy="830997"/>
          </a:xfrm>
          <a:prstGeom prst="rect">
            <a:avLst/>
          </a:prstGeom>
          <a:noFill/>
        </p:spPr>
        <p:txBody>
          <a:bodyPr vert="horz" wrap="square" rtlCol="0">
            <a:spAutoFit/>
          </a:bodyPr>
          <a:lstStyle/>
          <a:p>
            <a:r>
              <a:rPr lang="en-US" sz="1600" b="1">
                <a:solidFill>
                  <a:srgbClr val="C00000"/>
                </a:solidFill>
              </a:rPr>
              <a:t>On balance most would say yes: real informed consent, board approval, genuine uncertainty, and a small risk set against an answer that changed practice for hundreds of thousands of people. Sham surgery is still debated, and every such trial is judged case by case.</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84691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FBCDC-48E3-34D7-E16A-ED185680B6C5}"/>
              </a:ext>
            </a:extLst>
          </p:cNvPr>
          <p:cNvSpPr>
            <a:spLocks noGrp="1"/>
          </p:cNvSpPr>
          <p:nvPr>
            <p:ph type="title"/>
          </p:nvPr>
        </p:nvSpPr>
        <p:spPr/>
        <p:txBody>
          <a:bodyPr>
            <a:noAutofit/>
          </a:bodyPr>
          <a:lstStyle/>
          <a:p>
            <a:r>
              <a:rPr lang="en-US">
                <a:solidFill>
                  <a:srgbClr val="1F3864"/>
                </a:solidFill>
              </a:rPr>
              <a:t>Ethics: the Facebook experiment</a:t>
            </a:r>
          </a:p>
        </p:txBody>
      </p:sp>
      <p:sp>
        <p:nvSpPr>
          <p:cNvPr id="4" name="Slide Number Placeholder 3">
            <a:extLst>
              <a:ext uri="{FF2B5EF4-FFF2-40B4-BE49-F238E27FC236}">
                <a16:creationId xmlns:a16="http://schemas.microsoft.com/office/drawing/2014/main" id="{867D343A-B691-3B93-BC2E-2BC7ADBAE788}"/>
              </a:ext>
            </a:extLst>
          </p:cNvPr>
          <p:cNvSpPr>
            <a:spLocks noGrp="1"/>
          </p:cNvSpPr>
          <p:nvPr>
            <p:ph type="sldNum" sz="quarter" idx="12"/>
          </p:nvPr>
        </p:nvSpPr>
        <p:spPr/>
        <p:txBody>
          <a:bodyPr/>
          <a:lstStyle/>
          <a:p>
            <a:fld id="{A80A81DD-F10A-4B1C-963A-0ABBB4865886}" type="slidenum">
              <a:rPr lang="en-US" sz="1600" smtClean="0"/>
              <a:t>10</a:t>
            </a:fld>
            <a:endParaRPr lang="en-US" sz="1600"/>
          </a:p>
        </p:txBody>
      </p:sp>
      <p:sp>
        <p:nvSpPr>
          <p:cNvPr id="5" name="TextBox 4">
            <a:extLst>
              <a:ext uri="{FF2B5EF4-FFF2-40B4-BE49-F238E27FC236}">
                <a16:creationId xmlns:a16="http://schemas.microsoft.com/office/drawing/2014/main" id="{803EF544-7BC1-830E-74B1-64EDAAE169AE}"/>
              </a:ext>
            </a:extLst>
          </p:cNvPr>
          <p:cNvSpPr txBox="1"/>
          <p:nvPr/>
        </p:nvSpPr>
        <p:spPr>
          <a:xfrm>
            <a:off x="762000" y="1841499"/>
            <a:ext cx="10668000" cy="830997"/>
          </a:xfrm>
          <a:prstGeom prst="rect">
            <a:avLst/>
          </a:prstGeom>
          <a:noFill/>
        </p:spPr>
        <p:txBody>
          <a:bodyPr vert="horz" wrap="square" rtlCol="0">
            <a:spAutoFit/>
          </a:bodyPr>
          <a:lstStyle/>
          <a:p>
            <a:pPr>
              <a:spcAft>
                <a:spcPts val="400"/>
              </a:spcAft>
            </a:pPr>
            <a:r>
              <a:rPr lang="en-US" sz="1600">
                <a:solidFill>
                  <a:srgbClr val="000000"/>
                </a:solidFill>
              </a:rPr>
              <a:t>For one week in January 2012, Facebook ran a completely randomized experiment on 689,003 users: each was assigned at random to a News Feed with fewer positive posts, with fewer negative posts, or left unchanged as a control. The results were published in 2014. The users never knew.</a:t>
            </a:r>
          </a:p>
        </p:txBody>
      </p:sp>
      <p:sp>
        <p:nvSpPr>
          <p:cNvPr id="6" name="TextBox 5">
            <a:extLst>
              <a:ext uri="{FF2B5EF4-FFF2-40B4-BE49-F238E27FC236}">
                <a16:creationId xmlns:a16="http://schemas.microsoft.com/office/drawing/2014/main" id="{173928F0-6402-96DA-08AE-79702CFCC1E5}"/>
              </a:ext>
            </a:extLst>
          </p:cNvPr>
          <p:cNvSpPr txBox="1"/>
          <p:nvPr/>
        </p:nvSpPr>
        <p:spPr>
          <a:xfrm>
            <a:off x="762000" y="2824896"/>
            <a:ext cx="10668000" cy="345440"/>
          </a:xfrm>
          <a:prstGeom prst="rect">
            <a:avLst/>
          </a:prstGeom>
          <a:noFill/>
        </p:spPr>
        <p:txBody>
          <a:bodyPr vert="horz" wrap="square" rtlCol="0">
            <a:spAutoFit/>
          </a:bodyPr>
          <a:lstStyle/>
          <a:p>
            <a:pPr marL="304800" indent="-304800"/>
            <a:r>
              <a:rPr lang="en-US" sz="1600" b="1">
                <a:solidFill>
                  <a:srgbClr val="C00000"/>
                </a:solidFill>
              </a:rPr>
              <a:t>1.</a:t>
            </a:r>
            <a:r>
              <a:rPr lang="en-US" sz="1600">
                <a:solidFill>
                  <a:srgbClr val="000000"/>
                </a:solidFill>
              </a:rPr>
              <a:t>  Facebook said agreeing to its Data Use Policy counted as informed consent. Do you agree?</a:t>
            </a:r>
          </a:p>
        </p:txBody>
      </p:sp>
      <p:sp>
        <p:nvSpPr>
          <p:cNvPr id="7" name="TextBox 6">
            <a:extLst>
              <a:ext uri="{FF2B5EF4-FFF2-40B4-BE49-F238E27FC236}">
                <a16:creationId xmlns:a16="http://schemas.microsoft.com/office/drawing/2014/main" id="{096B0234-5946-443E-D3EF-6B904164792E}"/>
              </a:ext>
            </a:extLst>
          </p:cNvPr>
          <p:cNvSpPr txBox="1"/>
          <p:nvPr/>
        </p:nvSpPr>
        <p:spPr>
          <a:xfrm>
            <a:off x="1117600" y="3195736"/>
            <a:ext cx="10312400" cy="589280"/>
          </a:xfrm>
          <a:prstGeom prst="rect">
            <a:avLst/>
          </a:prstGeom>
          <a:noFill/>
        </p:spPr>
        <p:txBody>
          <a:bodyPr vert="horz" wrap="square" rtlCol="0">
            <a:spAutoFit/>
          </a:bodyPr>
          <a:lstStyle/>
          <a:p>
            <a:r>
              <a:rPr lang="en-US" sz="1600" b="1">
                <a:solidFill>
                  <a:srgbClr val="C00000"/>
                </a:solidFill>
              </a:rPr>
              <a:t>The journal did not: its Expression of Concern said the study may not have met the principles of informed consent and the chance to opt out.</a:t>
            </a:r>
          </a:p>
        </p:txBody>
      </p:sp>
      <p:sp>
        <p:nvSpPr>
          <p:cNvPr id="8" name="TextBox 7">
            <a:extLst>
              <a:ext uri="{FF2B5EF4-FFF2-40B4-BE49-F238E27FC236}">
                <a16:creationId xmlns:a16="http://schemas.microsoft.com/office/drawing/2014/main" id="{DDBAFEBF-2B58-DFE7-62AD-B002E3656906}"/>
              </a:ext>
            </a:extLst>
          </p:cNvPr>
          <p:cNvSpPr txBox="1"/>
          <p:nvPr/>
        </p:nvSpPr>
        <p:spPr>
          <a:xfrm>
            <a:off x="762000" y="3962816"/>
            <a:ext cx="10668000" cy="345440"/>
          </a:xfrm>
          <a:prstGeom prst="rect">
            <a:avLst/>
          </a:prstGeom>
          <a:noFill/>
        </p:spPr>
        <p:txBody>
          <a:bodyPr vert="horz" wrap="square" rtlCol="0">
            <a:spAutoFit/>
          </a:bodyPr>
          <a:lstStyle/>
          <a:p>
            <a:pPr marL="304800" indent="-304800"/>
            <a:r>
              <a:rPr lang="en-US" sz="1600" b="1">
                <a:solidFill>
                  <a:srgbClr val="C00000"/>
                </a:solidFill>
              </a:rPr>
              <a:t>2.</a:t>
            </a:r>
            <a:r>
              <a:rPr lang="en-US" sz="1600">
                <a:solidFill>
                  <a:srgbClr val="000000"/>
                </a:solidFill>
              </a:rPr>
              <a:t>  Why did no ethics board stop it?</a:t>
            </a:r>
          </a:p>
        </p:txBody>
      </p:sp>
      <p:sp>
        <p:nvSpPr>
          <p:cNvPr id="9" name="TextBox 8">
            <a:extLst>
              <a:ext uri="{FF2B5EF4-FFF2-40B4-BE49-F238E27FC236}">
                <a16:creationId xmlns:a16="http://schemas.microsoft.com/office/drawing/2014/main" id="{37C5EB09-8181-01D4-0AE9-A06C5E9A6703}"/>
              </a:ext>
            </a:extLst>
          </p:cNvPr>
          <p:cNvSpPr txBox="1"/>
          <p:nvPr/>
        </p:nvSpPr>
        <p:spPr>
          <a:xfrm>
            <a:off x="1117600" y="4333656"/>
            <a:ext cx="10312400" cy="589280"/>
          </a:xfrm>
          <a:prstGeom prst="rect">
            <a:avLst/>
          </a:prstGeom>
          <a:noFill/>
        </p:spPr>
        <p:txBody>
          <a:bodyPr vert="horz" wrap="square" rtlCol="0">
            <a:spAutoFit/>
          </a:bodyPr>
          <a:lstStyle/>
          <a:p>
            <a:r>
              <a:rPr lang="en-US" sz="1600" b="1">
                <a:solidFill>
                  <a:srgbClr val="C00000"/>
                </a:solidFill>
              </a:rPr>
              <a:t>Facebook, a private company, was not bound by the federal rules. Cornell's board decided its researcher was not directly involved, so it did no review.</a:t>
            </a:r>
          </a:p>
        </p:txBody>
      </p:sp>
      <p:sp>
        <p:nvSpPr>
          <p:cNvPr id="10" name="TextBox 9">
            <a:extLst>
              <a:ext uri="{FF2B5EF4-FFF2-40B4-BE49-F238E27FC236}">
                <a16:creationId xmlns:a16="http://schemas.microsoft.com/office/drawing/2014/main" id="{2235831A-51A3-E82F-82A5-67061AA1A22E}"/>
              </a:ext>
            </a:extLst>
          </p:cNvPr>
          <p:cNvSpPr txBox="1"/>
          <p:nvPr/>
        </p:nvSpPr>
        <p:spPr>
          <a:xfrm>
            <a:off x="762000" y="5100736"/>
            <a:ext cx="10668000" cy="345440"/>
          </a:xfrm>
          <a:prstGeom prst="rect">
            <a:avLst/>
          </a:prstGeom>
          <a:noFill/>
        </p:spPr>
        <p:txBody>
          <a:bodyPr vert="horz" wrap="square" rtlCol="0">
            <a:spAutoFit/>
          </a:bodyPr>
          <a:lstStyle/>
          <a:p>
            <a:pPr marL="304800" indent="-304800"/>
            <a:r>
              <a:rPr lang="en-US" sz="1600" b="1">
                <a:solidFill>
                  <a:srgbClr val="C00000"/>
                </a:solidFill>
              </a:rPr>
              <a:t>3.</a:t>
            </a:r>
            <a:r>
              <a:rPr lang="en-US" sz="1600">
                <a:solidFill>
                  <a:srgbClr val="000000"/>
                </a:solidFill>
              </a:rPr>
              <a:t>  What is the lesson?</a:t>
            </a:r>
          </a:p>
        </p:txBody>
      </p:sp>
      <p:sp>
        <p:nvSpPr>
          <p:cNvPr id="11" name="TextBox 10">
            <a:extLst>
              <a:ext uri="{FF2B5EF4-FFF2-40B4-BE49-F238E27FC236}">
                <a16:creationId xmlns:a16="http://schemas.microsoft.com/office/drawing/2014/main" id="{7EEE7946-5EA0-8B72-F855-AEB4B6636110}"/>
              </a:ext>
            </a:extLst>
          </p:cNvPr>
          <p:cNvSpPr txBox="1"/>
          <p:nvPr/>
        </p:nvSpPr>
        <p:spPr>
          <a:xfrm>
            <a:off x="1117600" y="5471576"/>
            <a:ext cx="10312400" cy="345440"/>
          </a:xfrm>
          <a:prstGeom prst="rect">
            <a:avLst/>
          </a:prstGeom>
          <a:noFill/>
        </p:spPr>
        <p:txBody>
          <a:bodyPr vert="horz" wrap="square" rtlCol="0">
            <a:spAutoFit/>
          </a:bodyPr>
          <a:lstStyle/>
          <a:p>
            <a:r>
              <a:rPr lang="en-US" sz="1600" b="1">
                <a:solidFill>
                  <a:srgbClr val="C00000"/>
                </a:solidFill>
              </a:rPr>
              <a:t>Clicking I agree on a terms-of-service page is not informed consent - even for a well-designed experiment.</a:t>
            </a:r>
          </a:p>
        </p:txBody>
      </p:sp>
      <p:sp>
        <p:nvSpPr>
          <p:cNvPr id="12" name="TextBox 11">
            <a:extLst>
              <a:ext uri="{FF2B5EF4-FFF2-40B4-BE49-F238E27FC236}">
                <a16:creationId xmlns:a16="http://schemas.microsoft.com/office/drawing/2014/main" id="{3D8E5BD3-1CF7-2352-2707-2D7DBFFA6EBD}"/>
              </a:ext>
            </a:extLst>
          </p:cNvPr>
          <p:cNvSpPr txBox="1"/>
          <p:nvPr/>
        </p:nvSpPr>
        <p:spPr>
          <a:xfrm>
            <a:off x="762000" y="6045200"/>
            <a:ext cx="10668000" cy="345440"/>
          </a:xfrm>
          <a:prstGeom prst="rect">
            <a:avLst/>
          </a:prstGeom>
          <a:noFill/>
        </p:spPr>
        <p:txBody>
          <a:bodyPr vert="horz" wrap="square" rtlCol="0">
            <a:noAutofit/>
          </a:bodyPr>
          <a:lstStyle/>
          <a:p>
            <a:pPr algn="r"/>
            <a:r>
              <a:rPr lang="en-US" sz="1600" i="1">
                <a:solidFill>
                  <a:srgbClr val="595959"/>
                </a:solidFill>
              </a:rPr>
              <a:t>Sources: Kramer, Guillory and Hancock (2014), PNAS; PNAS Editorial Expression of Concern (2014)</a:t>
            </a:r>
          </a:p>
        </p:txBody>
      </p:sp>
      <p:sp>
        <p:nvSpPr>
          <p:cNvPr id="3" name="Title rule">
            <a:extLst>
              <a:ext uri="{FF2B5EF4-FFF2-40B4-BE49-F238E27FC236}">
                <a16:creationId xmlns:a16="http://schemas.microsoft.com/office/drawing/2014/main" id="{2A19CE9B-6143-6D05-1FF1-AF917901111D}"/>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55584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from="(-#ppt_w/2)" to="(#ppt_x)" calcmode="lin" valueType="num">
                                      <p:cBhvr>
                                        <p:cTn id="7" dur="600" fill="hold">
                                          <p:stCondLst>
                                            <p:cond delay="0"/>
                                          </p:stCondLst>
                                        </p:cTn>
                                        <p:tgtEl>
                                          <p:spTgt spid="7"/>
                                        </p:tgtEl>
                                        <p:attrNameLst>
                                          <p:attrName>ppt_x</p:attrName>
                                        </p:attrNameLst>
                                      </p:cBhvr>
                                    </p:anim>
                                    <p:anim from="0" to="-1.0" calcmode="lin" valueType="num">
                                      <p:cBhvr>
                                        <p:cTn id="8" dur="200" decel="50000" autoRev="1" fill="hold">
                                          <p:stCondLst>
                                            <p:cond delay="600"/>
                                          </p:stCondLst>
                                        </p:cTn>
                                        <p:tgtEl>
                                          <p:spTgt spid="7"/>
                                        </p:tgtEl>
                                        <p:attrNameLst>
                                          <p:attrName>xshear</p:attrName>
                                        </p:attrNameLst>
                                      </p:cBhvr>
                                    </p:anim>
                                    <p:animScale>
                                      <p:cBhvr>
                                        <p:cTn id="9" dur="200" decel="100000" autoRev="1" fill="hold">
                                          <p:stCondLst>
                                            <p:cond delay="600"/>
                                          </p:stCondLst>
                                        </p:cTn>
                                        <p:tgtEl>
                                          <p:spTgt spid="7"/>
                                        </p:tgtEl>
                                      </p:cBhvr>
                                      <p:from x="100000" y="100000"/>
                                      <p:to x="80000" y="100000"/>
                                    </p:animScale>
                                    <p:anim by="(#ppt_h/3+#ppt_w*0.1)" calcmode="lin" valueType="num">
                                      <p:cBhvr additive="sum">
                                        <p:cTn id="10" dur="200" decel="100000" autoRev="1" fill="hold">
                                          <p:stCondLst>
                                            <p:cond delay="600"/>
                                          </p:stCondLst>
                                        </p:cTn>
                                        <p:tgtEl>
                                          <p:spTgt spid="7"/>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from="(-#ppt_w/2)" to="(#ppt_x)" calcmode="lin" valueType="num">
                                      <p:cBhvr>
                                        <p:cTn id="15" dur="600" fill="hold">
                                          <p:stCondLst>
                                            <p:cond delay="0"/>
                                          </p:stCondLst>
                                        </p:cTn>
                                        <p:tgtEl>
                                          <p:spTgt spid="9"/>
                                        </p:tgtEl>
                                        <p:attrNameLst>
                                          <p:attrName>ppt_x</p:attrName>
                                        </p:attrNameLst>
                                      </p:cBhvr>
                                    </p:anim>
                                    <p:anim from="0" to="-1.0" calcmode="lin" valueType="num">
                                      <p:cBhvr>
                                        <p:cTn id="16" dur="200" decel="50000" autoRev="1" fill="hold">
                                          <p:stCondLst>
                                            <p:cond delay="600"/>
                                          </p:stCondLst>
                                        </p:cTn>
                                        <p:tgtEl>
                                          <p:spTgt spid="9"/>
                                        </p:tgtEl>
                                        <p:attrNameLst>
                                          <p:attrName>xshear</p:attrName>
                                        </p:attrNameLst>
                                      </p:cBhvr>
                                    </p:anim>
                                    <p:animScale>
                                      <p:cBhvr>
                                        <p:cTn id="17" dur="200" decel="100000" autoRev="1" fill="hold">
                                          <p:stCondLst>
                                            <p:cond delay="600"/>
                                          </p:stCondLst>
                                        </p:cTn>
                                        <p:tgtEl>
                                          <p:spTgt spid="9"/>
                                        </p:tgtEl>
                                      </p:cBhvr>
                                      <p:from x="100000" y="100000"/>
                                      <p:to x="80000" y="100000"/>
                                    </p:animScale>
                                    <p:anim by="(#ppt_h/3+#ppt_w*0.1)" calcmode="lin" valueType="num">
                                      <p:cBhvr additive="sum">
                                        <p:cTn id="18" dur="200" decel="100000" autoRev="1" fill="hold">
                                          <p:stCondLst>
                                            <p:cond delay="600"/>
                                          </p:stCondLst>
                                        </p:cTn>
                                        <p:tgtEl>
                                          <p:spTgt spid="9"/>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 from="(-#ppt_w/2)" to="(#ppt_x)" calcmode="lin" valueType="num">
                                      <p:cBhvr>
                                        <p:cTn id="23" dur="600" fill="hold">
                                          <p:stCondLst>
                                            <p:cond delay="0"/>
                                          </p:stCondLst>
                                        </p:cTn>
                                        <p:tgtEl>
                                          <p:spTgt spid="11"/>
                                        </p:tgtEl>
                                        <p:attrNameLst>
                                          <p:attrName>ppt_x</p:attrName>
                                        </p:attrNameLst>
                                      </p:cBhvr>
                                    </p:anim>
                                    <p:anim from="0" to="-1.0" calcmode="lin" valueType="num">
                                      <p:cBhvr>
                                        <p:cTn id="24" dur="200" decel="50000" autoRev="1" fill="hold">
                                          <p:stCondLst>
                                            <p:cond delay="600"/>
                                          </p:stCondLst>
                                        </p:cTn>
                                        <p:tgtEl>
                                          <p:spTgt spid="11"/>
                                        </p:tgtEl>
                                        <p:attrNameLst>
                                          <p:attrName>xshear</p:attrName>
                                        </p:attrNameLst>
                                      </p:cBhvr>
                                    </p:anim>
                                    <p:animScale>
                                      <p:cBhvr>
                                        <p:cTn id="25" dur="200" decel="100000" autoRev="1" fill="hold">
                                          <p:stCondLst>
                                            <p:cond delay="600"/>
                                          </p:stCondLst>
                                        </p:cTn>
                                        <p:tgtEl>
                                          <p:spTgt spid="11"/>
                                        </p:tgtEl>
                                      </p:cBhvr>
                                      <p:from x="100000" y="100000"/>
                                      <p:to x="80000" y="100000"/>
                                    </p:animScale>
                                    <p:anim by="(#ppt_h/3+#ppt_w*0.1)" calcmode="lin" valueType="num">
                                      <p:cBhvr additive="sum">
                                        <p:cTn id="26" dur="200" decel="100000" autoRev="1" fill="hold">
                                          <p:stCondLst>
                                            <p:cond delay="600"/>
                                          </p:stCondLst>
                                        </p:cTn>
                                        <p:tgtEl>
                                          <p:spTgt spid="11"/>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Definition card">
            <a:extLst>
              <a:ext uri="{FF2B5EF4-FFF2-40B4-BE49-F238E27FC236}">
                <a16:creationId xmlns:a16="http://schemas.microsoft.com/office/drawing/2014/main" id="{7BD18FF9-F244-4051-FAD0-50D9E3F9B913}"/>
              </a:ext>
            </a:extLst>
          </p:cNvPr>
          <p:cNvSpPr/>
          <p:nvPr/>
        </p:nvSpPr>
        <p:spPr>
          <a:xfrm>
            <a:off x="762000" y="4909760"/>
            <a:ext cx="10668000" cy="55880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efinition card">
            <a:extLst>
              <a:ext uri="{FF2B5EF4-FFF2-40B4-BE49-F238E27FC236}">
                <a16:creationId xmlns:a16="http://schemas.microsoft.com/office/drawing/2014/main" id="{DA368FF5-4992-376F-150A-E28A94DE7BFC}"/>
              </a:ext>
            </a:extLst>
          </p:cNvPr>
          <p:cNvSpPr/>
          <p:nvPr/>
        </p:nvSpPr>
        <p:spPr>
          <a:xfrm>
            <a:off x="762000" y="4223960"/>
            <a:ext cx="10668000" cy="55880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efinition card">
            <a:extLst>
              <a:ext uri="{FF2B5EF4-FFF2-40B4-BE49-F238E27FC236}">
                <a16:creationId xmlns:a16="http://schemas.microsoft.com/office/drawing/2014/main" id="{8CF68A3F-0FA8-8ECC-D7CB-0626410EEFD1}"/>
              </a:ext>
            </a:extLst>
          </p:cNvPr>
          <p:cNvSpPr/>
          <p:nvPr/>
        </p:nvSpPr>
        <p:spPr>
          <a:xfrm>
            <a:off x="762000" y="3538160"/>
            <a:ext cx="10668000" cy="55880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46A45CA-C4F4-9D9F-D8E5-C79272808B31}"/>
              </a:ext>
            </a:extLst>
          </p:cNvPr>
          <p:cNvSpPr>
            <a:spLocks noGrp="1"/>
          </p:cNvSpPr>
          <p:nvPr>
            <p:ph type="title"/>
          </p:nvPr>
        </p:nvSpPr>
        <p:spPr/>
        <p:txBody>
          <a:bodyPr>
            <a:noAutofit/>
          </a:bodyPr>
          <a:lstStyle/>
          <a:p>
            <a:r>
              <a:rPr lang="en-US">
                <a:solidFill>
                  <a:srgbClr val="1F3864"/>
                </a:solidFill>
              </a:rPr>
              <a:t>The Belmont Report: three principles</a:t>
            </a:r>
          </a:p>
        </p:txBody>
      </p:sp>
      <p:sp>
        <p:nvSpPr>
          <p:cNvPr id="4" name="Slide Number Placeholder 3">
            <a:extLst>
              <a:ext uri="{FF2B5EF4-FFF2-40B4-BE49-F238E27FC236}">
                <a16:creationId xmlns:a16="http://schemas.microsoft.com/office/drawing/2014/main" id="{987DE2E0-7558-C45C-187E-016F1FE2839C}"/>
              </a:ext>
            </a:extLst>
          </p:cNvPr>
          <p:cNvSpPr>
            <a:spLocks noGrp="1"/>
          </p:cNvSpPr>
          <p:nvPr>
            <p:ph type="sldNum" sz="quarter" idx="12"/>
          </p:nvPr>
        </p:nvSpPr>
        <p:spPr/>
        <p:txBody>
          <a:bodyPr/>
          <a:lstStyle/>
          <a:p>
            <a:fld id="{A80A81DD-F10A-4B1C-963A-0ABBB4865886}" type="slidenum">
              <a:rPr lang="en-US" sz="1600" smtClean="0"/>
              <a:t>11</a:t>
            </a:fld>
            <a:endParaRPr lang="en-US" sz="1600"/>
          </a:p>
        </p:txBody>
      </p:sp>
      <p:sp>
        <p:nvSpPr>
          <p:cNvPr id="5" name="TextBox 4">
            <a:extLst>
              <a:ext uri="{FF2B5EF4-FFF2-40B4-BE49-F238E27FC236}">
                <a16:creationId xmlns:a16="http://schemas.microsoft.com/office/drawing/2014/main" id="{2E1E51A2-1D0E-5639-923C-392124A5CB29}"/>
              </a:ext>
            </a:extLst>
          </p:cNvPr>
          <p:cNvSpPr txBox="1"/>
          <p:nvPr/>
        </p:nvSpPr>
        <p:spPr>
          <a:xfrm>
            <a:off x="762000" y="1841499"/>
            <a:ext cx="10668000" cy="1569660"/>
          </a:xfrm>
          <a:prstGeom prst="rect">
            <a:avLst/>
          </a:prstGeom>
          <a:noFill/>
        </p:spPr>
        <p:txBody>
          <a:bodyPr vert="horz" wrap="square" rtlCol="0">
            <a:spAutoFit/>
          </a:bodyPr>
          <a:lstStyle/>
          <a:p>
            <a:r>
              <a:rPr lang="en-US" sz="1600" i="1">
                <a:solidFill>
                  <a:srgbClr val="000000"/>
                </a:solidFill>
              </a:rPr>
              <a:t>Why the rules exist: in the U.S. Public Health Service syphilis study at Tuskegee (1932 to 1972), about 600 Black men in Macon County, Alabama - some 400 of them with syphilis - were told they were being treated for "bad blood". They were never told their diagnosis, and were not offered penicillin even after it became the standard cure in the late 1940s.</a:t>
            </a:r>
          </a:p>
          <a:p>
            <a:r>
              <a:rPr lang="en-US" sz="1600" i="1">
                <a:solidFill>
                  <a:srgbClr val="000000"/>
                </a:solidFill>
              </a:rPr>
              <a:t>The study ran for forty years and stopped only when the press exposed it in 1972. Congress responded with the National Research Act of 1974, which created the commission that wrote the Belmont Report in 1979. Its three principles are the foundation of the review boards that approve human-subject research today.</a:t>
            </a:r>
          </a:p>
        </p:txBody>
      </p:sp>
      <p:sp>
        <p:nvSpPr>
          <p:cNvPr id="6" name="TextBox 5">
            <a:extLst>
              <a:ext uri="{FF2B5EF4-FFF2-40B4-BE49-F238E27FC236}">
                <a16:creationId xmlns:a16="http://schemas.microsoft.com/office/drawing/2014/main" id="{0A200ADF-E689-6E6A-E87D-5EB74130530C}"/>
              </a:ext>
            </a:extLst>
          </p:cNvPr>
          <p:cNvSpPr txBox="1"/>
          <p:nvPr/>
        </p:nvSpPr>
        <p:spPr>
          <a:xfrm>
            <a:off x="914400" y="3639760"/>
            <a:ext cx="3022600" cy="381000"/>
          </a:xfrm>
          <a:prstGeom prst="rect">
            <a:avLst/>
          </a:prstGeom>
          <a:noFill/>
        </p:spPr>
        <p:txBody>
          <a:bodyPr vert="horz" wrap="square" rtlCol="0">
            <a:noAutofit/>
          </a:bodyPr>
          <a:lstStyle/>
          <a:p>
            <a:r>
              <a:rPr lang="en-US" b="1">
                <a:solidFill>
                  <a:srgbClr val="C00000"/>
                </a:solidFill>
              </a:rPr>
              <a:t>respect for persons</a:t>
            </a:r>
          </a:p>
        </p:txBody>
      </p:sp>
      <p:sp>
        <p:nvSpPr>
          <p:cNvPr id="7" name="TextBox 6">
            <a:extLst>
              <a:ext uri="{FF2B5EF4-FFF2-40B4-BE49-F238E27FC236}">
                <a16:creationId xmlns:a16="http://schemas.microsoft.com/office/drawing/2014/main" id="{D50B713D-5F8F-97DD-C206-B99F1CEAC80A}"/>
              </a:ext>
            </a:extLst>
          </p:cNvPr>
          <p:cNvSpPr txBox="1"/>
          <p:nvPr/>
        </p:nvSpPr>
        <p:spPr>
          <a:xfrm>
            <a:off x="4013200" y="3639760"/>
            <a:ext cx="7264400" cy="381000"/>
          </a:xfrm>
          <a:prstGeom prst="rect">
            <a:avLst/>
          </a:prstGeom>
          <a:noFill/>
        </p:spPr>
        <p:txBody>
          <a:bodyPr vert="horz" wrap="square" rtlCol="0">
            <a:noAutofit/>
          </a:bodyPr>
          <a:lstStyle/>
          <a:p>
            <a:r>
              <a:rPr lang="en-US">
                <a:solidFill>
                  <a:srgbClr val="000000"/>
                </a:solidFill>
              </a:rPr>
              <a:t>people decide for themselves whether to take part</a:t>
            </a:r>
          </a:p>
        </p:txBody>
      </p:sp>
      <p:sp>
        <p:nvSpPr>
          <p:cNvPr id="9" name="TextBox 8">
            <a:extLst>
              <a:ext uri="{FF2B5EF4-FFF2-40B4-BE49-F238E27FC236}">
                <a16:creationId xmlns:a16="http://schemas.microsoft.com/office/drawing/2014/main" id="{6B51F8F8-2547-3F26-8823-D9E427FFEBB9}"/>
              </a:ext>
            </a:extLst>
          </p:cNvPr>
          <p:cNvSpPr txBox="1"/>
          <p:nvPr/>
        </p:nvSpPr>
        <p:spPr>
          <a:xfrm>
            <a:off x="914400" y="4325560"/>
            <a:ext cx="3022600" cy="381000"/>
          </a:xfrm>
          <a:prstGeom prst="rect">
            <a:avLst/>
          </a:prstGeom>
          <a:noFill/>
        </p:spPr>
        <p:txBody>
          <a:bodyPr vert="horz" wrap="square" rtlCol="0">
            <a:noAutofit/>
          </a:bodyPr>
          <a:lstStyle/>
          <a:p>
            <a:r>
              <a:rPr lang="en-US" b="1">
                <a:solidFill>
                  <a:srgbClr val="C00000"/>
                </a:solidFill>
              </a:rPr>
              <a:t>beneficence</a:t>
            </a:r>
          </a:p>
        </p:txBody>
      </p:sp>
      <p:sp>
        <p:nvSpPr>
          <p:cNvPr id="10" name="TextBox 9">
            <a:extLst>
              <a:ext uri="{FF2B5EF4-FFF2-40B4-BE49-F238E27FC236}">
                <a16:creationId xmlns:a16="http://schemas.microsoft.com/office/drawing/2014/main" id="{8640F527-F153-AAE7-3F71-CB7DAEB38160}"/>
              </a:ext>
            </a:extLst>
          </p:cNvPr>
          <p:cNvSpPr txBox="1"/>
          <p:nvPr/>
        </p:nvSpPr>
        <p:spPr>
          <a:xfrm>
            <a:off x="4013200" y="4325560"/>
            <a:ext cx="7264400" cy="381000"/>
          </a:xfrm>
          <a:prstGeom prst="rect">
            <a:avLst/>
          </a:prstGeom>
          <a:noFill/>
        </p:spPr>
        <p:txBody>
          <a:bodyPr vert="horz" wrap="square" rtlCol="0">
            <a:noAutofit/>
          </a:bodyPr>
          <a:lstStyle/>
          <a:p>
            <a:r>
              <a:rPr lang="en-US">
                <a:solidFill>
                  <a:srgbClr val="000000"/>
                </a:solidFill>
              </a:rPr>
              <a:t>do no harm: maximize the possible benefits and minimize the possible risks</a:t>
            </a:r>
          </a:p>
        </p:txBody>
      </p:sp>
      <p:sp>
        <p:nvSpPr>
          <p:cNvPr id="12" name="TextBox 11">
            <a:extLst>
              <a:ext uri="{FF2B5EF4-FFF2-40B4-BE49-F238E27FC236}">
                <a16:creationId xmlns:a16="http://schemas.microsoft.com/office/drawing/2014/main" id="{E2E5DBA7-1041-887E-1AA2-424094C359F1}"/>
              </a:ext>
            </a:extLst>
          </p:cNvPr>
          <p:cNvSpPr txBox="1"/>
          <p:nvPr/>
        </p:nvSpPr>
        <p:spPr>
          <a:xfrm>
            <a:off x="914400" y="5011360"/>
            <a:ext cx="3022600" cy="381000"/>
          </a:xfrm>
          <a:prstGeom prst="rect">
            <a:avLst/>
          </a:prstGeom>
          <a:noFill/>
        </p:spPr>
        <p:txBody>
          <a:bodyPr vert="horz" wrap="square" rtlCol="0">
            <a:noAutofit/>
          </a:bodyPr>
          <a:lstStyle/>
          <a:p>
            <a:r>
              <a:rPr lang="en-US" b="1">
                <a:solidFill>
                  <a:srgbClr val="C00000"/>
                </a:solidFill>
              </a:rPr>
              <a:t>justice</a:t>
            </a:r>
          </a:p>
        </p:txBody>
      </p:sp>
      <p:sp>
        <p:nvSpPr>
          <p:cNvPr id="13" name="TextBox 12">
            <a:extLst>
              <a:ext uri="{FF2B5EF4-FFF2-40B4-BE49-F238E27FC236}">
                <a16:creationId xmlns:a16="http://schemas.microsoft.com/office/drawing/2014/main" id="{DEB11E9C-DC32-C8BD-25C2-03DB4FF2BA76}"/>
              </a:ext>
            </a:extLst>
          </p:cNvPr>
          <p:cNvSpPr txBox="1"/>
          <p:nvPr/>
        </p:nvSpPr>
        <p:spPr>
          <a:xfrm>
            <a:off x="4013200" y="5011360"/>
            <a:ext cx="7264400" cy="381000"/>
          </a:xfrm>
          <a:prstGeom prst="rect">
            <a:avLst/>
          </a:prstGeom>
          <a:noFill/>
        </p:spPr>
        <p:txBody>
          <a:bodyPr vert="horz" wrap="square" rtlCol="0">
            <a:noAutofit/>
          </a:bodyPr>
          <a:lstStyle/>
          <a:p>
            <a:r>
              <a:rPr lang="en-US">
                <a:solidFill>
                  <a:srgbClr val="000000"/>
                </a:solidFill>
              </a:rPr>
              <a:t>the burdens and benefits of research are shared fairly</a:t>
            </a:r>
          </a:p>
        </p:txBody>
      </p:sp>
      <p:sp>
        <p:nvSpPr>
          <p:cNvPr id="3" name="Title rule">
            <a:extLst>
              <a:ext uri="{FF2B5EF4-FFF2-40B4-BE49-F238E27FC236}">
                <a16:creationId xmlns:a16="http://schemas.microsoft.com/office/drawing/2014/main" id="{102D1C2D-D027-E787-DF9B-D90AB9F6F919}"/>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63235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from="(-#ppt_w/2)" to="(#ppt_x)" calcmode="lin" valueType="num">
                                      <p:cBhvr>
                                        <p:cTn id="7" dur="600" fill="hold">
                                          <p:stCondLst>
                                            <p:cond delay="0"/>
                                          </p:stCondLst>
                                        </p:cTn>
                                        <p:tgtEl>
                                          <p:spTgt spid="7"/>
                                        </p:tgtEl>
                                        <p:attrNameLst>
                                          <p:attrName>ppt_x</p:attrName>
                                        </p:attrNameLst>
                                      </p:cBhvr>
                                    </p:anim>
                                    <p:anim from="0" to="-1.0" calcmode="lin" valueType="num">
                                      <p:cBhvr>
                                        <p:cTn id="8" dur="200" decel="50000" autoRev="1" fill="hold">
                                          <p:stCondLst>
                                            <p:cond delay="600"/>
                                          </p:stCondLst>
                                        </p:cTn>
                                        <p:tgtEl>
                                          <p:spTgt spid="7"/>
                                        </p:tgtEl>
                                        <p:attrNameLst>
                                          <p:attrName>xshear</p:attrName>
                                        </p:attrNameLst>
                                      </p:cBhvr>
                                    </p:anim>
                                    <p:animScale>
                                      <p:cBhvr>
                                        <p:cTn id="9" dur="200" decel="100000" autoRev="1" fill="hold">
                                          <p:stCondLst>
                                            <p:cond delay="600"/>
                                          </p:stCondLst>
                                        </p:cTn>
                                        <p:tgtEl>
                                          <p:spTgt spid="7"/>
                                        </p:tgtEl>
                                      </p:cBhvr>
                                      <p:from x="100000" y="100000"/>
                                      <p:to x="80000" y="100000"/>
                                    </p:animScale>
                                    <p:anim by="(#ppt_h/3+#ppt_w*0.1)" calcmode="lin" valueType="num">
                                      <p:cBhvr additive="sum">
                                        <p:cTn id="10" dur="200" decel="100000" autoRev="1" fill="hold">
                                          <p:stCondLst>
                                            <p:cond delay="600"/>
                                          </p:stCondLst>
                                        </p:cTn>
                                        <p:tgtEl>
                                          <p:spTgt spid="7"/>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from="(-#ppt_w/2)" to="(#ppt_x)" calcmode="lin" valueType="num">
                                      <p:cBhvr>
                                        <p:cTn id="15" dur="600" fill="hold">
                                          <p:stCondLst>
                                            <p:cond delay="0"/>
                                          </p:stCondLst>
                                        </p:cTn>
                                        <p:tgtEl>
                                          <p:spTgt spid="10"/>
                                        </p:tgtEl>
                                        <p:attrNameLst>
                                          <p:attrName>ppt_x</p:attrName>
                                        </p:attrNameLst>
                                      </p:cBhvr>
                                    </p:anim>
                                    <p:anim from="0" to="-1.0" calcmode="lin" valueType="num">
                                      <p:cBhvr>
                                        <p:cTn id="16" dur="200" decel="50000" autoRev="1" fill="hold">
                                          <p:stCondLst>
                                            <p:cond delay="600"/>
                                          </p:stCondLst>
                                        </p:cTn>
                                        <p:tgtEl>
                                          <p:spTgt spid="10"/>
                                        </p:tgtEl>
                                        <p:attrNameLst>
                                          <p:attrName>xshear</p:attrName>
                                        </p:attrNameLst>
                                      </p:cBhvr>
                                    </p:anim>
                                    <p:animScale>
                                      <p:cBhvr>
                                        <p:cTn id="17" dur="200" decel="100000" autoRev="1" fill="hold">
                                          <p:stCondLst>
                                            <p:cond delay="600"/>
                                          </p:stCondLst>
                                        </p:cTn>
                                        <p:tgtEl>
                                          <p:spTgt spid="10"/>
                                        </p:tgtEl>
                                      </p:cBhvr>
                                      <p:from x="100000" y="100000"/>
                                      <p:to x="80000" y="100000"/>
                                    </p:animScale>
                                    <p:anim by="(#ppt_h/3+#ppt_w*0.1)" calcmode="lin" valueType="num">
                                      <p:cBhvr additive="sum">
                                        <p:cTn id="18" dur="200" decel="100000" autoRev="1" fill="hold">
                                          <p:stCondLst>
                                            <p:cond delay="600"/>
                                          </p:stCondLst>
                                        </p:cTn>
                                        <p:tgtEl>
                                          <p:spTgt spid="10"/>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 from="(-#ppt_w/2)" to="(#ppt_x)" calcmode="lin" valueType="num">
                                      <p:cBhvr>
                                        <p:cTn id="23" dur="600" fill="hold">
                                          <p:stCondLst>
                                            <p:cond delay="0"/>
                                          </p:stCondLst>
                                        </p:cTn>
                                        <p:tgtEl>
                                          <p:spTgt spid="13"/>
                                        </p:tgtEl>
                                        <p:attrNameLst>
                                          <p:attrName>ppt_x</p:attrName>
                                        </p:attrNameLst>
                                      </p:cBhvr>
                                    </p:anim>
                                    <p:anim from="0" to="-1.0" calcmode="lin" valueType="num">
                                      <p:cBhvr>
                                        <p:cTn id="24" dur="200" decel="50000" autoRev="1" fill="hold">
                                          <p:stCondLst>
                                            <p:cond delay="600"/>
                                          </p:stCondLst>
                                        </p:cTn>
                                        <p:tgtEl>
                                          <p:spTgt spid="13"/>
                                        </p:tgtEl>
                                        <p:attrNameLst>
                                          <p:attrName>xshear</p:attrName>
                                        </p:attrNameLst>
                                      </p:cBhvr>
                                    </p:anim>
                                    <p:animScale>
                                      <p:cBhvr>
                                        <p:cTn id="25" dur="200" decel="100000" autoRev="1" fill="hold">
                                          <p:stCondLst>
                                            <p:cond delay="600"/>
                                          </p:stCondLst>
                                        </p:cTn>
                                        <p:tgtEl>
                                          <p:spTgt spid="13"/>
                                        </p:tgtEl>
                                      </p:cBhvr>
                                      <p:from x="100000" y="100000"/>
                                      <p:to x="80000" y="100000"/>
                                    </p:animScale>
                                    <p:anim by="(#ppt_h/3+#ppt_w*0.1)" calcmode="lin" valueType="num">
                                      <p:cBhvr additive="sum">
                                        <p:cTn id="26" dur="200" decel="100000" autoRev="1" fill="hold">
                                          <p:stCondLst>
                                            <p:cond delay="600"/>
                                          </p:stCondLst>
                                        </p:cTn>
                                        <p:tgtEl>
                                          <p:spTgt spid="13"/>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p:bldP spid="1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Definition card">
            <a:extLst>
              <a:ext uri="{FF2B5EF4-FFF2-40B4-BE49-F238E27FC236}">
                <a16:creationId xmlns:a16="http://schemas.microsoft.com/office/drawing/2014/main" id="{8A4F3FCB-C7A9-82F3-8E10-9339C32AE6DF}"/>
              </a:ext>
            </a:extLst>
          </p:cNvPr>
          <p:cNvSpPr/>
          <p:nvPr/>
        </p:nvSpPr>
        <p:spPr>
          <a:xfrm>
            <a:off x="762000" y="3751580"/>
            <a:ext cx="10668000" cy="82804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Definition card">
            <a:extLst>
              <a:ext uri="{FF2B5EF4-FFF2-40B4-BE49-F238E27FC236}">
                <a16:creationId xmlns:a16="http://schemas.microsoft.com/office/drawing/2014/main" id="{62506592-1FEC-CE15-6D30-62EAE03D82AD}"/>
              </a:ext>
            </a:extLst>
          </p:cNvPr>
          <p:cNvSpPr/>
          <p:nvPr/>
        </p:nvSpPr>
        <p:spPr>
          <a:xfrm>
            <a:off x="762000" y="2796540"/>
            <a:ext cx="10668000" cy="82804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efinition card">
            <a:extLst>
              <a:ext uri="{FF2B5EF4-FFF2-40B4-BE49-F238E27FC236}">
                <a16:creationId xmlns:a16="http://schemas.microsoft.com/office/drawing/2014/main" id="{62CB8193-5F73-50AC-3051-4D642866D20A}"/>
              </a:ext>
            </a:extLst>
          </p:cNvPr>
          <p:cNvSpPr/>
          <p:nvPr/>
        </p:nvSpPr>
        <p:spPr>
          <a:xfrm>
            <a:off x="762000" y="1841500"/>
            <a:ext cx="10668000" cy="82804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CC5247-8B4B-54C8-3455-0EB32B299270}"/>
              </a:ext>
            </a:extLst>
          </p:cNvPr>
          <p:cNvSpPr>
            <a:spLocks noGrp="1"/>
          </p:cNvSpPr>
          <p:nvPr>
            <p:ph type="title"/>
          </p:nvPr>
        </p:nvSpPr>
        <p:spPr/>
        <p:txBody>
          <a:bodyPr>
            <a:noAutofit/>
          </a:bodyPr>
          <a:lstStyle/>
          <a:p>
            <a:r>
              <a:rPr lang="en-US">
                <a:solidFill>
                  <a:srgbClr val="1F3864"/>
                </a:solidFill>
              </a:rPr>
              <a:t>Research ethics today</a:t>
            </a:r>
          </a:p>
        </p:txBody>
      </p:sp>
      <p:sp>
        <p:nvSpPr>
          <p:cNvPr id="4" name="Slide Number Placeholder 3">
            <a:extLst>
              <a:ext uri="{FF2B5EF4-FFF2-40B4-BE49-F238E27FC236}">
                <a16:creationId xmlns:a16="http://schemas.microsoft.com/office/drawing/2014/main" id="{DA598EAA-E7F8-FC9B-8A28-8101A22738FE}"/>
              </a:ext>
            </a:extLst>
          </p:cNvPr>
          <p:cNvSpPr>
            <a:spLocks noGrp="1"/>
          </p:cNvSpPr>
          <p:nvPr>
            <p:ph type="sldNum" sz="quarter" idx="12"/>
          </p:nvPr>
        </p:nvSpPr>
        <p:spPr/>
        <p:txBody>
          <a:bodyPr/>
          <a:lstStyle/>
          <a:p>
            <a:fld id="{A80A81DD-F10A-4B1C-963A-0ABBB4865886}" type="slidenum">
              <a:rPr lang="en-US" sz="1600" smtClean="0"/>
              <a:t>12</a:t>
            </a:fld>
            <a:endParaRPr lang="en-US" sz="1600"/>
          </a:p>
        </p:txBody>
      </p:sp>
      <p:sp>
        <p:nvSpPr>
          <p:cNvPr id="5" name="TextBox 4">
            <a:extLst>
              <a:ext uri="{FF2B5EF4-FFF2-40B4-BE49-F238E27FC236}">
                <a16:creationId xmlns:a16="http://schemas.microsoft.com/office/drawing/2014/main" id="{238AF89E-601A-B5F9-2D65-135EBA0406FB}"/>
              </a:ext>
            </a:extLst>
          </p:cNvPr>
          <p:cNvSpPr txBox="1"/>
          <p:nvPr/>
        </p:nvSpPr>
        <p:spPr>
          <a:xfrm>
            <a:off x="914400" y="1943100"/>
            <a:ext cx="3022600" cy="381000"/>
          </a:xfrm>
          <a:prstGeom prst="rect">
            <a:avLst/>
          </a:prstGeom>
          <a:noFill/>
        </p:spPr>
        <p:txBody>
          <a:bodyPr vert="horz" wrap="square" rtlCol="0">
            <a:noAutofit/>
          </a:bodyPr>
          <a:lstStyle/>
          <a:p>
            <a:r>
              <a:rPr lang="en-US" b="1">
                <a:solidFill>
                  <a:srgbClr val="C00000"/>
                </a:solidFill>
              </a:rPr>
              <a:t>informed consent</a:t>
            </a:r>
          </a:p>
        </p:txBody>
      </p:sp>
      <p:sp>
        <p:nvSpPr>
          <p:cNvPr id="6" name="TextBox 5">
            <a:extLst>
              <a:ext uri="{FF2B5EF4-FFF2-40B4-BE49-F238E27FC236}">
                <a16:creationId xmlns:a16="http://schemas.microsoft.com/office/drawing/2014/main" id="{4C2C5DDB-F229-9070-C88A-A2681B8F3FF5}"/>
              </a:ext>
            </a:extLst>
          </p:cNvPr>
          <p:cNvSpPr txBox="1"/>
          <p:nvPr/>
        </p:nvSpPr>
        <p:spPr>
          <a:xfrm>
            <a:off x="4013200" y="1943099"/>
            <a:ext cx="7264400" cy="650240"/>
          </a:xfrm>
          <a:prstGeom prst="rect">
            <a:avLst/>
          </a:prstGeom>
          <a:noFill/>
        </p:spPr>
        <p:txBody>
          <a:bodyPr vert="horz" wrap="square" rtlCol="0">
            <a:noAutofit/>
          </a:bodyPr>
          <a:lstStyle/>
          <a:p>
            <a:r>
              <a:rPr lang="en-US">
                <a:solidFill>
                  <a:srgbClr val="000000"/>
                </a:solidFill>
              </a:rPr>
              <a:t>subjects are told the purpose, procedures and risks in advance, and can refuse or quit at any time</a:t>
            </a:r>
          </a:p>
        </p:txBody>
      </p:sp>
      <p:sp>
        <p:nvSpPr>
          <p:cNvPr id="8" name="TextBox 7">
            <a:extLst>
              <a:ext uri="{FF2B5EF4-FFF2-40B4-BE49-F238E27FC236}">
                <a16:creationId xmlns:a16="http://schemas.microsoft.com/office/drawing/2014/main" id="{4DBB26A7-0561-F122-F164-A6F6ADA86702}"/>
              </a:ext>
            </a:extLst>
          </p:cNvPr>
          <p:cNvSpPr txBox="1"/>
          <p:nvPr/>
        </p:nvSpPr>
        <p:spPr>
          <a:xfrm>
            <a:off x="914400" y="2898140"/>
            <a:ext cx="3022600" cy="381000"/>
          </a:xfrm>
          <a:prstGeom prst="rect">
            <a:avLst/>
          </a:prstGeom>
          <a:noFill/>
        </p:spPr>
        <p:txBody>
          <a:bodyPr vert="horz" wrap="square" rtlCol="0">
            <a:noAutofit/>
          </a:bodyPr>
          <a:lstStyle/>
          <a:p>
            <a:r>
              <a:rPr lang="en-US" b="1">
                <a:solidFill>
                  <a:srgbClr val="C00000"/>
                </a:solidFill>
              </a:rPr>
              <a:t>confidentiality</a:t>
            </a:r>
          </a:p>
        </p:txBody>
      </p:sp>
      <p:sp>
        <p:nvSpPr>
          <p:cNvPr id="9" name="TextBox 8">
            <a:extLst>
              <a:ext uri="{FF2B5EF4-FFF2-40B4-BE49-F238E27FC236}">
                <a16:creationId xmlns:a16="http://schemas.microsoft.com/office/drawing/2014/main" id="{4C2E6370-67AB-0ED8-7D3B-CC849A8AFECD}"/>
              </a:ext>
            </a:extLst>
          </p:cNvPr>
          <p:cNvSpPr txBox="1"/>
          <p:nvPr/>
        </p:nvSpPr>
        <p:spPr>
          <a:xfrm>
            <a:off x="4013200" y="2898139"/>
            <a:ext cx="7264400" cy="650240"/>
          </a:xfrm>
          <a:prstGeom prst="rect">
            <a:avLst/>
          </a:prstGeom>
          <a:noFill/>
        </p:spPr>
        <p:txBody>
          <a:bodyPr vert="horz" wrap="square" rtlCol="0">
            <a:noAutofit/>
          </a:bodyPr>
          <a:lstStyle/>
          <a:p>
            <a:r>
              <a:rPr lang="en-US">
                <a:solidFill>
                  <a:srgbClr val="000000"/>
                </a:solidFill>
              </a:rPr>
              <a:t>information about individuals is protected and never released in a form that identifies them</a:t>
            </a:r>
          </a:p>
        </p:txBody>
      </p:sp>
      <p:sp>
        <p:nvSpPr>
          <p:cNvPr id="11" name="TextBox 10">
            <a:extLst>
              <a:ext uri="{FF2B5EF4-FFF2-40B4-BE49-F238E27FC236}">
                <a16:creationId xmlns:a16="http://schemas.microsoft.com/office/drawing/2014/main" id="{9B12902B-5B96-ABFE-050C-EECF749813D9}"/>
              </a:ext>
            </a:extLst>
          </p:cNvPr>
          <p:cNvSpPr txBox="1"/>
          <p:nvPr/>
        </p:nvSpPr>
        <p:spPr>
          <a:xfrm>
            <a:off x="914400" y="3853179"/>
            <a:ext cx="3022600" cy="650240"/>
          </a:xfrm>
          <a:prstGeom prst="rect">
            <a:avLst/>
          </a:prstGeom>
          <a:noFill/>
        </p:spPr>
        <p:txBody>
          <a:bodyPr vert="horz" wrap="square" rtlCol="0">
            <a:noAutofit/>
          </a:bodyPr>
          <a:lstStyle/>
          <a:p>
            <a:r>
              <a:rPr lang="en-US" b="1">
                <a:solidFill>
                  <a:srgbClr val="C00000"/>
                </a:solidFill>
              </a:rPr>
              <a:t>Institutional Review Board (IRB)</a:t>
            </a:r>
          </a:p>
        </p:txBody>
      </p:sp>
      <p:sp>
        <p:nvSpPr>
          <p:cNvPr id="12" name="TextBox 11">
            <a:extLst>
              <a:ext uri="{FF2B5EF4-FFF2-40B4-BE49-F238E27FC236}">
                <a16:creationId xmlns:a16="http://schemas.microsoft.com/office/drawing/2014/main" id="{B8934950-E37B-7F6C-1D87-713CC1B80B52}"/>
              </a:ext>
            </a:extLst>
          </p:cNvPr>
          <p:cNvSpPr txBox="1"/>
          <p:nvPr/>
        </p:nvSpPr>
        <p:spPr>
          <a:xfrm>
            <a:off x="4013200" y="3853179"/>
            <a:ext cx="7264400" cy="650240"/>
          </a:xfrm>
          <a:prstGeom prst="rect">
            <a:avLst/>
          </a:prstGeom>
          <a:noFill/>
        </p:spPr>
        <p:txBody>
          <a:bodyPr vert="horz" wrap="square" rtlCol="0">
            <a:noAutofit/>
          </a:bodyPr>
          <a:lstStyle/>
          <a:p>
            <a:r>
              <a:rPr lang="en-US">
                <a:solidFill>
                  <a:srgbClr val="000000"/>
                </a:solidFill>
              </a:rPr>
              <a:t>reviews and approves studies on human subjects before they start</a:t>
            </a:r>
          </a:p>
          <a:p>
            <a:r>
              <a:rPr lang="en-US" i="1">
                <a:solidFill>
                  <a:srgbClr val="595959"/>
                </a:solidFill>
              </a:rPr>
              <a:t>at UI, through the Office of Research Assurances</a:t>
            </a:r>
          </a:p>
        </p:txBody>
      </p:sp>
      <p:sp>
        <p:nvSpPr>
          <p:cNvPr id="3" name="Title rule">
            <a:extLst>
              <a:ext uri="{FF2B5EF4-FFF2-40B4-BE49-F238E27FC236}">
                <a16:creationId xmlns:a16="http://schemas.microsoft.com/office/drawing/2014/main" id="{18159BBA-B771-78A5-3930-056EC59B3DC2}"/>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32805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from="(-#ppt_w/2)" to="(#ppt_x)" calcmode="lin" valueType="num">
                                      <p:cBhvr>
                                        <p:cTn id="15" dur="600" fill="hold">
                                          <p:stCondLst>
                                            <p:cond delay="0"/>
                                          </p:stCondLst>
                                        </p:cTn>
                                        <p:tgtEl>
                                          <p:spTgt spid="9"/>
                                        </p:tgtEl>
                                        <p:attrNameLst>
                                          <p:attrName>ppt_x</p:attrName>
                                        </p:attrNameLst>
                                      </p:cBhvr>
                                    </p:anim>
                                    <p:anim from="0" to="-1.0" calcmode="lin" valueType="num">
                                      <p:cBhvr>
                                        <p:cTn id="16" dur="200" decel="50000" autoRev="1" fill="hold">
                                          <p:stCondLst>
                                            <p:cond delay="600"/>
                                          </p:stCondLst>
                                        </p:cTn>
                                        <p:tgtEl>
                                          <p:spTgt spid="9"/>
                                        </p:tgtEl>
                                        <p:attrNameLst>
                                          <p:attrName>xshear</p:attrName>
                                        </p:attrNameLst>
                                      </p:cBhvr>
                                    </p:anim>
                                    <p:animScale>
                                      <p:cBhvr>
                                        <p:cTn id="17" dur="200" decel="100000" autoRev="1" fill="hold">
                                          <p:stCondLst>
                                            <p:cond delay="600"/>
                                          </p:stCondLst>
                                        </p:cTn>
                                        <p:tgtEl>
                                          <p:spTgt spid="9"/>
                                        </p:tgtEl>
                                      </p:cBhvr>
                                      <p:from x="100000" y="100000"/>
                                      <p:to x="80000" y="100000"/>
                                    </p:animScale>
                                    <p:anim by="(#ppt_h/3+#ppt_w*0.1)" calcmode="lin" valueType="num">
                                      <p:cBhvr additive="sum">
                                        <p:cTn id="18" dur="200" decel="100000" autoRev="1" fill="hold">
                                          <p:stCondLst>
                                            <p:cond delay="600"/>
                                          </p:stCondLst>
                                        </p:cTn>
                                        <p:tgtEl>
                                          <p:spTgt spid="9"/>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 from="(-#ppt_w/2)" to="(#ppt_x)" calcmode="lin" valueType="num">
                                      <p:cBhvr>
                                        <p:cTn id="23" dur="600" fill="hold">
                                          <p:stCondLst>
                                            <p:cond delay="0"/>
                                          </p:stCondLst>
                                        </p:cTn>
                                        <p:tgtEl>
                                          <p:spTgt spid="12"/>
                                        </p:tgtEl>
                                        <p:attrNameLst>
                                          <p:attrName>ppt_x</p:attrName>
                                        </p:attrNameLst>
                                      </p:cBhvr>
                                    </p:anim>
                                    <p:anim from="0" to="-1.0" calcmode="lin" valueType="num">
                                      <p:cBhvr>
                                        <p:cTn id="24" dur="200" decel="50000" autoRev="1" fill="hold">
                                          <p:stCondLst>
                                            <p:cond delay="600"/>
                                          </p:stCondLst>
                                        </p:cTn>
                                        <p:tgtEl>
                                          <p:spTgt spid="12"/>
                                        </p:tgtEl>
                                        <p:attrNameLst>
                                          <p:attrName>xshear</p:attrName>
                                        </p:attrNameLst>
                                      </p:cBhvr>
                                    </p:anim>
                                    <p:animScale>
                                      <p:cBhvr>
                                        <p:cTn id="25" dur="200" decel="100000" autoRev="1" fill="hold">
                                          <p:stCondLst>
                                            <p:cond delay="600"/>
                                          </p:stCondLst>
                                        </p:cTn>
                                        <p:tgtEl>
                                          <p:spTgt spid="12"/>
                                        </p:tgtEl>
                                      </p:cBhvr>
                                      <p:from x="100000" y="100000"/>
                                      <p:to x="80000" y="100000"/>
                                    </p:animScale>
                                    <p:anim by="(#ppt_h/3+#ppt_w*0.1)" calcmode="lin" valueType="num">
                                      <p:cBhvr additive="sum">
                                        <p:cTn id="26" dur="200" decel="100000" autoRev="1" fill="hold">
                                          <p:stCondLst>
                                            <p:cond delay="600"/>
                                          </p:stCondLst>
                                        </p:cTn>
                                        <p:tgtEl>
                                          <p:spTgt spid="12"/>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FBCDC-48E3-34D7-E16A-ED185680B6C5}"/>
              </a:ext>
            </a:extLst>
          </p:cNvPr>
          <p:cNvSpPr>
            <a:spLocks noGrp="1"/>
          </p:cNvSpPr>
          <p:nvPr>
            <p:ph type="title"/>
          </p:nvPr>
        </p:nvSpPr>
        <p:spPr/>
        <p:txBody>
          <a:bodyPr>
            <a:noAutofit/>
          </a:bodyPr>
          <a:lstStyle/>
          <a:p>
            <a:r>
              <a:rPr lang="en-US">
                <a:solidFill>
                  <a:srgbClr val="1F3864"/>
                </a:solidFill>
              </a:rPr>
              <a:t>Ethics: honest data</a:t>
            </a:r>
          </a:p>
        </p:txBody>
      </p:sp>
      <p:sp>
        <p:nvSpPr>
          <p:cNvPr id="4" name="Slide Number Placeholder 3">
            <a:extLst>
              <a:ext uri="{FF2B5EF4-FFF2-40B4-BE49-F238E27FC236}">
                <a16:creationId xmlns:a16="http://schemas.microsoft.com/office/drawing/2014/main" id="{867D343A-B691-3B93-BC2E-2BC7ADBAE788}"/>
              </a:ext>
            </a:extLst>
          </p:cNvPr>
          <p:cNvSpPr>
            <a:spLocks noGrp="1"/>
          </p:cNvSpPr>
          <p:nvPr>
            <p:ph type="sldNum" sz="quarter" idx="12"/>
          </p:nvPr>
        </p:nvSpPr>
        <p:spPr/>
        <p:txBody>
          <a:bodyPr/>
          <a:lstStyle/>
          <a:p>
            <a:fld id="{A80A81DD-F10A-4B1C-963A-0ABBB4865886}" type="slidenum">
              <a:rPr lang="en-US" sz="1600" smtClean="0"/>
              <a:t>13</a:t>
            </a:fld>
            <a:endParaRPr lang="en-US" sz="1600"/>
          </a:p>
        </p:txBody>
      </p:sp>
      <p:sp>
        <p:nvSpPr>
          <p:cNvPr id="5" name="TextBox 4">
            <a:extLst>
              <a:ext uri="{FF2B5EF4-FFF2-40B4-BE49-F238E27FC236}">
                <a16:creationId xmlns:a16="http://schemas.microsoft.com/office/drawing/2014/main" id="{803EF544-7BC1-830E-74B1-64EDAAE169AE}"/>
              </a:ext>
            </a:extLst>
          </p:cNvPr>
          <p:cNvSpPr txBox="1"/>
          <p:nvPr/>
        </p:nvSpPr>
        <p:spPr>
          <a:xfrm>
            <a:off x="762000" y="1841499"/>
            <a:ext cx="10668000" cy="830997"/>
          </a:xfrm>
          <a:prstGeom prst="rect">
            <a:avLst/>
          </a:prstGeom>
          <a:noFill/>
        </p:spPr>
        <p:txBody>
          <a:bodyPr vert="horz" wrap="square" rtlCol="0">
            <a:spAutoFit/>
          </a:bodyPr>
          <a:lstStyle/>
          <a:p>
            <a:pPr>
              <a:spcAft>
                <a:spcPts val="400"/>
              </a:spcAft>
            </a:pPr>
            <a:r>
              <a:rPr lang="en-US" sz="1600">
                <a:solidFill>
                  <a:srgbClr val="000000"/>
                </a:solidFill>
              </a:rPr>
              <a:t>Ethics also means honest data. An investigation of the social psychologist Diederik Stapel found he had invented data outright, tainting more than 55 of his papers and 10 PhD dissertations he supervised. But a problem does not have to be that big to matter. A researcher is surveying households in a community. What is wrong with each of these?</a:t>
            </a:r>
          </a:p>
        </p:txBody>
      </p:sp>
      <p:sp>
        <p:nvSpPr>
          <p:cNvPr id="6" name="TextBox 5">
            <a:extLst>
              <a:ext uri="{FF2B5EF4-FFF2-40B4-BE49-F238E27FC236}">
                <a16:creationId xmlns:a16="http://schemas.microsoft.com/office/drawing/2014/main" id="{173928F0-6402-96DA-08AE-79702CFCC1E5}"/>
              </a:ext>
            </a:extLst>
          </p:cNvPr>
          <p:cNvSpPr txBox="1"/>
          <p:nvPr/>
        </p:nvSpPr>
        <p:spPr>
          <a:xfrm>
            <a:off x="762000" y="2824896"/>
            <a:ext cx="10668000" cy="345440"/>
          </a:xfrm>
          <a:prstGeom prst="rect">
            <a:avLst/>
          </a:prstGeom>
          <a:noFill/>
        </p:spPr>
        <p:txBody>
          <a:bodyPr vert="horz" wrap="square" rtlCol="0">
            <a:spAutoFit/>
          </a:bodyPr>
          <a:lstStyle/>
          <a:p>
            <a:pPr marL="304800" indent="-304800"/>
            <a:r>
              <a:rPr lang="en-US" sz="1600" b="1">
                <a:solidFill>
                  <a:srgbClr val="C00000"/>
                </a:solidFill>
              </a:rPr>
              <a:t>1.</a:t>
            </a:r>
            <a:r>
              <a:rPr lang="en-US" sz="1600">
                <a:solidFill>
                  <a:srgbClr val="000000"/>
                </a:solidFill>
              </a:rPr>
              <a:t>  She picks a block where she already knows a lot of the neighbours.</a:t>
            </a:r>
          </a:p>
        </p:txBody>
      </p:sp>
      <p:sp>
        <p:nvSpPr>
          <p:cNvPr id="7" name="TextBox 6">
            <a:extLst>
              <a:ext uri="{FF2B5EF4-FFF2-40B4-BE49-F238E27FC236}">
                <a16:creationId xmlns:a16="http://schemas.microsoft.com/office/drawing/2014/main" id="{096B0234-5946-443E-D3EF-6B904164792E}"/>
              </a:ext>
            </a:extLst>
          </p:cNvPr>
          <p:cNvSpPr txBox="1"/>
          <p:nvPr/>
        </p:nvSpPr>
        <p:spPr>
          <a:xfrm>
            <a:off x="1117600" y="3195736"/>
            <a:ext cx="10312400" cy="338554"/>
          </a:xfrm>
          <a:prstGeom prst="rect">
            <a:avLst/>
          </a:prstGeom>
          <a:noFill/>
        </p:spPr>
        <p:txBody>
          <a:bodyPr vert="horz" wrap="square" rtlCol="0">
            <a:spAutoFit/>
          </a:bodyPr>
          <a:lstStyle/>
          <a:p>
            <a:r>
              <a:rPr lang="en-US" sz="1600" b="1">
                <a:solidFill>
                  <a:srgbClr val="C00000"/>
                </a:solidFill>
              </a:rPr>
              <a:t>A convenience sample. It is biased, and presenting it as representative of the community is misleading.</a:t>
            </a:r>
          </a:p>
        </p:txBody>
      </p:sp>
      <p:sp>
        <p:nvSpPr>
          <p:cNvPr id="8" name="TextBox 7">
            <a:extLst>
              <a:ext uri="{FF2B5EF4-FFF2-40B4-BE49-F238E27FC236}">
                <a16:creationId xmlns:a16="http://schemas.microsoft.com/office/drawing/2014/main" id="{DDBAFEBF-2B58-DFE7-62AD-B002E3656906}"/>
              </a:ext>
            </a:extLst>
          </p:cNvPr>
          <p:cNvSpPr txBox="1"/>
          <p:nvPr/>
        </p:nvSpPr>
        <p:spPr>
          <a:xfrm>
            <a:off x="762000" y="3712090"/>
            <a:ext cx="10668000" cy="345440"/>
          </a:xfrm>
          <a:prstGeom prst="rect">
            <a:avLst/>
          </a:prstGeom>
          <a:noFill/>
        </p:spPr>
        <p:txBody>
          <a:bodyPr vert="horz" wrap="square" rtlCol="0">
            <a:spAutoFit/>
          </a:bodyPr>
          <a:lstStyle/>
          <a:p>
            <a:pPr marL="304800" indent="-304800"/>
            <a:r>
              <a:rPr lang="en-US" sz="1600" b="1">
                <a:solidFill>
                  <a:srgbClr val="C00000"/>
                </a:solidFill>
              </a:rPr>
              <a:t>2.</a:t>
            </a:r>
            <a:r>
              <a:rPr lang="en-US" sz="1600">
                <a:solidFill>
                  <a:srgbClr val="000000"/>
                </a:solidFill>
              </a:rPr>
              <a:t>  Four houses have nobody home. She skips them and never goes back.</a:t>
            </a:r>
          </a:p>
        </p:txBody>
      </p:sp>
      <p:sp>
        <p:nvSpPr>
          <p:cNvPr id="9" name="TextBox 8">
            <a:extLst>
              <a:ext uri="{FF2B5EF4-FFF2-40B4-BE49-F238E27FC236}">
                <a16:creationId xmlns:a16="http://schemas.microsoft.com/office/drawing/2014/main" id="{37C5EB09-8181-01D4-0AE9-A06C5E9A6703}"/>
              </a:ext>
            </a:extLst>
          </p:cNvPr>
          <p:cNvSpPr txBox="1"/>
          <p:nvPr/>
        </p:nvSpPr>
        <p:spPr>
          <a:xfrm>
            <a:off x="1117600" y="4082930"/>
            <a:ext cx="10312400" cy="589280"/>
          </a:xfrm>
          <a:prstGeom prst="rect">
            <a:avLst/>
          </a:prstGeom>
          <a:noFill/>
        </p:spPr>
        <p:txBody>
          <a:bodyPr vert="horz" wrap="square" rtlCol="0">
            <a:spAutoFit/>
          </a:bodyPr>
          <a:lstStyle/>
          <a:p>
            <a:r>
              <a:rPr lang="en-US" sz="1600" b="1">
                <a:solidFill>
                  <a:srgbClr val="C00000"/>
                </a:solidFill>
              </a:rPr>
              <a:t>Nonresponse. The households she misses are not a random subset - working families are exactly the ones least likely to be home in the daytime.</a:t>
            </a:r>
          </a:p>
        </p:txBody>
      </p:sp>
      <p:sp>
        <p:nvSpPr>
          <p:cNvPr id="10" name="TextBox 9">
            <a:extLst>
              <a:ext uri="{FF2B5EF4-FFF2-40B4-BE49-F238E27FC236}">
                <a16:creationId xmlns:a16="http://schemas.microsoft.com/office/drawing/2014/main" id="{2235831A-51A3-E82F-82A5-67061AA1A22E}"/>
              </a:ext>
            </a:extLst>
          </p:cNvPr>
          <p:cNvSpPr txBox="1"/>
          <p:nvPr/>
        </p:nvSpPr>
        <p:spPr>
          <a:xfrm>
            <a:off x="762000" y="4850010"/>
            <a:ext cx="10668000" cy="345440"/>
          </a:xfrm>
          <a:prstGeom prst="rect">
            <a:avLst/>
          </a:prstGeom>
          <a:noFill/>
        </p:spPr>
        <p:txBody>
          <a:bodyPr vert="horz" wrap="square" rtlCol="0">
            <a:spAutoFit/>
          </a:bodyPr>
          <a:lstStyle/>
          <a:p>
            <a:pPr marL="304800" indent="-304800"/>
            <a:r>
              <a:rPr lang="en-US" sz="1600" b="1">
                <a:solidFill>
                  <a:srgbClr val="C00000"/>
                </a:solidFill>
              </a:rPr>
              <a:t>3.</a:t>
            </a:r>
            <a:r>
              <a:rPr lang="en-US" sz="1600">
                <a:solidFill>
                  <a:srgbClr val="000000"/>
                </a:solidFill>
              </a:rPr>
              <a:t>  She fills in those four forms with answers copied from the neighbours.</a:t>
            </a:r>
          </a:p>
        </p:txBody>
      </p:sp>
      <p:sp>
        <p:nvSpPr>
          <p:cNvPr id="11" name="TextBox 10">
            <a:extLst>
              <a:ext uri="{FF2B5EF4-FFF2-40B4-BE49-F238E27FC236}">
                <a16:creationId xmlns:a16="http://schemas.microsoft.com/office/drawing/2014/main" id="{7EEE7946-5EA0-8B72-F855-AEB4B6636110}"/>
              </a:ext>
            </a:extLst>
          </p:cNvPr>
          <p:cNvSpPr txBox="1"/>
          <p:nvPr/>
        </p:nvSpPr>
        <p:spPr>
          <a:xfrm>
            <a:off x="1117600" y="5220850"/>
            <a:ext cx="10312400" cy="345440"/>
          </a:xfrm>
          <a:prstGeom prst="rect">
            <a:avLst/>
          </a:prstGeom>
          <a:noFill/>
        </p:spPr>
        <p:txBody>
          <a:bodyPr vert="horz" wrap="square" rtlCol="0">
            <a:spAutoFit/>
          </a:bodyPr>
          <a:lstStyle/>
          <a:p>
            <a:r>
              <a:rPr lang="en-US" sz="1600" b="1">
                <a:solidFill>
                  <a:srgbClr val="C00000"/>
                </a:solidFill>
              </a:rPr>
              <a:t>Fabricated data. However small the study, this is never acceptable.</a:t>
            </a:r>
          </a:p>
        </p:txBody>
      </p:sp>
      <p:sp>
        <p:nvSpPr>
          <p:cNvPr id="12" name="TextBox 11">
            <a:extLst>
              <a:ext uri="{FF2B5EF4-FFF2-40B4-BE49-F238E27FC236}">
                <a16:creationId xmlns:a16="http://schemas.microsoft.com/office/drawing/2014/main" id="{3D8E5BD3-1CF7-2352-2707-2D7DBFFA6EBD}"/>
              </a:ext>
            </a:extLst>
          </p:cNvPr>
          <p:cNvSpPr txBox="1"/>
          <p:nvPr/>
        </p:nvSpPr>
        <p:spPr>
          <a:xfrm>
            <a:off x="762000" y="6045200"/>
            <a:ext cx="10668000" cy="345440"/>
          </a:xfrm>
          <a:prstGeom prst="rect">
            <a:avLst/>
          </a:prstGeom>
          <a:noFill/>
        </p:spPr>
        <p:txBody>
          <a:bodyPr vert="horz" wrap="square" rtlCol="0">
            <a:noAutofit/>
          </a:bodyPr>
          <a:lstStyle/>
          <a:p>
            <a:pPr algn="r"/>
            <a:r>
              <a:rPr lang="en-US" sz="1600" i="1">
                <a:solidFill>
                  <a:srgbClr val="595959"/>
                </a:solidFill>
              </a:rPr>
              <a:t>Source: Introductory Statistics 2e (OpenStax), Section 1.4 and Example 1.22</a:t>
            </a:r>
          </a:p>
        </p:txBody>
      </p:sp>
      <p:sp>
        <p:nvSpPr>
          <p:cNvPr id="3" name="Title rule">
            <a:extLst>
              <a:ext uri="{FF2B5EF4-FFF2-40B4-BE49-F238E27FC236}">
                <a16:creationId xmlns:a16="http://schemas.microsoft.com/office/drawing/2014/main" id="{2A19CE9B-6143-6D05-1FF1-AF917901111D}"/>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34984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from="(-#ppt_w/2)" to="(#ppt_x)" calcmode="lin" valueType="num">
                                      <p:cBhvr>
                                        <p:cTn id="7" dur="600" fill="hold">
                                          <p:stCondLst>
                                            <p:cond delay="0"/>
                                          </p:stCondLst>
                                        </p:cTn>
                                        <p:tgtEl>
                                          <p:spTgt spid="7"/>
                                        </p:tgtEl>
                                        <p:attrNameLst>
                                          <p:attrName>ppt_x</p:attrName>
                                        </p:attrNameLst>
                                      </p:cBhvr>
                                    </p:anim>
                                    <p:anim from="0" to="-1.0" calcmode="lin" valueType="num">
                                      <p:cBhvr>
                                        <p:cTn id="8" dur="200" decel="50000" autoRev="1" fill="hold">
                                          <p:stCondLst>
                                            <p:cond delay="600"/>
                                          </p:stCondLst>
                                        </p:cTn>
                                        <p:tgtEl>
                                          <p:spTgt spid="7"/>
                                        </p:tgtEl>
                                        <p:attrNameLst>
                                          <p:attrName>xshear</p:attrName>
                                        </p:attrNameLst>
                                      </p:cBhvr>
                                    </p:anim>
                                    <p:animScale>
                                      <p:cBhvr>
                                        <p:cTn id="9" dur="200" decel="100000" autoRev="1" fill="hold">
                                          <p:stCondLst>
                                            <p:cond delay="600"/>
                                          </p:stCondLst>
                                        </p:cTn>
                                        <p:tgtEl>
                                          <p:spTgt spid="7"/>
                                        </p:tgtEl>
                                      </p:cBhvr>
                                      <p:from x="100000" y="100000"/>
                                      <p:to x="80000" y="100000"/>
                                    </p:animScale>
                                    <p:anim by="(#ppt_h/3+#ppt_w*0.1)" calcmode="lin" valueType="num">
                                      <p:cBhvr additive="sum">
                                        <p:cTn id="10" dur="200" decel="100000" autoRev="1" fill="hold">
                                          <p:stCondLst>
                                            <p:cond delay="600"/>
                                          </p:stCondLst>
                                        </p:cTn>
                                        <p:tgtEl>
                                          <p:spTgt spid="7"/>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from="(-#ppt_w/2)" to="(#ppt_x)" calcmode="lin" valueType="num">
                                      <p:cBhvr>
                                        <p:cTn id="15" dur="600" fill="hold">
                                          <p:stCondLst>
                                            <p:cond delay="0"/>
                                          </p:stCondLst>
                                        </p:cTn>
                                        <p:tgtEl>
                                          <p:spTgt spid="9"/>
                                        </p:tgtEl>
                                        <p:attrNameLst>
                                          <p:attrName>ppt_x</p:attrName>
                                        </p:attrNameLst>
                                      </p:cBhvr>
                                    </p:anim>
                                    <p:anim from="0" to="-1.0" calcmode="lin" valueType="num">
                                      <p:cBhvr>
                                        <p:cTn id="16" dur="200" decel="50000" autoRev="1" fill="hold">
                                          <p:stCondLst>
                                            <p:cond delay="600"/>
                                          </p:stCondLst>
                                        </p:cTn>
                                        <p:tgtEl>
                                          <p:spTgt spid="9"/>
                                        </p:tgtEl>
                                        <p:attrNameLst>
                                          <p:attrName>xshear</p:attrName>
                                        </p:attrNameLst>
                                      </p:cBhvr>
                                    </p:anim>
                                    <p:animScale>
                                      <p:cBhvr>
                                        <p:cTn id="17" dur="200" decel="100000" autoRev="1" fill="hold">
                                          <p:stCondLst>
                                            <p:cond delay="600"/>
                                          </p:stCondLst>
                                        </p:cTn>
                                        <p:tgtEl>
                                          <p:spTgt spid="9"/>
                                        </p:tgtEl>
                                      </p:cBhvr>
                                      <p:from x="100000" y="100000"/>
                                      <p:to x="80000" y="100000"/>
                                    </p:animScale>
                                    <p:anim by="(#ppt_h/3+#ppt_w*0.1)" calcmode="lin" valueType="num">
                                      <p:cBhvr additive="sum">
                                        <p:cTn id="18" dur="200" decel="100000" autoRev="1" fill="hold">
                                          <p:stCondLst>
                                            <p:cond delay="600"/>
                                          </p:stCondLst>
                                        </p:cTn>
                                        <p:tgtEl>
                                          <p:spTgt spid="9"/>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 from="(-#ppt_w/2)" to="(#ppt_x)" calcmode="lin" valueType="num">
                                      <p:cBhvr>
                                        <p:cTn id="23" dur="600" fill="hold">
                                          <p:stCondLst>
                                            <p:cond delay="0"/>
                                          </p:stCondLst>
                                        </p:cTn>
                                        <p:tgtEl>
                                          <p:spTgt spid="11"/>
                                        </p:tgtEl>
                                        <p:attrNameLst>
                                          <p:attrName>ppt_x</p:attrName>
                                        </p:attrNameLst>
                                      </p:cBhvr>
                                    </p:anim>
                                    <p:anim from="0" to="-1.0" calcmode="lin" valueType="num">
                                      <p:cBhvr>
                                        <p:cTn id="24" dur="200" decel="50000" autoRev="1" fill="hold">
                                          <p:stCondLst>
                                            <p:cond delay="600"/>
                                          </p:stCondLst>
                                        </p:cTn>
                                        <p:tgtEl>
                                          <p:spTgt spid="11"/>
                                        </p:tgtEl>
                                        <p:attrNameLst>
                                          <p:attrName>xshear</p:attrName>
                                        </p:attrNameLst>
                                      </p:cBhvr>
                                    </p:anim>
                                    <p:animScale>
                                      <p:cBhvr>
                                        <p:cTn id="25" dur="200" decel="100000" autoRev="1" fill="hold">
                                          <p:stCondLst>
                                            <p:cond delay="600"/>
                                          </p:stCondLst>
                                        </p:cTn>
                                        <p:tgtEl>
                                          <p:spTgt spid="11"/>
                                        </p:tgtEl>
                                      </p:cBhvr>
                                      <p:from x="100000" y="100000"/>
                                      <p:to x="80000" y="100000"/>
                                    </p:animScale>
                                    <p:anim by="(#ppt_h/3+#ppt_w*0.1)" calcmode="lin" valueType="num">
                                      <p:cBhvr additive="sum">
                                        <p:cTn id="26" dur="200" decel="100000" autoRev="1" fill="hold">
                                          <p:stCondLst>
                                            <p:cond delay="600"/>
                                          </p:stCondLst>
                                        </p:cTn>
                                        <p:tgtEl>
                                          <p:spTgt spid="11"/>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Practice: what design, and can it show cause?</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14</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noAutofit/>
          </a:bodyPr>
          <a:lstStyle/>
          <a:p>
            <a:pPr marL="304800" indent="-304800"/>
            <a:r>
              <a:rPr lang="en-US" sz="1600" b="1">
                <a:solidFill>
                  <a:srgbClr val="C00000"/>
                </a:solidFill>
              </a:rPr>
              <a:t>1.</a:t>
            </a:r>
            <a:r>
              <a:rPr lang="en-US" sz="1600">
                <a:solidFill>
                  <a:srgbClr val="000000"/>
                </a:solidFill>
              </a:rPr>
              <a:t>  A survey finds that people who own dogs have lower blood pressure than people who do not.</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136140"/>
            <a:ext cx="10312400" cy="345440"/>
          </a:xfrm>
          <a:prstGeom prst="rect">
            <a:avLst/>
          </a:prstGeom>
          <a:noFill/>
        </p:spPr>
        <p:txBody>
          <a:bodyPr vert="horz" wrap="square" rtlCol="0">
            <a:noAutofit/>
          </a:bodyPr>
          <a:lstStyle/>
          <a:p>
            <a:r>
              <a:rPr lang="en-US" sz="1600" b="1">
                <a:solidFill>
                  <a:srgbClr val="C00000"/>
                </a:solidFill>
              </a:rPr>
              <a:t>Observational - nobody was assigned a dog. Active people may both own dogs and have lower blood pressure.</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633980"/>
            <a:ext cx="10668000" cy="345440"/>
          </a:xfrm>
          <a:prstGeom prst="rect">
            <a:avLst/>
          </a:prstGeom>
          <a:noFill/>
        </p:spPr>
        <p:txBody>
          <a:bodyPr vert="horz" wrap="square" rtlCol="0">
            <a:noAutofit/>
          </a:bodyPr>
          <a:lstStyle/>
          <a:p>
            <a:pPr marL="304800" indent="-304800"/>
            <a:r>
              <a:rPr lang="en-US" sz="1600" b="1">
                <a:solidFill>
                  <a:srgbClr val="C00000"/>
                </a:solidFill>
              </a:rPr>
              <a:t>2.</a:t>
            </a:r>
            <a:r>
              <a:rPr lang="en-US" sz="1600">
                <a:solidFill>
                  <a:srgbClr val="000000"/>
                </a:solidFill>
              </a:rPr>
              <a:t>  60 volunteers with insomnia are randomly split: 30 get melatonin, 30 get an identical-looking placebo.</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2928620"/>
            <a:ext cx="10312400" cy="345440"/>
          </a:xfrm>
          <a:prstGeom prst="rect">
            <a:avLst/>
          </a:prstGeom>
          <a:noFill/>
        </p:spPr>
        <p:txBody>
          <a:bodyPr vert="horz" wrap="square" rtlCol="0">
            <a:noAutofit/>
          </a:bodyPr>
          <a:lstStyle/>
          <a:p>
            <a:r>
              <a:rPr lang="en-US" sz="1600" b="1">
                <a:solidFill>
                  <a:srgbClr val="C00000"/>
                </a:solidFill>
              </a:rPr>
              <a:t>Completely randomized experiment - it can show cause, for people like these volunteers.</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3426460"/>
            <a:ext cx="10668000" cy="345440"/>
          </a:xfrm>
          <a:prstGeom prst="rect">
            <a:avLst/>
          </a:prstGeom>
          <a:noFill/>
        </p:spPr>
        <p:txBody>
          <a:bodyPr vert="horz" wrap="square" rtlCol="0">
            <a:noAutofit/>
          </a:bodyPr>
          <a:lstStyle/>
          <a:p>
            <a:pPr marL="304800" indent="-304800"/>
            <a:r>
              <a:rPr lang="en-US" sz="1600" b="1">
                <a:solidFill>
                  <a:srgbClr val="C00000"/>
                </a:solidFill>
              </a:rPr>
              <a:t>3.</a:t>
            </a:r>
            <a:r>
              <a:rPr lang="en-US" sz="1600">
                <a:solidFill>
                  <a:srgbClr val="000000"/>
                </a:solidFill>
              </a:rPr>
              <a:t>  In each of 4 greenhouses, tomato plants are randomly assigned to fertilizer A or fertilizer B.</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3721100"/>
            <a:ext cx="10312400" cy="345440"/>
          </a:xfrm>
          <a:prstGeom prst="rect">
            <a:avLst/>
          </a:prstGeom>
          <a:noFill/>
        </p:spPr>
        <p:txBody>
          <a:bodyPr vert="horz" wrap="square" rtlCol="0">
            <a:noAutofit/>
          </a:bodyPr>
          <a:lstStyle/>
          <a:p>
            <a:r>
              <a:rPr lang="en-US" sz="1600" b="1">
                <a:solidFill>
                  <a:srgbClr val="C00000"/>
                </a:solidFill>
              </a:rPr>
              <a:t>Randomized block design, with greenhouses as the blocks - it can show cause.</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46080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What you should know: kinds of study</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15</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Experimental study</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584775"/>
          </a:xfrm>
          <a:prstGeom prst="rect">
            <a:avLst/>
          </a:prstGeom>
          <a:noFill/>
        </p:spPr>
        <p:txBody>
          <a:bodyPr vert="horz" wrap="square" rtlCol="0">
            <a:spAutoFit/>
          </a:bodyPr>
          <a:lstStyle/>
          <a:p>
            <a:r>
              <a:rPr lang="en-US" sz="1600" b="1">
                <a:solidFill>
                  <a:srgbClr val="C00000"/>
                </a:solidFill>
              </a:rPr>
              <a:t>A study in which the researcher assigns the experimental units to treatments and then measures the response. The researcher decides who gets what.</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974915"/>
            <a:ext cx="10668000" cy="345440"/>
          </a:xfrm>
          <a:prstGeom prst="rect">
            <a:avLst/>
          </a:prstGeom>
          <a:noFill/>
        </p:spPr>
        <p:txBody>
          <a:bodyPr vert="horz" wrap="square" rtlCol="0">
            <a:spAutoFit/>
          </a:bodyPr>
          <a:lstStyle/>
          <a:p>
            <a:pPr marL="304800" indent="-304800"/>
            <a:r>
              <a:rPr lang="en-US" sz="1600">
                <a:solidFill>
                  <a:srgbClr val="000000"/>
                </a:solidFill>
              </a:rPr>
              <a:t>Observational study</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345755"/>
            <a:ext cx="10312400" cy="584775"/>
          </a:xfrm>
          <a:prstGeom prst="rect">
            <a:avLst/>
          </a:prstGeom>
          <a:noFill/>
        </p:spPr>
        <p:txBody>
          <a:bodyPr vert="horz" wrap="square" rtlCol="0">
            <a:spAutoFit/>
          </a:bodyPr>
          <a:lstStyle/>
          <a:p>
            <a:r>
              <a:rPr lang="en-US" sz="1600" b="1">
                <a:solidFill>
                  <a:srgbClr val="C00000"/>
                </a:solidFill>
              </a:rPr>
              <a:t>A study in which the researcher measures the explanatory and response variables for each unit without trying to influence anything. The units, or circumstance, decide who ends up in which group.</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4108330"/>
            <a:ext cx="10668000" cy="345440"/>
          </a:xfrm>
          <a:prstGeom prst="rect">
            <a:avLst/>
          </a:prstGeom>
          <a:noFill/>
        </p:spPr>
        <p:txBody>
          <a:bodyPr vert="horz" wrap="square" rtlCol="0">
            <a:spAutoFit/>
          </a:bodyPr>
          <a:lstStyle/>
          <a:p>
            <a:pPr marL="304800" indent="-304800"/>
            <a:r>
              <a:rPr lang="en-US" sz="1600">
                <a:solidFill>
                  <a:srgbClr val="000000"/>
                </a:solidFill>
              </a:rPr>
              <a:t>Survey</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479170"/>
            <a:ext cx="10312400" cy="584775"/>
          </a:xfrm>
          <a:prstGeom prst="rect">
            <a:avLst/>
          </a:prstGeom>
          <a:noFill/>
        </p:spPr>
        <p:txBody>
          <a:bodyPr vert="horz" wrap="square" rtlCol="0">
            <a:spAutoFit/>
          </a:bodyPr>
          <a:lstStyle/>
          <a:p>
            <a:r>
              <a:rPr lang="en-US" sz="1600" b="1">
                <a:solidFill>
                  <a:srgbClr val="C00000"/>
                </a:solidFill>
              </a:rPr>
              <a:t>A study in which units are selected from a population and asked questions, in order to describe that population. A survey is generally a type of observational study - nothing is assigned.</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13694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What you should know: sampling designs</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16</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Simple random sample (SRS), and systematic sample</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584775"/>
          </a:xfrm>
          <a:prstGeom prst="rect">
            <a:avLst/>
          </a:prstGeom>
          <a:noFill/>
        </p:spPr>
        <p:txBody>
          <a:bodyPr vert="horz" wrap="square" rtlCol="0">
            <a:spAutoFit/>
          </a:bodyPr>
          <a:lstStyle/>
          <a:p>
            <a:r>
              <a:rPr lang="en-US" sz="1600" b="1">
                <a:solidFill>
                  <a:srgbClr val="C00000"/>
                </a:solidFill>
              </a:rPr>
              <a:t>SRS: every possible sample of n units is equally likely. Systematic: choose a random starting point, then take every kth unit from the sampling frame.</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974915"/>
            <a:ext cx="10668000" cy="345440"/>
          </a:xfrm>
          <a:prstGeom prst="rect">
            <a:avLst/>
          </a:prstGeom>
          <a:noFill/>
        </p:spPr>
        <p:txBody>
          <a:bodyPr vert="horz" wrap="square" rtlCol="0">
            <a:spAutoFit/>
          </a:bodyPr>
          <a:lstStyle/>
          <a:p>
            <a:pPr marL="304800" indent="-304800"/>
            <a:r>
              <a:rPr lang="en-US" sz="1600">
                <a:solidFill>
                  <a:srgbClr val="000000"/>
                </a:solidFill>
              </a:rPr>
              <a:t>Stratified random sample, and cluster sample</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345755"/>
            <a:ext cx="10312400" cy="830997"/>
          </a:xfrm>
          <a:prstGeom prst="rect">
            <a:avLst/>
          </a:prstGeom>
          <a:noFill/>
        </p:spPr>
        <p:txBody>
          <a:bodyPr vert="horz" wrap="square" rtlCol="0">
            <a:spAutoFit/>
          </a:bodyPr>
          <a:lstStyle/>
          <a:p>
            <a:r>
              <a:rPr lang="en-US" sz="1600" b="1">
                <a:solidFill>
                  <a:srgbClr val="C00000"/>
                </a:solidFill>
              </a:rPr>
              <a:t>Stratified: split the population into strata that are alike within, then draw an independent SRS from each one. Cluster: split it into clusters, each a mini-population, then randomly select whole clusters and measure everyone in them. A two-stage cluster sample then samples units inside the chosen clusters instead of taking all of them.</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4354552"/>
            <a:ext cx="10668000" cy="345440"/>
          </a:xfrm>
          <a:prstGeom prst="rect">
            <a:avLst/>
          </a:prstGeom>
          <a:noFill/>
        </p:spPr>
        <p:txBody>
          <a:bodyPr vert="horz" wrap="square" rtlCol="0">
            <a:spAutoFit/>
          </a:bodyPr>
          <a:lstStyle/>
          <a:p>
            <a:pPr marL="304800" indent="-304800"/>
            <a:r>
              <a:rPr lang="en-US" sz="1600">
                <a:solidFill>
                  <a:srgbClr val="000000"/>
                </a:solidFill>
              </a:rPr>
              <a:t>Convenience sample, and voluntary response sample</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725392"/>
            <a:ext cx="10312400" cy="584775"/>
          </a:xfrm>
          <a:prstGeom prst="rect">
            <a:avLst/>
          </a:prstGeom>
          <a:noFill/>
        </p:spPr>
        <p:txBody>
          <a:bodyPr vert="horz" wrap="square" rtlCol="0">
            <a:spAutoFit/>
          </a:bodyPr>
          <a:lstStyle/>
          <a:p>
            <a:r>
              <a:rPr lang="en-US" sz="1600" b="1">
                <a:solidFill>
                  <a:srgbClr val="C00000"/>
                </a:solidFill>
              </a:rPr>
              <a:t>Convenience: a sample of whoever is easiest to reach. Voluntary response: a sample of people who select themselves by responding. Neither is random, and both are biased no matter how large they get.</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012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What you should know: experimental designs</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17</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Completely randomized design</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345440"/>
          </a:xfrm>
          <a:prstGeom prst="rect">
            <a:avLst/>
          </a:prstGeom>
          <a:noFill/>
        </p:spPr>
        <p:txBody>
          <a:bodyPr vert="horz" wrap="square" rtlCol="0">
            <a:spAutoFit/>
          </a:bodyPr>
          <a:lstStyle/>
          <a:p>
            <a:r>
              <a:rPr lang="en-US" sz="1600" b="1">
                <a:solidFill>
                  <a:srgbClr val="C00000"/>
                </a:solidFill>
              </a:rPr>
              <a:t>Every experimental unit is assigned to a treatment completely at random. The simplest design.</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735580"/>
            <a:ext cx="10668000" cy="345440"/>
          </a:xfrm>
          <a:prstGeom prst="rect">
            <a:avLst/>
          </a:prstGeom>
          <a:noFill/>
        </p:spPr>
        <p:txBody>
          <a:bodyPr vert="horz" wrap="square" rtlCol="0">
            <a:spAutoFit/>
          </a:bodyPr>
          <a:lstStyle/>
          <a:p>
            <a:pPr marL="304800" indent="-304800"/>
            <a:r>
              <a:rPr lang="en-US" sz="1600">
                <a:solidFill>
                  <a:srgbClr val="000000"/>
                </a:solidFill>
              </a:rPr>
              <a:t>Randomized block design</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106420"/>
            <a:ext cx="10312400" cy="584775"/>
          </a:xfrm>
          <a:prstGeom prst="rect">
            <a:avLst/>
          </a:prstGeom>
          <a:noFill/>
        </p:spPr>
        <p:txBody>
          <a:bodyPr vert="horz" wrap="square" rtlCol="0">
            <a:spAutoFit/>
          </a:bodyPr>
          <a:lstStyle/>
          <a:p>
            <a:r>
              <a:rPr lang="en-US" sz="1600" b="1">
                <a:solidFill>
                  <a:srgbClr val="C00000"/>
                </a:solidFill>
              </a:rPr>
              <a:t>Units are first grouped into blocks that are alike in a way expected to affect the response, and the random assignment is then carried out separately within each block. Blocking is to experiments what stratifying is to sampling.</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3868995"/>
            <a:ext cx="10668000" cy="345440"/>
          </a:xfrm>
          <a:prstGeom prst="rect">
            <a:avLst/>
          </a:prstGeom>
          <a:noFill/>
        </p:spPr>
        <p:txBody>
          <a:bodyPr vert="horz" wrap="square" rtlCol="0">
            <a:spAutoFit/>
          </a:bodyPr>
          <a:lstStyle/>
          <a:p>
            <a:pPr marL="304800" indent="-304800"/>
            <a:r>
              <a:rPr lang="en-US" sz="1600">
                <a:solidFill>
                  <a:srgbClr val="000000"/>
                </a:solidFill>
              </a:rPr>
              <a:t>Matched pairs design</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239835"/>
            <a:ext cx="10312400" cy="584775"/>
          </a:xfrm>
          <a:prstGeom prst="rect">
            <a:avLst/>
          </a:prstGeom>
          <a:noFill/>
        </p:spPr>
        <p:txBody>
          <a:bodyPr vert="horz" wrap="square" rtlCol="0">
            <a:spAutoFit/>
          </a:bodyPr>
          <a:lstStyle/>
          <a:p>
            <a:r>
              <a:rPr lang="en-US" sz="1600" b="1">
                <a:solidFill>
                  <a:srgbClr val="C00000"/>
                </a:solidFill>
              </a:rPr>
              <a:t>A block design in which each block is a pair of very similar units, such as twins or two adjacent plots - or a single subject who receives both treatments in a random order.</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1636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What you should know: terminology</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18</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The language of an experiment</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345440"/>
          </a:xfrm>
          <a:prstGeom prst="rect">
            <a:avLst/>
          </a:prstGeom>
          <a:noFill/>
        </p:spPr>
        <p:txBody>
          <a:bodyPr vert="horz" wrap="square" rtlCol="0">
            <a:spAutoFit/>
          </a:bodyPr>
          <a:lstStyle/>
          <a:p>
            <a:r>
              <a:rPr lang="en-US" sz="1600" b="1">
                <a:solidFill>
                  <a:srgbClr val="C00000"/>
                </a:solidFill>
              </a:rPr>
              <a:t>Experimental units, the factor, its levels, the treatments, the control group, a placebo, blinding and double blinding.</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735580"/>
            <a:ext cx="10668000" cy="345440"/>
          </a:xfrm>
          <a:prstGeom prst="rect">
            <a:avLst/>
          </a:prstGeom>
          <a:noFill/>
        </p:spPr>
        <p:txBody>
          <a:bodyPr vert="horz" wrap="square" rtlCol="0">
            <a:spAutoFit/>
          </a:bodyPr>
          <a:lstStyle/>
          <a:p>
            <a:pPr marL="304800" indent="-304800"/>
            <a:r>
              <a:rPr lang="en-US" sz="1600">
                <a:solidFill>
                  <a:srgbClr val="000000"/>
                </a:solidFill>
              </a:rPr>
              <a:t>Association is not causation</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106420"/>
            <a:ext cx="10312400" cy="584775"/>
          </a:xfrm>
          <a:prstGeom prst="rect">
            <a:avLst/>
          </a:prstGeom>
          <a:noFill/>
        </p:spPr>
        <p:txBody>
          <a:bodyPr vert="horz" wrap="square" rtlCol="0">
            <a:spAutoFit/>
          </a:bodyPr>
          <a:lstStyle/>
          <a:p>
            <a:r>
              <a:rPr lang="en-US" sz="1600" b="1">
                <a:solidFill>
                  <a:srgbClr val="C00000"/>
                </a:solidFill>
              </a:rPr>
              <a:t>A lurking variable is associated with both the explanatory and the response variable, and can produce an association where there is no causal link.</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3868995"/>
            <a:ext cx="10668000" cy="345440"/>
          </a:xfrm>
          <a:prstGeom prst="rect">
            <a:avLst/>
          </a:prstGeom>
          <a:noFill/>
        </p:spPr>
        <p:txBody>
          <a:bodyPr vert="horz" wrap="square" rtlCol="0">
            <a:spAutoFit/>
          </a:bodyPr>
          <a:lstStyle/>
          <a:p>
            <a:pPr marL="304800" indent="-304800"/>
            <a:r>
              <a:rPr lang="en-US" sz="1600">
                <a:solidFill>
                  <a:srgbClr val="000000"/>
                </a:solidFill>
              </a:rPr>
              <a:t>The two things randomness buys you</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239835"/>
            <a:ext cx="10312400" cy="584775"/>
          </a:xfrm>
          <a:prstGeom prst="rect">
            <a:avLst/>
          </a:prstGeom>
          <a:noFill/>
        </p:spPr>
        <p:txBody>
          <a:bodyPr vert="horz" wrap="square" rtlCol="0">
            <a:spAutoFit/>
          </a:bodyPr>
          <a:lstStyle/>
          <a:p>
            <a:r>
              <a:rPr lang="en-US" sz="1600" b="1">
                <a:solidFill>
                  <a:srgbClr val="C00000"/>
                </a:solidFill>
              </a:rPr>
              <a:t>Random sampling lets you generalize to the population. Random assignment lets you claim cause. A bigger sample shrinks sampling error, but it never removes bias.</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28885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2196</TotalTime>
  <Words>2140</Words>
  <Application>Microsoft Office PowerPoint</Application>
  <PresentationFormat>Widescreen</PresentationFormat>
  <Paragraphs>140</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Calibri Light</vt:lpstr>
      <vt:lpstr>Office Theme</vt:lpstr>
      <vt:lpstr>Lecture 11 Experimental Design and Research Ethics</vt:lpstr>
      <vt:lpstr>Review</vt:lpstr>
      <vt:lpstr>Example: the VITAL trial</vt:lpstr>
      <vt:lpstr>A placebo surgery</vt:lpstr>
      <vt:lpstr>Completely randomized design</vt:lpstr>
      <vt:lpstr>Randomized block design</vt:lpstr>
      <vt:lpstr>Matched pairs design</vt:lpstr>
      <vt:lpstr>What does randomization buy you?</vt:lpstr>
      <vt:lpstr>Was the placebo surgery trial ethical?</vt:lpstr>
      <vt:lpstr>Ethics: the Facebook experiment</vt:lpstr>
      <vt:lpstr>The Belmont Report: three principles</vt:lpstr>
      <vt:lpstr>Research ethics today</vt:lpstr>
      <vt:lpstr>Ethics: honest data</vt:lpstr>
      <vt:lpstr>Practice: what design, and can it show cause?</vt:lpstr>
      <vt:lpstr>What you should know: kinds of study</vt:lpstr>
      <vt:lpstr>What you should know: sampling designs</vt:lpstr>
      <vt:lpstr>What you should know: experimental designs</vt:lpstr>
      <vt:lpstr>What you should know: terminology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Jarred Kvamme</dc:creator>
  <cp:lastModifiedBy>Jarred Kvamme</cp:lastModifiedBy>
  <cp:revision>372</cp:revision>
  <dcterms:created xsi:type="dcterms:W3CDTF">2023-08-05T23:57:41Z</dcterms:created>
  <dcterms:modified xsi:type="dcterms:W3CDTF">2026-09-24T21:20:13Z</dcterms:modified>
</cp:coreProperties>
</file>