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21" r:id="rId3"/>
    <p:sldId id="322" r:id="rId4"/>
    <p:sldId id="323" r:id="rId5"/>
    <p:sldId id="324" r:id="rId6"/>
    <p:sldId id="356" r:id="rId7"/>
    <p:sldId id="357" r:id="rId8"/>
    <p:sldId id="346" r:id="rId9"/>
    <p:sldId id="347" r:id="rId10"/>
    <p:sldId id="329" r:id="rId11"/>
    <p:sldId id="348" r:id="rId12"/>
    <p:sldId id="328" r:id="rId13"/>
    <p:sldId id="349" r:id="rId14"/>
    <p:sldId id="334" r:id="rId15"/>
    <p:sldId id="358" r:id="rId16"/>
    <p:sldId id="326" r:id="rId17"/>
    <p:sldId id="327" r:id="rId18"/>
    <p:sldId id="350" r:id="rId19"/>
    <p:sldId id="359" r:id="rId20"/>
    <p:sldId id="335" r:id="rId21"/>
    <p:sldId id="331" r:id="rId22"/>
    <p:sldId id="332" r:id="rId23"/>
    <p:sldId id="333" r:id="rId24"/>
    <p:sldId id="336" r:id="rId25"/>
    <p:sldId id="337" r:id="rId26"/>
    <p:sldId id="338" r:id="rId27"/>
    <p:sldId id="339" r:id="rId28"/>
    <p:sldId id="340" r:id="rId29"/>
    <p:sldId id="341" r:id="rId30"/>
    <p:sldId id="342" r:id="rId31"/>
    <p:sldId id="343" r:id="rId32"/>
    <p:sldId id="344" r:id="rId33"/>
    <p:sldId id="351" r:id="rId34"/>
    <p:sldId id="352" r:id="rId35"/>
    <p:sldId id="353" r:id="rId36"/>
    <p:sldId id="354" r:id="rId37"/>
    <p:sldId id="355" r:id="rId38"/>
    <p:sldId id="345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The Normal Distribution, z-scores and Transformations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kinds of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Experimental study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Units are assigned to treatments at random: the study creates the groups.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Observational study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Variables are measured on each unit and nothing is assigned.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Survey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Selected units answer questions, to describe a population.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95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sampling designs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Simple random sample (SRS), and systematic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SRS: every sample of n is equally likely. Systematic: random start, then every kth unit.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Stratified random sample, and cluster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Stratified: an SRS from every stratum. Cluster: randomly chosen whole clusters.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Convenience sample, and voluntary response sample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easiest to reach, or self-selected. Both are biased at any sample size.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220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experimental designs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Completely randomized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Every unit is assigned to a treatment completely at random.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736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Randomized block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912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assignment is done separately within blocks of similar units.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6087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Matched pairs 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400631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Blocks of two similar units, or one subject who receives both treatments.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86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terminology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language of an experiment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Units, factor, levels, treatments, control group, placebo, blinding.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736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Association is not causation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912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lurking variable can create an association with no causal link.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6087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two things randomness buys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400631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 lets you generalize. Random assignment lets you claim cause.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5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female student heights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survey of 379 college students recorded each student's height and gender; 262 are women.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height of a female student, in inches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262 women   (the file is sorted from shortest to tallest)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807307"/>
              </p:ext>
            </p:extLst>
          </p:nvPr>
        </p:nvGraphicFramePr>
        <p:xfrm>
          <a:off x="762000" y="2838510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HEIGHT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GENDER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09998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8474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Central Park in January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National Weather Service has recorded the mean temperature in Central Park, New York, every month since 1869.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767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mean January temperature in Central Park in a given year, in °F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3644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150 years, 1869 to 2018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04A48162-919B-EE0B-7B54-53AA0A647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156039"/>
              </p:ext>
            </p:extLst>
          </p:nvPr>
        </p:nvGraphicFramePr>
        <p:xfrm>
          <a:off x="762000" y="3103841"/>
          <a:ext cx="8382003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97429">
                  <a:extLst>
                    <a:ext uri="{9D8B030D-6E8A-4147-A177-3AD203B41FA5}">
                      <a16:colId xmlns:a16="http://schemas.microsoft.com/office/drawing/2014/main" val="1859310218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1270184000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3220717759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946649548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2001053139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3289791094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407231298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YEAR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JAN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FEB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MAR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DEC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ANNUAL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5792739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1869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35.1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51.4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515272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1870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37.5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31.3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53.6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52442474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1871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28.3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30.2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44.2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29.2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51.1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4139068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1872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28.8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29.9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30.5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26.7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33735103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1873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28.6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29.5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35.7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36.5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52152191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53940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8195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do these have in common?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Question">
            <a:extLst>
              <a:ext uri="{FF2B5EF4-FFF2-40B4-BE49-F238E27FC236}">
                <a16:creationId xmlns:a16="http://schemas.microsoft.com/office/drawing/2014/main" id="{20E949D1-02B4-D5F9-4113-43BD7220E79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do these three distributions have in common?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70240C24-164F-D324-F6CF-EC707319DB77}"/>
              </a:ext>
            </a:extLst>
          </p:cNvPr>
          <p:cNvSpPr/>
          <p:nvPr/>
        </p:nvSpPr>
        <p:spPr>
          <a:xfrm>
            <a:off x="762000" y="51816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Each is single-peaked, symmetric and bell shaped</a:t>
            </a:r>
          </a:p>
        </p:txBody>
      </p:sp>
      <p:pic>
        <p:nvPicPr>
          <p:cNvPr id="6" name="l12_bell_examples.png">
            <a:extLst>
              <a:ext uri="{FF2B5EF4-FFF2-40B4-BE49-F238E27FC236}">
                <a16:creationId xmlns:a16="http://schemas.microsoft.com/office/drawing/2014/main" id="{94943D82-A54C-F3F3-3F57-0D4743A9573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260600"/>
            <a:ext cx="106680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361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normal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symmetric, bell-shaped curve with its peak at the mean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bell_examples_fit.png">
            <a:extLst>
              <a:ext uri="{FF2B5EF4-FFF2-40B4-BE49-F238E27FC236}">
                <a16:creationId xmlns:a16="http://schemas.microsoft.com/office/drawing/2014/main" id="{45688B1E-2C88-21E0-A7C4-97015E39EC0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540000"/>
            <a:ext cx="106680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5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parameters: μ and σ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 ~ N(</a:t>
            </a:r>
            <a:r>
              <a:rPr lang="el-GR" sz="1600" b="1">
                <a:solidFill>
                  <a:srgbClr val="C00000"/>
                </a:solidFill>
              </a:rPr>
              <a:t>μ, σ)</a:t>
            </a:r>
            <a:endParaRPr lang="en-US" sz="1600" b="1"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μ locates the center;  σ sets the spread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l11_normal_params.png">
            <a:extLst>
              <a:ext uri="{FF2B5EF4-FFF2-40B4-BE49-F238E27FC236}">
                <a16:creationId xmlns:a16="http://schemas.microsoft.com/office/drawing/2014/main" id="{8FBB5105-EF28-5CA3-CFC5-8E8D7C64EEB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540000"/>
            <a:ext cx="10668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922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Why is the normal so important?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Question">
            <a:extLst>
              <a:ext uri="{FF2B5EF4-FFF2-40B4-BE49-F238E27FC236}">
                <a16:creationId xmlns:a16="http://schemas.microsoft.com/office/drawing/2014/main" id="{20E949D1-02B4-D5F9-4113-43BD7220E79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 does one curve matter so much?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70240C24-164F-D324-F6CF-EC707319DB77}"/>
              </a:ext>
            </a:extLst>
          </p:cNvPr>
          <p:cNvSpPr/>
          <p:nvPr/>
        </p:nvSpPr>
        <p:spPr>
          <a:xfrm>
            <a:off x="762000" y="4800600"/>
            <a:ext cx="10668000" cy="1035308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Many measurements are approximately normal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Averages of random values become normal, whatever the data look like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Most methods in this course are built on it</a:t>
            </a:r>
          </a:p>
        </p:txBody>
      </p:sp>
      <p:pic>
        <p:nvPicPr>
          <p:cNvPr id="6" name="l12_dice_means.png">
            <a:extLst>
              <a:ext uri="{FF2B5EF4-FFF2-40B4-BE49-F238E27FC236}">
                <a16:creationId xmlns:a16="http://schemas.microsoft.com/office/drawing/2014/main" id="{240C2AB1-DB39-69D3-8F39-7134A4B551A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260600"/>
            <a:ext cx="10668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6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Density curves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density curve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smooth curve that describes a distribution; the total area under it is 1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temps_density.png">
            <a:extLst>
              <a:ext uri="{FF2B5EF4-FFF2-40B4-BE49-F238E27FC236}">
                <a16:creationId xmlns:a16="http://schemas.microsoft.com/office/drawing/2014/main" id="{75D2D420-E8FE-BCEE-D1D4-DCEBD15658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0" y="3098800"/>
            <a:ext cx="7874000" cy="298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5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Area under the curve is proportion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18796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Central Park, 150 Januaries:     x̄ = 32.0°F        s = 4.6°F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2797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fraction of Januaries averaged between 28°F and 36°F?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200710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Area under the curve: 0.62          Actual: 92 of 150 = 0.61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The height of the curve is density: where values crowd. The area is the proportion.</a:t>
            </a:r>
          </a:p>
        </p:txBody>
      </p:sp>
      <p:pic>
        <p:nvPicPr>
          <p:cNvPr id="6" name="l12_temps_area.png">
            <a:extLst>
              <a:ext uri="{FF2B5EF4-FFF2-40B4-BE49-F238E27FC236}">
                <a16:creationId xmlns:a16="http://schemas.microsoft.com/office/drawing/2014/main" id="{49C911A3-DADF-F50F-9BAD-E4A7A978DD7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660710"/>
            <a:ext cx="10668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4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standard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standard normal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normal distribution with mean 0 and standard deviation 1, written Z ~ N(0, 1)</a:t>
            </a:r>
            <a:endParaRPr lang="en-US" sz="1600" i="1">
              <a:solidFill>
                <a:srgbClr val="0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tandardize_axes.png">
            <a:extLst>
              <a:ext uri="{FF2B5EF4-FFF2-40B4-BE49-F238E27FC236}">
                <a16:creationId xmlns:a16="http://schemas.microsoft.com/office/drawing/2014/main" id="{8FBDAE79-4662-D762-9D58-EA3B4B64C03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342738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245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breakfast cereals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twenty US breakfast cereals from Week 3, with their sodium and sugar content.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Y = the sodium content of a breakfast cereal, in mg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20 cereals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F081EA06-805C-BA76-EDE3-BCE065957E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085107"/>
              </p:ext>
            </p:extLst>
          </p:nvPr>
        </p:nvGraphicFramePr>
        <p:xfrm>
          <a:off x="762000" y="2838510"/>
          <a:ext cx="762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533337032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4020295208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99344535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16131937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Cereal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Sodium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Sugar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Type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69468229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Frosted Mini Wheats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487511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Raisin Bran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12051942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All Bran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70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18624475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Apple Jacks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140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80002906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Captain Crunch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425472734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407891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7051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Which observation is more extreme?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xt">
            <a:extLst>
              <a:ext uri="{FF2B5EF4-FFF2-40B4-BE49-F238E27FC236}">
                <a16:creationId xmlns:a16="http://schemas.microsoft.com/office/drawing/2014/main" id="{0BB592E7-F5A3-259C-EC0B-41A4A731649A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X = an exam score (points) and Y = the sodium in a breakfast cereal (mg); each sample has n = 20.</a:t>
            </a:r>
          </a:p>
        </p:txBody>
      </p:sp>
      <p:sp>
        <p:nvSpPr>
          <p:cNvPr id="6" name="Numbers">
            <a:extLst>
              <a:ext uri="{FF2B5EF4-FFF2-40B4-BE49-F238E27FC236}">
                <a16:creationId xmlns:a16="http://schemas.microsoft.com/office/drawing/2014/main" id="{EE78D508-01AE-5BF5-E099-5F0BBF8AF091}"/>
              </a:ext>
            </a:extLst>
          </p:cNvPr>
          <p:cNvSpPr txBox="1"/>
          <p:nvPr/>
        </p:nvSpPr>
        <p:spPr>
          <a:xfrm>
            <a:off x="762000" y="2286000"/>
            <a:ext cx="10668000" cy="73353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Sample 1 (X):   x̄ = 74,   s = 8,   observation x = 90</a:t>
            </a:r>
          </a:p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Sample 2 (Y):   ȳ = 167,   s = 77,   observation y = 290</a:t>
            </a:r>
          </a:p>
        </p:txBody>
      </p:sp>
      <p:sp>
        <p:nvSpPr>
          <p:cNvPr id="7" name="Question">
            <a:extLst>
              <a:ext uri="{FF2B5EF4-FFF2-40B4-BE49-F238E27FC236}">
                <a16:creationId xmlns:a16="http://schemas.microsoft.com/office/drawing/2014/main" id="{1A120C7B-0D69-DC8C-8E2C-1DE0DF9CD398}"/>
              </a:ext>
            </a:extLst>
          </p:cNvPr>
          <p:cNvSpPr txBox="1"/>
          <p:nvPr/>
        </p:nvSpPr>
        <p:spPr>
          <a:xfrm>
            <a:off x="762000" y="3044934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Which observation is more extreme?</a:t>
            </a:r>
          </a:p>
        </p:txBody>
      </p:sp>
      <p:sp>
        <p:nvSpPr>
          <p:cNvPr id="8" name="Result">
            <a:extLst>
              <a:ext uri="{FF2B5EF4-FFF2-40B4-BE49-F238E27FC236}">
                <a16:creationId xmlns:a16="http://schemas.microsoft.com/office/drawing/2014/main" id="{7A3FEC3E-45C6-DCE1-71AB-3E7D1807C80E}"/>
              </a:ext>
            </a:extLst>
          </p:cNvPr>
          <p:cNvSpPr/>
          <p:nvPr/>
        </p:nvSpPr>
        <p:spPr>
          <a:xfrm>
            <a:off x="762000" y="3578334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x = 90:   16 / 8 = 2.0 standard deviations above its mean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y = 290:   123 / 77 ≈ 1.6 standard deviations above its mean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x = 90 is more extreme</a:t>
            </a:r>
          </a:p>
        </p:txBody>
      </p:sp>
    </p:spTree>
    <p:extLst>
      <p:ext uri="{BB962C8B-B14F-4D97-AF65-F5344CB8AC3E}">
        <p14:creationId xmlns:p14="http://schemas.microsoft.com/office/powerpoint/2010/main" val="2352415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Measuring a deviation in standard deviations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l11_cereal_sodium.png">
            <a:extLst>
              <a:ext uri="{FF2B5EF4-FFF2-40B4-BE49-F238E27FC236}">
                <a16:creationId xmlns:a16="http://schemas.microsoft.com/office/drawing/2014/main" id="{C9E8205D-2943-F307-6BCE-0235550DCC7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62310"/>
            <a:ext cx="10668000" cy="2603500"/>
          </a:xfrm>
          <a:prstGeom prst="rect">
            <a:avLst/>
          </a:prstGeom>
        </p:spPr>
      </p:pic>
      <p:sp>
        <p:nvSpPr>
          <p:cNvPr id="7" name="Context">
            <a:extLst>
              <a:ext uri="{FF2B5EF4-FFF2-40B4-BE49-F238E27FC236}">
                <a16:creationId xmlns:a16="http://schemas.microsoft.com/office/drawing/2014/main" id="{FF96024F-6D37-3AC8-9801-222BA2C1DE3C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How unusual is the sodium in Raisin Bran, among the 20 cereals from Week 3?</a:t>
            </a:r>
          </a:p>
        </p:txBody>
      </p:sp>
      <p:sp>
        <p:nvSpPr>
          <p:cNvPr id="8" name="Numbers">
            <a:extLst>
              <a:ext uri="{FF2B5EF4-FFF2-40B4-BE49-F238E27FC236}">
                <a16:creationId xmlns:a16="http://schemas.microsoft.com/office/drawing/2014/main" id="{E27182B1-BDCF-8C4B-73D7-DE257D1BB1A5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nl-NL" sz="2000" b="1">
                <a:solidFill>
                  <a:srgbClr val="000000"/>
                </a:solidFill>
                <a:latin typeface="Calibri" panose="020F0502020204030204" pitchFamily="34" charset="0"/>
              </a:rPr>
              <a:t>x = 340 mg        x̄ = 167 mg        s = 77 mg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619BFE85-3D5A-B74B-A8F7-DF01BBD36FF7}"/>
              </a:ext>
            </a:extLst>
          </p:cNvPr>
          <p:cNvSpPr/>
          <p:nvPr/>
        </p:nvSpPr>
        <p:spPr>
          <a:xfrm>
            <a:off x="762000" y="54674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l-PL" sz="2000" b="1">
                <a:solidFill>
                  <a:srgbClr val="C00000"/>
                </a:solidFill>
                <a:latin typeface="Calibri" panose="020F0502020204030204" pitchFamily="34" charset="0"/>
              </a:rPr>
              <a:t>z = (x − x̄) / s = 173 / 77 = 2.25     →  the z-score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0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Jerome's 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Jerome averages 16 points a game, and one night he scores 10 (textbook Try It 6.2).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X ~ N(16, 4)        x = 10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x = 10 is ____ standard deviations to the ____ (right or left) of the mean ____.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23324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(10 − 16) / 4 = −1.5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1.5 standard deviations to the left of the mean, 16</a:t>
            </a:r>
          </a:p>
        </p:txBody>
      </p:sp>
    </p:spTree>
    <p:extLst>
      <p:ext uri="{BB962C8B-B14F-4D97-AF65-F5344CB8AC3E}">
        <p14:creationId xmlns:p14="http://schemas.microsoft.com/office/powerpoint/2010/main" val="1560658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EU carbon emissions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World Bank's carbon dioxide emissions per person for the 28 member states of the European Union.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carbon dioxide emissions per person in an EU country, in metric tons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28 countries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E35CDE40-B294-1402-0E41-44A1E151DD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209440"/>
              </p:ext>
            </p:extLst>
          </p:nvPr>
        </p:nvGraphicFramePr>
        <p:xfrm>
          <a:off x="762000" y="2838510"/>
          <a:ext cx="6603999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201333">
                  <a:extLst>
                    <a:ext uri="{9D8B030D-6E8A-4147-A177-3AD203B41FA5}">
                      <a16:colId xmlns:a16="http://schemas.microsoft.com/office/drawing/2014/main" val="4123675697"/>
                    </a:ext>
                  </a:extLst>
                </a:gridCol>
                <a:gridCol w="2201333">
                  <a:extLst>
                    <a:ext uri="{9D8B030D-6E8A-4147-A177-3AD203B41FA5}">
                      <a16:colId xmlns:a16="http://schemas.microsoft.com/office/drawing/2014/main" val="2932169121"/>
                    </a:ext>
                  </a:extLst>
                </a:gridCol>
                <a:gridCol w="2201333">
                  <a:extLst>
                    <a:ext uri="{9D8B030D-6E8A-4147-A177-3AD203B41FA5}">
                      <a16:colId xmlns:a16="http://schemas.microsoft.com/office/drawing/2014/main" val="308129978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Country Name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Country Code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CO2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70082902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Austria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AUT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66076787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Belgium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BEL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3540686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Bulgaria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BGR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54471132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Croatia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HRV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4.7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2750927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Cyprus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CYP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4189926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4140875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34609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carbon emissions across the EU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Carbon emissions per person in the 28 EU member states (World Bank).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7.9 t        s = 3.6 t        Luxembourg = 21.4 t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How many standard deviations above the mean is Luxembourg?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emission level sits 2 standard deviations above the mean?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z = 3.75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15.1 t, and only Luxembourg is above it</a:t>
            </a:r>
          </a:p>
        </p:txBody>
      </p:sp>
    </p:spTree>
    <p:extLst>
      <p:ext uri="{BB962C8B-B14F-4D97-AF65-F5344CB8AC3E}">
        <p14:creationId xmlns:p14="http://schemas.microsoft.com/office/powerpoint/2010/main" val="1625251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empirical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empirical rule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about 68% of values fall within 1 standard deviation of the mean, 95% within 2, and 99.7% within 3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empirical_rule.png">
            <a:extLst>
              <a:ext uri="{FF2B5EF4-FFF2-40B4-BE49-F238E27FC236}">
                <a16:creationId xmlns:a16="http://schemas.microsoft.com/office/drawing/2014/main" id="{9859B749-E82E-10CD-D460-A1BC2B51931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844800"/>
            <a:ext cx="10668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0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is the standard deviation?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igma_quiz.png">
            <a:extLst>
              <a:ext uri="{FF2B5EF4-FFF2-40B4-BE49-F238E27FC236}">
                <a16:creationId xmlns:a16="http://schemas.microsoft.com/office/drawing/2014/main" id="{F8CB8C23-CBC6-E0A0-7350-3BEEA36A9D7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36800"/>
            <a:ext cx="10668000" cy="2730500"/>
          </a:xfrm>
          <a:prstGeom prst="rect">
            <a:avLst/>
          </a:prstGeom>
        </p:spPr>
      </p:pic>
      <p:sp>
        <p:nvSpPr>
          <p:cNvPr id="7" name="Question">
            <a:extLst>
              <a:ext uri="{FF2B5EF4-FFF2-40B4-BE49-F238E27FC236}">
                <a16:creationId xmlns:a16="http://schemas.microsoft.com/office/drawing/2014/main" id="{20E949D1-02B4-D5F9-4113-43BD7220E79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Estimate σ for curve A and for curve B.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70240C24-164F-D324-F6CF-EC707319DB77}"/>
              </a:ext>
            </a:extLst>
          </p:cNvPr>
          <p:cNvSpPr/>
          <p:nvPr/>
        </p:nvSpPr>
        <p:spPr>
          <a:xfrm>
            <a:off x="762000" y="51689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A:  σ ≈ 5            B:  σ ≈ 0.5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247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back to that exam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exam_rule.png">
            <a:extLst>
              <a:ext uri="{FF2B5EF4-FFF2-40B4-BE49-F238E27FC236}">
                <a16:creationId xmlns:a16="http://schemas.microsoft.com/office/drawing/2014/main" id="{C53968A6-8A00-682D-1114-1AE14E32D31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68710"/>
            <a:ext cx="10668000" cy="2603500"/>
          </a:xfrm>
          <a:prstGeom prst="rect">
            <a:avLst/>
          </a:prstGeom>
        </p:spPr>
      </p:pic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Exam scores in the class are roughly bell shaped.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74 points        s = 8 points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percentage of scores falls in each shaded region?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8738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about 68%            (b)  about 16%            (c)  about 95%</a:t>
            </a:r>
          </a:p>
        </p:txBody>
      </p:sp>
    </p:spTree>
    <p:extLst>
      <p:ext uri="{BB962C8B-B14F-4D97-AF65-F5344CB8AC3E}">
        <p14:creationId xmlns:p14="http://schemas.microsoft.com/office/powerpoint/2010/main" val="2358832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Outliers: the two-standard-deviation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outlier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value at least 2 standard deviations from the mean, |z| ≥ 2 (about 5% of bell-shaped data)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outlier_tails.png">
            <a:extLst>
              <a:ext uri="{FF2B5EF4-FFF2-40B4-BE49-F238E27FC236}">
                <a16:creationId xmlns:a16="http://schemas.microsoft.com/office/drawing/2014/main" id="{D1B24087-7230-44DD-8234-627133E4C66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342738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When the two outlier rules disagree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iqr_vs_2s.png">
            <a:extLst>
              <a:ext uri="{FF2B5EF4-FFF2-40B4-BE49-F238E27FC236}">
                <a16:creationId xmlns:a16="http://schemas.microsoft.com/office/drawing/2014/main" id="{9726356A-CEE9-02DB-FC74-0346021E026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11400"/>
            <a:ext cx="10668000" cy="2984500"/>
          </a:xfrm>
          <a:prstGeom prst="rect">
            <a:avLst/>
          </a:prstGeom>
        </p:spPr>
      </p:pic>
      <p:sp>
        <p:nvSpPr>
          <p:cNvPr id="10" name="Question">
            <a:extLst>
              <a:ext uri="{FF2B5EF4-FFF2-40B4-BE49-F238E27FC236}">
                <a16:creationId xmlns:a16="http://schemas.microsoft.com/office/drawing/2014/main" id="{50F8E818-D879-9E92-5AAA-A8CE731F9AEF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Do the 1.5 × IQR rule and the ± 2s rule flag the same students?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7EDE5771-9447-42A3-D148-2D679D81E8C5}"/>
              </a:ext>
            </a:extLst>
          </p:cNvPr>
          <p:cNvSpPr/>
          <p:nvPr/>
        </p:nvSpPr>
        <p:spPr>
          <a:xfrm>
            <a:off x="762000" y="5397500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No:  the IQR rule flags 13 students, the ± 2s rule only 6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Why:  the 92-inch value inflates s and pushes the 2s fence out; the quartiles barely move</a:t>
            </a:r>
          </a:p>
        </p:txBody>
      </p:sp>
    </p:spTree>
    <p:extLst>
      <p:ext uri="{BB962C8B-B14F-4D97-AF65-F5344CB8AC3E}">
        <p14:creationId xmlns:p14="http://schemas.microsoft.com/office/powerpoint/2010/main" val="1036997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Computing quantiles from a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43A41ED3-3E8E-3932-79F2-9D3446B16257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Heights of 262 female students are roughly bell shaped.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2A898F99-DE61-3DEE-BDF5-928306D5E174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65.4 in        s = 3.38 in        one student is 70 in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355C0675-00BA-C3E0-29AC-19450337789A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her z-score?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percentage of the women are shorter than she is?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BE0DA1F1-E460-BE02-2835-97E3A1D05123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z = 1.36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The empirical rule cannot say: 1.36 is not a whole number of standard deviations</a:t>
            </a:r>
          </a:p>
        </p:txBody>
      </p:sp>
    </p:spTree>
    <p:extLst>
      <p:ext uri="{BB962C8B-B14F-4D97-AF65-F5344CB8AC3E}">
        <p14:creationId xmlns:p14="http://schemas.microsoft.com/office/powerpoint/2010/main" val="2181907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How it used to be done: the Z-table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standard normal table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each entry is the area to the LEFT of z</a:t>
            </a:r>
            <a:endParaRPr lang="en-US" sz="1600" i="1">
              <a:solidFill>
                <a:srgbClr val="0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ztable.png">
            <a:extLst>
              <a:ext uri="{FF2B5EF4-FFF2-40B4-BE49-F238E27FC236}">
                <a16:creationId xmlns:a16="http://schemas.microsoft.com/office/drawing/2014/main" id="{AF56AAFD-6AD4-FD39-F3A4-F9BCB7F3E97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336800"/>
            <a:ext cx="9652000" cy="2921000"/>
          </a:xfrm>
          <a:prstGeom prst="rect">
            <a:avLst/>
          </a:prstGeom>
        </p:spPr>
      </p:pic>
      <p:sp>
        <p:nvSpPr>
          <p:cNvPr id="7" name="Result">
            <a:extLst>
              <a:ext uri="{FF2B5EF4-FFF2-40B4-BE49-F238E27FC236}">
                <a16:creationId xmlns:a16="http://schemas.microsoft.com/office/drawing/2014/main" id="{6ECC2FD2-AE00-2EA1-4AAD-42F866DFAB3E}"/>
              </a:ext>
            </a:extLst>
          </p:cNvPr>
          <p:cNvSpPr/>
          <p:nvPr/>
        </p:nvSpPr>
        <p:spPr>
          <a:xfrm>
            <a:off x="762000" y="53594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1.36:  row 1.3, column .06  →  0.9131, so about 91% are shorter</a:t>
            </a:r>
          </a:p>
        </p:txBody>
      </p:sp>
    </p:spTree>
    <p:extLst>
      <p:ext uri="{BB962C8B-B14F-4D97-AF65-F5344CB8AC3E}">
        <p14:creationId xmlns:p14="http://schemas.microsoft.com/office/powerpoint/2010/main" val="127596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Today: the computer does the lookup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From a value to an area: pnorm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pnorm(1.36) = 0.9131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From an area to a value: qnorm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qnorm(0.90) = 1.28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No R in front of you?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normal calculator at stat-tools.jmks-homelab.dev does both.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6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note about transformations of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Changing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We often need to change the units of a variable: °F to °C, feet to meters, dollars to euros.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Linear transformations: adding, subtracting, multiplying, dividing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y = ax + b (a scales, b shifts). The z-score is a linear transformation. They preserve the shape of the distribution.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Nonlinear transformations: squaring, taking roots, logarithms, exponentiation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They do NOT preserve the shape of the distribution.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8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a linear transformation does to the summaries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center moves with the whole transformation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ȳ = ax̄ + b, and the same for the median.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spread ignores the shift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 and IQR are multiplied by |a|; b has no effect.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shape does not change at all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Skewness, gaps and outliers all survive unchanged.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23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inches to centimeters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34B70664-1EA5-3F9A-29BA-5B26464F7AB5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262 heights are converted from inches to centimeters: y = 2.54x.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082E476E-5F90-DBB0-4134-D1B09907720F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65.4 in        s = 3.38 in        the 70-inch student = 177.8 cm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CE21DFBB-B40F-2B69-C915-28DAB7884E8B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the mean and standard deviation in centimeters?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her z-score in centimeters?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D6083D3B-239A-FB58-510B-6BADB10F2B9C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ȳ = 166.1 cm,   s = 8.59 cm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z = 1.36, unchanged</a:t>
            </a:r>
          </a:p>
        </p:txBody>
      </p:sp>
    </p:spTree>
    <p:extLst>
      <p:ext uri="{BB962C8B-B14F-4D97-AF65-F5344CB8AC3E}">
        <p14:creationId xmlns:p14="http://schemas.microsoft.com/office/powerpoint/2010/main" val="375887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Does a z-score make data normal?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32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kew_z.png">
            <a:extLst>
              <a:ext uri="{FF2B5EF4-FFF2-40B4-BE49-F238E27FC236}">
                <a16:creationId xmlns:a16="http://schemas.microsoft.com/office/drawing/2014/main" id="{46DFDE40-9DAA-D640-9CCE-B68BB70A429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336800"/>
            <a:ext cx="9652000" cy="2730500"/>
          </a:xfrm>
          <a:prstGeom prst="rect">
            <a:avLst/>
          </a:prstGeom>
        </p:spPr>
      </p:pic>
      <p:sp>
        <p:nvSpPr>
          <p:cNvPr id="7" name="Question">
            <a:extLst>
              <a:ext uri="{FF2B5EF4-FFF2-40B4-BE49-F238E27FC236}">
                <a16:creationId xmlns:a16="http://schemas.microsoft.com/office/drawing/2014/main" id="{CC49A86E-0DAD-EFE5-DBBD-C3686D8453C4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Does converting skewed data to z-scores make it normal?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6E2D1D7E-DF7D-0DD8-546E-BEDAF6C19896}"/>
              </a:ext>
            </a:extLst>
          </p:cNvPr>
          <p:cNvSpPr/>
          <p:nvPr/>
        </p:nvSpPr>
        <p:spPr>
          <a:xfrm>
            <a:off x="762000" y="51689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No:  standardizing changes the axis, not the shape</a:t>
            </a:r>
          </a:p>
        </p:txBody>
      </p:sp>
    </p:spTree>
    <p:extLst>
      <p:ext uri="{BB962C8B-B14F-4D97-AF65-F5344CB8AC3E}">
        <p14:creationId xmlns:p14="http://schemas.microsoft.com/office/powerpoint/2010/main" val="2850716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Estimating a mean from a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Treat the 262 women as the population, and estimate μ from a random sample of n = 20.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28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 do the two samples miss μ, and by different amounts?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753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Each sample holds different students, so each x̄ misses by a different amount: sampling error</a:t>
            </a:r>
          </a:p>
        </p:txBody>
      </p:sp>
      <p:pic>
        <p:nvPicPr>
          <p:cNvPr id="6" name="l12_two_samples.png">
            <a:extLst>
              <a:ext uri="{FF2B5EF4-FFF2-40B4-BE49-F238E27FC236}">
                <a16:creationId xmlns:a16="http://schemas.microsoft.com/office/drawing/2014/main" id="{4EB50207-2695-FD20-23AE-6EF42298534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43200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22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Sampling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sampling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distribution of a statistic, such as x̄, over all possible samples of the same size n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l12_sampling_dist.png">
            <a:extLst>
              <a:ext uri="{FF2B5EF4-FFF2-40B4-BE49-F238E27FC236}">
                <a16:creationId xmlns:a16="http://schemas.microsoft.com/office/drawing/2014/main" id="{D6AC0ECA-6115-5757-25C7-BF69B372A39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17800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056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Margin of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margin of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how far we expect an estimate to fall from the parameter: the largest distance to an estimate that is not an outlier, 2 × SE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l12_moe.png">
            <a:extLst>
              <a:ext uri="{FF2B5EF4-FFF2-40B4-BE49-F238E27FC236}">
                <a16:creationId xmlns:a16="http://schemas.microsoft.com/office/drawing/2014/main" id="{7FFAC06D-4D2C-1C02-595E-0BBEA747351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17800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998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margin of error for x̄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Random samples of n = 20 from the 262 women.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l-GR" sz="2000" b="1">
                <a:solidFill>
                  <a:srgbClr val="000000"/>
                </a:solidFill>
                <a:latin typeface="Calibri" panose="020F0502020204030204" pitchFamily="34" charset="0"/>
              </a:rPr>
              <a:t>σ = 3.38 </a:t>
            </a: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in        n = 20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are the standard error and the margin of error of x̄?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23324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SE = σ / √n = 3.38 / √20 ≈ 0.76 in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Margin of error = 2 × 0.76 ≈ 1.5 in:  about 95% of samples land within 65.4 ± 1.5 in</a:t>
            </a:r>
          </a:p>
        </p:txBody>
      </p:sp>
    </p:spTree>
    <p:extLst>
      <p:ext uri="{BB962C8B-B14F-4D97-AF65-F5344CB8AC3E}">
        <p14:creationId xmlns:p14="http://schemas.microsoft.com/office/powerpoint/2010/main" val="582668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Statistical significance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Someone hands you a random sample of 20 students and says they are from our 262 women.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it-IT" sz="2000" b="1">
                <a:solidFill>
                  <a:srgbClr val="000000"/>
                </a:solidFill>
                <a:latin typeface="Calibri" panose="020F0502020204030204" pitchFamily="34" charset="0"/>
              </a:rPr>
              <a:t>x̄ = 70.33 in        μ = 65.4 in        SE = 0.76 in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Is this result statistically significant?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23324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(70.33 − 65.4) / 0.76 ≈ 6.5:  far outside the margin of error, so yes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Statistically significant: too large to be ordinary sampling variation (they were men)</a:t>
            </a:r>
          </a:p>
        </p:txBody>
      </p:sp>
    </p:spTree>
    <p:extLst>
      <p:ext uri="{BB962C8B-B14F-4D97-AF65-F5344CB8AC3E}">
        <p14:creationId xmlns:p14="http://schemas.microsoft.com/office/powerpoint/2010/main" val="901969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the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two parameters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 ~ N(μ, σ):  μ locates the center, σ sets the spread.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empirical rule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68%, 95% and 99.7% within 1, 2 and 3 standard deviations (bell-shaped only).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z-score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z = (x − x̄) / s counts standard deviations from the mean;  |z| ≥ 2 flags an outlier.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892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2258</TotalTime>
  <Words>2092</Words>
  <Application>Microsoft Office PowerPoint</Application>
  <PresentationFormat>Widescreen</PresentationFormat>
  <Paragraphs>333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Arial</vt:lpstr>
      <vt:lpstr>Calibri</vt:lpstr>
      <vt:lpstr>Calibri Light</vt:lpstr>
      <vt:lpstr>Office Theme</vt:lpstr>
      <vt:lpstr>Lecture 12 The Normal Distribution, z-scores and Transformations</vt:lpstr>
      <vt:lpstr>What you should know: kinds of study</vt:lpstr>
      <vt:lpstr>What you should know: sampling designs</vt:lpstr>
      <vt:lpstr>What you should know: experimental designs</vt:lpstr>
      <vt:lpstr>What you should know: terminology</vt:lpstr>
      <vt:lpstr>Data: female student heights</vt:lpstr>
      <vt:lpstr>Data: Central Park in January</vt:lpstr>
      <vt:lpstr>What do these have in common?</vt:lpstr>
      <vt:lpstr>The normal distribution</vt:lpstr>
      <vt:lpstr>Two parameters: μ and σ</vt:lpstr>
      <vt:lpstr>Why is the normal so important?</vt:lpstr>
      <vt:lpstr>Density curves</vt:lpstr>
      <vt:lpstr>Area under the curve is proportion</vt:lpstr>
      <vt:lpstr>The standard normal distribution</vt:lpstr>
      <vt:lpstr>Data: breakfast cereals</vt:lpstr>
      <vt:lpstr>Which observation is more extreme?</vt:lpstr>
      <vt:lpstr>Measuring a deviation in standard deviations</vt:lpstr>
      <vt:lpstr>Example: Jerome's points</vt:lpstr>
      <vt:lpstr>Data: EU carbon emissions</vt:lpstr>
      <vt:lpstr>Example: carbon emissions across the EU</vt:lpstr>
      <vt:lpstr>The empirical rule</vt:lpstr>
      <vt:lpstr>What is the standard deviation?</vt:lpstr>
      <vt:lpstr>Example: back to that exam</vt:lpstr>
      <vt:lpstr>Outliers: the two-standard-deviation rule</vt:lpstr>
      <vt:lpstr>When the two outlier rules disagree</vt:lpstr>
      <vt:lpstr>Computing quantiles from a normal distribution</vt:lpstr>
      <vt:lpstr>How it used to be done: the Z-table</vt:lpstr>
      <vt:lpstr>Today: the computer does the lookup</vt:lpstr>
      <vt:lpstr>A note about transformations of variables</vt:lpstr>
      <vt:lpstr>What a linear transformation does to the summaries</vt:lpstr>
      <vt:lpstr>Example: inches to centimeters</vt:lpstr>
      <vt:lpstr>Does a z-score make data normal?</vt:lpstr>
      <vt:lpstr>Estimating a mean from a sample</vt:lpstr>
      <vt:lpstr>Sampling distributions</vt:lpstr>
      <vt:lpstr>Margin of error</vt:lpstr>
      <vt:lpstr>Example: the margin of error for x̄</vt:lpstr>
      <vt:lpstr>Statistical significance</vt:lpstr>
      <vt:lpstr>What you should know: the normal distribution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384</cp:revision>
  <dcterms:created xsi:type="dcterms:W3CDTF">2023-08-05T23:57:41Z</dcterms:created>
  <dcterms:modified xsi:type="dcterms:W3CDTF">2026-09-28T18:22:31Z</dcterms:modified>
</cp:coreProperties>
</file>