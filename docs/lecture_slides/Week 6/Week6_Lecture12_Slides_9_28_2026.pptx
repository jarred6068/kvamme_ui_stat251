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21" r:id="rId3"/>
    <p:sldId id="322" r:id="rId4"/>
    <p:sldId id="323" r:id="rId5"/>
    <p:sldId id="324" r:id="rId6"/>
    <p:sldId id="356" r:id="rId7"/>
    <p:sldId id="357" r:id="rId8"/>
    <p:sldId id="346" r:id="rId9"/>
    <p:sldId id="347" r:id="rId10"/>
    <p:sldId id="329" r:id="rId11"/>
    <p:sldId id="348" r:id="rId12"/>
    <p:sldId id="328" r:id="rId13"/>
    <p:sldId id="349" r:id="rId14"/>
    <p:sldId id="334" r:id="rId15"/>
    <p:sldId id="358" r:id="rId16"/>
    <p:sldId id="326" r:id="rId17"/>
    <p:sldId id="327" r:id="rId18"/>
    <p:sldId id="350" r:id="rId19"/>
    <p:sldId id="359" r:id="rId20"/>
    <p:sldId id="335" r:id="rId21"/>
    <p:sldId id="33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12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The Normal Distribution, z-scores and Transformations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kinds of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Experimental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Units are assigned to treatments at random: the study creates the groups.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Observational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Variables are measured on each unit and nothing is assigned.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Survey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Selected units answer questions, to describe a population.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5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sampling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Simple random sample (SRS), and systematic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SRS: every sample of n is equally likely. Systematic: random start, then every kth unit.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Stratified random sample, and cluster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Stratified: an SRS from every stratum. Cluster: randomly chosen whole clusters.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Convenience sample, and voluntary response 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easiest to reach, or self-selected. Both are biased at any sample size.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2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experimental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Completely randomized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Every unit is assigned to a treatment completely at random.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736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Randomized block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912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assignment is done separately within blocks of similar units.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6087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Matched pairs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400631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Blocks of two similar units, or one subject who receives both treatments.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6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language of an experiment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Units, factor, levels, treatments, control group, placebo, blinding.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736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Association is not causation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912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lurking variable can create an association with no causal link.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6087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two things randomness buys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400631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sampling lets you generalize. Random assignment lets you claim cause.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female student heights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survey of 379 college students recorded each student's height and gender; 262 are women.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height of a female student, in inches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262 women   (the file is sorted from shortest to tallest)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07307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47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Central Park in January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National Weather Service has recorded the mean temperature in Central Park, New York, every month since 1869.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767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mean January temperature in Central Park in a given year, in °F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364441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150 years, 1869 to 2018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04A48162-919B-EE0B-7B54-53AA0A647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56039"/>
              </p:ext>
            </p:extLst>
          </p:nvPr>
        </p:nvGraphicFramePr>
        <p:xfrm>
          <a:off x="762000" y="3103841"/>
          <a:ext cx="8382003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97429">
                  <a:extLst>
                    <a:ext uri="{9D8B030D-6E8A-4147-A177-3AD203B41FA5}">
                      <a16:colId xmlns:a16="http://schemas.microsoft.com/office/drawing/2014/main" val="1859310218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1270184000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3220717759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946649548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2001053139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3289791094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407231298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ANNUAL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5792739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1869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35.1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34.5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34.8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34.7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51.4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515272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1870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37.5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34.1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34.1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53.6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5244247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1871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28.3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44.2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29.2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51.1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4139068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1872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28.8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29.9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26.7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3373510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1873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28.6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29.5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35.7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36.5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5215219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53940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19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do these have in common?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Question">
            <a:extLst>
              <a:ext uri="{FF2B5EF4-FFF2-40B4-BE49-F238E27FC236}">
                <a16:creationId xmlns:a16="http://schemas.microsoft.com/office/drawing/2014/main" id="{20E949D1-02B4-D5F9-4113-43BD7220E79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do these three distributions have in common?</a:t>
            </a:r>
          </a:p>
        </p:txBody>
      </p:sp>
      <p:sp>
        <p:nvSpPr>
          <p:cNvPr id="10" name="Result">
            <a:extLst>
              <a:ext uri="{FF2B5EF4-FFF2-40B4-BE49-F238E27FC236}">
                <a16:creationId xmlns:a16="http://schemas.microsoft.com/office/drawing/2014/main" id="{70240C24-164F-D324-F6CF-EC707319DB77}"/>
              </a:ext>
            </a:extLst>
          </p:cNvPr>
          <p:cNvSpPr/>
          <p:nvPr/>
        </p:nvSpPr>
        <p:spPr>
          <a:xfrm>
            <a:off x="762000" y="518160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Each is single-peaked, symmetric and bell shaped</a:t>
            </a:r>
          </a:p>
        </p:txBody>
      </p:sp>
      <p:pic>
        <p:nvPicPr>
          <p:cNvPr id="6" name="l12_bell_examples.png">
            <a:extLst>
              <a:ext uri="{FF2B5EF4-FFF2-40B4-BE49-F238E27FC236}">
                <a16:creationId xmlns:a16="http://schemas.microsoft.com/office/drawing/2014/main" id="{94943D82-A54C-F3F3-3F57-0D4743A957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60600"/>
            <a:ext cx="106680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6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normal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normal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symmetric, bell-shaped curve with its peak at the mean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bell_examples_fit.png">
            <a:extLst>
              <a:ext uri="{FF2B5EF4-FFF2-40B4-BE49-F238E27FC236}">
                <a16:creationId xmlns:a16="http://schemas.microsoft.com/office/drawing/2014/main" id="{45688B1E-2C88-21E0-A7C4-97015E39EC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0000"/>
            <a:ext cx="106680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parameters: μ and 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~ N(</a:t>
            </a:r>
            <a:r>
              <a:rPr lang="el-GR" sz="1600" b="1">
                <a:solidFill>
                  <a:srgbClr val="C00000"/>
                </a:solidFill>
              </a:rPr>
              <a:t>μ, σ)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μ locates the center;  σ sets the spread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l11_normal_params.png">
            <a:extLst>
              <a:ext uri="{FF2B5EF4-FFF2-40B4-BE49-F238E27FC236}">
                <a16:creationId xmlns:a16="http://schemas.microsoft.com/office/drawing/2014/main" id="{8FBB5105-EF28-5CA3-CFC5-8E8D7C64EE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0000"/>
            <a:ext cx="10668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2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Why is the normal so important?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Question">
            <a:extLst>
              <a:ext uri="{FF2B5EF4-FFF2-40B4-BE49-F238E27FC236}">
                <a16:creationId xmlns:a16="http://schemas.microsoft.com/office/drawing/2014/main" id="{20E949D1-02B4-D5F9-4113-43BD7220E79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Why does one curve matter so much?</a:t>
            </a:r>
          </a:p>
        </p:txBody>
      </p:sp>
      <p:sp>
        <p:nvSpPr>
          <p:cNvPr id="10" name="Result">
            <a:extLst>
              <a:ext uri="{FF2B5EF4-FFF2-40B4-BE49-F238E27FC236}">
                <a16:creationId xmlns:a16="http://schemas.microsoft.com/office/drawing/2014/main" id="{70240C24-164F-D324-F6CF-EC707319DB77}"/>
              </a:ext>
            </a:extLst>
          </p:cNvPr>
          <p:cNvSpPr/>
          <p:nvPr/>
        </p:nvSpPr>
        <p:spPr>
          <a:xfrm>
            <a:off x="762000" y="4800600"/>
            <a:ext cx="10668000" cy="1035308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Many measurements are approximately normal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Averages of random values become normal, whatever the data look like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Most methods in this course are built on it</a:t>
            </a:r>
          </a:p>
        </p:txBody>
      </p:sp>
      <p:pic>
        <p:nvPicPr>
          <p:cNvPr id="6" name="l12_dice_means.png">
            <a:extLst>
              <a:ext uri="{FF2B5EF4-FFF2-40B4-BE49-F238E27FC236}">
                <a16:creationId xmlns:a16="http://schemas.microsoft.com/office/drawing/2014/main" id="{240C2AB1-DB39-69D3-8F39-7134A4B551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60600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4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Density curves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density curve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smooth curve that describes a distribution; the total area under it is 1</a:t>
            </a:r>
            <a:endParaRPr lang="en-US" sz="1600" i="1">
              <a:solidFill>
                <a:srgbClr val="595959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temps_density.png">
            <a:extLst>
              <a:ext uri="{FF2B5EF4-FFF2-40B4-BE49-F238E27FC236}">
                <a16:creationId xmlns:a16="http://schemas.microsoft.com/office/drawing/2014/main" id="{75D2D420-E8FE-BCEE-D1D4-DCEBD15658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3098800"/>
            <a:ext cx="78740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5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Area under the curve is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umbers">
            <a:extLst>
              <a:ext uri="{FF2B5EF4-FFF2-40B4-BE49-F238E27FC236}">
                <a16:creationId xmlns:a16="http://schemas.microsoft.com/office/drawing/2014/main" id="{92E05A5F-195C-FC9C-FB48-DCC9A453F8CA}"/>
              </a:ext>
            </a:extLst>
          </p:cNvPr>
          <p:cNvSpPr txBox="1"/>
          <p:nvPr/>
        </p:nvSpPr>
        <p:spPr>
          <a:xfrm>
            <a:off x="762000" y="18796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Central Park, 150 Januaries:     x̄ = 32.0°F        s = 4.6°F</a:t>
            </a:r>
          </a:p>
        </p:txBody>
      </p:sp>
      <p:sp>
        <p:nvSpPr>
          <p:cNvPr id="11" name="Question">
            <a:extLst>
              <a:ext uri="{FF2B5EF4-FFF2-40B4-BE49-F238E27FC236}">
                <a16:creationId xmlns:a16="http://schemas.microsoft.com/office/drawing/2014/main" id="{5F652965-0C94-ADB1-E9E6-6ADE8E4A4B33}"/>
              </a:ext>
            </a:extLst>
          </p:cNvPr>
          <p:cNvSpPr txBox="1"/>
          <p:nvPr/>
        </p:nvSpPr>
        <p:spPr>
          <a:xfrm>
            <a:off x="762000" y="227971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fraction of Januaries averaged between 28°F and 36°F?</a:t>
            </a:r>
          </a:p>
        </p:txBody>
      </p:sp>
      <p:sp>
        <p:nvSpPr>
          <p:cNvPr id="12" name="Result">
            <a:extLst>
              <a:ext uri="{FF2B5EF4-FFF2-40B4-BE49-F238E27FC236}">
                <a16:creationId xmlns:a16="http://schemas.microsoft.com/office/drawing/2014/main" id="{F1DD6977-8EFC-53AF-2BA8-8C567861A9CE}"/>
              </a:ext>
            </a:extLst>
          </p:cNvPr>
          <p:cNvSpPr/>
          <p:nvPr/>
        </p:nvSpPr>
        <p:spPr>
          <a:xfrm>
            <a:off x="762000" y="5200710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Area under the curve: 0.62          Actual: 92 of 150 = 0.61</a:t>
            </a:r>
          </a:p>
          <a:p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The height of the curve is density: where values crowd. The area is the proportion.</a:t>
            </a:r>
          </a:p>
        </p:txBody>
      </p:sp>
      <p:pic>
        <p:nvPicPr>
          <p:cNvPr id="6" name="l12_temps_area.png">
            <a:extLst>
              <a:ext uri="{FF2B5EF4-FFF2-40B4-BE49-F238E27FC236}">
                <a16:creationId xmlns:a16="http://schemas.microsoft.com/office/drawing/2014/main" id="{49C911A3-DADF-F50F-9BAD-E4A7A978D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60710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standard normal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standard normal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normal distribution with mean 0 and standard deviation 1, written Z ~ N(0, 1)</a:t>
            </a:r>
            <a:endParaRPr lang="en-US" sz="1600" i="1">
              <a:solidFill>
                <a:srgbClr val="0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standardize_axes.png">
            <a:extLst>
              <a:ext uri="{FF2B5EF4-FFF2-40B4-BE49-F238E27FC236}">
                <a16:creationId xmlns:a16="http://schemas.microsoft.com/office/drawing/2014/main" id="{8FBDAE79-4662-D762-9D58-EA3B4B64C03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342738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4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breakfast cereals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twenty US breakfast cereals from Week 3, with their sodium and sugar content.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Y = the sodium content of a breakfast cereal, in mg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20 cereals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F081EA06-805C-BA76-EDE3-BCE065957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085107"/>
              </p:ext>
            </p:extLst>
          </p:nvPr>
        </p:nvGraphicFramePr>
        <p:xfrm>
          <a:off x="762000" y="2838510"/>
          <a:ext cx="762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53333703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02029520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9344535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16131937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Cereal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Sodium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Sugar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69468229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Frosted Mini Wheats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487511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Raisin Bran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340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1205194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All Bran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1862447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Apple Jacks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8000290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Captain Crunch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42547273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40789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051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Which observation is more extreme?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xt">
            <a:extLst>
              <a:ext uri="{FF2B5EF4-FFF2-40B4-BE49-F238E27FC236}">
                <a16:creationId xmlns:a16="http://schemas.microsoft.com/office/drawing/2014/main" id="{0BB592E7-F5A3-259C-EC0B-41A4A731649A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= an exam score (points) and Y = the sodium in a breakfast cereal (mg); each sample has n = 20.</a:t>
            </a:r>
          </a:p>
        </p:txBody>
      </p:sp>
      <p:sp>
        <p:nvSpPr>
          <p:cNvPr id="6" name="Numbers">
            <a:extLst>
              <a:ext uri="{FF2B5EF4-FFF2-40B4-BE49-F238E27FC236}">
                <a16:creationId xmlns:a16="http://schemas.microsoft.com/office/drawing/2014/main" id="{EE78D508-01AE-5BF5-E099-5F0BBF8AF091}"/>
              </a:ext>
            </a:extLst>
          </p:cNvPr>
          <p:cNvSpPr txBox="1"/>
          <p:nvPr/>
        </p:nvSpPr>
        <p:spPr>
          <a:xfrm>
            <a:off x="762000" y="2286000"/>
            <a:ext cx="10668000" cy="7335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Sample 1 (X):   x̄ = 74,   s = 8,   observation x = 90</a:t>
            </a:r>
          </a:p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Sample 2 (Y):   ȳ = 167,   s = 77,   observation y = 290</a:t>
            </a:r>
          </a:p>
        </p:txBody>
      </p:sp>
      <p:sp>
        <p:nvSpPr>
          <p:cNvPr id="7" name="Question">
            <a:extLst>
              <a:ext uri="{FF2B5EF4-FFF2-40B4-BE49-F238E27FC236}">
                <a16:creationId xmlns:a16="http://schemas.microsoft.com/office/drawing/2014/main" id="{1A120C7B-0D69-DC8C-8E2C-1DE0DF9CD398}"/>
              </a:ext>
            </a:extLst>
          </p:cNvPr>
          <p:cNvSpPr txBox="1"/>
          <p:nvPr/>
        </p:nvSpPr>
        <p:spPr>
          <a:xfrm>
            <a:off x="762000" y="3044934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Which observation is more extreme?</a:t>
            </a:r>
          </a:p>
        </p:txBody>
      </p:sp>
      <p:sp>
        <p:nvSpPr>
          <p:cNvPr id="8" name="Result">
            <a:extLst>
              <a:ext uri="{FF2B5EF4-FFF2-40B4-BE49-F238E27FC236}">
                <a16:creationId xmlns:a16="http://schemas.microsoft.com/office/drawing/2014/main" id="{7A3FEC3E-45C6-DCE1-71AB-3E7D1807C80E}"/>
              </a:ext>
            </a:extLst>
          </p:cNvPr>
          <p:cNvSpPr/>
          <p:nvPr/>
        </p:nvSpPr>
        <p:spPr>
          <a:xfrm>
            <a:off x="762000" y="3578334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x = 90:   16 / 8 = 2.0 standard deviations above its mean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y = 290:   123 / 77 ≈ 1.6 standard deviations above its mean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x = 90 is more extreme</a:t>
            </a:r>
          </a:p>
        </p:txBody>
      </p:sp>
    </p:spTree>
    <p:extLst>
      <p:ext uri="{BB962C8B-B14F-4D97-AF65-F5344CB8AC3E}">
        <p14:creationId xmlns:p14="http://schemas.microsoft.com/office/powerpoint/2010/main" val="235241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Measuring a deviation in standard deviations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l11_cereal_sodium.png">
            <a:extLst>
              <a:ext uri="{FF2B5EF4-FFF2-40B4-BE49-F238E27FC236}">
                <a16:creationId xmlns:a16="http://schemas.microsoft.com/office/drawing/2014/main" id="{C9E8205D-2943-F307-6BCE-0235550DCC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62310"/>
            <a:ext cx="10668000" cy="2603500"/>
          </a:xfrm>
          <a:prstGeom prst="rect">
            <a:avLst/>
          </a:prstGeom>
        </p:spPr>
      </p:pic>
      <p:sp>
        <p:nvSpPr>
          <p:cNvPr id="7" name="Context">
            <a:extLst>
              <a:ext uri="{FF2B5EF4-FFF2-40B4-BE49-F238E27FC236}">
                <a16:creationId xmlns:a16="http://schemas.microsoft.com/office/drawing/2014/main" id="{FF96024F-6D37-3AC8-9801-222BA2C1DE3C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How unusual is the sodium in Raisin Bran, among the 20 cereals from Week 3?</a:t>
            </a:r>
          </a:p>
        </p:txBody>
      </p:sp>
      <p:sp>
        <p:nvSpPr>
          <p:cNvPr id="8" name="Numbers">
            <a:extLst>
              <a:ext uri="{FF2B5EF4-FFF2-40B4-BE49-F238E27FC236}">
                <a16:creationId xmlns:a16="http://schemas.microsoft.com/office/drawing/2014/main" id="{E27182B1-BDCF-8C4B-73D7-DE257D1BB1A5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nl-NL" sz="2000" b="1">
                <a:solidFill>
                  <a:srgbClr val="000000"/>
                </a:solidFill>
                <a:latin typeface="Calibri" panose="020F0502020204030204" pitchFamily="34" charset="0"/>
              </a:rPr>
              <a:t>x = 340 mg        x̄ = 167 mg        s = 77 mg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619BFE85-3D5A-B74B-A8F7-DF01BBD36FF7}"/>
              </a:ext>
            </a:extLst>
          </p:cNvPr>
          <p:cNvSpPr/>
          <p:nvPr/>
        </p:nvSpPr>
        <p:spPr>
          <a:xfrm>
            <a:off x="762000" y="5467410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z = (x − x̄) / s = 173 / 77 = 2.25     →  the z-score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0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Jerome's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Jerome averages 16 points a game, and one night he scores 10 (textbook Try It 6.2).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X ~ N(16, 4)        x = 10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x = 10 is ____ standard deviations to the ____ (right or left) of the mean ____.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23324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z = (10 − 16) / 4 = −1.5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1.5 standard deviations to the left of the mean, 16</a:t>
            </a:r>
          </a:p>
        </p:txBody>
      </p:sp>
    </p:spTree>
    <p:extLst>
      <p:ext uri="{BB962C8B-B14F-4D97-AF65-F5344CB8AC3E}">
        <p14:creationId xmlns:p14="http://schemas.microsoft.com/office/powerpoint/2010/main" val="156065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EU carbon emissions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World Bank's carbon dioxide emissions per person for the 28 member states of the European Union.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carbon dioxide emissions per person in an EU country, in metric tons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28 countries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E35CDE40-B294-1402-0E41-44A1E151D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209440"/>
              </p:ext>
            </p:extLst>
          </p:nvPr>
        </p:nvGraphicFramePr>
        <p:xfrm>
          <a:off x="762000" y="2838510"/>
          <a:ext cx="6603999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01333">
                  <a:extLst>
                    <a:ext uri="{9D8B030D-6E8A-4147-A177-3AD203B41FA5}">
                      <a16:colId xmlns:a16="http://schemas.microsoft.com/office/drawing/2014/main" val="4123675697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2932169121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308129978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Country Name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Country Code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CO2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7008290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Austria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AUT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66076787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Belgium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BEL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3540686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Bulgaria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BGR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54471132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Croatia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HRV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4.7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2750927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Cyprus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CYP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4189926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41408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460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carbon emissions across the EU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Carbon emissions per person in the 28 EU member states (World Bank).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x̄ = 7.9 t        s = 3.6 t        Luxembourg = 21.4 t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How many standard deviations above the mean is Luxembourg?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emission level sits 2 standard deviations above the mean?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z = 3.75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15.1 t, and only Luxembourg is above it</a:t>
            </a:r>
          </a:p>
        </p:txBody>
      </p:sp>
    </p:spTree>
    <p:extLst>
      <p:ext uri="{BB962C8B-B14F-4D97-AF65-F5344CB8AC3E}">
        <p14:creationId xmlns:p14="http://schemas.microsoft.com/office/powerpoint/2010/main" val="162525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empirical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empirical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about 68% of values fall within 1 standard deviation of the mean, 95% within 2, and 99.7% within 3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l12_empirical_rule.png">
            <a:extLst>
              <a:ext uri="{FF2B5EF4-FFF2-40B4-BE49-F238E27FC236}">
                <a16:creationId xmlns:a16="http://schemas.microsoft.com/office/drawing/2014/main" id="{9859B749-E82E-10CD-D460-A1BC2B5193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44800"/>
            <a:ext cx="10668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0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1135</Words>
  <Application>Microsoft Office PowerPoint</Application>
  <PresentationFormat>Widescreen</PresentationFormat>
  <Paragraphs>230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Lecture 12 The Normal Distribution, z-scores and Transformations</vt:lpstr>
      <vt:lpstr>What you should know: kinds of study</vt:lpstr>
      <vt:lpstr>What you should know: sampling designs</vt:lpstr>
      <vt:lpstr>What you should know: experimental designs</vt:lpstr>
      <vt:lpstr>What you should know: terminology</vt:lpstr>
      <vt:lpstr>Data: female student heights</vt:lpstr>
      <vt:lpstr>Data: Central Park in January</vt:lpstr>
      <vt:lpstr>What do these have in common?</vt:lpstr>
      <vt:lpstr>The normal distribution</vt:lpstr>
      <vt:lpstr>Two parameters: μ and σ</vt:lpstr>
      <vt:lpstr>Why is the normal so important?</vt:lpstr>
      <vt:lpstr>Density curves</vt:lpstr>
      <vt:lpstr>Area under the curve is proportion</vt:lpstr>
      <vt:lpstr>The standard normal distribution</vt:lpstr>
      <vt:lpstr>Data: breakfast cereals</vt:lpstr>
      <vt:lpstr>Which observation is more extreme?</vt:lpstr>
      <vt:lpstr>Measuring a deviation in standard deviations</vt:lpstr>
      <vt:lpstr>Example: Jerome's points</vt:lpstr>
      <vt:lpstr>Data: EU carbon emissions</vt:lpstr>
      <vt:lpstr>Example: carbon emissions across the EU</vt:lpstr>
      <vt:lpstr>The empirical rule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387</cp:revision>
  <dcterms:created xsi:type="dcterms:W3CDTF">2023-08-05T23:57:41Z</dcterms:created>
  <dcterms:modified xsi:type="dcterms:W3CDTF">2026-09-29T19:34:24Z</dcterms:modified>
</cp:coreProperties>
</file>