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257" r:id="rId3"/>
    <p:sldId id="332" r:id="rId4"/>
    <p:sldId id="333" r:id="rId5"/>
    <p:sldId id="336" r:id="rId6"/>
    <p:sldId id="360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51" r:id="rId16"/>
    <p:sldId id="352" r:id="rId17"/>
    <p:sldId id="353" r:id="rId18"/>
    <p:sldId id="354" r:id="rId19"/>
    <p:sldId id="355" r:id="rId20"/>
    <p:sldId id="34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13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Outliers, Normal Quantiles, Transformations and the Margin of Error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What is a density curve?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 smooth curve that describes a distribution; the total area under it is 1.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What is the standard normal distribution?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normal distribution with mean 0 and standard deviation 1, written Z ~ N(0, 1).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What is a z-score?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number of standard deviations a value falls from the mean: z = (x − x̄) / s.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   </a:t>
            </a:r>
            <a:r>
              <a:rPr lang="en-US" b="1"/>
              <a:t>What is the empirical rule?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About 68%, 95% and 99.7% of values fall within 1, 2 and 3 SDs of the mean (bell-shaped only).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6765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is the standard deviation?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l12_sigma_quiz.png">
            <a:extLst>
              <a:ext uri="{FF2B5EF4-FFF2-40B4-BE49-F238E27FC236}">
                <a16:creationId xmlns:a16="http://schemas.microsoft.com/office/drawing/2014/main" id="{F8CB8C23-CBC6-E0A0-7350-3BEEA36A9D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336800"/>
            <a:ext cx="10668000" cy="2730500"/>
          </a:xfrm>
          <a:prstGeom prst="rect">
            <a:avLst/>
          </a:prstGeom>
        </p:spPr>
      </p:pic>
      <p:sp>
        <p:nvSpPr>
          <p:cNvPr id="7" name="Question">
            <a:extLst>
              <a:ext uri="{FF2B5EF4-FFF2-40B4-BE49-F238E27FC236}">
                <a16:creationId xmlns:a16="http://schemas.microsoft.com/office/drawing/2014/main" id="{20E949D1-02B4-D5F9-4113-43BD7220E79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Estimate σ for curve A and for curve B.</a:t>
            </a:r>
          </a:p>
        </p:txBody>
      </p:sp>
      <p:sp>
        <p:nvSpPr>
          <p:cNvPr id="10" name="Result">
            <a:extLst>
              <a:ext uri="{FF2B5EF4-FFF2-40B4-BE49-F238E27FC236}">
                <a16:creationId xmlns:a16="http://schemas.microsoft.com/office/drawing/2014/main" id="{70240C24-164F-D324-F6CF-EC707319DB77}"/>
              </a:ext>
            </a:extLst>
          </p:cNvPr>
          <p:cNvSpPr/>
          <p:nvPr/>
        </p:nvSpPr>
        <p:spPr>
          <a:xfrm>
            <a:off x="762000" y="5168900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A:  σ ≈ 5            B:  σ ≈ 0.5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4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back to that exam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l12_exam_rule.png">
            <a:extLst>
              <a:ext uri="{FF2B5EF4-FFF2-40B4-BE49-F238E27FC236}">
                <a16:creationId xmlns:a16="http://schemas.microsoft.com/office/drawing/2014/main" id="{C53968A6-8A00-682D-1114-1AE14E32D3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168710"/>
            <a:ext cx="10668000" cy="2603500"/>
          </a:xfrm>
          <a:prstGeom prst="rect">
            <a:avLst/>
          </a:prstGeom>
        </p:spPr>
      </p:pic>
      <p:sp>
        <p:nvSpPr>
          <p:cNvPr id="7" name="Context">
            <a:extLst>
              <a:ext uri="{FF2B5EF4-FFF2-40B4-BE49-F238E27FC236}">
                <a16:creationId xmlns:a16="http://schemas.microsoft.com/office/drawing/2014/main" id="{CF55BC9C-FE59-7CE1-3E3C-35668F20C89D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Exam scores in the class are roughly bell shaped.</a:t>
            </a:r>
          </a:p>
        </p:txBody>
      </p:sp>
      <p:sp>
        <p:nvSpPr>
          <p:cNvPr id="10" name="Numbers">
            <a:extLst>
              <a:ext uri="{FF2B5EF4-FFF2-40B4-BE49-F238E27FC236}">
                <a16:creationId xmlns:a16="http://schemas.microsoft.com/office/drawing/2014/main" id="{92E05A5F-195C-FC9C-FB48-DCC9A453F8CA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x̄ = 74 points        s = 8 points</a:t>
            </a:r>
          </a:p>
        </p:txBody>
      </p:sp>
      <p:sp>
        <p:nvSpPr>
          <p:cNvPr id="11" name="Question">
            <a:extLst>
              <a:ext uri="{FF2B5EF4-FFF2-40B4-BE49-F238E27FC236}">
                <a16:creationId xmlns:a16="http://schemas.microsoft.com/office/drawing/2014/main" id="{5F652965-0C94-ADB1-E9E6-6ADE8E4A4B33}"/>
              </a:ext>
            </a:extLst>
          </p:cNvPr>
          <p:cNvSpPr txBox="1"/>
          <p:nvPr/>
        </p:nvSpPr>
        <p:spPr>
          <a:xfrm>
            <a:off x="762000" y="271151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What percentage of scores falls in each shaded region?</a:t>
            </a:r>
          </a:p>
        </p:txBody>
      </p:sp>
      <p:sp>
        <p:nvSpPr>
          <p:cNvPr id="12" name="Result">
            <a:extLst>
              <a:ext uri="{FF2B5EF4-FFF2-40B4-BE49-F238E27FC236}">
                <a16:creationId xmlns:a16="http://schemas.microsoft.com/office/drawing/2014/main" id="{F1DD6977-8EFC-53AF-2BA8-8C567861A9CE}"/>
              </a:ext>
            </a:extLst>
          </p:cNvPr>
          <p:cNvSpPr/>
          <p:nvPr/>
        </p:nvSpPr>
        <p:spPr>
          <a:xfrm>
            <a:off x="762000" y="5873810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about 68%            (b)  about 16%            (c)  about 95%</a:t>
            </a:r>
          </a:p>
        </p:txBody>
      </p:sp>
    </p:spTree>
    <p:extLst>
      <p:ext uri="{BB962C8B-B14F-4D97-AF65-F5344CB8AC3E}">
        <p14:creationId xmlns:p14="http://schemas.microsoft.com/office/powerpoint/2010/main" val="235883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Outliers: the two-standard-deviation rule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outlier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value at least 2 standard deviations from the mean, |z| ≥ 2 (about 5% of bell-shaped data)</a:t>
            </a:r>
            <a:endParaRPr lang="en-US" sz="1600" i="1">
              <a:solidFill>
                <a:srgbClr val="595959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l12_outlier_tails.png">
            <a:extLst>
              <a:ext uri="{FF2B5EF4-FFF2-40B4-BE49-F238E27FC236}">
                <a16:creationId xmlns:a16="http://schemas.microsoft.com/office/drawing/2014/main" id="{D1B24087-7230-44DD-8234-627133E4C6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342738"/>
            <a:ext cx="106680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7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female student heights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survey of 379 college students recorded each student's height and gender; 262 are women.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3114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height of a female student, in inches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991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n = 262 women   (the file is sorted from shortest to tallest)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807307"/>
              </p:ext>
            </p:extLst>
          </p:nvPr>
        </p:nvGraphicFramePr>
        <p:xfrm>
          <a:off x="762000" y="2838510"/>
          <a:ext cx="3810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GENDER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00999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540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1F3864"/>
                </a:solidFill>
              </a:rPr>
              <a:t>When the two outlier rules disagree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l12_iqr_vs_2s.png">
            <a:extLst>
              <a:ext uri="{FF2B5EF4-FFF2-40B4-BE49-F238E27FC236}">
                <a16:creationId xmlns:a16="http://schemas.microsoft.com/office/drawing/2014/main" id="{9726356A-CEE9-02DB-FC74-0346021E02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311400"/>
            <a:ext cx="10668000" cy="2984500"/>
          </a:xfrm>
          <a:prstGeom prst="rect">
            <a:avLst/>
          </a:prstGeom>
        </p:spPr>
      </p:pic>
      <p:sp>
        <p:nvSpPr>
          <p:cNvPr id="10" name="Question">
            <a:extLst>
              <a:ext uri="{FF2B5EF4-FFF2-40B4-BE49-F238E27FC236}">
                <a16:creationId xmlns:a16="http://schemas.microsoft.com/office/drawing/2014/main" id="{50F8E818-D879-9E92-5AAA-A8CE731F9AEF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Do the 1.5 × IQR rule and the ± 2s rule flag the same students?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7EDE5771-9447-42A3-D148-2D679D81E8C5}"/>
              </a:ext>
            </a:extLst>
          </p:cNvPr>
          <p:cNvSpPr/>
          <p:nvPr/>
        </p:nvSpPr>
        <p:spPr>
          <a:xfrm>
            <a:off x="762000" y="5397500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No:  the IQR rule flags 13 students, the ± 2s rule only 6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Why:  the 92-inch value inflates s and pushes the 2s fence out; the quartiles barely move</a:t>
            </a:r>
          </a:p>
        </p:txBody>
      </p:sp>
    </p:spTree>
    <p:extLst>
      <p:ext uri="{BB962C8B-B14F-4D97-AF65-F5344CB8AC3E}">
        <p14:creationId xmlns:p14="http://schemas.microsoft.com/office/powerpoint/2010/main" val="103699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Computing quantiles from a normal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43A41ED3-3E8E-3932-79F2-9D3446B16257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Heights of 262 female students are roughly bell shaped.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2A898F99-DE61-3DEE-BDF5-928306D5E174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x̄ = 65.4 in        s = 3.38 in        one student is 70 in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355C0675-00BA-C3E0-29AC-19450337789A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her z-score?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percentage of the women are shorter than she is?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BE0DA1F1-E460-BE02-2835-97E3A1D05123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z = 1.36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The empirical rule cannot say: 1.36 is not a whole number of standard deviations</a:t>
            </a:r>
          </a:p>
        </p:txBody>
      </p:sp>
    </p:spTree>
    <p:extLst>
      <p:ext uri="{BB962C8B-B14F-4D97-AF65-F5344CB8AC3E}">
        <p14:creationId xmlns:p14="http://schemas.microsoft.com/office/powerpoint/2010/main" val="218190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How it used to be done: the Z-table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standard normal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each entry is the area to the LEFT of z</a:t>
            </a:r>
            <a:endParaRPr lang="en-US" sz="1600" i="1">
              <a:solidFill>
                <a:srgbClr val="0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l12_ztable.png">
            <a:extLst>
              <a:ext uri="{FF2B5EF4-FFF2-40B4-BE49-F238E27FC236}">
                <a16:creationId xmlns:a16="http://schemas.microsoft.com/office/drawing/2014/main" id="{AF56AAFD-6AD4-FD39-F3A4-F9BCB7F3E9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2336800"/>
            <a:ext cx="9652000" cy="2921000"/>
          </a:xfrm>
          <a:prstGeom prst="rect">
            <a:avLst/>
          </a:prstGeom>
        </p:spPr>
      </p:pic>
      <p:sp>
        <p:nvSpPr>
          <p:cNvPr id="7" name="Result">
            <a:extLst>
              <a:ext uri="{FF2B5EF4-FFF2-40B4-BE49-F238E27FC236}">
                <a16:creationId xmlns:a16="http://schemas.microsoft.com/office/drawing/2014/main" id="{6ECC2FD2-AE00-2EA1-4AAD-42F866DFAB3E}"/>
              </a:ext>
            </a:extLst>
          </p:cNvPr>
          <p:cNvSpPr/>
          <p:nvPr/>
        </p:nvSpPr>
        <p:spPr>
          <a:xfrm>
            <a:off x="762000" y="5359400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z = 1.36:  row 1.3, column .06  →  0.9131, so about 91% are shorter</a:t>
            </a:r>
          </a:p>
        </p:txBody>
      </p:sp>
    </p:spTree>
    <p:extLst>
      <p:ext uri="{BB962C8B-B14F-4D97-AF65-F5344CB8AC3E}">
        <p14:creationId xmlns:p14="http://schemas.microsoft.com/office/powerpoint/2010/main" val="127596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Today: the computer does the lookup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From a value to an area: pnorm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pnorm(1.36) = 0.9131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From an area to a value: qnorm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qnorm(0.90) = 1.28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No R in front of you?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normal calculator at stat-tools.jmks-homelab.dev does both.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6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 note about transformations of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Changing units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We often need to change the units of a variable: °F to °C, feet to meters, dollars to euros.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Linear transformations: adding, subtracting, multiplying, dividing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y = ax + b (a scales, b shifts). The z-score is a linear transformation. They preserve the shape of the distribution.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Nonlinear transformations: squaring, taking roots, logarithms, exponentiation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They do NOT preserve the shape of the distribution.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8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a linear transformation does to the summaries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center moves with the whole transformation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ȳ = ax̄ + b, and the same for the median.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spread ignores the shift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 and IQR are multiplied by |a|; b has no effect.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shape does not change at all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Skewness, gaps and outliers all survive unchanged.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2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inches to centimeters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34B70664-1EA5-3F9A-29BA-5B26464F7AB5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262 heights are converted from inches to centimeters: y = 2.54x.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082E476E-5F90-DBB0-4134-D1B09907720F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x̄ = 65.4 in        s = 3.38 in        the 70-inch student = 177.8 cm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CE21DFBB-B40F-2B69-C915-28DAB7884E8B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are the mean and standard deviation in centimeters?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her z-score in centimeters?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D6083D3B-239A-FB58-510B-6BADB10F2B9C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ȳ = 166.1 cm,   s = 8.59 cm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z = 1.36, unchanged</a:t>
            </a:r>
          </a:p>
        </p:txBody>
      </p:sp>
    </p:spTree>
    <p:extLst>
      <p:ext uri="{BB962C8B-B14F-4D97-AF65-F5344CB8AC3E}">
        <p14:creationId xmlns:p14="http://schemas.microsoft.com/office/powerpoint/2010/main" val="375887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Does a z-score make data normal?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l12_skew_z.png">
            <a:extLst>
              <a:ext uri="{FF2B5EF4-FFF2-40B4-BE49-F238E27FC236}">
                <a16:creationId xmlns:a16="http://schemas.microsoft.com/office/drawing/2014/main" id="{46DFDE40-9DAA-D640-9CCE-B68BB70A429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2336800"/>
            <a:ext cx="9652000" cy="2730500"/>
          </a:xfrm>
          <a:prstGeom prst="rect">
            <a:avLst/>
          </a:prstGeom>
        </p:spPr>
      </p:pic>
      <p:sp>
        <p:nvSpPr>
          <p:cNvPr id="7" name="Question">
            <a:extLst>
              <a:ext uri="{FF2B5EF4-FFF2-40B4-BE49-F238E27FC236}">
                <a16:creationId xmlns:a16="http://schemas.microsoft.com/office/drawing/2014/main" id="{CC49A86E-0DAD-EFE5-DBBD-C3686D8453C4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Does converting skewed data to z-scores make it normal?</a:t>
            </a:r>
          </a:p>
        </p:txBody>
      </p:sp>
      <p:sp>
        <p:nvSpPr>
          <p:cNvPr id="10" name="Result">
            <a:extLst>
              <a:ext uri="{FF2B5EF4-FFF2-40B4-BE49-F238E27FC236}">
                <a16:creationId xmlns:a16="http://schemas.microsoft.com/office/drawing/2014/main" id="{6E2D1D7E-DF7D-0DD8-546E-BEDAF6C19896}"/>
              </a:ext>
            </a:extLst>
          </p:cNvPr>
          <p:cNvSpPr/>
          <p:nvPr/>
        </p:nvSpPr>
        <p:spPr>
          <a:xfrm>
            <a:off x="762000" y="5168900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No:  standardizing changes the axis, not the shape</a:t>
            </a:r>
          </a:p>
        </p:txBody>
      </p:sp>
    </p:spTree>
    <p:extLst>
      <p:ext uri="{BB962C8B-B14F-4D97-AF65-F5344CB8AC3E}">
        <p14:creationId xmlns:p14="http://schemas.microsoft.com/office/powerpoint/2010/main" val="285071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Estimating a mean from a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xt">
            <a:extLst>
              <a:ext uri="{FF2B5EF4-FFF2-40B4-BE49-F238E27FC236}">
                <a16:creationId xmlns:a16="http://schemas.microsoft.com/office/drawing/2014/main" id="{CF55BC9C-FE59-7CE1-3E3C-35668F20C89D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Treat the 262 women as the population, and estimate μ from a random sample of n = 20.</a:t>
            </a:r>
          </a:p>
        </p:txBody>
      </p:sp>
      <p:sp>
        <p:nvSpPr>
          <p:cNvPr id="11" name="Question">
            <a:extLst>
              <a:ext uri="{FF2B5EF4-FFF2-40B4-BE49-F238E27FC236}">
                <a16:creationId xmlns:a16="http://schemas.microsoft.com/office/drawing/2014/main" id="{5F652965-0C94-ADB1-E9E6-6ADE8E4A4B33}"/>
              </a:ext>
            </a:extLst>
          </p:cNvPr>
          <p:cNvSpPr txBox="1"/>
          <p:nvPr/>
        </p:nvSpPr>
        <p:spPr>
          <a:xfrm>
            <a:off x="762000" y="2286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Why do the two samples miss μ, and by different amounts?</a:t>
            </a:r>
          </a:p>
        </p:txBody>
      </p:sp>
      <p:sp>
        <p:nvSpPr>
          <p:cNvPr id="12" name="Result">
            <a:extLst>
              <a:ext uri="{FF2B5EF4-FFF2-40B4-BE49-F238E27FC236}">
                <a16:creationId xmlns:a16="http://schemas.microsoft.com/office/drawing/2014/main" id="{F1DD6977-8EFC-53AF-2BA8-8C567861A9CE}"/>
              </a:ext>
            </a:extLst>
          </p:cNvPr>
          <p:cNvSpPr/>
          <p:nvPr/>
        </p:nvSpPr>
        <p:spPr>
          <a:xfrm>
            <a:off x="762000" y="5575300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Each sample holds different students, so each x̄ misses by a different amount: sampling error</a:t>
            </a:r>
          </a:p>
        </p:txBody>
      </p:sp>
      <p:pic>
        <p:nvPicPr>
          <p:cNvPr id="6" name="l12_two_samples.png">
            <a:extLst>
              <a:ext uri="{FF2B5EF4-FFF2-40B4-BE49-F238E27FC236}">
                <a16:creationId xmlns:a16="http://schemas.microsoft.com/office/drawing/2014/main" id="{4EB50207-2695-FD20-23AE-6EF42298534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43200"/>
            <a:ext cx="1066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2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Sampling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sampling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the distribution of a statistic, such as x̄, over all possible samples of the same size n</a:t>
            </a:r>
            <a:endParaRPr lang="en-US" sz="1600" i="1">
              <a:solidFill>
                <a:srgbClr val="595959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l12_sampling_dist.png">
            <a:extLst>
              <a:ext uri="{FF2B5EF4-FFF2-40B4-BE49-F238E27FC236}">
                <a16:creationId xmlns:a16="http://schemas.microsoft.com/office/drawing/2014/main" id="{D6AC0ECA-6115-5757-25C7-BF69B372A39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89200"/>
            <a:ext cx="10668000" cy="2603500"/>
          </a:xfrm>
          <a:prstGeom prst="rect">
            <a:avLst/>
          </a:prstGeom>
        </p:spPr>
      </p:pic>
      <p:sp>
        <p:nvSpPr>
          <p:cNvPr id="7" name="Result">
            <a:extLst>
              <a:ext uri="{FF2B5EF4-FFF2-40B4-BE49-F238E27FC236}">
                <a16:creationId xmlns:a16="http://schemas.microsoft.com/office/drawing/2014/main" id="{572E4A4A-3BD5-CF24-E6F1-9A1E4EB1A29A}"/>
              </a:ext>
            </a:extLst>
          </p:cNvPr>
          <p:cNvSpPr/>
          <p:nvPr/>
        </p:nvSpPr>
        <p:spPr>
          <a:xfrm>
            <a:off x="762000" y="5335478"/>
            <a:ext cx="10668000" cy="752951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You've seen these before: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SE = s / √n (Week 3) is its spread; the Rec Center histograms (Week 4) were sampling distributions</a:t>
            </a:r>
          </a:p>
        </p:txBody>
      </p:sp>
    </p:spTree>
    <p:extLst>
      <p:ext uri="{BB962C8B-B14F-4D97-AF65-F5344CB8AC3E}">
        <p14:creationId xmlns:p14="http://schemas.microsoft.com/office/powerpoint/2010/main" val="281305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Margin of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margin of 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how far we expect an estimate to fall from the parameter: the largest distance to an estimate that is not an outlier, 2 × SE</a:t>
            </a:r>
            <a:endParaRPr lang="en-US" sz="1600" i="1">
              <a:solidFill>
                <a:srgbClr val="595959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l12_moe.png">
            <a:extLst>
              <a:ext uri="{FF2B5EF4-FFF2-40B4-BE49-F238E27FC236}">
                <a16:creationId xmlns:a16="http://schemas.microsoft.com/office/drawing/2014/main" id="{7FFAC06D-4D2C-1C02-595E-0BBEA747351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17800"/>
            <a:ext cx="1066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9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the margin of error for x̄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Random samples of n = 20 from the 262 women.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l-GR" sz="2000" b="1">
                <a:solidFill>
                  <a:srgbClr val="000000"/>
                </a:solidFill>
                <a:latin typeface="Calibri" panose="020F0502020204030204" pitchFamily="34" charset="0"/>
              </a:rPr>
              <a:t>σ = 3.38 </a:t>
            </a: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in        n = 20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What are the standard error and the margin of error of x̄?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233242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SE = σ / √n = 3.38 / √20 ≈ 0.76 in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Margin of error = 2 × 0.76 ≈ 1.5 in:  about 95% of samples land within 65.4 ± 1.5 in</a:t>
            </a:r>
          </a:p>
        </p:txBody>
      </p:sp>
    </p:spTree>
    <p:extLst>
      <p:ext uri="{BB962C8B-B14F-4D97-AF65-F5344CB8AC3E}">
        <p14:creationId xmlns:p14="http://schemas.microsoft.com/office/powerpoint/2010/main" val="58266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Statistical significance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Someone hands you a random sample of 20 students and says they are from our 262 women.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it-IT" sz="2000" b="1">
                <a:solidFill>
                  <a:srgbClr val="000000"/>
                </a:solidFill>
                <a:latin typeface="Calibri" panose="020F0502020204030204" pitchFamily="34" charset="0"/>
              </a:rPr>
              <a:t>x̄ = 70.33 in        μ = 65.4 in        SE = 0.76 in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Is this result statistically significant?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233242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z = (70.33 − 65.4) / 0.76 ≈ 6.5:  far outside the margin of error, so yes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Statistically significant: too large to be ordinary sampling variation (they were men)</a:t>
            </a:r>
          </a:p>
        </p:txBody>
      </p:sp>
    </p:spTree>
    <p:extLst>
      <p:ext uri="{BB962C8B-B14F-4D97-AF65-F5344CB8AC3E}">
        <p14:creationId xmlns:p14="http://schemas.microsoft.com/office/powerpoint/2010/main" val="90196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know: the normal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two 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 ~ N(μ, σ):  μ locates the center, σ sets the spread.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empirical rule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68%, 95% and 99.7% within 1, 2 and 3 standard deviations (bell-shaped only).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z-score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z = (x − x̄) / s counts standard deviations from the mean;  |z| ≥ 2 flags an outlier.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9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2423</TotalTime>
  <Words>1177</Words>
  <Application>Microsoft Office PowerPoint</Application>
  <PresentationFormat>Widescreen</PresentationFormat>
  <Paragraphs>135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Lecture 13 Outliers, Normal Quantiles, Transformations and the Margin of Error</vt:lpstr>
      <vt:lpstr>Review</vt:lpstr>
      <vt:lpstr>What is the standard deviation?</vt:lpstr>
      <vt:lpstr>Example: back to that exam</vt:lpstr>
      <vt:lpstr>Outliers: the two-standard-deviation rule</vt:lpstr>
      <vt:lpstr>Data: female student heights</vt:lpstr>
      <vt:lpstr>When the two outlier rules disagree</vt:lpstr>
      <vt:lpstr>Computing quantiles from a normal distribution</vt:lpstr>
      <vt:lpstr>How it used to be done: the Z-table</vt:lpstr>
      <vt:lpstr>Today: the computer does the lookup</vt:lpstr>
      <vt:lpstr>A note about transformations of variables</vt:lpstr>
      <vt:lpstr>What a linear transformation does to the summaries</vt:lpstr>
      <vt:lpstr>Example: inches to centimeters</vt:lpstr>
      <vt:lpstr>Does a z-score make data normal?</vt:lpstr>
      <vt:lpstr>Estimating a mean from a sample</vt:lpstr>
      <vt:lpstr>Sampling distributions</vt:lpstr>
      <vt:lpstr>Margin of error</vt:lpstr>
      <vt:lpstr>Example: the margin of error for x̄</vt:lpstr>
      <vt:lpstr>Statistical significance</vt:lpstr>
      <vt:lpstr>What you should know: the normal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389</cp:revision>
  <dcterms:created xsi:type="dcterms:W3CDTF">2023-08-05T23:57:41Z</dcterms:created>
  <dcterms:modified xsi:type="dcterms:W3CDTF">2026-09-29T19:35:08Z</dcterms:modified>
</cp:coreProperties>
</file>