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257" r:id="rId3"/>
    <p:sldId id="361" r:id="rId4"/>
    <p:sldId id="362" r:id="rId5"/>
    <p:sldId id="363" r:id="rId6"/>
    <p:sldId id="332" r:id="rId7"/>
    <p:sldId id="333" r:id="rId8"/>
    <p:sldId id="336" r:id="rId9"/>
    <p:sldId id="360" r:id="rId10"/>
    <p:sldId id="337" r:id="rId11"/>
    <p:sldId id="338" r:id="rId12"/>
    <p:sldId id="339" r:id="rId13"/>
    <p:sldId id="340" r:id="rId14"/>
    <p:sldId id="341" r:id="rId15"/>
    <p:sldId id="342" r:id="rId16"/>
    <p:sldId id="343" r:id="rId17"/>
    <p:sldId id="344" r:id="rId18"/>
    <p:sldId id="351" r:id="rId19"/>
    <p:sldId id="352" r:id="rId20"/>
    <p:sldId id="353" r:id="rId21"/>
    <p:sldId id="354" r:id="rId22"/>
    <p:sldId id="355" r:id="rId23"/>
    <p:sldId id="345" r:id="rId24"/>
    <p:sldId id="364" r:id="rId25"/>
    <p:sldId id="365" r:id="rId26"/>
    <p:sldId id="366" r:id="rId27"/>
    <p:sldId id="367" r:id="rId28"/>
    <p:sldId id="368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13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Outliers, Normal Quantiles, Transformations and the Margin of Error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6479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What is a density curve?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smooth curve that describes a distribution; the total area under it is 1.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What is the standard normal distribution?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normal distribution with mean 0 and standard deviation 1, written Z ~ N(0, 1).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What is a z-score?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number of standard deviations a value falls from the mean: z = (x − x̄) / s.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4   </a:t>
            </a:r>
            <a:r>
              <a:rPr lang="en-US" b="1"/>
              <a:t>What is the empirical rule?</a:t>
            </a:r>
            <a:endParaRPr lang="en-US" b="1" dirty="0"/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About 68%, 95% and 99.7% of values fall within 1, 2 and 3 SDs of the mean (bell-shaped only).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267654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Review: from x to z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xt">
            <a:extLst>
              <a:ext uri="{FF2B5EF4-FFF2-40B4-BE49-F238E27FC236}">
                <a16:creationId xmlns:a16="http://schemas.microsoft.com/office/drawing/2014/main" id="{CF55BC9C-FE59-7CE1-3E3C-35668F20C89D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variable x has the distribution shown below.</a:t>
            </a:r>
          </a:p>
        </p:txBody>
      </p:sp>
      <p:sp>
        <p:nvSpPr>
          <p:cNvPr id="10" name="Numbers">
            <a:extLst>
              <a:ext uri="{FF2B5EF4-FFF2-40B4-BE49-F238E27FC236}">
                <a16:creationId xmlns:a16="http://schemas.microsoft.com/office/drawing/2014/main" id="{92E05A5F-195C-FC9C-FB48-DCC9A453F8CA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x̄ = 50        s = 8</a:t>
            </a:r>
          </a:p>
        </p:txBody>
      </p:sp>
      <p:sp>
        <p:nvSpPr>
          <p:cNvPr id="11" name="Question">
            <a:extLst>
              <a:ext uri="{FF2B5EF4-FFF2-40B4-BE49-F238E27FC236}">
                <a16:creationId xmlns:a16="http://schemas.microsoft.com/office/drawing/2014/main" id="{5F652965-0C94-ADB1-E9E6-6ADE8E4A4B33}"/>
              </a:ext>
            </a:extLst>
          </p:cNvPr>
          <p:cNvSpPr txBox="1"/>
          <p:nvPr/>
        </p:nvSpPr>
        <p:spPr>
          <a:xfrm>
            <a:off x="762000" y="271151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How many standard deviations from its mean is an observation of x = 62?</a:t>
            </a:r>
          </a:p>
        </p:txBody>
      </p:sp>
      <p:sp>
        <p:nvSpPr>
          <p:cNvPr id="12" name="Result">
            <a:extLst>
              <a:ext uri="{FF2B5EF4-FFF2-40B4-BE49-F238E27FC236}">
                <a16:creationId xmlns:a16="http://schemas.microsoft.com/office/drawing/2014/main" id="{F1DD6977-8EFC-53AF-2BA8-8C567861A9CE}"/>
              </a:ext>
            </a:extLst>
          </p:cNvPr>
          <p:cNvSpPr/>
          <p:nvPr/>
        </p:nvSpPr>
        <p:spPr>
          <a:xfrm>
            <a:off x="762000" y="559441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z = (62 − 50) / 8 = 1.5:  1.5 standard deviations above the mean</a:t>
            </a:r>
          </a:p>
        </p:txBody>
      </p:sp>
      <p:pic>
        <p:nvPicPr>
          <p:cNvPr id="6" name="l13_review_z.png">
            <a:extLst>
              <a:ext uri="{FF2B5EF4-FFF2-40B4-BE49-F238E27FC236}">
                <a16:creationId xmlns:a16="http://schemas.microsoft.com/office/drawing/2014/main" id="{4D575787-6348-2BD5-E96F-1A0FC8F24D6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143310"/>
            <a:ext cx="10668000" cy="234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482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Review: from z to 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xt">
            <a:extLst>
              <a:ext uri="{FF2B5EF4-FFF2-40B4-BE49-F238E27FC236}">
                <a16:creationId xmlns:a16="http://schemas.microsoft.com/office/drawing/2014/main" id="{CF55BC9C-FE59-7CE1-3E3C-35668F20C89D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variable x has the distribution shown below.</a:t>
            </a:r>
          </a:p>
        </p:txBody>
      </p:sp>
      <p:sp>
        <p:nvSpPr>
          <p:cNvPr id="10" name="Numbers">
            <a:extLst>
              <a:ext uri="{FF2B5EF4-FFF2-40B4-BE49-F238E27FC236}">
                <a16:creationId xmlns:a16="http://schemas.microsoft.com/office/drawing/2014/main" id="{92E05A5F-195C-FC9C-FB48-DCC9A453F8CA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x̄ = 120        s = 15</a:t>
            </a:r>
          </a:p>
        </p:txBody>
      </p:sp>
      <p:sp>
        <p:nvSpPr>
          <p:cNvPr id="11" name="Question">
            <a:extLst>
              <a:ext uri="{FF2B5EF4-FFF2-40B4-BE49-F238E27FC236}">
                <a16:creationId xmlns:a16="http://schemas.microsoft.com/office/drawing/2014/main" id="{5F652965-0C94-ADB1-E9E6-6ADE8E4A4B33}"/>
              </a:ext>
            </a:extLst>
          </p:cNvPr>
          <p:cNvSpPr txBox="1"/>
          <p:nvPr/>
        </p:nvSpPr>
        <p:spPr>
          <a:xfrm>
            <a:off x="762000" y="271151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What value of x marks 3 standard deviations above the mean?</a:t>
            </a:r>
          </a:p>
        </p:txBody>
      </p:sp>
      <p:sp>
        <p:nvSpPr>
          <p:cNvPr id="12" name="Result">
            <a:extLst>
              <a:ext uri="{FF2B5EF4-FFF2-40B4-BE49-F238E27FC236}">
                <a16:creationId xmlns:a16="http://schemas.microsoft.com/office/drawing/2014/main" id="{F1DD6977-8EFC-53AF-2BA8-8C567861A9CE}"/>
              </a:ext>
            </a:extLst>
          </p:cNvPr>
          <p:cNvSpPr/>
          <p:nvPr/>
        </p:nvSpPr>
        <p:spPr>
          <a:xfrm>
            <a:off x="762000" y="559441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pl-PL" sz="2000" b="1">
                <a:solidFill>
                  <a:srgbClr val="C00000"/>
                </a:solidFill>
                <a:latin typeface="Calibri" panose="020F0502020204030204" pitchFamily="34" charset="0"/>
              </a:rPr>
              <a:t>x = x̄ + z s = 120 + 3(15) = 165</a:t>
            </a:r>
            <a:endParaRPr lang="en-US" sz="2000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  <p:pic>
        <p:nvPicPr>
          <p:cNvPr id="6" name="l13_review_x.png">
            <a:extLst>
              <a:ext uri="{FF2B5EF4-FFF2-40B4-BE49-F238E27FC236}">
                <a16:creationId xmlns:a16="http://schemas.microsoft.com/office/drawing/2014/main" id="{E616F705-D8C5-0BDC-079D-BDD657BE355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143310"/>
            <a:ext cx="10668000" cy="234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332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Review: the empirical rule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xt">
            <a:extLst>
              <a:ext uri="{FF2B5EF4-FFF2-40B4-BE49-F238E27FC236}">
                <a16:creationId xmlns:a16="http://schemas.microsoft.com/office/drawing/2014/main" id="{CF55BC9C-FE59-7CE1-3E3C-35668F20C89D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variable x has the distribution shown below.</a:t>
            </a:r>
          </a:p>
        </p:txBody>
      </p:sp>
      <p:sp>
        <p:nvSpPr>
          <p:cNvPr id="10" name="Numbers">
            <a:extLst>
              <a:ext uri="{FF2B5EF4-FFF2-40B4-BE49-F238E27FC236}">
                <a16:creationId xmlns:a16="http://schemas.microsoft.com/office/drawing/2014/main" id="{92E05A5F-195C-FC9C-FB48-DCC9A453F8CA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x̄ = 70        s = 10</a:t>
            </a:r>
          </a:p>
        </p:txBody>
      </p:sp>
      <p:sp>
        <p:nvSpPr>
          <p:cNvPr id="11" name="Question">
            <a:extLst>
              <a:ext uri="{FF2B5EF4-FFF2-40B4-BE49-F238E27FC236}">
                <a16:creationId xmlns:a16="http://schemas.microsoft.com/office/drawing/2014/main" id="{5F652965-0C94-ADB1-E9E6-6ADE8E4A4B33}"/>
              </a:ext>
            </a:extLst>
          </p:cNvPr>
          <p:cNvSpPr txBox="1"/>
          <p:nvPr/>
        </p:nvSpPr>
        <p:spPr>
          <a:xfrm>
            <a:off x="762000" y="271151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Approximately what value of x is the 16th percentile?</a:t>
            </a:r>
          </a:p>
        </p:txBody>
      </p:sp>
      <p:sp>
        <p:nvSpPr>
          <p:cNvPr id="12" name="Result">
            <a:extLst>
              <a:ext uri="{FF2B5EF4-FFF2-40B4-BE49-F238E27FC236}">
                <a16:creationId xmlns:a16="http://schemas.microsoft.com/office/drawing/2014/main" id="{F1DD6977-8EFC-53AF-2BA8-8C567861A9CE}"/>
              </a:ext>
            </a:extLst>
          </p:cNvPr>
          <p:cNvSpPr/>
          <p:nvPr/>
        </p:nvSpPr>
        <p:spPr>
          <a:xfrm>
            <a:off x="762000" y="559441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50% − 34% = 16% of values lie below x̄ − s, so x ≈ 70 − 10 = 60</a:t>
            </a:r>
          </a:p>
        </p:txBody>
      </p:sp>
      <p:pic>
        <p:nvPicPr>
          <p:cNvPr id="6" name="l13_review_p16.png">
            <a:extLst>
              <a:ext uri="{FF2B5EF4-FFF2-40B4-BE49-F238E27FC236}">
                <a16:creationId xmlns:a16="http://schemas.microsoft.com/office/drawing/2014/main" id="{0D76B33D-696A-369E-7F80-7096F7363AE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143310"/>
            <a:ext cx="10668000" cy="234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042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is the standard deviation?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sigma_quiz.png">
            <a:extLst>
              <a:ext uri="{FF2B5EF4-FFF2-40B4-BE49-F238E27FC236}">
                <a16:creationId xmlns:a16="http://schemas.microsoft.com/office/drawing/2014/main" id="{F8CB8C23-CBC6-E0A0-7350-3BEEA36A9D7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336800"/>
            <a:ext cx="10668000" cy="2730500"/>
          </a:xfrm>
          <a:prstGeom prst="rect">
            <a:avLst/>
          </a:prstGeom>
        </p:spPr>
      </p:pic>
      <p:sp>
        <p:nvSpPr>
          <p:cNvPr id="7" name="Question">
            <a:extLst>
              <a:ext uri="{FF2B5EF4-FFF2-40B4-BE49-F238E27FC236}">
                <a16:creationId xmlns:a16="http://schemas.microsoft.com/office/drawing/2014/main" id="{20E949D1-02B4-D5F9-4113-43BD7220E79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Estimate σ for curve A and for curve B.</a:t>
            </a:r>
          </a:p>
        </p:txBody>
      </p:sp>
      <p:sp>
        <p:nvSpPr>
          <p:cNvPr id="10" name="Result">
            <a:extLst>
              <a:ext uri="{FF2B5EF4-FFF2-40B4-BE49-F238E27FC236}">
                <a16:creationId xmlns:a16="http://schemas.microsoft.com/office/drawing/2014/main" id="{70240C24-164F-D324-F6CF-EC707319DB77}"/>
              </a:ext>
            </a:extLst>
          </p:cNvPr>
          <p:cNvSpPr/>
          <p:nvPr/>
        </p:nvSpPr>
        <p:spPr>
          <a:xfrm>
            <a:off x="762000" y="516890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l-GR" sz="2000" b="1">
                <a:solidFill>
                  <a:srgbClr val="C00000"/>
                </a:solidFill>
                <a:latin typeface="Calibri" panose="020F0502020204030204" pitchFamily="34" charset="0"/>
              </a:rPr>
              <a:t>A:  σ ≈ 5            B:  σ ≈ 0.5</a:t>
            </a:r>
            <a:endParaRPr lang="en-US" sz="2000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247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using the empirical rule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xt">
            <a:extLst>
              <a:ext uri="{FF2B5EF4-FFF2-40B4-BE49-F238E27FC236}">
                <a16:creationId xmlns:a16="http://schemas.microsoft.com/office/drawing/2014/main" id="{CF55BC9C-FE59-7CE1-3E3C-35668F20C89D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variable x has the following distribution.</a:t>
            </a:r>
          </a:p>
        </p:txBody>
      </p:sp>
      <p:sp>
        <p:nvSpPr>
          <p:cNvPr id="10" name="Numbers">
            <a:extLst>
              <a:ext uri="{FF2B5EF4-FFF2-40B4-BE49-F238E27FC236}">
                <a16:creationId xmlns:a16="http://schemas.microsoft.com/office/drawing/2014/main" id="{92E05A5F-195C-FC9C-FB48-DCC9A453F8CA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x̄ = 74        s = 8</a:t>
            </a:r>
          </a:p>
        </p:txBody>
      </p:sp>
      <p:sp>
        <p:nvSpPr>
          <p:cNvPr id="11" name="Question">
            <a:extLst>
              <a:ext uri="{FF2B5EF4-FFF2-40B4-BE49-F238E27FC236}">
                <a16:creationId xmlns:a16="http://schemas.microsoft.com/office/drawing/2014/main" id="{5F652965-0C94-ADB1-E9E6-6ADE8E4A4B33}"/>
              </a:ext>
            </a:extLst>
          </p:cNvPr>
          <p:cNvSpPr txBox="1"/>
          <p:nvPr/>
        </p:nvSpPr>
        <p:spPr>
          <a:xfrm>
            <a:off x="762000" y="271151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What percentage of the values of x falls in each shaded region?</a:t>
            </a:r>
          </a:p>
        </p:txBody>
      </p:sp>
      <p:sp>
        <p:nvSpPr>
          <p:cNvPr id="12" name="Result">
            <a:extLst>
              <a:ext uri="{FF2B5EF4-FFF2-40B4-BE49-F238E27FC236}">
                <a16:creationId xmlns:a16="http://schemas.microsoft.com/office/drawing/2014/main" id="{F1DD6977-8EFC-53AF-2BA8-8C567861A9CE}"/>
              </a:ext>
            </a:extLst>
          </p:cNvPr>
          <p:cNvSpPr/>
          <p:nvPr/>
        </p:nvSpPr>
        <p:spPr>
          <a:xfrm>
            <a:off x="762000" y="587381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about 68%            (b)  about 16%            (c)  about 95%</a:t>
            </a:r>
          </a:p>
        </p:txBody>
      </p:sp>
      <p:pic>
        <p:nvPicPr>
          <p:cNvPr id="6" name="l13_empirical_regions.png">
            <a:extLst>
              <a:ext uri="{FF2B5EF4-FFF2-40B4-BE49-F238E27FC236}">
                <a16:creationId xmlns:a16="http://schemas.microsoft.com/office/drawing/2014/main" id="{783C9FDB-115C-CD88-03D7-A604F83EF33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168710"/>
            <a:ext cx="10668000" cy="260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832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Outliers: the two-standard-deviation rule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outlier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value at least 2 standard deviations from the mean, |z| ≥ 2 (about 5% of bell-shaped data)</a:t>
            </a:r>
            <a:endParaRPr lang="en-US" sz="1600" i="1">
              <a:solidFill>
                <a:srgbClr val="595959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outlier_tails.png">
            <a:extLst>
              <a:ext uri="{FF2B5EF4-FFF2-40B4-BE49-F238E27FC236}">
                <a16:creationId xmlns:a16="http://schemas.microsoft.com/office/drawing/2014/main" id="{D1B24087-7230-44DD-8234-627133E4C66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342738"/>
            <a:ext cx="10668000" cy="260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073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Data: student heights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A survey of 379 college students recorded each student's height and gender.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3114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 = the height of a student, in inches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509911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n = 379 students   (the file lists the women first, then the men, each sorted by height)</a:t>
            </a:r>
          </a:p>
        </p:txBody>
      </p:sp>
      <p:graphicFrame>
        <p:nvGraphicFramePr>
          <p:cNvPr id="5" name="Data table">
            <a:extLst>
              <a:ext uri="{FF2B5EF4-FFF2-40B4-BE49-F238E27FC236}">
                <a16:creationId xmlns:a16="http://schemas.microsoft.com/office/drawing/2014/main" id="{107D57CA-D659-5E39-E6B7-B1821FDE19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0807307"/>
              </p:ext>
            </p:extLst>
          </p:nvPr>
        </p:nvGraphicFramePr>
        <p:xfrm>
          <a:off x="762000" y="2838510"/>
          <a:ext cx="381000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30255408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431246229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HEIGHT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GENDER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7359791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56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8848343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57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2146922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58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2893545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52587576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344972088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T="25400" marB="25400"/>
                </a:tc>
                <a:extLst>
                  <a:ext uri="{0D108BD9-81ED-4DB2-BD59-A6C34878D82A}">
                    <a16:rowId xmlns:a16="http://schemas.microsoft.com/office/drawing/2014/main" val="10099986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2540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>
                <a:solidFill>
                  <a:srgbClr val="1F3864"/>
                </a:solidFill>
              </a:rPr>
              <a:t>When the two outlier rules disagree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50F8E818-D879-9E92-5AAA-A8CE731F9AEF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Do the 1.5 × IQR rule and the ± 2s rule flag the same students?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7EDE5771-9447-42A3-D148-2D679D81E8C5}"/>
              </a:ext>
            </a:extLst>
          </p:cNvPr>
          <p:cNvSpPr/>
          <p:nvPr/>
        </p:nvSpPr>
        <p:spPr>
          <a:xfrm>
            <a:off x="762000" y="5397500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No:  the IQR rule flags only 1 student (92 in), the ± 2s rule flags 12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Why:  ± 2s flags about 5% of any bell-shaped data; 1.5 × IQR flags under 1%</a:t>
            </a:r>
          </a:p>
        </p:txBody>
      </p:sp>
      <p:pic>
        <p:nvPicPr>
          <p:cNvPr id="6" name="l13_iqr_vs_2s.png">
            <a:extLst>
              <a:ext uri="{FF2B5EF4-FFF2-40B4-BE49-F238E27FC236}">
                <a16:creationId xmlns:a16="http://schemas.microsoft.com/office/drawing/2014/main" id="{927709A3-F360-C1C8-392F-23A60056C98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311400"/>
            <a:ext cx="10668000" cy="298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997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Computing quantiles from a normal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43A41ED3-3E8E-3932-79F2-9D3446B16257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Heights of all 379 students are roughly bell shaped.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2A898F99-DE61-3DEE-BDF5-928306D5E174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x̄ = 67.1 in        s = 4.12 in        one student is 72 in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355C0675-00BA-C3E0-29AC-19450337789A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the student's z-score?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percentage of the students are shorter?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BE0DA1F1-E460-BE02-2835-97E3A1D05123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z = 1.19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The empirical rule cannot say: 1.19 is not a whole number of standard deviations</a:t>
            </a:r>
          </a:p>
        </p:txBody>
      </p:sp>
    </p:spTree>
    <p:extLst>
      <p:ext uri="{BB962C8B-B14F-4D97-AF65-F5344CB8AC3E}">
        <p14:creationId xmlns:p14="http://schemas.microsoft.com/office/powerpoint/2010/main" val="2181907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How it used to be done: the Z-table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standard normal table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each entry is the area to the LEFT of z</a:t>
            </a:r>
            <a:endParaRPr lang="en-US" sz="1600" i="1">
              <a:solidFill>
                <a:srgbClr val="000000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sult">
            <a:extLst>
              <a:ext uri="{FF2B5EF4-FFF2-40B4-BE49-F238E27FC236}">
                <a16:creationId xmlns:a16="http://schemas.microsoft.com/office/drawing/2014/main" id="{6ECC2FD2-AE00-2EA1-4AAD-42F866DFAB3E}"/>
              </a:ext>
            </a:extLst>
          </p:cNvPr>
          <p:cNvSpPr/>
          <p:nvPr/>
        </p:nvSpPr>
        <p:spPr>
          <a:xfrm>
            <a:off x="762000" y="535940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z = 1.19:  row 1.1, column .09  →  0.8830, so about 88% are shorter</a:t>
            </a:r>
          </a:p>
        </p:txBody>
      </p:sp>
      <p:pic>
        <p:nvPicPr>
          <p:cNvPr id="10" name="l13_ztable.png">
            <a:extLst>
              <a:ext uri="{FF2B5EF4-FFF2-40B4-BE49-F238E27FC236}">
                <a16:creationId xmlns:a16="http://schemas.microsoft.com/office/drawing/2014/main" id="{E4EBC3A9-3013-1CA2-3F31-A8FCE45A3FD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2336800"/>
            <a:ext cx="9652000" cy="292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963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Today: the computer does the lookup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From a value to an area: pnorm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pnorm(1.19) = 0.8830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From an area to a value: qnorm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qnorm(0.90) = 1.28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No R in front of you?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normal calculator at stat-tools.jmks-homelab.dev does both.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664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 note about transformations of variables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Changing units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We often need to change the units of a variable: °F to °C, feet to meters, dollars to euros.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Linear transformations: adding, subtracting, multiplying, dividing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y = ax + b (a scales, b shifts). The z-score is a linear transformation. They preserve the shape of the distribution.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Nonlinear transformations: squaring, taking roots, logarithms, exponentiation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They do NOT preserve the shape of the distribution.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187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a linear transformation does to the summaries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center moves with the whole transformation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ȳ = ax̄ + b, and the same for the median.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spread ignores the shift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 and IQR are multiplied by |a|; b has no effect.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shape does not change at all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Skewness, gaps and outliers all survive unchanged.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423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inches to centimeters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16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34B70664-1EA5-3F9A-29BA-5B26464F7AB5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The 379 heights are converted from inches to centimeters: y = 2.54x.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082E476E-5F90-DBB0-4134-D1B09907720F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x̄ = 67.1 in        s = 4.12 in        the 72-inch student = 182.9 cm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CE21DFBB-B40F-2B69-C915-28DAB7884E8B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are the mean and standard deviation in centimeters?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the student's z-score in centimeters?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D6083D3B-239A-FB58-510B-6BADB10F2B9C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(a)  ȳ = 170.4 cm,   s = 10.46 cm</a:t>
            </a:r>
          </a:p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(b)  z = 1.19, unchanged</a:t>
            </a:r>
          </a:p>
        </p:txBody>
      </p:sp>
    </p:spTree>
    <p:extLst>
      <p:ext uri="{BB962C8B-B14F-4D97-AF65-F5344CB8AC3E}">
        <p14:creationId xmlns:p14="http://schemas.microsoft.com/office/powerpoint/2010/main" val="3758873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Does a z-score make data normal?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17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2_skew_z.png">
            <a:extLst>
              <a:ext uri="{FF2B5EF4-FFF2-40B4-BE49-F238E27FC236}">
                <a16:creationId xmlns:a16="http://schemas.microsoft.com/office/drawing/2014/main" id="{46DFDE40-9DAA-D640-9CCE-B68BB70A429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2336800"/>
            <a:ext cx="9652000" cy="2730500"/>
          </a:xfrm>
          <a:prstGeom prst="rect">
            <a:avLst/>
          </a:prstGeom>
        </p:spPr>
      </p:pic>
      <p:sp>
        <p:nvSpPr>
          <p:cNvPr id="7" name="Question">
            <a:extLst>
              <a:ext uri="{FF2B5EF4-FFF2-40B4-BE49-F238E27FC236}">
                <a16:creationId xmlns:a16="http://schemas.microsoft.com/office/drawing/2014/main" id="{CC49A86E-0DAD-EFE5-DBBD-C3686D8453C4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Does converting skewed data to z-scores make it normal?</a:t>
            </a:r>
          </a:p>
        </p:txBody>
      </p:sp>
      <p:sp>
        <p:nvSpPr>
          <p:cNvPr id="10" name="Result">
            <a:extLst>
              <a:ext uri="{FF2B5EF4-FFF2-40B4-BE49-F238E27FC236}">
                <a16:creationId xmlns:a16="http://schemas.microsoft.com/office/drawing/2014/main" id="{6E2D1D7E-DF7D-0DD8-546E-BEDAF6C19896}"/>
              </a:ext>
            </a:extLst>
          </p:cNvPr>
          <p:cNvSpPr/>
          <p:nvPr/>
        </p:nvSpPr>
        <p:spPr>
          <a:xfrm>
            <a:off x="762000" y="516890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No:  standardizing changes the axis, not the shape</a:t>
            </a:r>
          </a:p>
        </p:txBody>
      </p:sp>
    </p:spTree>
    <p:extLst>
      <p:ext uri="{BB962C8B-B14F-4D97-AF65-F5344CB8AC3E}">
        <p14:creationId xmlns:p14="http://schemas.microsoft.com/office/powerpoint/2010/main" val="2850716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Estimating a mean from a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18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xt">
            <a:extLst>
              <a:ext uri="{FF2B5EF4-FFF2-40B4-BE49-F238E27FC236}">
                <a16:creationId xmlns:a16="http://schemas.microsoft.com/office/drawing/2014/main" id="{CF55BC9C-FE59-7CE1-3E3C-35668F20C89D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Treat all 379 students as the population, and estimate μ from a random sample of n = 20.</a:t>
            </a:r>
          </a:p>
        </p:txBody>
      </p:sp>
      <p:sp>
        <p:nvSpPr>
          <p:cNvPr id="11" name="Question">
            <a:extLst>
              <a:ext uri="{FF2B5EF4-FFF2-40B4-BE49-F238E27FC236}">
                <a16:creationId xmlns:a16="http://schemas.microsoft.com/office/drawing/2014/main" id="{5F652965-0C94-ADB1-E9E6-6ADE8E4A4B33}"/>
              </a:ext>
            </a:extLst>
          </p:cNvPr>
          <p:cNvSpPr txBox="1"/>
          <p:nvPr/>
        </p:nvSpPr>
        <p:spPr>
          <a:xfrm>
            <a:off x="762000" y="22860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Why do the two samples miss μ, and by different amounts?</a:t>
            </a:r>
          </a:p>
        </p:txBody>
      </p:sp>
      <p:sp>
        <p:nvSpPr>
          <p:cNvPr id="12" name="Result">
            <a:extLst>
              <a:ext uri="{FF2B5EF4-FFF2-40B4-BE49-F238E27FC236}">
                <a16:creationId xmlns:a16="http://schemas.microsoft.com/office/drawing/2014/main" id="{F1DD6977-8EFC-53AF-2BA8-8C567861A9CE}"/>
              </a:ext>
            </a:extLst>
          </p:cNvPr>
          <p:cNvSpPr/>
          <p:nvPr/>
        </p:nvSpPr>
        <p:spPr>
          <a:xfrm>
            <a:off x="762000" y="5575300"/>
            <a:ext cx="10668000" cy="470595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Each sample holds different students, so each x̄ misses by a different amount: sampling error</a:t>
            </a:r>
          </a:p>
        </p:txBody>
      </p:sp>
      <p:pic>
        <p:nvPicPr>
          <p:cNvPr id="8" name="l13_two_samples.png">
            <a:extLst>
              <a:ext uri="{FF2B5EF4-FFF2-40B4-BE49-F238E27FC236}">
                <a16:creationId xmlns:a16="http://schemas.microsoft.com/office/drawing/2014/main" id="{4CCD6110-6B9E-525A-2FCD-03AF127A00D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743200"/>
            <a:ext cx="10668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22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Sampling distributions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sampling distribution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distribution of a statistic, such as x̄, over all possible samples of the same size n</a:t>
            </a:r>
            <a:endParaRPr lang="en-US" sz="1600" i="1">
              <a:solidFill>
                <a:srgbClr val="595959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sult">
            <a:extLst>
              <a:ext uri="{FF2B5EF4-FFF2-40B4-BE49-F238E27FC236}">
                <a16:creationId xmlns:a16="http://schemas.microsoft.com/office/drawing/2014/main" id="{572E4A4A-3BD5-CF24-E6F1-9A1E4EB1A29A}"/>
              </a:ext>
            </a:extLst>
          </p:cNvPr>
          <p:cNvSpPr/>
          <p:nvPr/>
        </p:nvSpPr>
        <p:spPr>
          <a:xfrm>
            <a:off x="762000" y="5335478"/>
            <a:ext cx="10668000" cy="752951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You've seen these before: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SE = s / √n (Week 3) is its spread; the Rec Center histograms (Week 4) were sampling distributions</a:t>
            </a:r>
          </a:p>
        </p:txBody>
      </p:sp>
      <p:pic>
        <p:nvPicPr>
          <p:cNvPr id="10" name="l13_sampling_dist.png">
            <a:extLst>
              <a:ext uri="{FF2B5EF4-FFF2-40B4-BE49-F238E27FC236}">
                <a16:creationId xmlns:a16="http://schemas.microsoft.com/office/drawing/2014/main" id="{493EA66E-F2BC-00FA-208B-155DA00FA17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489200"/>
            <a:ext cx="10668000" cy="260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056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Margin of error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margin of error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how far we expect an estimate to fall from the parameter: the largest distance to an estimate that is not an outlier, 2 × SE</a:t>
            </a:r>
            <a:endParaRPr lang="en-US" sz="1600" i="1">
              <a:solidFill>
                <a:srgbClr val="595959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l13_moe.png">
            <a:extLst>
              <a:ext uri="{FF2B5EF4-FFF2-40B4-BE49-F238E27FC236}">
                <a16:creationId xmlns:a16="http://schemas.microsoft.com/office/drawing/2014/main" id="{9EFD1EFC-1AF5-DBE7-B244-E2E98A3A8FB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717800"/>
            <a:ext cx="10668000" cy="273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998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the margin of error for x̄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21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</a:rPr>
              <a:t>Random samples of n = 20 from all 379 students.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l-GR" sz="2000" b="1" dirty="0">
                <a:solidFill>
                  <a:srgbClr val="000000"/>
                </a:solidFill>
                <a:latin typeface="Calibri" panose="020F0502020204030204" pitchFamily="34" charset="0"/>
              </a:rPr>
              <a:t>σ = 4.12 </a:t>
            </a:r>
            <a:r>
              <a:rPr lang="en-US" sz="2000" b="1" dirty="0">
                <a:solidFill>
                  <a:srgbClr val="000000"/>
                </a:solidFill>
                <a:latin typeface="Calibri" panose="020F0502020204030204" pitchFamily="34" charset="0"/>
              </a:rPr>
              <a:t>in        n = 20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What are the standard error and the margin of error of x̄?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233242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SE = σ / √n = 4.12 / √20 ≈ 0.92 in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Margin of error = 2 × 0.92 ≈ 1.8 in:  about 95% of samples land within 67.1 ± 1.8 in</a:t>
            </a:r>
          </a:p>
        </p:txBody>
      </p:sp>
    </p:spTree>
    <p:extLst>
      <p:ext uri="{BB962C8B-B14F-4D97-AF65-F5344CB8AC3E}">
        <p14:creationId xmlns:p14="http://schemas.microsoft.com/office/powerpoint/2010/main" val="582668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Statistical significance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22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Someone hands you 20 students and says they are a random sample of all 379.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it-IT" sz="2000" b="1">
                <a:solidFill>
                  <a:srgbClr val="000000"/>
                </a:solidFill>
                <a:latin typeface="Calibri" panose="020F0502020204030204" pitchFamily="34" charset="0"/>
              </a:rPr>
              <a:t>x̄ = 70.33 in        μ = 67.1 in        SE = 0.92 in</a:t>
            </a:r>
            <a:endParaRPr lang="en-US" sz="2000" b="1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Is this result statistically significant?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233242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>
                <a:solidFill>
                  <a:srgbClr val="C00000"/>
                </a:solidFill>
                <a:latin typeface="Calibri" panose="020F0502020204030204" pitchFamily="34" charset="0"/>
              </a:rPr>
              <a:t>z = (70.33 − 67.1) / 0.92 ≈ 3.5:  far outside the margin of error, so yes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Statistically significant: this was not a random sample of all students (they were all men)</a:t>
            </a:r>
          </a:p>
        </p:txBody>
      </p:sp>
    </p:spTree>
    <p:extLst>
      <p:ext uri="{BB962C8B-B14F-4D97-AF65-F5344CB8AC3E}">
        <p14:creationId xmlns:p14="http://schemas.microsoft.com/office/powerpoint/2010/main" val="901969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you should know: the normal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two parameters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x ~ N(μ, σ):  μ locates the center, σ sets the spread.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empirical rule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68%, 95% and 99.7% within 1, 2 and 3 standard deviations (bell-shaped only).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The z-score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z = (x − x̄) / s counts standard deviations from the mean;  |z| ≥ 2 flags an outlier.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892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Why probability?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24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The margin of error said: about 95% of samples land within 2 SE of μ.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286000"/>
            <a:ext cx="10668000" cy="36933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But we only ever take one sample. So what does "95%" mean?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2807732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  <a:latin typeface="Calibri" panose="020F0502020204030204" pitchFamily="34" charset="0"/>
              </a:rPr>
              <a:t>It describes the probability over many repeated samples, about 95% would land that close</a:t>
            </a:r>
          </a:p>
          <a:p>
            <a:r>
              <a:rPr lang="en-US" b="1" dirty="0">
                <a:solidFill>
                  <a:srgbClr val="C00000"/>
                </a:solidFill>
                <a:latin typeface="Calibri" panose="020F0502020204030204" pitchFamily="34" charset="0"/>
              </a:rPr>
              <a:t>A statement about repeated sampling is a statement about probability</a:t>
            </a:r>
          </a:p>
        </p:txBody>
      </p:sp>
    </p:spTree>
    <p:extLst>
      <p:ext uri="{BB962C8B-B14F-4D97-AF65-F5344CB8AC3E}">
        <p14:creationId xmlns:p14="http://schemas.microsoft.com/office/powerpoint/2010/main" val="893199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Probability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probability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proportion of times an outcome would occur over a very long series of repetitions; always between 0 and 1</a:t>
            </a:r>
            <a:endParaRPr lang="en-US" sz="1600" i="1">
              <a:solidFill>
                <a:srgbClr val="595959"/>
              </a:solidFill>
            </a:endParaRP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sult">
            <a:extLst>
              <a:ext uri="{FF2B5EF4-FFF2-40B4-BE49-F238E27FC236}">
                <a16:creationId xmlns:a16="http://schemas.microsoft.com/office/drawing/2014/main" id="{572E4A4A-3BD5-CF24-E6F1-9A1E4EB1A29A}"/>
              </a:ext>
            </a:extLst>
          </p:cNvPr>
          <p:cNvSpPr/>
          <p:nvPr/>
        </p:nvSpPr>
        <p:spPr>
          <a:xfrm>
            <a:off x="762000" y="5181600"/>
            <a:ext cx="10668000" cy="721578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The law of large numbers: over many repetitions, the proportion settles on the probability</a:t>
            </a:r>
          </a:p>
          <a:p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Karl Pearson tossed a coin 24,000 times: 12,012 heads, a proportion of 0.5005</a:t>
            </a:r>
          </a:p>
        </p:txBody>
      </p:sp>
      <p:pic>
        <p:nvPicPr>
          <p:cNvPr id="9" name="l13_lln.png">
            <a:extLst>
              <a:ext uri="{FF2B5EF4-FFF2-40B4-BE49-F238E27FC236}">
                <a16:creationId xmlns:a16="http://schemas.microsoft.com/office/drawing/2014/main" id="{92608EA9-B24C-54D9-F2CD-F434CFD5D7D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540000"/>
            <a:ext cx="10668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45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language of probability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796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chance experiment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225040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process whose result cannot be predicted in advance, such as rolling a die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766794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sample space  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3112234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set of all possible outcomes: for one roll of a die, S = {1, 2, 3, 4, 5, 6}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653988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marL="304800" indent="-304800"/>
            <a:r>
              <a:rPr lang="en-US" sz="1600">
                <a:solidFill>
                  <a:srgbClr val="000000"/>
                </a:solidFill>
              </a:rPr>
              <a:t>event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999428"/>
            <a:ext cx="10312400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any collection of outcomes, written with a capital letter: A = {roll an even number} = {2, 4, 6}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01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Equally likely outcomes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27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Roll a fair six-sided die: all six outcomes are equally likely.</a:t>
            </a:r>
          </a:p>
        </p:txBody>
      </p:sp>
      <p:sp>
        <p:nvSpPr>
          <p:cNvPr id="9" name="Numbers">
            <a:extLst>
              <a:ext uri="{FF2B5EF4-FFF2-40B4-BE49-F238E27FC236}">
                <a16:creationId xmlns:a16="http://schemas.microsoft.com/office/drawing/2014/main" id="{C419F151-05B2-3E4B-BAE8-BB1F06D9D1FD}"/>
              </a:ext>
            </a:extLst>
          </p:cNvPr>
          <p:cNvSpPr txBox="1"/>
          <p:nvPr/>
        </p:nvSpPr>
        <p:spPr>
          <a:xfrm>
            <a:off x="762000" y="2286000"/>
            <a:ext cx="10668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sz="2000" b="1">
                <a:solidFill>
                  <a:srgbClr val="000000"/>
                </a:solidFill>
                <a:latin typeface="Calibri" panose="020F0502020204030204" pitchFamily="34" charset="0"/>
              </a:rPr>
              <a:t>P(A)  =  (number of outcomes in A) / (number of outcomes in S)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271151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P(even)?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P(not a six)?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353588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pt-BR" sz="2000" b="1">
                <a:solidFill>
                  <a:srgbClr val="C00000"/>
                </a:solidFill>
                <a:latin typeface="Calibri" panose="020F0502020204030204" pitchFamily="34" charset="0"/>
              </a:rPr>
              <a:t>(a)  3 / 6 = 0.5</a:t>
            </a:r>
          </a:p>
          <a:p>
            <a:r>
              <a:rPr lang="pt-BR" sz="2000" b="1">
                <a:solidFill>
                  <a:srgbClr val="C00000"/>
                </a:solidFill>
                <a:latin typeface="Calibri" panose="020F0502020204030204" pitchFamily="34" charset="0"/>
              </a:rPr>
              <a:t>(b)  5 / 6 ≈ 0.83</a:t>
            </a:r>
            <a:endParaRPr lang="en-US" sz="2000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5201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probabilities from real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28</a:t>
            </a:fld>
            <a:endParaRPr lang="en-US" sz="1600"/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xt">
            <a:extLst>
              <a:ext uri="{FF2B5EF4-FFF2-40B4-BE49-F238E27FC236}">
                <a16:creationId xmlns:a16="http://schemas.microsoft.com/office/drawing/2014/main" id="{71E3EA8C-31B4-DAD4-BC4A-65D72E59AD46}"/>
              </a:ext>
            </a:extLst>
          </p:cNvPr>
          <p:cNvSpPr txBox="1"/>
          <p:nvPr/>
        </p:nvSpPr>
        <p:spPr>
          <a:xfrm>
            <a:off x="762000" y="18796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>
                <a:solidFill>
                  <a:srgbClr val="000000"/>
                </a:solidFill>
                <a:latin typeface="Calibri" panose="020F0502020204030204" pitchFamily="34" charset="0"/>
              </a:rPr>
              <a:t>Pick one of the 379 students from the heights data at random.</a:t>
            </a:r>
          </a:p>
        </p:txBody>
      </p:sp>
      <p:sp>
        <p:nvSpPr>
          <p:cNvPr id="10" name="Question">
            <a:extLst>
              <a:ext uri="{FF2B5EF4-FFF2-40B4-BE49-F238E27FC236}">
                <a16:creationId xmlns:a16="http://schemas.microsoft.com/office/drawing/2014/main" id="{B31E395F-B84E-D1E9-D22A-222467FC4105}"/>
              </a:ext>
            </a:extLst>
          </p:cNvPr>
          <p:cNvSpPr txBox="1"/>
          <p:nvPr/>
        </p:nvSpPr>
        <p:spPr>
          <a:xfrm>
            <a:off x="762000" y="3830320"/>
            <a:ext cx="10668000" cy="67197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(a)  What is P(the student is at least 70 in)?</a:t>
            </a:r>
          </a:p>
          <a:p>
            <a:pPr>
              <a:spcAft>
                <a:spcPts val="200"/>
              </a:spcAft>
            </a:pPr>
            <a:r>
              <a:rPr lang="en-US" b="1">
                <a:solidFill>
                  <a:srgbClr val="C00000"/>
                </a:solidFill>
                <a:latin typeface="Calibri" panose="020F0502020204030204" pitchFamily="34" charset="0"/>
              </a:rPr>
              <a:t>(b)  What is P(the student is female)?</a:t>
            </a:r>
          </a:p>
        </p:txBody>
      </p:sp>
      <p:sp>
        <p:nvSpPr>
          <p:cNvPr id="11" name="Result">
            <a:extLst>
              <a:ext uri="{FF2B5EF4-FFF2-40B4-BE49-F238E27FC236}">
                <a16:creationId xmlns:a16="http://schemas.microsoft.com/office/drawing/2014/main" id="{5A70F68E-0D93-07B8-82B2-4D8F2F681D0D}"/>
              </a:ext>
            </a:extLst>
          </p:cNvPr>
          <p:cNvSpPr/>
          <p:nvPr/>
        </p:nvSpPr>
        <p:spPr>
          <a:xfrm>
            <a:off x="762000" y="4629299"/>
            <a:ext cx="10668000" cy="784324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>
            <a:spAutoFit/>
          </a:bodyPr>
          <a:lstStyle/>
          <a:p>
            <a:r>
              <a:rPr lang="pt-BR" sz="2000" b="1">
                <a:solidFill>
                  <a:srgbClr val="C00000"/>
                </a:solidFill>
                <a:latin typeface="Calibri" panose="020F0502020204030204" pitchFamily="34" charset="0"/>
              </a:rPr>
              <a:t>(a)  106 / 379 ≈ 0.28</a:t>
            </a:r>
          </a:p>
          <a:p>
            <a:r>
              <a:rPr lang="pt-BR" sz="2000" b="1">
                <a:solidFill>
                  <a:srgbClr val="C00000"/>
                </a:solidFill>
                <a:latin typeface="Calibri" panose="020F0502020204030204" pitchFamily="34" charset="0"/>
              </a:rPr>
              <a:t>(b)  262 / 379 ≈ 0.69</a:t>
            </a:r>
            <a:endParaRPr lang="en-US" sz="2000" b="1">
              <a:solidFill>
                <a:srgbClr val="C00000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5" name="Counts">
            <a:extLst>
              <a:ext uri="{FF2B5EF4-FFF2-40B4-BE49-F238E27FC236}">
                <a16:creationId xmlns:a16="http://schemas.microsoft.com/office/drawing/2014/main" id="{07CBF5BB-B19C-04AA-D608-94962C8F3B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374605"/>
              </p:ext>
            </p:extLst>
          </p:nvPr>
        </p:nvGraphicFramePr>
        <p:xfrm>
          <a:off x="762000" y="2362200"/>
          <a:ext cx="6604000" cy="134112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3902670300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3866161889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938379248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669086323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endParaRPr lang="en-US" sz="1600" b="1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At least 70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Under 70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Total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8346919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Female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262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8173232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9953392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r>
                        <a:rPr lang="en-US" sz="1600" b="1">
                          <a:latin typeface="Calibri" panose="020F0502020204030204" pitchFamily="34" charset="0"/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alibri" panose="020F0502020204030204" pitchFamily="34" charset="0"/>
                        </a:rPr>
                        <a:t>379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61386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5396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2495</TotalTime>
  <Words>1702</Words>
  <Application>Microsoft Office PowerPoint</Application>
  <PresentationFormat>Widescreen</PresentationFormat>
  <Paragraphs>203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Calibri</vt:lpstr>
      <vt:lpstr>Calibri Light</vt:lpstr>
      <vt:lpstr>Office Theme</vt:lpstr>
      <vt:lpstr>Lecture 13 Outliers, Normal Quantiles, Transformations and the Margin of Error</vt:lpstr>
      <vt:lpstr>Review</vt:lpstr>
      <vt:lpstr>Review: from x to z</vt:lpstr>
      <vt:lpstr>Review: from z to x</vt:lpstr>
      <vt:lpstr>Review: the empirical rule</vt:lpstr>
      <vt:lpstr>What is the standard deviation?</vt:lpstr>
      <vt:lpstr>Example: using the empirical rule</vt:lpstr>
      <vt:lpstr>Outliers: the two-standard-deviation rule</vt:lpstr>
      <vt:lpstr>Data: student heights</vt:lpstr>
      <vt:lpstr>When the two outlier rules disagree</vt:lpstr>
      <vt:lpstr>Computing quantiles from a normal distribution</vt:lpstr>
      <vt:lpstr>How it used to be done: the Z-table</vt:lpstr>
      <vt:lpstr>Today: the computer does the lookup</vt:lpstr>
      <vt:lpstr>A note about transformations of variables</vt:lpstr>
      <vt:lpstr>What a linear transformation does to the summaries</vt:lpstr>
      <vt:lpstr>Example: inches to centimeters</vt:lpstr>
      <vt:lpstr>Does a z-score make data normal?</vt:lpstr>
      <vt:lpstr>Estimating a mean from a sample</vt:lpstr>
      <vt:lpstr>Sampling distributions</vt:lpstr>
      <vt:lpstr>Margin of error</vt:lpstr>
      <vt:lpstr>Example: the margin of error for x̄</vt:lpstr>
      <vt:lpstr>Statistical significance</vt:lpstr>
      <vt:lpstr>What you should know: the normal distribution</vt:lpstr>
      <vt:lpstr>Why probability?</vt:lpstr>
      <vt:lpstr>Probability</vt:lpstr>
      <vt:lpstr>The language of probability</vt:lpstr>
      <vt:lpstr>Equally likely outcomes</vt:lpstr>
      <vt:lpstr>Example: probabilities from real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397</cp:revision>
  <dcterms:created xsi:type="dcterms:W3CDTF">2023-08-05T23:57:41Z</dcterms:created>
  <dcterms:modified xsi:type="dcterms:W3CDTF">2026-09-30T19:17:55Z</dcterms:modified>
</cp:coreProperties>
</file>