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0" r:id="rId2"/>
    <p:sldId id="257" r:id="rId3"/>
    <p:sldId id="345" r:id="rId4"/>
    <p:sldId id="369" r:id="rId5"/>
    <p:sldId id="355" r:id="rId6"/>
    <p:sldId id="364" r:id="rId7"/>
    <p:sldId id="384" r:id="rId8"/>
    <p:sldId id="366" r:id="rId9"/>
    <p:sldId id="367" r:id="rId10"/>
    <p:sldId id="368" r:id="rId11"/>
    <p:sldId id="385" r:id="rId12"/>
    <p:sldId id="365" r:id="rId13"/>
    <p:sldId id="370" r:id="rId14"/>
    <p:sldId id="371" r:id="rId15"/>
    <p:sldId id="383" r:id="rId16"/>
    <p:sldId id="372" r:id="rId17"/>
    <p:sldId id="373" r:id="rId18"/>
    <p:sldId id="374" r:id="rId19"/>
    <p:sldId id="375" r:id="rId20"/>
    <p:sldId id="386" r:id="rId21"/>
    <p:sldId id="387" r:id="rId22"/>
    <p:sldId id="376" r:id="rId23"/>
    <p:sldId id="377" r:id="rId24"/>
    <p:sldId id="378" r:id="rId25"/>
    <p:sldId id="379" r:id="rId26"/>
    <p:sldId id="380" r:id="rId27"/>
    <p:sldId id="381" r:id="rId28"/>
    <p:sldId id="38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6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821C1-92D8-0827-CE2B-80FEA840C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EA748-2C8E-5D78-5734-D9BCC16EC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15553-DE39-3C41-4AFF-70F29A86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2837C-8079-1B7F-0DCF-61C39ED3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5E205-162F-206E-F4C6-EB23D9DC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74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3490-30A7-12A6-2775-77578A346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B95F-B119-D057-5670-8EC21A84E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D001D-CEFB-FD30-FB40-0BEA5B52D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3377D-E7F3-D264-FB03-A4AF3E33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48992-A907-9503-F005-BAA8A33C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0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B320-EDC1-EDD2-5F4C-2A675BD0C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8A940-1637-AC6F-0247-A5E578765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2A479-CAFF-245E-F61F-3D6F3E5C8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24E38-70F9-0CAE-F19E-6DDE60057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74C88-12BC-0657-008B-8419B1E10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99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02A09-336F-FDC8-F0C1-F84E09726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F6849-08AF-456F-8C3C-E6DE37B3B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E5562-6B4C-F11F-DF48-D254599EA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69C05-114E-11FE-5C76-D6F19175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1C5D0-A8D9-EEF2-15E4-CE74A390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944C5-75A0-666E-C3DD-6839AB17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EC19E-080C-F794-EB45-FB4903CDD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5744A-FDBE-87AE-7AF1-3AC154DB2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970E4-B2B1-0370-3C26-0D1A5A002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A4F036-B8A8-878F-A1CB-05DAE58015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8B7F82-EBC0-322A-130D-972F39800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21A5BB-D71E-872F-6F0E-2279BE48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56747-8CBE-BF00-C39A-F442E724C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E2C14A-6287-B5B6-C760-7F506FD87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3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E9713-B0F2-9D1D-23FC-F5900F77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6FC7EC-16C8-C311-316C-6D99B4F99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E4DA7-A4C5-460E-592C-CEF23DF3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F3F89-7820-6BF8-A747-E433ED21A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44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EAD0FD-7A61-970C-10A9-76E2B39D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F95651-C89A-3C9B-3D47-F7E5CAF6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09228-92F1-54DE-D9B2-4AC018D50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03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3F474-02F7-A264-4B8D-717F5EB0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A8C9F-750F-7D81-0E80-7FBCDEBEB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A1C0B-C510-B118-D8FA-12722456A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4604E-EC60-44AD-4B70-12B2B49AE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2C4B9-91B9-9E0E-9278-1C043376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1E60F-F796-8B15-08E9-61BA30F0D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05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E564D-22A0-8A8D-C6FE-D62998433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13DEA-5246-B946-AFE4-3B305BCDB1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208CC-31DD-00AF-BFC4-37F7B4BF3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7E30D-B05F-B2CA-9A3C-E01E2B6B0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08FCE-463A-D1B2-8A60-3B6744202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38537-A621-46D4-781D-4E36BF83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42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105C2-17EC-1173-1FC9-8A7FC1018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BBB4A-325C-1F27-06A3-6F4F1A8F5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A6F55-A1EF-6AEC-99F0-DBF50F5EB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1FD1D-86F4-EDE3-1CCE-ADED2161B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E0593-ABE9-0E50-7A75-9252A5A1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87FF77-0DAD-7CA9-B02D-208C020489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298FA-F111-2C9C-551D-A1F30B239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1B556-1ED0-55E4-9235-352E1A16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4A71E-8AC3-EA68-1DCB-99E68A465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1CF60-74F8-B2C5-26C3-77536C36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6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18B48B-0371-7ADD-E5C3-345B4D6CB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B5A92-73C5-8CE0-7C84-BE7902E60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5212B-F67A-E417-B1FE-C389458DF2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82561-BD16-4A95-ACA1-5204E478F2FE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9799A-D006-E28E-8EED-4BE2AFCB8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69CB4-3B3A-FD13-F7E0-B4A0F3476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91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151A-3AFE-974F-DDC4-9B99389C3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105419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Lecture 14</a:t>
            </a:r>
            <a:br>
              <a:rPr lang="en-US">
                <a:solidFill>
                  <a:srgbClr val="1F3864"/>
                </a:solidFill>
              </a:rPr>
            </a:br>
            <a:r>
              <a:rPr lang="en-US">
                <a:solidFill>
                  <a:srgbClr val="1F3864"/>
                </a:solidFill>
              </a:rPr>
              <a:t>Statistical Significance and an Introduction to Probability</a:t>
            </a:r>
            <a:endParaRPr lang="en-US" dirty="0">
              <a:solidFill>
                <a:srgbClr val="1F38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479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5104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Review</a:t>
            </a:r>
            <a:endParaRPr lang="en-US" dirty="0">
              <a:solidFill>
                <a:srgbClr val="1F3864"/>
              </a:solidFill>
            </a:endParaRPr>
          </a:p>
        </p:txBody>
      </p:sp>
      <p:sp>
        <p:nvSpPr>
          <p:cNvPr id="3" name="Question 1"/>
          <p:cNvSpPr/>
          <p:nvPr/>
        </p:nvSpPr>
        <p:spPr>
          <a:xfrm>
            <a:off x="838200" y="107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1   </a:t>
            </a:r>
            <a:r>
              <a:rPr lang="en-US" b="1"/>
              <a:t>What is a sampling distribution?</a:t>
            </a:r>
            <a:endParaRPr lang="en-US" b="1" dirty="0"/>
          </a:p>
        </p:txBody>
      </p:sp>
      <p:sp>
        <p:nvSpPr>
          <p:cNvPr id="4" name="Answer 1"/>
          <p:cNvSpPr txBox="1"/>
          <p:nvPr/>
        </p:nvSpPr>
        <p:spPr>
          <a:xfrm>
            <a:off x="1066800" y="1655688"/>
            <a:ext cx="10058400" cy="6502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The distribution of a statistic over all possible samples of the same size n.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5" name="Question 2"/>
          <p:cNvSpPr/>
          <p:nvPr/>
        </p:nvSpPr>
        <p:spPr>
          <a:xfrm>
            <a:off x="838200" y="238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2   </a:t>
            </a:r>
            <a:r>
              <a:rPr lang="en-US" b="1"/>
              <a:t>What is the standard error?</a:t>
            </a:r>
            <a:endParaRPr lang="en-US" b="1" dirty="0"/>
          </a:p>
        </p:txBody>
      </p:sp>
      <p:sp>
        <p:nvSpPr>
          <p:cNvPr id="6" name="Answer 2"/>
          <p:cNvSpPr txBox="1"/>
          <p:nvPr/>
        </p:nvSpPr>
        <p:spPr>
          <a:xfrm>
            <a:off x="1066800" y="2965688"/>
            <a:ext cx="10058400" cy="589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The standard deviation of a sampling distribution; for x̄ it is SE = σ / √n.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7" name="Question 3"/>
          <p:cNvSpPr/>
          <p:nvPr/>
        </p:nvSpPr>
        <p:spPr>
          <a:xfrm>
            <a:off x="838200" y="369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3   </a:t>
            </a:r>
            <a:r>
              <a:rPr lang="en-US" b="1"/>
              <a:t>What is the margin of error?</a:t>
            </a:r>
            <a:endParaRPr lang="en-US" b="1" dirty="0"/>
          </a:p>
        </p:txBody>
      </p:sp>
      <p:sp>
        <p:nvSpPr>
          <p:cNvPr id="8" name="Answer 3"/>
          <p:cNvSpPr txBox="1"/>
          <p:nvPr/>
        </p:nvSpPr>
        <p:spPr>
          <a:xfrm>
            <a:off x="1066800" y="4275688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How far an estimate is expected to fall from the parameter: 2 × SE.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9" name="Question 4"/>
          <p:cNvSpPr/>
          <p:nvPr/>
        </p:nvSpPr>
        <p:spPr>
          <a:xfrm>
            <a:off x="838200" y="500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4   </a:t>
            </a:r>
            <a:r>
              <a:rPr lang="en-US" b="1"/>
              <a:t>What is a linear transformation?</a:t>
            </a:r>
            <a:endParaRPr lang="en-US" b="1" dirty="0"/>
          </a:p>
        </p:txBody>
      </p:sp>
      <p:sp>
        <p:nvSpPr>
          <p:cNvPr id="10" name="Answer 4"/>
          <p:cNvSpPr txBox="1"/>
          <p:nvPr/>
        </p:nvSpPr>
        <p:spPr>
          <a:xfrm>
            <a:off x="1066800" y="5585688"/>
            <a:ext cx="10058400" cy="589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y = ax + b: it rescales and shifts the center and spread, but never changes the shape.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66091C9-B7EB-6BBE-A602-1479CDF97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</a:t>
            </a:fld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530182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What you should know: the normal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The two parameters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x ~ N(μ, σ):  μ locates the center, σ sets the spread.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667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The empirical rule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1122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68%, 95% and 99.7% within 1, 2 and 3 standard deviations (bell-shaped only).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539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The z-score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994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z = (x − x̄) / s counts standard deviations from the mean;  |z| ≥ 2 flags an outlier.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892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Data: student heights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4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A survey of 379 college students recorded each student's height and gender.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3114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X = the height of a student, in inches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509911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n = 379 students   (the file lists the women first, then the men, each sorted by height)</a:t>
            </a:r>
          </a:p>
        </p:txBody>
      </p:sp>
      <p:graphicFrame>
        <p:nvGraphicFramePr>
          <p:cNvPr id="5" name="Data table">
            <a:extLst>
              <a:ext uri="{FF2B5EF4-FFF2-40B4-BE49-F238E27FC236}">
                <a16:creationId xmlns:a16="http://schemas.microsoft.com/office/drawing/2014/main" id="{107D57CA-D659-5E39-E6B7-B1821FDE1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807307"/>
              </p:ext>
            </p:extLst>
          </p:nvPr>
        </p:nvGraphicFramePr>
        <p:xfrm>
          <a:off x="762000" y="2838510"/>
          <a:ext cx="3810000" cy="21336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330255408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431246229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GENDER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7359791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Female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8848343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Female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21469226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Female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289354513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Female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52587576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Female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44972088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009998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5540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Statistical significance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5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Someone hands you 20 students and says they are a random sample of all 379.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it-IT" sz="2000" b="1">
                <a:solidFill>
                  <a:srgbClr val="000000"/>
                </a:solidFill>
                <a:latin typeface="Calibri" panose="020F0502020204030204" pitchFamily="34" charset="0"/>
              </a:rPr>
              <a:t>x̄ = 70.33 in        μ = 67.1 in        SE = 0.92 in</a:t>
            </a:r>
            <a:endParaRPr lang="en-US" sz="200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Is this result statistically significant?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233242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z = (70.33 − 67.1) / 0.92 ≈ 3.5:  far outside the margin of error, so yes</a:t>
            </a:r>
          </a:p>
          <a:p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Statistically significant: this was not a random sample of all students (they were all men)</a:t>
            </a:r>
          </a:p>
        </p:txBody>
      </p:sp>
    </p:spTree>
    <p:extLst>
      <p:ext uri="{BB962C8B-B14F-4D97-AF65-F5344CB8AC3E}">
        <p14:creationId xmlns:p14="http://schemas.microsoft.com/office/powerpoint/2010/main" val="901969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Why probability?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6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6719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Wednesday:  about 95% of samples land within 2 SE of μ.</a:t>
            </a:r>
          </a:p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Today:  a sample that far out would be very unlikely to happen by chance.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602379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We only ever take one sample. So what do "95%" and "unlikely" actually mean?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124111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They describe what would happen if we repeated the random sampling many, many times</a:t>
            </a:r>
          </a:p>
          <a:p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Statements about the long run of a chance process are statements of probability</a:t>
            </a:r>
            <a:endParaRPr lang="en-US" b="1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199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Quantifying uncertainty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7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randomization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we use chance on purpose - random sampling, random assignment - to avoid bias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667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the price: uncertainty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1122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by chance, the statistics from a sample are not exactly the parameters of the population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539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the payoff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994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chance-based results follow the laws of probability, so we can measure how far off we may be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384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language of probability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8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random trial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 process or experiment with well-defined possible outcomes; it is random because more than one outcome is possible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159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sample space  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614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collection of all possible outcomes: for one roll of a die, S = {1, 2, 3, 4, 5, 6}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5523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event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8978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any possible outcome of a random trial, written with a capital letter:  A = roll an even number = {2, 4, 6}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5A3025-239C-C405-C103-DC03765EFF6B}"/>
              </a:ext>
            </a:extLst>
          </p:cNvPr>
          <p:cNvSpPr txBox="1"/>
          <p:nvPr/>
        </p:nvSpPr>
        <p:spPr>
          <a:xfrm>
            <a:off x="762000" y="4388782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probability   P(A)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21A929-086F-D11F-1450-CA0E6D1E736A}"/>
              </a:ext>
            </a:extLst>
          </p:cNvPr>
          <p:cNvSpPr txBox="1"/>
          <p:nvPr/>
        </p:nvSpPr>
        <p:spPr>
          <a:xfrm>
            <a:off x="1117600" y="4734222"/>
            <a:ext cx="10312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 number between 0 and 1 that measures how likely event A is: the proportion of times A occurs in a very long series of repetitions</a:t>
            </a:r>
          </a:p>
        </p:txBody>
      </p:sp>
    </p:spTree>
    <p:extLst>
      <p:ext uri="{BB962C8B-B14F-4D97-AF65-F5344CB8AC3E}">
        <p14:creationId xmlns:p14="http://schemas.microsoft.com/office/powerpoint/2010/main" val="1868401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Equally likely outcomes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9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Roll a fair six-sided die: all six outcomes are equally likely.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P(A)  =  (number of ways A can happen) / (total number of outcomes)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6719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P(even)?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P(not a six)?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535889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pt-BR" sz="2000" b="1">
                <a:solidFill>
                  <a:srgbClr val="C00000"/>
                </a:solidFill>
                <a:latin typeface="Calibri" panose="020F0502020204030204" pitchFamily="34" charset="0"/>
              </a:rPr>
              <a:t>(a)  3 / 6 = 0.5</a:t>
            </a:r>
          </a:p>
          <a:p>
            <a:r>
              <a:rPr lang="pt-BR" sz="2000" b="1">
                <a:solidFill>
                  <a:srgbClr val="C00000"/>
                </a:solidFill>
                <a:latin typeface="Calibri" panose="020F0502020204030204" pitchFamily="34" charset="0"/>
              </a:rPr>
              <a:t>(b)  5 / 6 ≈ 0.83</a:t>
            </a:r>
            <a:endParaRPr lang="en-US" sz="2000" b="1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201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probabilities from real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10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Pick one of the 379 students from the heights data at random.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3830320"/>
            <a:ext cx="10668000" cy="6719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P(the student is at least 70 in)?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P(the student is female)?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4629299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pt-BR" sz="2000" b="1">
                <a:solidFill>
                  <a:srgbClr val="C00000"/>
                </a:solidFill>
                <a:latin typeface="Calibri" panose="020F0502020204030204" pitchFamily="34" charset="0"/>
              </a:rPr>
              <a:t>(a)  106 / 379 ≈ 0.28</a:t>
            </a:r>
          </a:p>
          <a:p>
            <a:r>
              <a:rPr lang="pt-BR" sz="2000" b="1">
                <a:solidFill>
                  <a:srgbClr val="C00000"/>
                </a:solidFill>
                <a:latin typeface="Calibri" panose="020F0502020204030204" pitchFamily="34" charset="0"/>
              </a:rPr>
              <a:t>(b)  262 / 379 ≈ 0.69</a:t>
            </a:r>
            <a:endParaRPr lang="en-US" sz="2000" b="1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5" name="Counts">
            <a:extLst>
              <a:ext uri="{FF2B5EF4-FFF2-40B4-BE49-F238E27FC236}">
                <a16:creationId xmlns:a16="http://schemas.microsoft.com/office/drawing/2014/main" id="{07CBF5BB-B19C-04AA-D608-94962C8F3B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374605"/>
              </p:ext>
            </p:extLst>
          </p:nvPr>
        </p:nvGraphicFramePr>
        <p:xfrm>
          <a:off x="762000" y="2362200"/>
          <a:ext cx="6604000" cy="1341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39026703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866161889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938379248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1669086323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endParaRPr lang="en-US" sz="1600" b="1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At least 70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Under 70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34691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262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17323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95339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379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138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539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Where do probabilities come from?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11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Flip a fair coin once. Intuition says P(heads) = 1/2.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299732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You flip it 4 times and get 3 heads: 75%. Was 1/2 wrong?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103821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No:  over a few flips the proportion is unpredictable; over many it is very predictable</a:t>
            </a:r>
          </a:p>
          <a:p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Probability:  the proportion of times an event occurs in a very long series of repetitions</a:t>
            </a:r>
            <a:endParaRPr lang="en-US" b="1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500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25F3-CA5C-D321-A12F-235D7E6C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law of large numbers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F5803-1B77-5AE0-EEB8-17B8E3F9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12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3E119-33DB-B84A-C9CB-1DA41099D1A1}"/>
              </a:ext>
            </a:extLst>
          </p:cNvPr>
          <p:cNvSpPr txBox="1"/>
          <p:nvPr/>
        </p:nvSpPr>
        <p:spPr>
          <a:xfrm>
            <a:off x="762000" y="1841500"/>
            <a:ext cx="3175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law of large numbers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7D380C-8635-8A53-300D-33D0068157E3}"/>
              </a:ext>
            </a:extLst>
          </p:cNvPr>
          <p:cNvSpPr txBox="1"/>
          <p:nvPr/>
        </p:nvSpPr>
        <p:spPr>
          <a:xfrm>
            <a:off x="4038600" y="1841499"/>
            <a:ext cx="7391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as the number of independent trials n increases, the relative frequency of an event,  (number of times A occurs) / n,  gets closer and closer to P(A)</a:t>
            </a:r>
            <a:endParaRPr lang="en-US" sz="1600" i="1">
              <a:solidFill>
                <a:srgbClr val="595959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784C6B91-DD86-0BA1-4A71-C454C38471E5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sult">
            <a:extLst>
              <a:ext uri="{FF2B5EF4-FFF2-40B4-BE49-F238E27FC236}">
                <a16:creationId xmlns:a16="http://schemas.microsoft.com/office/drawing/2014/main" id="{572E4A4A-3BD5-CF24-E6F1-9A1E4EB1A29A}"/>
              </a:ext>
            </a:extLst>
          </p:cNvPr>
          <p:cNvSpPr/>
          <p:nvPr/>
        </p:nvSpPr>
        <p:spPr>
          <a:xfrm>
            <a:off x="762000" y="5181600"/>
            <a:ext cx="10668000" cy="721578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Independent trials:  the outcome of one trial does not affect the outcome of any other</a:t>
            </a:r>
          </a:p>
          <a:p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Jacob Bernoulli proved it (published 1713); Karl Pearson tossed a coin 24,000 times: 12,012 heads = 0.5005</a:t>
            </a:r>
          </a:p>
        </p:txBody>
      </p:sp>
      <p:pic>
        <p:nvPicPr>
          <p:cNvPr id="9" name="l13_lln.png">
            <a:extLst>
              <a:ext uri="{FF2B5EF4-FFF2-40B4-BE49-F238E27FC236}">
                <a16:creationId xmlns:a16="http://schemas.microsoft.com/office/drawing/2014/main" id="{92608EA9-B24C-54D9-F2CD-F434CFD5D7D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540000"/>
            <a:ext cx="10668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45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rules of probability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13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Rule 1:   0 ≤ P(A) ≤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probability of an event must be a value between 0 and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6905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Rule 2:   </a:t>
            </a:r>
            <a:r>
              <a:rPr lang="el-GR" sz="1600">
                <a:solidFill>
                  <a:srgbClr val="000000"/>
                </a:solidFill>
              </a:rPr>
              <a:t>Σ </a:t>
            </a:r>
            <a:r>
              <a:rPr lang="en-US" sz="1600">
                <a:solidFill>
                  <a:srgbClr val="000000"/>
                </a:solidFill>
              </a:rPr>
              <a:t>P(A</a:t>
            </a:r>
            <a:r>
              <a:rPr lang="en-US" sz="1600" baseline="-25000">
                <a:solidFill>
                  <a:srgbClr val="000000"/>
                </a:solidFill>
              </a:rPr>
              <a:t>i</a:t>
            </a:r>
            <a:r>
              <a:rPr lang="en-US" sz="1600">
                <a:solidFill>
                  <a:srgbClr val="000000"/>
                </a:solidFill>
              </a:rPr>
              <a:t>) =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360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probabilities of all the outcomes in the sample space must add to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5015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Rule 3:   P(A ∪ B) = P(A) + P(B)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8470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addition rule for DISJOINT events: A and B have no outcomes in common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252B31-0A80-8297-9AB5-9AED735ACDE2}"/>
              </a:ext>
            </a:extLst>
          </p:cNvPr>
          <p:cNvSpPr txBox="1"/>
          <p:nvPr/>
        </p:nvSpPr>
        <p:spPr>
          <a:xfrm>
            <a:off x="762000" y="4312582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Rule 4:   P(A′) = 1 − P(A)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980B2D-2D53-A814-88AF-46C2FDF3E298}"/>
              </a:ext>
            </a:extLst>
          </p:cNvPr>
          <p:cNvSpPr txBox="1"/>
          <p:nvPr/>
        </p:nvSpPr>
        <p:spPr>
          <a:xfrm>
            <a:off x="1117600" y="4658022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complement rule: A′ ("A-not") is every outcome in S that is not in A</a:t>
            </a:r>
          </a:p>
        </p:txBody>
      </p:sp>
    </p:spTree>
    <p:extLst>
      <p:ext uri="{BB962C8B-B14F-4D97-AF65-F5344CB8AC3E}">
        <p14:creationId xmlns:p14="http://schemas.microsoft.com/office/powerpoint/2010/main" val="1152574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Combining two events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14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558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union   A ∪ 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523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outcomes in A or in B (or both); key word "or"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66794"/>
            <a:ext cx="558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intersection   A ∩ 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112234"/>
            <a:ext cx="523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outcomes A and B have in common; key word "and"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53988"/>
            <a:ext cx="558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disjoint (mutually exclusive)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99428"/>
            <a:ext cx="523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 and B have no outcomes in common:  A ∩ B = ∅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l14_venn.png">
            <a:extLst>
              <a:ext uri="{FF2B5EF4-FFF2-40B4-BE49-F238E27FC236}">
                <a16:creationId xmlns:a16="http://schemas.microsoft.com/office/drawing/2014/main" id="{1E0A93D8-4C96-C16F-6856-8F0AAE8656B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0" y="1879600"/>
            <a:ext cx="48260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347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Two more rules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15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general addition rule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P(A ∪ B) = P(A) + P(B) − P(A ∩ B):  subtract the overlap so it is not counted twice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667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multiplication rule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1122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if A and B are independent (one occurring does not change the probability of the other):  P(A ∩ B) = P(A) · P(B)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539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disjoint ≠ independent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994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disjoint events cannot happen together, so knowing one happened tells you the other did not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470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one die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16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Roll a fair six-sided die once.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S = {1, 2, 3, 4, 5, 6},  each outcome has probability 1/6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P(not a six)?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P(1 ∪ 6)?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What is P(even ∪ greater than 3)?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38536"/>
            <a:ext cx="10668000" cy="109805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1 − 1/6 = 5/6   (rule 4)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1/6 + 1/6 = 1/3   (rule 3: a 1 and a 6 are disjoint)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3/6 + 3/6 − 2/6 = 4/6   (the 4 and the 6 are in both)</a:t>
            </a:r>
          </a:p>
        </p:txBody>
      </p:sp>
    </p:spTree>
    <p:extLst>
      <p:ext uri="{BB962C8B-B14F-4D97-AF65-F5344CB8AC3E}">
        <p14:creationId xmlns:p14="http://schemas.microsoft.com/office/powerpoint/2010/main" val="2196554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two dice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17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Roll a fair die twice. The two rolls are independent.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P(six) = 1/6 on each roll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6719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P(six on both rolls)?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P(at least one six)?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535889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(1/6)(1/6) = 1/36   (multiplication rule)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1 − P(no sixes) = 1 − (5/6)(5/6) = 11/36 ≈ 0.31</a:t>
            </a:r>
          </a:p>
        </p:txBody>
      </p:sp>
    </p:spTree>
    <p:extLst>
      <p:ext uri="{BB962C8B-B14F-4D97-AF65-F5344CB8AC3E}">
        <p14:creationId xmlns:p14="http://schemas.microsoft.com/office/powerpoint/2010/main" val="2036242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unions and intersections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18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Pick one of the 379 students at random.   F = female,   T = at least 70 in.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3830320"/>
            <a:ext cx="10668000" cy="6719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P(F ∩ T)?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P(F ∪ T)?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4629299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pt-BR" sz="2000" b="1">
                <a:solidFill>
                  <a:srgbClr val="C00000"/>
                </a:solidFill>
                <a:latin typeface="Calibri" panose="020F0502020204030204" pitchFamily="34" charset="0"/>
              </a:rPr>
              <a:t>(a)  19 / 379 ≈ 0.05</a:t>
            </a:r>
          </a:p>
          <a:p>
            <a:r>
              <a:rPr lang="pt-BR" sz="2000" b="1">
                <a:solidFill>
                  <a:srgbClr val="C00000"/>
                </a:solidFill>
                <a:latin typeface="Calibri" panose="020F0502020204030204" pitchFamily="34" charset="0"/>
              </a:rPr>
              <a:t>(b)  262/379 + 106/379 − 19/379 = 349/379 ≈ 0.92</a:t>
            </a:r>
            <a:endParaRPr lang="en-US" sz="2000" b="1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Counts">
            <a:extLst>
              <a:ext uri="{FF2B5EF4-FFF2-40B4-BE49-F238E27FC236}">
                <a16:creationId xmlns:a16="http://schemas.microsoft.com/office/drawing/2014/main" id="{5D3AA0DC-EE8D-6D5B-C9BC-CA90569CE4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1214105"/>
              </p:ext>
            </p:extLst>
          </p:nvPr>
        </p:nvGraphicFramePr>
        <p:xfrm>
          <a:off x="762000" y="2362200"/>
          <a:ext cx="6604000" cy="1341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3104099834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91369782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1099062217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894462874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endParaRPr lang="en-US" sz="1600" b="1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At least 70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Under 70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6126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262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61525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77375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379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354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811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Are F and T independent?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19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Pick one of the 379 students at random.   F = female,   T = at least 70 in.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383032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Does knowing a student is female change the chance they are at least 70 in?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4326652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Yes:  106/379 ≈ 28% of all students, but only 19/262 ≈ 7% of the women</a:t>
            </a:r>
          </a:p>
          <a:p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Not independent:  P(F) · P(T) ≈ 0.69 · 0.28 ≈ 0.19, but P(F ∩ T) ≈ 0.05</a:t>
            </a:r>
          </a:p>
        </p:txBody>
      </p:sp>
      <p:graphicFrame>
        <p:nvGraphicFramePr>
          <p:cNvPr id="6" name="Counts">
            <a:extLst>
              <a:ext uri="{FF2B5EF4-FFF2-40B4-BE49-F238E27FC236}">
                <a16:creationId xmlns:a16="http://schemas.microsoft.com/office/drawing/2014/main" id="{E3E652B8-07C8-2399-FAC3-D867B0B4A3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418067"/>
              </p:ext>
            </p:extLst>
          </p:nvPr>
        </p:nvGraphicFramePr>
        <p:xfrm>
          <a:off x="762000" y="2362200"/>
          <a:ext cx="6604000" cy="1341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1526341136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890889597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158129116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111718388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endParaRPr lang="en-US" sz="1600" b="1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At least 70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Under 70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78465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262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05672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32896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379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153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2112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With or without replacement?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20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Week 4: drawing a sample of 3 balls from a bag of 5, two ways.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4699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Are the draws independent?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5169932"/>
            <a:ext cx="10668000" cy="721578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With replacement:  yes. The bag is the same on every draw, so P(A ∩ B) = P(A) · P(B)</a:t>
            </a:r>
          </a:p>
          <a:p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Without replacement:  no. Each draw changes what is left, so the next probability depends on the last draw</a:t>
            </a:r>
          </a:p>
        </p:txBody>
      </p:sp>
      <p:pic>
        <p:nvPicPr>
          <p:cNvPr id="6" name="l8_replacement.png">
            <a:extLst>
              <a:ext uri="{FF2B5EF4-FFF2-40B4-BE49-F238E27FC236}">
                <a16:creationId xmlns:a16="http://schemas.microsoft.com/office/drawing/2014/main" id="{C40CB252-B9F3-F1E3-8D7F-4F266824476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2336800"/>
            <a:ext cx="10922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319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drawing two aces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21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A standard deck has 52 cards, 4 of them aces. Draw two cards.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P(ace on the first draw) = 4/52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6719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P(two aces) if the first card is put back (with replacement)?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P(two aces) if it is not put back (without replacement)?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535889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(4/52)(4/52) = 1/169 ≈ 0.0059:  the draws are independent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(4/52)(3/51) = 1/221 ≈ 0.0045:  only 3 aces are left among 51 cards</a:t>
            </a:r>
          </a:p>
        </p:txBody>
      </p:sp>
    </p:spTree>
    <p:extLst>
      <p:ext uri="{BB962C8B-B14F-4D97-AF65-F5344CB8AC3E}">
        <p14:creationId xmlns:p14="http://schemas.microsoft.com/office/powerpoint/2010/main" val="654874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Random variables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22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random variable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outcome of a random trial recorded as a number, written with a capital letter such as 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667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discrete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1122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its possible values can be listed:  the number of heads in 3 tosses, X = 0, 1, 2,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539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continuous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994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it can take any value in an interval:  a student's height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727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three coin tosses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23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Toss a fair coin 3 times: 2 × 2 × 2 = 8 equally likely outcomes.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X = the number of heads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6719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List the sample space S.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How many outcomes give each value of X?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535889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S = {HHH, HHT, HTH, THH, HTT, THT, TTH, TTT}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X = 0: 1      X = 1: 3      X = 2: 3      X = 3: 1      (out of 8)</a:t>
            </a:r>
          </a:p>
        </p:txBody>
      </p:sp>
    </p:spTree>
    <p:extLst>
      <p:ext uri="{BB962C8B-B14F-4D97-AF65-F5344CB8AC3E}">
        <p14:creationId xmlns:p14="http://schemas.microsoft.com/office/powerpoint/2010/main" val="247472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25F3-CA5C-D321-A12F-235D7E6C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Discrete probability distributions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F5803-1B77-5AE0-EEB8-17B8E3F9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24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3E119-33DB-B84A-C9CB-1DA41099D1A1}"/>
              </a:ext>
            </a:extLst>
          </p:cNvPr>
          <p:cNvSpPr txBox="1"/>
          <p:nvPr/>
        </p:nvSpPr>
        <p:spPr>
          <a:xfrm>
            <a:off x="762000" y="1841500"/>
            <a:ext cx="3175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probability distribution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7D380C-8635-8A53-300D-33D0068157E3}"/>
              </a:ext>
            </a:extLst>
          </p:cNvPr>
          <p:cNvSpPr txBox="1"/>
          <p:nvPr/>
        </p:nvSpPr>
        <p:spPr>
          <a:xfrm>
            <a:off x="4038600" y="1841499"/>
            <a:ext cx="7391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a function that assigns a probability to each possible value of X; each is between 0 and 1, and they add to 1</a:t>
            </a:r>
            <a:endParaRPr lang="en-US" sz="1600" i="1">
              <a:solidFill>
                <a:srgbClr val="595959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784C6B91-DD86-0BA1-4A71-C454C38471E5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sult">
            <a:extLst>
              <a:ext uri="{FF2B5EF4-FFF2-40B4-BE49-F238E27FC236}">
                <a16:creationId xmlns:a16="http://schemas.microsoft.com/office/drawing/2014/main" id="{572E4A4A-3BD5-CF24-E6F1-9A1E4EB1A29A}"/>
              </a:ext>
            </a:extLst>
          </p:cNvPr>
          <p:cNvSpPr/>
          <p:nvPr/>
        </p:nvSpPr>
        <p:spPr>
          <a:xfrm>
            <a:off x="762000" y="5499100"/>
            <a:ext cx="10668000" cy="470595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1 + 3 + 3 + 1 = 8, so the probabilities add to 8/8 = 1</a:t>
            </a:r>
          </a:p>
        </p:txBody>
      </p:sp>
      <p:pic>
        <p:nvPicPr>
          <p:cNvPr id="9" name="l14_three_tosses.png">
            <a:extLst>
              <a:ext uri="{FF2B5EF4-FFF2-40B4-BE49-F238E27FC236}">
                <a16:creationId xmlns:a16="http://schemas.microsoft.com/office/drawing/2014/main" id="{ED984235-E4D2-1F55-779C-74ED2A684CA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0" y="2540000"/>
            <a:ext cx="7112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044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using a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25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X = the number of heads in 3 tosses of a fair coin.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nn-NO" sz="2000" b="1">
                <a:solidFill>
                  <a:srgbClr val="000000"/>
                </a:solidFill>
                <a:latin typeface="Calibri" panose="020F0502020204030204" pitchFamily="34" charset="0"/>
              </a:rPr>
              <a:t>P(0) = 1/8     P(1) = 3/8     P(2) = 3/8     P(3) = 1/8</a:t>
            </a:r>
            <a:endParaRPr lang="en-US" sz="200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P(X ≥ 2)?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P(X ≤ 1)?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What is P(1 ≤ X ≤ 2)?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38536"/>
            <a:ext cx="10668000" cy="109805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pt-BR" sz="2000" b="1">
                <a:solidFill>
                  <a:srgbClr val="C00000"/>
                </a:solidFill>
                <a:latin typeface="Calibri" panose="020F0502020204030204" pitchFamily="34" charset="0"/>
              </a:rPr>
              <a:t>(a)  3/8 + 1/8 = 4/8</a:t>
            </a:r>
          </a:p>
          <a:p>
            <a:r>
              <a:rPr lang="pt-BR" sz="2000" b="1">
                <a:solidFill>
                  <a:srgbClr val="C00000"/>
                </a:solidFill>
                <a:latin typeface="Calibri" panose="020F0502020204030204" pitchFamily="34" charset="0"/>
              </a:rPr>
              <a:t>(b)  1 − P(X ≥ 2) = 1 − 4/8 = 4/8</a:t>
            </a:r>
          </a:p>
          <a:p>
            <a:r>
              <a:rPr lang="pt-BR" sz="2000" b="1">
                <a:solidFill>
                  <a:srgbClr val="C00000"/>
                </a:solidFill>
                <a:latin typeface="Calibri" panose="020F0502020204030204" pitchFamily="34" charset="0"/>
              </a:rPr>
              <a:t>(c)  3/8 + 3/8 = 6/8</a:t>
            </a:r>
            <a:endParaRPr lang="en-US" sz="2000" b="1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630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mean of a random variable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26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expected value  </a:t>
            </a:r>
            <a:r>
              <a:rPr lang="el-GR" sz="1600">
                <a:solidFill>
                  <a:srgbClr val="000000"/>
                </a:solidFill>
              </a:rPr>
              <a:t>μ</a:t>
            </a: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long-run average of X:   μ = Σ x · P(x)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667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variance  </a:t>
            </a:r>
            <a:r>
              <a:rPr lang="el-GR" sz="1600">
                <a:solidFill>
                  <a:srgbClr val="000000"/>
                </a:solidFill>
              </a:rPr>
              <a:t>σ²</a:t>
            </a: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1122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σ² = Σ (x − μ)² · P(x),  and the standard deviation is σ = √σ²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539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three coin tosses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994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μ = 0(1/8) + 1(3/8) + 2(3/8) + 3(1/8) = 1.5 heads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705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grade points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27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A STAT 251 exam grade on the 4-point scale, for a student chosen at random: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3495040"/>
            <a:ext cx="10668000" cy="6719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P(better than a C)?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the mean grade, μ?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4294019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pt-BR" sz="2000" b="1">
                <a:solidFill>
                  <a:srgbClr val="C00000"/>
                </a:solidFill>
                <a:latin typeface="Calibri" panose="020F0502020204030204" pitchFamily="34" charset="0"/>
              </a:rPr>
              <a:t>(a)  P(X = 3) + P(X = 4) = 0.25 + 0.30 = 0.55</a:t>
            </a:r>
          </a:p>
          <a:p>
            <a:r>
              <a:rPr lang="pt-BR" sz="2000" b="1">
                <a:solidFill>
                  <a:srgbClr val="C00000"/>
                </a:solidFill>
                <a:latin typeface="Calibri" panose="020F0502020204030204" pitchFamily="34" charset="0"/>
              </a:rPr>
              <a:t>(b)  </a:t>
            </a:r>
            <a:r>
              <a:rPr lang="el-GR" sz="2000" b="1">
                <a:solidFill>
                  <a:srgbClr val="C00000"/>
                </a:solidFill>
                <a:latin typeface="Calibri" panose="020F0502020204030204" pitchFamily="34" charset="0"/>
              </a:rPr>
              <a:t>μ = 0(0.05) + 1(0.10) + 2(0.30) + 3(0.25) + 4(0.30) = 2.65</a:t>
            </a:r>
            <a:endParaRPr lang="en-US" sz="2000" b="1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Counts">
            <a:extLst>
              <a:ext uri="{FF2B5EF4-FFF2-40B4-BE49-F238E27FC236}">
                <a16:creationId xmlns:a16="http://schemas.microsoft.com/office/drawing/2014/main" id="{A994090D-E39B-DE13-66B8-AFE83B8C75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079549"/>
              </p:ext>
            </p:extLst>
          </p:nvPr>
        </p:nvGraphicFramePr>
        <p:xfrm>
          <a:off x="762000" y="2362200"/>
          <a:ext cx="7620000" cy="10058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478852249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441621307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92421866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795274109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49031644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202156313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7197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996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P(x)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0.30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546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8796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What you should know: probability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28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probability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long-run relative frequency, between 0 and 1; the law of large numbers is why it works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667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the rules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1122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P(A′) = 1 − P(A);   P(A ∪ B) = P(A) + P(B) − P(A ∩ B);   independent: P(A ∩ B) = P(A) P(B)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539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random variables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994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 discrete distribution lists the values of X and probabilities that add to 1;  μ = Σ x P(x)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282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3946</TotalTime>
  <Words>2369</Words>
  <Application>Microsoft Office PowerPoint</Application>
  <PresentationFormat>Widescreen</PresentationFormat>
  <Paragraphs>285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Lecture 14 Statistical Significance and an Introduction to Probability</vt:lpstr>
      <vt:lpstr>Review</vt:lpstr>
      <vt:lpstr>What you should know: the normal distribution</vt:lpstr>
      <vt:lpstr>Data: student heights</vt:lpstr>
      <vt:lpstr>Statistical significance</vt:lpstr>
      <vt:lpstr>Why probability?</vt:lpstr>
      <vt:lpstr>Quantifying uncertainty</vt:lpstr>
      <vt:lpstr>The language of probability</vt:lpstr>
      <vt:lpstr>Equally likely outcomes</vt:lpstr>
      <vt:lpstr>Example: probabilities from real data</vt:lpstr>
      <vt:lpstr>Where do probabilities come from?</vt:lpstr>
      <vt:lpstr>The law of large numbers</vt:lpstr>
      <vt:lpstr>The rules of probability</vt:lpstr>
      <vt:lpstr>Combining two events</vt:lpstr>
      <vt:lpstr>Two more rules</vt:lpstr>
      <vt:lpstr>Example: one die</vt:lpstr>
      <vt:lpstr>Example: two dice</vt:lpstr>
      <vt:lpstr>Example: unions and intersections</vt:lpstr>
      <vt:lpstr>Are F and T independent?</vt:lpstr>
      <vt:lpstr>With or without replacement?</vt:lpstr>
      <vt:lpstr>Example: drawing two aces</vt:lpstr>
      <vt:lpstr>Random variables</vt:lpstr>
      <vt:lpstr>Example: three coin tosses</vt:lpstr>
      <vt:lpstr>Discrete probability distributions</vt:lpstr>
      <vt:lpstr>Example: using a distribution</vt:lpstr>
      <vt:lpstr>The mean of a random variable</vt:lpstr>
      <vt:lpstr>Example: grade points</vt:lpstr>
      <vt:lpstr>What you should know: probability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Jarred Kvamme</dc:creator>
  <cp:lastModifiedBy>Jarred Kvamme</cp:lastModifiedBy>
  <cp:revision>408</cp:revision>
  <dcterms:created xsi:type="dcterms:W3CDTF">2023-08-05T23:57:41Z</dcterms:created>
  <dcterms:modified xsi:type="dcterms:W3CDTF">2026-10-02T19:16:27Z</dcterms:modified>
</cp:coreProperties>
</file>