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8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Sampling and Experimental Design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7153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5DE07-C96C-E832-C7F1-25F0114D0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Start with a question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9F8D36-133B-5964-D637-8CD31B808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6D1DC6A-B8A5-4E18-0CB8-31EA90AA1F23}"/>
              </a:ext>
            </a:extLst>
          </p:cNvPr>
          <p:cNvSpPr/>
          <p:nvPr/>
        </p:nvSpPr>
        <p:spPr>
          <a:xfrm>
            <a:off x="889000" y="2032000"/>
            <a:ext cx="10414000" cy="1905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/>
          <a:lstStyle/>
          <a:p>
            <a:pPr>
              <a:spcAft>
                <a:spcPts val="1000"/>
              </a:spcAft>
            </a:pPr>
            <a:r>
              <a:rPr lang="en-US" sz="2400" b="1">
                <a:solidFill>
                  <a:srgbClr val="000000"/>
                </a:solidFill>
              </a:rPr>
              <a:t>How many hours a week does a typical University of Idaho student spend exercising?</a:t>
            </a:r>
          </a:p>
          <a:p>
            <a:pPr>
              <a:spcAft>
                <a:spcPts val="1000"/>
              </a:spcAft>
            </a:pPr>
            <a:r>
              <a:rPr lang="en-US" sz="2000">
                <a:solidFill>
                  <a:srgbClr val="000000"/>
                </a:solidFill>
              </a:rPr>
              <a:t>We cannot ask every student. So how would you get the data?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EFD128-09B4-3718-1019-1C5B88617C89}"/>
              </a:ext>
            </a:extLst>
          </p:cNvPr>
          <p:cNvSpPr txBox="1"/>
          <p:nvPr/>
        </p:nvSpPr>
        <p:spPr>
          <a:xfrm>
            <a:off x="889000" y="4318000"/>
            <a:ext cx="10414000" cy="4064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2000" b="1" i="1">
                <a:solidFill>
                  <a:srgbClr val="C00000"/>
                </a:solidFill>
              </a:rPr>
              <a:t>Talk to your neighbor for one minute: who would you ask, and how would you choose them?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C9DE5410-C910-2CBD-4D8C-9F9E71AB475D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964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efinition card">
            <a:extLst>
              <a:ext uri="{FF2B5EF4-FFF2-40B4-BE49-F238E27FC236}">
                <a16:creationId xmlns:a16="http://schemas.microsoft.com/office/drawing/2014/main" id="{9EB7950D-5BCF-853C-6DA2-C2F0FBF806F4}"/>
              </a:ext>
            </a:extLst>
          </p:cNvPr>
          <p:cNvSpPr/>
          <p:nvPr/>
        </p:nvSpPr>
        <p:spPr>
          <a:xfrm>
            <a:off x="762000" y="470662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finition card">
            <a:extLst>
              <a:ext uri="{FF2B5EF4-FFF2-40B4-BE49-F238E27FC236}">
                <a16:creationId xmlns:a16="http://schemas.microsoft.com/office/drawing/2014/main" id="{D9030BD9-1564-B891-C3CD-54EA7E5E7D2F}"/>
              </a:ext>
            </a:extLst>
          </p:cNvPr>
          <p:cNvSpPr/>
          <p:nvPr/>
        </p:nvSpPr>
        <p:spPr>
          <a:xfrm>
            <a:off x="762000" y="375158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073BCDCE-29F2-3918-8C64-AA414AACD168}"/>
              </a:ext>
            </a:extLst>
          </p:cNvPr>
          <p:cNvSpPr/>
          <p:nvPr/>
        </p:nvSpPr>
        <p:spPr>
          <a:xfrm>
            <a:off x="762000" y="27965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ACBB1D78-BB9B-752F-74E8-9F1D84B0713A}"/>
              </a:ext>
            </a:extLst>
          </p:cNvPr>
          <p:cNvSpPr/>
          <p:nvPr/>
        </p:nvSpPr>
        <p:spPr>
          <a:xfrm>
            <a:off x="762000" y="18415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C198AA-0A64-4BF2-D56C-9743C9E24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Words we need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330973-D94B-5ABB-BB5C-AC82CE4B0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9484B2-94C8-2F6F-4B5F-0623959A2D8F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population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559C58-439A-A1CD-18E9-48B884A64C8F}"/>
              </a:ext>
            </a:extLst>
          </p:cNvPr>
          <p:cNvSpPr txBox="1"/>
          <p:nvPr/>
        </p:nvSpPr>
        <p:spPr>
          <a:xfrm>
            <a:off x="4013200" y="19430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entire group we want to learn about</a:t>
            </a:r>
          </a:p>
          <a:p>
            <a:r>
              <a:rPr lang="en-US" i="1">
                <a:solidFill>
                  <a:srgbClr val="595959"/>
                </a:solidFill>
              </a:rPr>
              <a:t>every University of Idaho student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C5C14B-B835-51A2-5C70-38814854E989}"/>
              </a:ext>
            </a:extLst>
          </p:cNvPr>
          <p:cNvSpPr txBox="1"/>
          <p:nvPr/>
        </p:nvSpPr>
        <p:spPr>
          <a:xfrm>
            <a:off x="914400" y="28981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parameter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FD0F09-7E08-C06C-AA5B-0997F8588907}"/>
              </a:ext>
            </a:extLst>
          </p:cNvPr>
          <p:cNvSpPr txBox="1"/>
          <p:nvPr/>
        </p:nvSpPr>
        <p:spPr>
          <a:xfrm>
            <a:off x="4013200" y="28981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 number that describes the population</a:t>
            </a:r>
          </a:p>
          <a:p>
            <a:r>
              <a:rPr lang="en-US" i="1">
                <a:solidFill>
                  <a:srgbClr val="595959"/>
                </a:solidFill>
              </a:rPr>
              <a:t>the mean weekly exercise hours of ALL UI students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CCACF5-17F9-790F-EDF2-E54FBB45E009}"/>
              </a:ext>
            </a:extLst>
          </p:cNvPr>
          <p:cNvSpPr txBox="1"/>
          <p:nvPr/>
        </p:nvSpPr>
        <p:spPr>
          <a:xfrm>
            <a:off x="914400" y="38531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E02330-C003-22AF-C848-127C951A45AE}"/>
              </a:ext>
            </a:extLst>
          </p:cNvPr>
          <p:cNvSpPr txBox="1"/>
          <p:nvPr/>
        </p:nvSpPr>
        <p:spPr>
          <a:xfrm>
            <a:off x="4013200" y="385317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part of the population we actually observe</a:t>
            </a:r>
          </a:p>
          <a:p>
            <a:r>
              <a:rPr lang="en-US" i="1">
                <a:solidFill>
                  <a:srgbClr val="595959"/>
                </a:solidFill>
              </a:rPr>
              <a:t>the students we end up asking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94FEA6-6794-6AFE-7C9C-B1F3C07A153E}"/>
              </a:ext>
            </a:extLst>
          </p:cNvPr>
          <p:cNvSpPr txBox="1"/>
          <p:nvPr/>
        </p:nvSpPr>
        <p:spPr>
          <a:xfrm>
            <a:off x="914400" y="480822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statistic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B3DD5A-2AAB-4F85-DBB6-E3133D466012}"/>
              </a:ext>
            </a:extLst>
          </p:cNvPr>
          <p:cNvSpPr txBox="1"/>
          <p:nvPr/>
        </p:nvSpPr>
        <p:spPr>
          <a:xfrm>
            <a:off x="4013200" y="480821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 number computed from the sample</a:t>
            </a:r>
          </a:p>
          <a:p>
            <a:r>
              <a:rPr lang="en-US" i="1">
                <a:solidFill>
                  <a:srgbClr val="595959"/>
                </a:solidFill>
              </a:rPr>
              <a:t>the mean exercise hours of the students we asked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493B898E-3252-11DA-5B78-F4344AF7770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323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efinition card">
            <a:extLst>
              <a:ext uri="{FF2B5EF4-FFF2-40B4-BE49-F238E27FC236}">
                <a16:creationId xmlns:a16="http://schemas.microsoft.com/office/drawing/2014/main" id="{0AE89CC7-7039-527A-E057-BA05621BA78B}"/>
              </a:ext>
            </a:extLst>
          </p:cNvPr>
          <p:cNvSpPr/>
          <p:nvPr/>
        </p:nvSpPr>
        <p:spPr>
          <a:xfrm>
            <a:off x="762000" y="495808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Definition card">
            <a:extLst>
              <a:ext uri="{FF2B5EF4-FFF2-40B4-BE49-F238E27FC236}">
                <a16:creationId xmlns:a16="http://schemas.microsoft.com/office/drawing/2014/main" id="{F737D945-053E-5FCB-DFAC-1F932F8B4CA0}"/>
              </a:ext>
            </a:extLst>
          </p:cNvPr>
          <p:cNvSpPr/>
          <p:nvPr/>
        </p:nvSpPr>
        <p:spPr>
          <a:xfrm>
            <a:off x="762000" y="429768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finition card">
            <a:extLst>
              <a:ext uri="{FF2B5EF4-FFF2-40B4-BE49-F238E27FC236}">
                <a16:creationId xmlns:a16="http://schemas.microsoft.com/office/drawing/2014/main" id="{F959EFF3-BA8B-3239-A31F-95426F2F0BBC}"/>
              </a:ext>
            </a:extLst>
          </p:cNvPr>
          <p:cNvSpPr/>
          <p:nvPr/>
        </p:nvSpPr>
        <p:spPr>
          <a:xfrm>
            <a:off x="762000" y="363728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A7E75E4D-F6B4-99C3-D63C-D04263E2B077}"/>
              </a:ext>
            </a:extLst>
          </p:cNvPr>
          <p:cNvSpPr/>
          <p:nvPr/>
        </p:nvSpPr>
        <p:spPr>
          <a:xfrm>
            <a:off x="762000" y="27076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D66DC33F-6AF0-66FF-3A5B-F13B65E0BF4E}"/>
              </a:ext>
            </a:extLst>
          </p:cNvPr>
          <p:cNvSpPr/>
          <p:nvPr/>
        </p:nvSpPr>
        <p:spPr>
          <a:xfrm>
            <a:off x="762000" y="17780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331934-D7B5-EBCD-45D3-875E183D9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More words we need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0179C0-AFBA-E875-CA24-F37E9D030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C46786-BED5-5D41-7CA1-D6B0D6EDEC26}"/>
              </a:ext>
            </a:extLst>
          </p:cNvPr>
          <p:cNvSpPr txBox="1"/>
          <p:nvPr/>
        </p:nvSpPr>
        <p:spPr>
          <a:xfrm>
            <a:off x="914400" y="18796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census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54CD8F-222F-6289-67E2-C5AF7163C72D}"/>
              </a:ext>
            </a:extLst>
          </p:cNvPr>
          <p:cNvSpPr txBox="1"/>
          <p:nvPr/>
        </p:nvSpPr>
        <p:spPr>
          <a:xfrm>
            <a:off x="4013200" y="18795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data collected on every member of the population</a:t>
            </a:r>
          </a:p>
          <a:p>
            <a:r>
              <a:rPr lang="en-US" i="1">
                <a:solidFill>
                  <a:srgbClr val="595959"/>
                </a:solidFill>
              </a:rPr>
              <a:t>asking all UI students - slow, expensive, often impossible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80BD42-3ACE-D47F-337B-520A2C6D4480}"/>
              </a:ext>
            </a:extLst>
          </p:cNvPr>
          <p:cNvSpPr txBox="1"/>
          <p:nvPr/>
        </p:nvSpPr>
        <p:spPr>
          <a:xfrm>
            <a:off x="914400" y="28092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sampling frame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B0B54F-6E1D-1DA6-8A19-EDB25FA89D75}"/>
              </a:ext>
            </a:extLst>
          </p:cNvPr>
          <p:cNvSpPr txBox="1"/>
          <p:nvPr/>
        </p:nvSpPr>
        <p:spPr>
          <a:xfrm>
            <a:off x="4013200" y="28092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list we actually choose the sample from</a:t>
            </a:r>
          </a:p>
          <a:p>
            <a:r>
              <a:rPr lang="en-US" i="1">
                <a:solidFill>
                  <a:srgbClr val="595959"/>
                </a:solidFill>
              </a:rPr>
              <a:t>the registrar's list of enrolled students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D62AAF-7440-DE15-D184-390EFC5CFEE5}"/>
              </a:ext>
            </a:extLst>
          </p:cNvPr>
          <p:cNvSpPr txBox="1"/>
          <p:nvPr/>
        </p:nvSpPr>
        <p:spPr>
          <a:xfrm>
            <a:off x="914400" y="37388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sampling design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55A0EC-7DF8-D3AB-9113-CB5991C53C74}"/>
              </a:ext>
            </a:extLst>
          </p:cNvPr>
          <p:cNvSpPr txBox="1"/>
          <p:nvPr/>
        </p:nvSpPr>
        <p:spPr>
          <a:xfrm>
            <a:off x="4013200" y="373888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rule we use to choose the sample from the frame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A9C9D24-C691-BEB0-1B63-E613B7574A00}"/>
              </a:ext>
            </a:extLst>
          </p:cNvPr>
          <p:cNvSpPr txBox="1"/>
          <p:nvPr/>
        </p:nvSpPr>
        <p:spPr>
          <a:xfrm>
            <a:off x="914400" y="43992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representative sample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A2DC0F-5B80-766B-316C-5D4CA4C74105}"/>
              </a:ext>
            </a:extLst>
          </p:cNvPr>
          <p:cNvSpPr txBox="1"/>
          <p:nvPr/>
        </p:nvSpPr>
        <p:spPr>
          <a:xfrm>
            <a:off x="4013200" y="439928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 sample with the same characteristics as the population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0EBE80-E528-4DF4-47EE-1CA726ACDD3E}"/>
              </a:ext>
            </a:extLst>
          </p:cNvPr>
          <p:cNvSpPr txBox="1"/>
          <p:nvPr/>
        </p:nvSpPr>
        <p:spPr>
          <a:xfrm>
            <a:off x="914400" y="50596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sampling error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C7A9C7-552C-358D-7DF3-D2AAA8140A48}"/>
              </a:ext>
            </a:extLst>
          </p:cNvPr>
          <p:cNvSpPr txBox="1"/>
          <p:nvPr/>
        </p:nvSpPr>
        <p:spPr>
          <a:xfrm>
            <a:off x="4013200" y="505968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gap between a statistic and the parameter, just from which units happened to be chosen</a:t>
            </a:r>
          </a:p>
          <a:p>
            <a:r>
              <a:rPr lang="en-US" i="1">
                <a:solidFill>
                  <a:srgbClr val="595959"/>
                </a:solidFill>
              </a:rPr>
              <a:t>a different sample would give a slightly different answer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8AAABD6F-D0B0-9DF5-6A5C-AECA74F50D0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057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  <p:bldP spid="1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CE10B-A5A2-63EE-B52D-147EC07D7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exercise at a small college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D2840-CDEC-CB28-34DA-5D9C00327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pic>
        <p:nvPicPr>
          <p:cNvPr id="6" name="l8_frame_setup.png">
            <a:extLst>
              <a:ext uri="{FF2B5EF4-FFF2-40B4-BE49-F238E27FC236}">
                <a16:creationId xmlns:a16="http://schemas.microsoft.com/office/drawing/2014/main" id="{8EF6C34B-E88E-AB27-3B89-104FADED77D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803400"/>
            <a:ext cx="5588000" cy="4572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CA7C82-CF25-2A98-147F-F755410B5E93}"/>
              </a:ext>
            </a:extLst>
          </p:cNvPr>
          <p:cNvSpPr txBox="1"/>
          <p:nvPr/>
        </p:nvSpPr>
        <p:spPr>
          <a:xfrm>
            <a:off x="6350000" y="1841499"/>
            <a:ext cx="53340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A small college has 100 students. Its health center wants to know the mean number of hours students exercised last week.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319DEE-4EFC-81DA-DAEE-E193E56E6B7F}"/>
              </a:ext>
            </a:extLst>
          </p:cNvPr>
          <p:cNvSpPr txBox="1"/>
          <p:nvPr/>
        </p:nvSpPr>
        <p:spPr>
          <a:xfrm>
            <a:off x="6350000" y="280162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What is the population, and what is the parameter?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998092-FDB2-7C78-C8E5-08A38B425AB8}"/>
              </a:ext>
            </a:extLst>
          </p:cNvPr>
          <p:cNvSpPr txBox="1"/>
          <p:nvPr/>
        </p:nvSpPr>
        <p:spPr>
          <a:xfrm>
            <a:off x="6705600" y="3096260"/>
            <a:ext cx="4978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All 100 students, and the mean exercise hours of all 100.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8A1FFE-25A0-CC9E-A5F1-01E2C4170A8F}"/>
              </a:ext>
            </a:extLst>
          </p:cNvPr>
          <p:cNvSpPr txBox="1"/>
          <p:nvPr/>
        </p:nvSpPr>
        <p:spPr>
          <a:xfrm>
            <a:off x="6350000" y="3594099"/>
            <a:ext cx="5334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The registrar's list, in the dashed box, has only 90 names. What is that list?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3E1588-D342-04CF-C33D-D07CA3C2FF9A}"/>
              </a:ext>
            </a:extLst>
          </p:cNvPr>
          <p:cNvSpPr txBox="1"/>
          <p:nvPr/>
        </p:nvSpPr>
        <p:spPr>
          <a:xfrm>
            <a:off x="6705600" y="4132579"/>
            <a:ext cx="4978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sampling frame. The 10 late enrollees are not on it, so they cannot be chosen.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A43A16-C89C-B664-7674-4E0D1F49B1CC}"/>
              </a:ext>
            </a:extLst>
          </p:cNvPr>
          <p:cNvSpPr txBox="1"/>
          <p:nvPr/>
        </p:nvSpPr>
        <p:spPr>
          <a:xfrm>
            <a:off x="6350000" y="487426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What would asking all 100 students be called?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7646F5-BC9D-9BF8-04D8-BB8A6AE9E78A}"/>
              </a:ext>
            </a:extLst>
          </p:cNvPr>
          <p:cNvSpPr txBox="1"/>
          <p:nvPr/>
        </p:nvSpPr>
        <p:spPr>
          <a:xfrm>
            <a:off x="6705600" y="5168900"/>
            <a:ext cx="4978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 census.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F2264070-ACAA-E14B-58A6-CF2DEF75D7C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455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30B8F-FC5D-01B7-493D-497BC07B8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Census, sample and sampling error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E3B44A-18EA-977F-A28F-562255F11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  <p:pic>
        <p:nvPicPr>
          <p:cNvPr id="6" name="l8_frame_example.png">
            <a:extLst>
              <a:ext uri="{FF2B5EF4-FFF2-40B4-BE49-F238E27FC236}">
                <a16:creationId xmlns:a16="http://schemas.microsoft.com/office/drawing/2014/main" id="{14DA2BCF-2446-EBAD-581C-3B42AE00D2B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803400"/>
            <a:ext cx="5588000" cy="4572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BB128E3-0644-7112-27D5-369CE94E2DC2}"/>
              </a:ext>
            </a:extLst>
          </p:cNvPr>
          <p:cNvSpPr txBox="1"/>
          <p:nvPr/>
        </p:nvSpPr>
        <p:spPr>
          <a:xfrm>
            <a:off x="6350000" y="184150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census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2FAFE3-0E03-057A-AAEC-CF2D1AFC0AD6}"/>
              </a:ext>
            </a:extLst>
          </p:cNvPr>
          <p:cNvSpPr txBox="1"/>
          <p:nvPr/>
        </p:nvSpPr>
        <p:spPr>
          <a:xfrm>
            <a:off x="6629400" y="2110739"/>
            <a:ext cx="5054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asking all 100 students gives a mean of 4.6 hours - the parameter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24C86B-2D1B-2582-5D76-3456306AB2EA}"/>
              </a:ext>
            </a:extLst>
          </p:cNvPr>
          <p:cNvSpPr txBox="1"/>
          <p:nvPr/>
        </p:nvSpPr>
        <p:spPr>
          <a:xfrm>
            <a:off x="6350000" y="282702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sample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A261F4-7AE5-BB28-48D8-D54366506747}"/>
              </a:ext>
            </a:extLst>
          </p:cNvPr>
          <p:cNvSpPr txBox="1"/>
          <p:nvPr/>
        </p:nvSpPr>
        <p:spPr>
          <a:xfrm>
            <a:off x="6629400" y="3096259"/>
            <a:ext cx="5054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an SRS of 10 from the list, in red, gives a mean of 4.4 hours - the statistic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FFE10D-F647-C5D4-8AC9-7400C51FD012}"/>
              </a:ext>
            </a:extLst>
          </p:cNvPr>
          <p:cNvSpPr txBox="1"/>
          <p:nvPr/>
        </p:nvSpPr>
        <p:spPr>
          <a:xfrm>
            <a:off x="6350000" y="381254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sampling error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92620F-17CF-813C-4423-1F1DDFEAD285}"/>
              </a:ext>
            </a:extLst>
          </p:cNvPr>
          <p:cNvSpPr txBox="1"/>
          <p:nvPr/>
        </p:nvSpPr>
        <p:spPr>
          <a:xfrm>
            <a:off x="6629400" y="4081779"/>
            <a:ext cx="5054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4.4 - 4.6 = -0.2 hours. A different random sample would give a different error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CD569389-CCFF-1946-D339-9A3F0044EBD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577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12D4B-6FED-BA69-C557-04F3285C8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find the sampling frame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F7F8CA-0442-DF5B-4586-DE36CF229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07326-1C73-FFF3-EB99-98DF71350175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Student government wants to know how students feel about a parking-fee increase. It emails a survey to 500 students picked at random from the university email directory.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7BACEE-1FB5-756D-F4A5-42C739CE244A}"/>
              </a:ext>
            </a:extLst>
          </p:cNvPr>
          <p:cNvSpPr txBox="1"/>
          <p:nvPr/>
        </p:nvSpPr>
        <p:spPr>
          <a:xfrm>
            <a:off x="1117600" y="23799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Frame: the university email directory. It lists nearly every enrolled student, so it matches the population well.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677345-3B4E-D61C-C18D-60E5F214B9FE}"/>
              </a:ext>
            </a:extLst>
          </p:cNvPr>
          <p:cNvSpPr txBox="1"/>
          <p:nvPr/>
        </p:nvSpPr>
        <p:spPr>
          <a:xfrm>
            <a:off x="762000" y="287781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A Moscow coffee shop wants its customers' opinions on a new menu. It surveys 100 people picked at random from its loyalty-app members.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277A94-99C3-1D5F-2B6F-E3B6BA071333}"/>
              </a:ext>
            </a:extLst>
          </p:cNvPr>
          <p:cNvSpPr txBox="1"/>
          <p:nvPr/>
        </p:nvSpPr>
        <p:spPr>
          <a:xfrm>
            <a:off x="1117600" y="34163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Frame: the loyalty-app member list. Customers who never joined the app cannot be chosen.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5F4B4E-255A-0F9B-25BE-BCC38DAE731A}"/>
              </a:ext>
            </a:extLst>
          </p:cNvPr>
          <p:cNvSpPr txBox="1"/>
          <p:nvPr/>
        </p:nvSpPr>
        <p:spPr>
          <a:xfrm>
            <a:off x="762000" y="39141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A city council wants residents' views on a new bike lane. It calls numbers picked at random from a printed phone directory.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F79280-4B23-98AF-70F7-E18C60EB930B}"/>
              </a:ext>
            </a:extLst>
          </p:cNvPr>
          <p:cNvSpPr txBox="1"/>
          <p:nvPr/>
        </p:nvSpPr>
        <p:spPr>
          <a:xfrm>
            <a:off x="1117600" y="42087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Frame: the phone directory. It misses everyone without a listed landline - a group that skews young.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FD20A872-BDD4-88CB-4F7C-BE698F5AF627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012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finition card">
            <a:extLst>
              <a:ext uri="{FF2B5EF4-FFF2-40B4-BE49-F238E27FC236}">
                <a16:creationId xmlns:a16="http://schemas.microsoft.com/office/drawing/2014/main" id="{822BA027-0235-478C-5C82-150703EE8A6E}"/>
              </a:ext>
            </a:extLst>
          </p:cNvPr>
          <p:cNvSpPr/>
          <p:nvPr/>
        </p:nvSpPr>
        <p:spPr>
          <a:xfrm>
            <a:off x="762000" y="24384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B01932F6-5769-10B3-5F5F-909A6C599366}"/>
              </a:ext>
            </a:extLst>
          </p:cNvPr>
          <p:cNvSpPr/>
          <p:nvPr/>
        </p:nvSpPr>
        <p:spPr>
          <a:xfrm>
            <a:off x="762000" y="17780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2EE29E-433D-E942-65E5-EA8538A43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With or without replacement?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FF5F6A-9812-0B70-C2FE-2A602F5BB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548B28-6852-AB45-446A-31BD93D057C8}"/>
              </a:ext>
            </a:extLst>
          </p:cNvPr>
          <p:cNvSpPr txBox="1"/>
          <p:nvPr/>
        </p:nvSpPr>
        <p:spPr>
          <a:xfrm>
            <a:off x="914400" y="1879600"/>
            <a:ext cx="3657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sampling without replacement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7502F5-BE88-2BB5-3E3C-95AD7490E0AD}"/>
              </a:ext>
            </a:extLst>
          </p:cNvPr>
          <p:cNvSpPr txBox="1"/>
          <p:nvPr/>
        </p:nvSpPr>
        <p:spPr>
          <a:xfrm>
            <a:off x="4648200" y="1879600"/>
            <a:ext cx="6629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 picked unit is set aside, so it can be chosen only once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AE5546-C73D-73F3-8754-05263D99C04D}"/>
              </a:ext>
            </a:extLst>
          </p:cNvPr>
          <p:cNvSpPr txBox="1"/>
          <p:nvPr/>
        </p:nvSpPr>
        <p:spPr>
          <a:xfrm>
            <a:off x="914400" y="2540000"/>
            <a:ext cx="3657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sampling with replacement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5050DA-1801-6FBB-FBC9-74AF796318EE}"/>
              </a:ext>
            </a:extLst>
          </p:cNvPr>
          <p:cNvSpPr txBox="1"/>
          <p:nvPr/>
        </p:nvSpPr>
        <p:spPr>
          <a:xfrm>
            <a:off x="4648200" y="2540000"/>
            <a:ext cx="6629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 picked unit is put back, so it could be chosen again</a:t>
            </a:r>
          </a:p>
        </p:txBody>
      </p:sp>
      <p:pic>
        <p:nvPicPr>
          <p:cNvPr id="12" name="l8_replacement.png">
            <a:extLst>
              <a:ext uri="{FF2B5EF4-FFF2-40B4-BE49-F238E27FC236}">
                <a16:creationId xmlns:a16="http://schemas.microsoft.com/office/drawing/2014/main" id="{3AEF9A0F-9E1F-768C-E68F-93D41D6B92C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3175000"/>
            <a:ext cx="10922000" cy="2286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648004A-ABBC-4ABF-9BEB-BD0C3E75AFD1}"/>
              </a:ext>
            </a:extLst>
          </p:cNvPr>
          <p:cNvSpPr txBox="1"/>
          <p:nvPr/>
        </p:nvSpPr>
        <p:spPr>
          <a:xfrm>
            <a:off x="762000" y="55625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Surveys sample without replacement. When the population is much bigger than the sample, the two give practically the same results.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57121890-CC8D-CDA4-D9F0-84EFD4FEC62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984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keptic card">
            <a:extLst>
              <a:ext uri="{FF2B5EF4-FFF2-40B4-BE49-F238E27FC236}">
                <a16:creationId xmlns:a16="http://schemas.microsoft.com/office/drawing/2014/main" id="{C15762F0-3C7A-7950-A505-001D0234D211}"/>
              </a:ext>
            </a:extLst>
          </p:cNvPr>
          <p:cNvSpPr/>
          <p:nvPr/>
        </p:nvSpPr>
        <p:spPr>
          <a:xfrm>
            <a:off x="8001000" y="45212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Skeptic card">
            <a:extLst>
              <a:ext uri="{FF2B5EF4-FFF2-40B4-BE49-F238E27FC236}">
                <a16:creationId xmlns:a16="http://schemas.microsoft.com/office/drawing/2014/main" id="{E67FC541-79BF-163D-1E8A-0F716FD43DE4}"/>
              </a:ext>
            </a:extLst>
          </p:cNvPr>
          <p:cNvSpPr/>
          <p:nvPr/>
        </p:nvSpPr>
        <p:spPr>
          <a:xfrm>
            <a:off x="4381500" y="45212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Skeptic card">
            <a:extLst>
              <a:ext uri="{FF2B5EF4-FFF2-40B4-BE49-F238E27FC236}">
                <a16:creationId xmlns:a16="http://schemas.microsoft.com/office/drawing/2014/main" id="{B2947629-5C2B-808E-93A2-46FDFE914782}"/>
              </a:ext>
            </a:extLst>
          </p:cNvPr>
          <p:cNvSpPr/>
          <p:nvPr/>
        </p:nvSpPr>
        <p:spPr>
          <a:xfrm>
            <a:off x="762000" y="45212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Skeptic card">
            <a:extLst>
              <a:ext uri="{FF2B5EF4-FFF2-40B4-BE49-F238E27FC236}">
                <a16:creationId xmlns:a16="http://schemas.microsoft.com/office/drawing/2014/main" id="{D5E277A0-2728-A339-56DD-DC6435851EE4}"/>
              </a:ext>
            </a:extLst>
          </p:cNvPr>
          <p:cNvSpPr/>
          <p:nvPr/>
        </p:nvSpPr>
        <p:spPr>
          <a:xfrm>
            <a:off x="8001000" y="31496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Skeptic card">
            <a:extLst>
              <a:ext uri="{FF2B5EF4-FFF2-40B4-BE49-F238E27FC236}">
                <a16:creationId xmlns:a16="http://schemas.microsoft.com/office/drawing/2014/main" id="{1FC31D1C-B63F-59A3-EE9F-756979BB75A7}"/>
              </a:ext>
            </a:extLst>
          </p:cNvPr>
          <p:cNvSpPr/>
          <p:nvPr/>
        </p:nvSpPr>
        <p:spPr>
          <a:xfrm>
            <a:off x="4381500" y="31496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Skeptic card">
            <a:extLst>
              <a:ext uri="{FF2B5EF4-FFF2-40B4-BE49-F238E27FC236}">
                <a16:creationId xmlns:a16="http://schemas.microsoft.com/office/drawing/2014/main" id="{91A92FA3-DCEB-8CEE-D747-6D2FD45AF23E}"/>
              </a:ext>
            </a:extLst>
          </p:cNvPr>
          <p:cNvSpPr/>
          <p:nvPr/>
        </p:nvSpPr>
        <p:spPr>
          <a:xfrm>
            <a:off x="762000" y="31496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keptic card">
            <a:extLst>
              <a:ext uri="{FF2B5EF4-FFF2-40B4-BE49-F238E27FC236}">
                <a16:creationId xmlns:a16="http://schemas.microsoft.com/office/drawing/2014/main" id="{9CEADDFA-EE95-8362-C3D0-44671E74A4D5}"/>
              </a:ext>
            </a:extLst>
          </p:cNvPr>
          <p:cNvSpPr/>
          <p:nvPr/>
        </p:nvSpPr>
        <p:spPr>
          <a:xfrm>
            <a:off x="8001000" y="17780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ptic card">
            <a:extLst>
              <a:ext uri="{FF2B5EF4-FFF2-40B4-BE49-F238E27FC236}">
                <a16:creationId xmlns:a16="http://schemas.microsoft.com/office/drawing/2014/main" id="{CE4C13E2-D744-118B-BA32-E9F8332478DF}"/>
              </a:ext>
            </a:extLst>
          </p:cNvPr>
          <p:cNvSpPr/>
          <p:nvPr/>
        </p:nvSpPr>
        <p:spPr>
          <a:xfrm>
            <a:off x="4381500" y="17780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keptic card">
            <a:extLst>
              <a:ext uri="{FF2B5EF4-FFF2-40B4-BE49-F238E27FC236}">
                <a16:creationId xmlns:a16="http://schemas.microsoft.com/office/drawing/2014/main" id="{D2759BE1-85DD-2A92-62C5-0958CCAA83B5}"/>
              </a:ext>
            </a:extLst>
          </p:cNvPr>
          <p:cNvSpPr/>
          <p:nvPr/>
        </p:nvSpPr>
        <p:spPr>
          <a:xfrm>
            <a:off x="762000" y="17780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EB7B35-64AB-11FA-342B-AEC76B6A3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Be Skeptical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D481FA-65D1-C436-D2D1-127402258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9A701A-B070-0FF0-C427-947F4678C3E3}"/>
              </a:ext>
            </a:extLst>
          </p:cNvPr>
          <p:cNvSpPr txBox="1"/>
          <p:nvPr/>
        </p:nvSpPr>
        <p:spPr>
          <a:xfrm>
            <a:off x="838200" y="18288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Problems with samples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1AFA53-B60D-18AD-91C9-FAFB8537A7C8}"/>
              </a:ext>
            </a:extLst>
          </p:cNvPr>
          <p:cNvSpPr txBox="1"/>
          <p:nvPr/>
        </p:nvSpPr>
        <p:spPr>
          <a:xfrm>
            <a:off x="838200" y="2158999"/>
            <a:ext cx="33401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Is the sample representative? A biased sample gives results that are not valid.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EB5A1B-37C5-FE59-039C-BBAC7F8CFB1B}"/>
              </a:ext>
            </a:extLst>
          </p:cNvPr>
          <p:cNvSpPr txBox="1"/>
          <p:nvPr/>
        </p:nvSpPr>
        <p:spPr>
          <a:xfrm>
            <a:off x="4457700" y="18288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Self-selected samples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833C8A-EAD6-9BC7-4DA4-417058C5DD52}"/>
              </a:ext>
            </a:extLst>
          </p:cNvPr>
          <p:cNvSpPr txBox="1"/>
          <p:nvPr/>
        </p:nvSpPr>
        <p:spPr>
          <a:xfrm>
            <a:off x="4457700" y="2158999"/>
            <a:ext cx="33401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Only people who chose to respond, as in call-in or online polls - often unreliable.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3A77DA-A375-0DC2-03A2-5BB1A083C08F}"/>
              </a:ext>
            </a:extLst>
          </p:cNvPr>
          <p:cNvSpPr txBox="1"/>
          <p:nvPr/>
        </p:nvSpPr>
        <p:spPr>
          <a:xfrm>
            <a:off x="8077200" y="18288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Sample size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58E052-5016-941E-34DD-587BB0FE1891}"/>
              </a:ext>
            </a:extLst>
          </p:cNvPr>
          <p:cNvSpPr txBox="1"/>
          <p:nvPr/>
        </p:nvSpPr>
        <p:spPr>
          <a:xfrm>
            <a:off x="8077200" y="2158999"/>
            <a:ext cx="33401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Samples that are too small may be unreliable. Larger is better when possible.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F7F8D0-A036-2888-F780-56CAB8FDC736}"/>
              </a:ext>
            </a:extLst>
          </p:cNvPr>
          <p:cNvSpPr txBox="1"/>
          <p:nvPr/>
        </p:nvSpPr>
        <p:spPr>
          <a:xfrm>
            <a:off x="838200" y="32004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Undue influence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764E9B-702B-F357-9D24-6981672FC9A7}"/>
              </a:ext>
            </a:extLst>
          </p:cNvPr>
          <p:cNvSpPr txBox="1"/>
          <p:nvPr/>
        </p:nvSpPr>
        <p:spPr>
          <a:xfrm>
            <a:off x="838200" y="3530599"/>
            <a:ext cx="33401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Were the questions asked in a way that pushes people toward an answer?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39CEEC-EB78-02E0-2D33-1CD4E68A14EC}"/>
              </a:ext>
            </a:extLst>
          </p:cNvPr>
          <p:cNvSpPr txBox="1"/>
          <p:nvPr/>
        </p:nvSpPr>
        <p:spPr>
          <a:xfrm>
            <a:off x="4457700" y="32004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Nonresponse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6D4BDEF-2C23-3504-124C-429904F962E3}"/>
              </a:ext>
            </a:extLst>
          </p:cNvPr>
          <p:cNvSpPr txBox="1"/>
          <p:nvPr/>
        </p:nvSpPr>
        <p:spPr>
          <a:xfrm>
            <a:off x="4457700" y="3530599"/>
            <a:ext cx="33401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Did many people refuse? Those who do answer may have strong opinions.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F2A39C-DA0A-B54B-4E35-99108D574B4A}"/>
              </a:ext>
            </a:extLst>
          </p:cNvPr>
          <p:cNvSpPr txBox="1"/>
          <p:nvPr/>
        </p:nvSpPr>
        <p:spPr>
          <a:xfrm>
            <a:off x="8077200" y="32004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Causality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70F9B2-8A36-CB81-422F-B1078963BAB2}"/>
              </a:ext>
            </a:extLst>
          </p:cNvPr>
          <p:cNvSpPr txBox="1"/>
          <p:nvPr/>
        </p:nvSpPr>
        <p:spPr>
          <a:xfrm>
            <a:off x="8077200" y="3530599"/>
            <a:ext cx="33401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relationship between two variables does not mean one causes the other.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B06F57-8A35-877D-EF85-CA8648CC6E9B}"/>
              </a:ext>
            </a:extLst>
          </p:cNvPr>
          <p:cNvSpPr txBox="1"/>
          <p:nvPr/>
        </p:nvSpPr>
        <p:spPr>
          <a:xfrm>
            <a:off x="838200" y="45720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Self-funded studies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753725-DFDA-BDFF-2AEA-C9CB5F1F5251}"/>
              </a:ext>
            </a:extLst>
          </p:cNvPr>
          <p:cNvSpPr txBox="1"/>
          <p:nvPr/>
        </p:nvSpPr>
        <p:spPr>
          <a:xfrm>
            <a:off x="838200" y="4902199"/>
            <a:ext cx="33401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Who paid for it, and why? Read it critically - but judge it on its merits.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CCA85C1-D579-180F-E534-CAE5A2D29137}"/>
              </a:ext>
            </a:extLst>
          </p:cNvPr>
          <p:cNvSpPr txBox="1"/>
          <p:nvPr/>
        </p:nvSpPr>
        <p:spPr>
          <a:xfrm>
            <a:off x="4457700" y="45720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Misleading use of data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0A22F7-253C-9655-186E-27A2D324A56E}"/>
              </a:ext>
            </a:extLst>
          </p:cNvPr>
          <p:cNvSpPr txBox="1"/>
          <p:nvPr/>
        </p:nvSpPr>
        <p:spPr>
          <a:xfrm>
            <a:off x="4457700" y="4902199"/>
            <a:ext cx="33401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Watch for badly displayed graphs, incomplete data, or missing context.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6E3535-CDC7-D16F-9AE1-D1AC7D1A3B97}"/>
              </a:ext>
            </a:extLst>
          </p:cNvPr>
          <p:cNvSpPr txBox="1"/>
          <p:nvPr/>
        </p:nvSpPr>
        <p:spPr>
          <a:xfrm>
            <a:off x="8077200" y="45720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Confounding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A025D9B-EB76-8D0B-283E-BDD79CD2AC6A}"/>
              </a:ext>
            </a:extLst>
          </p:cNvPr>
          <p:cNvSpPr txBox="1"/>
          <p:nvPr/>
        </p:nvSpPr>
        <p:spPr>
          <a:xfrm>
            <a:off x="8077200" y="4902199"/>
            <a:ext cx="33401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 effects of several factors on the response cannot be separated.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0F8CA23-9884-7EE2-66E3-86983BB125E8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Introductory Statistics 2e (OpenStax), Section 1.2, Critical Evaluation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63168BF7-86E6-5AC0-9B83-AF9B297A19BA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949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4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5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5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5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5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5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6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6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6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6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7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7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7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  <p:bldP spid="18" grpId="0"/>
      <p:bldP spid="21" grpId="0"/>
      <p:bldP spid="24" grpId="0"/>
      <p:bldP spid="27" grpId="0"/>
      <p:bldP spid="3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FE244-AE9A-0AA6-A69E-722F9CD6E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Misleading graphs: OxyContin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843A24-93D4-510C-94E6-FF211CC2B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pic>
        <p:nvPicPr>
          <p:cNvPr id="6" name="l8_oxycontin_axes.png">
            <a:extLst>
              <a:ext uri="{FF2B5EF4-FFF2-40B4-BE49-F238E27FC236}">
                <a16:creationId xmlns:a16="http://schemas.microsoft.com/office/drawing/2014/main" id="{6348B2C9-2C45-C59A-23C5-F0A5EE731B1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841500"/>
            <a:ext cx="5715000" cy="4064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5E3A60A-76A0-4079-F32C-FE87112721F3}"/>
              </a:ext>
            </a:extLst>
          </p:cNvPr>
          <p:cNvSpPr txBox="1"/>
          <p:nvPr/>
        </p:nvSpPr>
        <p:spPr>
          <a:xfrm>
            <a:off x="6477000" y="1841499"/>
            <a:ext cx="52070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Purdue promoted OxyContin, a 12-hour opioid, with a chart promising “fewer peaks and valleys” in blood levels - drawn on a logarithmic y-axis.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C138E8-12EF-2A37-CE5E-F79236423465}"/>
              </a:ext>
            </a:extLst>
          </p:cNvPr>
          <p:cNvSpPr txBox="1"/>
          <p:nvPr/>
        </p:nvSpPr>
        <p:spPr>
          <a:xfrm>
            <a:off x="6477000" y="2801619"/>
            <a:ext cx="5207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Top: log axis. Bottom: the same curve on a linear axis. Which makes the drop look gentle?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87A619-43FE-F297-6CCE-C0DD07ED259A}"/>
              </a:ext>
            </a:extLst>
          </p:cNvPr>
          <p:cNvSpPr txBox="1"/>
          <p:nvPr/>
        </p:nvSpPr>
        <p:spPr>
          <a:xfrm>
            <a:off x="6832600" y="3340099"/>
            <a:ext cx="4851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log axis. On the linear axis the level falls from 10.6 to 3.2 ng/mL - about 70% in 12 hours.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C71701-EED9-BD9A-7100-0637F7115208}"/>
              </a:ext>
            </a:extLst>
          </p:cNvPr>
          <p:cNvSpPr txBox="1"/>
          <p:nvPr/>
        </p:nvSpPr>
        <p:spPr>
          <a:xfrm>
            <a:off x="6477000" y="4107179"/>
            <a:ext cx="52070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In 2007 a Purdue company pleaded guilty to misbranding OxyContin, including sales graphs that exaggerated blood-level differences.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C07E39-4134-2AF9-D7D2-26FF619CE484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Illustrative curve from FDA label values. Sources: U.S. Attorney, W.D. Va. (2007); CBS News (2011)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4AA7FA79-D415-9388-317A-68205E1B7F3D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512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82D00-54F2-E35A-B69A-ED7A752EC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Should we believe the graph?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9AEB17-DE2A-1F6E-B2A3-D47969AD9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11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AA0452-3DD8-B84C-EE09-3AFA30BD34B8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ExxonMobil says its emissions are going down. Its 2024 Advancing Climate Solutions report charts a roadmap for cutting its emissions intensity (emissions per unit produced) - bars that shrink, with no numbers on the y-axis.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ABD42A-2BF1-FB6D-9A93-D3EB96E0AEEA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What can you conclude from bars that shrink but have no numbers?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854CAF-0FF7-C15E-50BA-9396A7A6729D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Only that some cut is planned - not how big it is, or how much rests on “CCS, hydrogen, and/or future advancements.”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25342C-A469-CC96-40BE-FF35BF294515}"/>
              </a:ext>
            </a:extLst>
          </p:cNvPr>
          <p:cNvSpPr txBox="1"/>
          <p:nvPr/>
        </p:nvSpPr>
        <p:spPr>
          <a:xfrm>
            <a:off x="762000" y="335025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Exxon's own table: intensity fell from 26.4 to 23.3 tonnes per 100 tonnes produced (2016 to 2023). Did its total emissions fall?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CEEC71-4CAF-147F-41B8-3F02F28A95A1}"/>
              </a:ext>
            </a:extLst>
          </p:cNvPr>
          <p:cNvSpPr txBox="1"/>
          <p:nvPr/>
        </p:nvSpPr>
        <p:spPr>
          <a:xfrm>
            <a:off x="1117600" y="388873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Intensity alone cannot tell you - if output grows, totals can rise. Here the totals did fall: its operations went from 117 to 98 million tonnes.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6104B4-4AFF-97FB-AC02-61DB550CB7B6}"/>
              </a:ext>
            </a:extLst>
          </p:cNvPr>
          <p:cNvSpPr txBox="1"/>
          <p:nvPr/>
        </p:nvSpPr>
        <p:spPr>
          <a:xfrm>
            <a:off x="762000" y="46304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What do those numbers leave out?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F084BE-A76E-7CE1-9B3E-C681198ECAB4}"/>
              </a:ext>
            </a:extLst>
          </p:cNvPr>
          <p:cNvSpPr txBox="1"/>
          <p:nvPr/>
        </p:nvSpPr>
        <p:spPr>
          <a:xfrm>
            <a:off x="1117600" y="492505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Emissions from burning the oil and gas Exxon produces: about 540 million tonnes in 2023, roughly 85% of its footprint, with no target.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B98429-44FD-2BA7-768D-48CF37200DB1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ExxonMobil, 2024 Advancing Climate Solutions; Union of Concerned Scientists (2024)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DA8E16B1-F57D-2F46-AD92-78CBD2B179F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488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finition card">
            <a:extLst>
              <a:ext uri="{FF2B5EF4-FFF2-40B4-BE49-F238E27FC236}">
                <a16:creationId xmlns:a16="http://schemas.microsoft.com/office/drawing/2014/main" id="{1CC87D29-6BDB-87CC-1C74-0814B2F33E3C}"/>
              </a:ext>
            </a:extLst>
          </p:cNvPr>
          <p:cNvSpPr/>
          <p:nvPr/>
        </p:nvSpPr>
        <p:spPr>
          <a:xfrm>
            <a:off x="762000" y="307086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9827A313-B8E7-1D23-27FA-37D7BC06EC78}"/>
              </a:ext>
            </a:extLst>
          </p:cNvPr>
          <p:cNvSpPr/>
          <p:nvPr/>
        </p:nvSpPr>
        <p:spPr>
          <a:xfrm>
            <a:off x="762000" y="184150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4D4F41-F41C-8935-C82D-DB922E079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Two easy ways to get a sample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3B6D11-64E8-C0E0-D2F6-55D66215F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9FDBA1-62CB-8F7E-F186-CC64E3D866A7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convenience sample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4A131-A2DA-92B9-BB82-D286A700E031}"/>
              </a:ext>
            </a:extLst>
          </p:cNvPr>
          <p:cNvSpPr txBox="1"/>
          <p:nvPr/>
        </p:nvSpPr>
        <p:spPr>
          <a:xfrm>
            <a:off x="4013200" y="194310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ask whoever is easiest to reach</a:t>
            </a:r>
          </a:p>
          <a:p>
            <a:r>
              <a:rPr lang="en-US" i="1">
                <a:solidFill>
                  <a:srgbClr val="595959"/>
                </a:solidFill>
              </a:rPr>
              <a:t>stand outside the Student Recreation Center and ask the first 50 people who walk by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C1065F-C222-53E3-3D47-DA927E34768F}"/>
              </a:ext>
            </a:extLst>
          </p:cNvPr>
          <p:cNvSpPr txBox="1"/>
          <p:nvPr/>
        </p:nvSpPr>
        <p:spPr>
          <a:xfrm>
            <a:off x="914400" y="317246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voluntary response sample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ADB585-D2FF-BD2B-AA65-D4D6E56279CB}"/>
              </a:ext>
            </a:extLst>
          </p:cNvPr>
          <p:cNvSpPr txBox="1"/>
          <p:nvPr/>
        </p:nvSpPr>
        <p:spPr>
          <a:xfrm>
            <a:off x="4013200" y="317246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put out a call and let people choose whether to answer (the textbook calls these self-selected samples)</a:t>
            </a:r>
          </a:p>
          <a:p>
            <a:r>
              <a:rPr lang="en-US" i="1">
                <a:solidFill>
                  <a:srgbClr val="595959"/>
                </a:solidFill>
              </a:rPr>
              <a:t>post a poll on a UI student Instagram account and count the replies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76987A-E2D1-A64E-5588-AA87D4DB88F4}"/>
              </a:ext>
            </a:extLst>
          </p:cNvPr>
          <p:cNvSpPr txBox="1"/>
          <p:nvPr/>
        </p:nvSpPr>
        <p:spPr>
          <a:xfrm>
            <a:off x="762000" y="4452620"/>
            <a:ext cx="10668000" cy="4064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2000" b="1">
                <a:solidFill>
                  <a:srgbClr val="1F3864"/>
                </a:solidFill>
              </a:rPr>
              <a:t>Both are quick, cheap and easy. So what is the problem?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9026192B-187D-328E-883E-18BD735E643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2686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73A7B-9955-5330-04D2-EFD674229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could go wrong?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3E5520-5EC6-2BC9-8D3A-4D6F5B97A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7351EC-F8B3-121B-C544-465D1CC84002}"/>
              </a:ext>
            </a:extLst>
          </p:cNvPr>
          <p:cNvSpPr txBox="1"/>
          <p:nvPr/>
        </p:nvSpPr>
        <p:spPr>
          <a:xfrm>
            <a:off x="762000" y="17780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For each story: is it a convenience sample or a voluntary response sample? What could go wrong?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C363C5-0BA0-1A58-5995-0602A783D948}"/>
              </a:ext>
            </a:extLst>
          </p:cNvPr>
          <p:cNvSpPr txBox="1"/>
          <p:nvPr/>
        </p:nvSpPr>
        <p:spPr>
          <a:xfrm>
            <a:off x="762000" y="225043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A nutrition club wants to know how many servings of vegetables UI students eat a day. Members ask the first 60 students who walk out of the campus dining hall at lunch.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EBB58-8D83-19A7-5C62-CBC495619FEC}"/>
              </a:ext>
            </a:extLst>
          </p:cNvPr>
          <p:cNvSpPr txBox="1"/>
          <p:nvPr/>
        </p:nvSpPr>
        <p:spPr>
          <a:xfrm>
            <a:off x="1117600" y="278891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Convenience sample. Only lunchtime dining-hall eaters can be chosen - off-campus students and students who cook for themselves are missed.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8D82AB-5491-0EA0-F1A1-CE9F22FD3F4A}"/>
              </a:ext>
            </a:extLst>
          </p:cNvPr>
          <p:cNvSpPr txBox="1"/>
          <p:nvPr/>
        </p:nvSpPr>
        <p:spPr>
          <a:xfrm>
            <a:off x="762000" y="35305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The campus paper wants to know whether students favor moving 8 a.m. classes later. It posts a Vote now! link on social media: 1,200 students vote and 85% say yes.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9ABA3D-4CF1-2D0C-34C6-DF44AF25C18E}"/>
              </a:ext>
            </a:extLst>
          </p:cNvPr>
          <p:cNvSpPr txBox="1"/>
          <p:nvPr/>
        </p:nvSpPr>
        <p:spPr>
          <a:xfrm>
            <a:off x="1117600" y="406907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Voluntary response sample. Students who dread 8 a.m. classes are the most eager to vote, so 85% likely overstates support.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A4201A-BFDC-42E3-31E6-8FB73A74044F}"/>
              </a:ext>
            </a:extLst>
          </p:cNvPr>
          <p:cNvSpPr txBox="1"/>
          <p:nvPr/>
        </p:nvSpPr>
        <p:spPr>
          <a:xfrm>
            <a:off x="762000" y="481075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A professor wants to know how many hours a week the 300 students in her lecture study. She asks the 25 students who come to her office hours that week.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65F123-D252-E4F7-9D11-D43D52CC2BBE}"/>
              </a:ext>
            </a:extLst>
          </p:cNvPr>
          <p:cNvSpPr txBox="1"/>
          <p:nvPr/>
        </p:nvSpPr>
        <p:spPr>
          <a:xfrm>
            <a:off x="1117600" y="534923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Convenience sample - just whoever was there. Students who come to office hours probably study more than the class as a whole.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A3EEE277-B5EB-783B-059D-F3270C6F13C2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576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4330C-D73F-ECC1-9E4B-5837582F9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17.5 million votes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9DF78B-C542-CC42-EFA0-C9FD6CF8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EA9C63-F815-8879-A8D2-4817F0DC5B4F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On December 18, 2022, Elon Musk posted a poll: “Should I step down as head of Twitter? I will abide by the results of this poll.” In 12 hours it drew more than 17.5 million votes, and 57.5% said yes.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18BB6A-7280-2489-7BBF-4B4A1B152B08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Who could vote in this poll?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3C3DB6-BA3D-47E3-11C9-F9FD589000FA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Anyone who saw the post and chose to vote - mostly Musk's own followers. Nothing stopped fake accounts from voting.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099679-CBE2-C437-A062-809E0A113EF6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What kind of sample is this?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CC5620-4428-8CB7-FAC5-F19F23F2B53F}"/>
              </a:ext>
            </a:extLst>
          </p:cNvPr>
          <p:cNvSpPr txBox="1"/>
          <p:nvPr/>
        </p:nvSpPr>
        <p:spPr>
          <a:xfrm>
            <a:off x="1117600" y="36449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 voluntary response sample.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A5F075-72A8-ECE8-A9E3-498A1FD47AD6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So does 57.5% tell us what Twitter users - or anyone else - think?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38CF07-D6A9-6A95-E1B8-EFFE8390737A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No. 17.5 million self-selected votes describe only the people who chose to vote. Size does not fix that.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EBA736-C9E2-517B-A022-031D0160C2A8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NBC News; Associated Press (December 19, 2022)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EB1FFB42-C18C-0F6A-EE53-9AAED0EE154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890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ADF5C-4CD4-F4B3-ED68-D1F72E5E2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Online opt-in polls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1D1D8B-2558-678D-B25C-FB65D07C0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533647-AFA0-B2F0-2944-D4C769F3794E}"/>
              </a:ext>
            </a:extLst>
          </p:cNvPr>
          <p:cNvSpPr txBox="1"/>
          <p:nvPr/>
        </p:nvSpPr>
        <p:spPr>
          <a:xfrm>
            <a:off x="762000" y="18415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Many online polls use opt-in panels: anyone can sign up to take surveys, and they are paid for each one they finish.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E7B68A-2D8F-4AEC-8318-9F449349365C}"/>
              </a:ext>
            </a:extLst>
          </p:cNvPr>
          <p:cNvSpPr txBox="1"/>
          <p:nvPr/>
        </p:nvSpPr>
        <p:spPr>
          <a:xfrm>
            <a:off x="762000" y="23139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In opt-in polls, what percent of adults under 30 said they were licensed to operate a nuclear submarine?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AC4A32-B807-C6C8-D4B6-3F329C2F7030}"/>
              </a:ext>
            </a:extLst>
          </p:cNvPr>
          <p:cNvSpPr txBox="1"/>
          <p:nvPr/>
        </p:nvSpPr>
        <p:spPr>
          <a:xfrm>
            <a:off x="1117600" y="26085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12% - and 24% of Hispanic respondents. Almost nobody is licensed to operate a nuclear submarine.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0C90DD-4671-858E-A0D1-DF20A8605998}"/>
              </a:ext>
            </a:extLst>
          </p:cNvPr>
          <p:cNvSpPr txBox="1"/>
          <p:nvPr/>
        </p:nvSpPr>
        <p:spPr>
          <a:xfrm>
            <a:off x="762000" y="310641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An opt-in poll found 20% of adults under 30 agreed that the Holocaust is a myth. Pew asked the same question of a random sample. What did it find?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B17160-A2AE-AF3F-5EF0-DB0721CBDC5C}"/>
              </a:ext>
            </a:extLst>
          </p:cNvPr>
          <p:cNvSpPr txBox="1"/>
          <p:nvPr/>
        </p:nvSpPr>
        <p:spPr>
          <a:xfrm>
            <a:off x="1117600" y="36449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3%. Bogus and careless respondents answering for the money made most of the 20%.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F775E9-1E81-130B-522B-F9E2FAC57DEB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Why does this matter for how we read headlines about young people?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820A43-5A75-D994-BD80-2B4207EB5E03}"/>
              </a:ext>
            </a:extLst>
          </p:cNvPr>
          <p:cNvSpPr txBox="1"/>
          <p:nvPr/>
        </p:nvSpPr>
        <p:spPr>
          <a:xfrm>
            <a:off x="1117600" y="443737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Opt-in panels are voluntary response samples. A shocking number about a subgroup may be about who signed up, not what people think.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641A6-9CA7-A031-8770-C049AE3F8EEE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Mercer, Kennedy and Keeter (2024), Pew Research Center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8A8B87BA-85A3-9710-8823-CAD95A183972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884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2DF13-D712-987A-9E48-E84C50F00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Estimates are shots at a target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B78481-D119-BB12-FB42-AF8A00276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16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BAA51F-B9A0-3D9C-865A-93D0F8CA87AA}"/>
              </a:ext>
            </a:extLst>
          </p:cNvPr>
          <p:cNvSpPr txBox="1"/>
          <p:nvPr/>
        </p:nvSpPr>
        <p:spPr>
          <a:xfrm>
            <a:off x="571500" y="1841499"/>
            <a:ext cx="558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 bullseye is the parameter. Each shot is the estimate from one sample - take a new sample, take a new shot.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98DFC0-0E27-8C48-ED13-C44DCC9E84CF}"/>
              </a:ext>
            </a:extLst>
          </p:cNvPr>
          <p:cNvSpPr txBox="1"/>
          <p:nvPr/>
        </p:nvSpPr>
        <p:spPr>
          <a:xfrm>
            <a:off x="571500" y="2532380"/>
            <a:ext cx="558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bias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53984B-7C6F-20B3-CDA3-0CB744A36AF9}"/>
              </a:ext>
            </a:extLst>
          </p:cNvPr>
          <p:cNvSpPr txBox="1"/>
          <p:nvPr/>
        </p:nvSpPr>
        <p:spPr>
          <a:xfrm>
            <a:off x="850900" y="2801619"/>
            <a:ext cx="5308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 shots are centered off the bullseye, missing in the same direction every time: an ACCURACY problem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44BC6F-5B04-82A2-D461-17C39E75D7E9}"/>
              </a:ext>
            </a:extLst>
          </p:cNvPr>
          <p:cNvSpPr txBox="1"/>
          <p:nvPr/>
        </p:nvSpPr>
        <p:spPr>
          <a:xfrm>
            <a:off x="571500" y="3543300"/>
            <a:ext cx="558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standard error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6E2E8A-7348-B64C-C0DB-3C5B60978AA7}"/>
              </a:ext>
            </a:extLst>
          </p:cNvPr>
          <p:cNvSpPr txBox="1"/>
          <p:nvPr/>
        </p:nvSpPr>
        <p:spPr>
          <a:xfrm>
            <a:off x="850900" y="3812539"/>
            <a:ext cx="5308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how spread out the shots are from one sample to the next: a PRECISION problem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C5DF51-6230-6B51-047F-E0AF7363CDA2}"/>
              </a:ext>
            </a:extLst>
          </p:cNvPr>
          <p:cNvSpPr txBox="1"/>
          <p:nvPr/>
        </p:nvSpPr>
        <p:spPr>
          <a:xfrm>
            <a:off x="571500" y="4579619"/>
            <a:ext cx="558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Convenience and voluntary response samples are biased: they miss the bullseye however carefully we aim.</a:t>
            </a:r>
          </a:p>
        </p:txBody>
      </p:sp>
      <p:pic>
        <p:nvPicPr>
          <p:cNvPr id="12" name="l8_bullseye.png">
            <a:extLst>
              <a:ext uri="{FF2B5EF4-FFF2-40B4-BE49-F238E27FC236}">
                <a16:creationId xmlns:a16="http://schemas.microsoft.com/office/drawing/2014/main" id="{80849495-3CEB-A3CE-F91D-46A0F1098FB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0" y="1803400"/>
            <a:ext cx="5588000" cy="4572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0BA3105B-4F51-188E-0776-DA7BE17DB666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73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E6F3B-5AA8-FA32-FA36-F76E403F6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 bigger sample does not fix bias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33985D-720F-E661-4B98-2B2B699C47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905000"/>
            <a:ext cx="4445000" cy="4191000"/>
          </a:xfrm>
        </p:spPr>
        <p:txBody>
          <a:bodyPr>
            <a:noAutofit/>
          </a:bodyPr>
          <a:lstStyle/>
          <a:p>
            <a:r>
              <a:rPr lang="en-US" sz="1600"/>
              <a:t>Suppose 40% of UI students exercise at least three times a week</a:t>
            </a:r>
          </a:p>
          <a:p>
            <a:r>
              <a:rPr lang="en-US" sz="1600"/>
              <a:t>Blue: 5000 simple random samples of 200 students</a:t>
            </a:r>
          </a:p>
          <a:p>
            <a:r>
              <a:rPr lang="en-US" sz="1600"/>
              <a:t>Grey: 5000 Rec Center surveys of 2000 students</a:t>
            </a:r>
          </a:p>
          <a:p>
            <a:r>
              <a:rPr lang="en-US" sz="1600"/>
              <a:t>The Rec Center survey is more </a:t>
            </a:r>
            <a:r>
              <a:rPr lang="en-US" sz="1600" b="1">
                <a:solidFill>
                  <a:srgbClr val="C00000"/>
                </a:solidFill>
              </a:rPr>
              <a:t>precise</a:t>
            </a:r>
            <a:r>
              <a:rPr lang="en-US" sz="1600"/>
              <a:t> - a smaller standard error</a:t>
            </a:r>
          </a:p>
          <a:p>
            <a:r>
              <a:rPr lang="en-US" sz="1600"/>
              <a:t>and every one of its estimates misses the truth: </a:t>
            </a:r>
            <a:r>
              <a:rPr lang="en-US" sz="1600" b="1">
                <a:solidFill>
                  <a:srgbClr val="C00000"/>
                </a:solidFill>
              </a:rPr>
              <a:t>bias</a:t>
            </a:r>
          </a:p>
          <a:p>
            <a:r>
              <a:rPr lang="en-US" sz="1600"/>
              <a:t>More data buys precision. Only a </a:t>
            </a:r>
            <a:r>
              <a:rPr lang="en-US" sz="1600" b="1">
                <a:solidFill>
                  <a:srgbClr val="C00000"/>
                </a:solidFill>
              </a:rPr>
              <a:t>better design</a:t>
            </a:r>
            <a:r>
              <a:rPr lang="en-US" sz="1600"/>
              <a:t> buys accuracy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124190-EDC9-111D-36F7-A4650D75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17</a:t>
            </a:fld>
            <a:endParaRPr lang="en-US" sz="1600"/>
          </a:p>
        </p:txBody>
      </p:sp>
      <p:pic>
        <p:nvPicPr>
          <p:cNvPr id="6" name="l8_bias_vs_n.png">
            <a:extLst>
              <a:ext uri="{FF2B5EF4-FFF2-40B4-BE49-F238E27FC236}">
                <a16:creationId xmlns:a16="http://schemas.microsoft.com/office/drawing/2014/main" id="{234C5C45-6EA8-A3FB-1854-ABE44697922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3500" y="1905000"/>
            <a:ext cx="6858000" cy="4191000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5E062A62-2B36-42B5-267B-199202BCA92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0233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CCD1B-7324-B85B-56B8-EC09F30C9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fix: let chance choose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7A180E-3236-3B36-2822-CF77E52A0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63433-8EDC-91AA-9FD4-D109D95097E7}"/>
              </a:ext>
            </a:extLst>
          </p:cNvPr>
          <p:cNvSpPr txBox="1"/>
          <p:nvPr/>
        </p:nvSpPr>
        <p:spPr>
          <a:xfrm>
            <a:off x="762000" y="1905000"/>
            <a:ext cx="10668000" cy="7112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2000" b="1">
                <a:solidFill>
                  <a:srgbClr val="1F3864"/>
                </a:solidFill>
              </a:rPr>
              <a:t>Convenience and voluntary response samples go wrong because a person decides who gets in. Take the person out of it.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664C31-E87D-6FDA-5604-D7248672D33B}"/>
              </a:ext>
            </a:extLst>
          </p:cNvPr>
          <p:cNvSpPr txBox="1"/>
          <p:nvPr/>
        </p:nvSpPr>
        <p:spPr>
          <a:xfrm>
            <a:off x="762000" y="2794000"/>
            <a:ext cx="2921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 sampling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627FA5-F3BE-EB07-6F56-0ABF15375573}"/>
              </a:ext>
            </a:extLst>
          </p:cNvPr>
          <p:cNvSpPr txBox="1"/>
          <p:nvPr/>
        </p:nvSpPr>
        <p:spPr>
          <a:xfrm>
            <a:off x="3784600" y="2793999"/>
            <a:ext cx="7645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using chance to choose the sample, so neither the researcher nor the respondents decide who is in 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5E3765-9D45-5E9E-78E9-A5E2BD9FDB99}"/>
              </a:ext>
            </a:extLst>
          </p:cNvPr>
          <p:cNvSpPr txBox="1"/>
          <p:nvPr/>
        </p:nvSpPr>
        <p:spPr>
          <a:xfrm>
            <a:off x="1016000" y="3586480"/>
            <a:ext cx="1041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No person is doing the choosing, so the selection cannot systematically favor anyone - no bias from the selection itself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BA834D-351E-EDB6-A2BF-28F7E042450F}"/>
              </a:ext>
            </a:extLst>
          </p:cNvPr>
          <p:cNvSpPr txBox="1"/>
          <p:nvPr/>
        </p:nvSpPr>
        <p:spPr>
          <a:xfrm>
            <a:off x="1016000" y="4033519"/>
            <a:ext cx="10414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Chance still moves the estimate from sample to sample, but by rules we understand - so we can measure it. That is the standard error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8F94673C-6BA5-BCCA-5900-AF632B9CA54A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46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92D35-A207-B49C-40B5-06D1D8D1B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Simple random sample (SRS)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EBB036-B20C-A56C-9B0C-09F1885A2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30E433-7302-7316-864D-8389988CA7CF}"/>
              </a:ext>
            </a:extLst>
          </p:cNvPr>
          <p:cNvSpPr txBox="1"/>
          <p:nvPr/>
        </p:nvSpPr>
        <p:spPr>
          <a:xfrm>
            <a:off x="571500" y="1905000"/>
            <a:ext cx="6096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simple random sample (SRS)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9F30AE-82C6-58E5-4188-969E26EA842D}"/>
              </a:ext>
            </a:extLst>
          </p:cNvPr>
          <p:cNvSpPr txBox="1"/>
          <p:nvPr/>
        </p:nvSpPr>
        <p:spPr>
          <a:xfrm>
            <a:off x="850900" y="2174239"/>
            <a:ext cx="5816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every possible group of n units has the same chance of being the sample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B876BE-5B55-E9DD-6D54-02E2EBCFCD3C}"/>
              </a:ext>
            </a:extLst>
          </p:cNvPr>
          <p:cNvSpPr txBox="1"/>
          <p:nvPr/>
        </p:nvSpPr>
        <p:spPr>
          <a:xfrm>
            <a:off x="571500" y="2966719"/>
            <a:ext cx="6096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Here N = 100 students and n = 20, so each student has a 20/100 = 1 in 5 chance of being chosen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D5C39A-6C50-5A64-9AC5-11F4001DF8AD}"/>
              </a:ext>
            </a:extLst>
          </p:cNvPr>
          <p:cNvSpPr txBox="1"/>
          <p:nvPr/>
        </p:nvSpPr>
        <p:spPr>
          <a:xfrm>
            <a:off x="571500" y="3682999"/>
            <a:ext cx="6096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This SRS happened to draw 4 seniors but only 2 juniors. An SRS is </a:t>
            </a:r>
            <a:r>
              <a:rPr lang="en-US" sz="1600" b="1">
                <a:solidFill>
                  <a:srgbClr val="C00000"/>
                </a:solidFill>
              </a:rPr>
              <a:t>fair on average</a:t>
            </a:r>
            <a:r>
              <a:rPr lang="en-US" sz="1600">
                <a:solidFill>
                  <a:srgbClr val="000000"/>
                </a:solidFill>
              </a:rPr>
              <a:t> - not balanced every time</a:t>
            </a:r>
          </a:p>
        </p:txBody>
      </p:sp>
      <p:pic>
        <p:nvPicPr>
          <p:cNvPr id="10" name="l8_design_srs.png">
            <a:extLst>
              <a:ext uri="{FF2B5EF4-FFF2-40B4-BE49-F238E27FC236}">
                <a16:creationId xmlns:a16="http://schemas.microsoft.com/office/drawing/2014/main" id="{9B942D92-0C2B-4367-E1E4-34BD15E35FB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1778000"/>
            <a:ext cx="4572000" cy="4572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0D4A6BB8-5A41-659B-68B7-B87A44DC769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48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2CA30-A4ED-012B-224D-E46D314D4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Drawing an SRS in practice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8FFFFF-6E15-C26E-03DE-D49CD27EB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C199FF-0EDA-CEEA-C288-75F9C1815338}"/>
              </a:ext>
            </a:extLst>
          </p:cNvPr>
          <p:cNvSpPr txBox="1"/>
          <p:nvPr/>
        </p:nvSpPr>
        <p:spPr>
          <a:xfrm>
            <a:off x="762000" y="1841500"/>
            <a:ext cx="10668000" cy="1231106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1.  Get a sampling frame and number it 1 to N</a:t>
            </a:r>
          </a:p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2.  Let a random number generator choose n different numbers</a:t>
            </a:r>
          </a:p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   in R:   sample(1:379, 30)   picks 30 of 379 row numbers</a:t>
            </a:r>
          </a:p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3.  The units with those numbers are the sample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CFD1C5-2DF2-7388-C6E1-90365167A324}"/>
              </a:ext>
            </a:extLst>
          </p:cNvPr>
          <p:cNvSpPr txBox="1"/>
          <p:nvPr/>
        </p:nvSpPr>
        <p:spPr>
          <a:xfrm>
            <a:off x="762000" y="3250406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sample() draws without replacement - no row can be picked twice - unless you add replace = TRUE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5B9862-97F1-434D-ABED-AF03B4F56B68}"/>
              </a:ext>
            </a:extLst>
          </p:cNvPr>
          <p:cNvSpPr txBox="1"/>
          <p:nvPr/>
        </p:nvSpPr>
        <p:spPr>
          <a:xfrm>
            <a:off x="762000" y="3773646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This is exactly what Part 3 of your course project asks you to do.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1840AABC-E642-776A-EDAE-0537DD2BE9DF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939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097E2-4E3E-168E-D9EF-BE86DD21F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Systematic sample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C44AB4-3472-45D6-45C0-B84299A6D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21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CDA281-DC4B-F536-974A-7668B2AF62C6}"/>
              </a:ext>
            </a:extLst>
          </p:cNvPr>
          <p:cNvSpPr txBox="1"/>
          <p:nvPr/>
        </p:nvSpPr>
        <p:spPr>
          <a:xfrm>
            <a:off x="762000" y="1841500"/>
            <a:ext cx="2921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systematic sample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01DC53-F5E2-B64C-85E7-BE250E06A5B0}"/>
              </a:ext>
            </a:extLst>
          </p:cNvPr>
          <p:cNvSpPr txBox="1"/>
          <p:nvPr/>
        </p:nvSpPr>
        <p:spPr>
          <a:xfrm>
            <a:off x="3784600" y="1841499"/>
            <a:ext cx="7645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pick a random starting point among the first k units of an ordered list, then take every kth unit after it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F71F7A-F91D-D57F-1674-50E9AF83A26F}"/>
              </a:ext>
            </a:extLst>
          </p:cNvPr>
          <p:cNvSpPr txBox="1"/>
          <p:nvPr/>
        </p:nvSpPr>
        <p:spPr>
          <a:xfrm>
            <a:off x="762000" y="25323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k = N/n = 100/20 = 5.  Random start = 2, so we take list positions 2, 7, 12, 17, ... , 97</a:t>
            </a:r>
          </a:p>
        </p:txBody>
      </p:sp>
      <p:pic>
        <p:nvPicPr>
          <p:cNvPr id="9" name="l8_design_systematic.png">
            <a:extLst>
              <a:ext uri="{FF2B5EF4-FFF2-40B4-BE49-F238E27FC236}">
                <a16:creationId xmlns:a16="http://schemas.microsoft.com/office/drawing/2014/main" id="{85D54DE1-2786-33F5-0EF9-7F4D43CDC65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928620"/>
            <a:ext cx="10668000" cy="2921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E7C95CC-2585-95F4-F078-4DC6534EB4AC}"/>
              </a:ext>
            </a:extLst>
          </p:cNvPr>
          <p:cNvSpPr txBox="1"/>
          <p:nvPr/>
        </p:nvSpPr>
        <p:spPr>
          <a:xfrm>
            <a:off x="762000" y="59690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Works like an SRS - unless the list has a repeating pattern that lines up with k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2F33DF17-F38C-5CEA-9FDD-F067BB8A13EF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809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1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6E805-04AC-8627-66AE-26DA578A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Stratified random sample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406A2-7F5B-24F5-5E49-5056AD0D2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A2458B-0AA1-E8C9-39EE-CA982E9119F6}"/>
              </a:ext>
            </a:extLst>
          </p:cNvPr>
          <p:cNvSpPr txBox="1"/>
          <p:nvPr/>
        </p:nvSpPr>
        <p:spPr>
          <a:xfrm>
            <a:off x="571500" y="184150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strata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435368-2E5B-AF0E-01AC-9C12A4355760}"/>
              </a:ext>
            </a:extLst>
          </p:cNvPr>
          <p:cNvSpPr txBox="1"/>
          <p:nvPr/>
        </p:nvSpPr>
        <p:spPr>
          <a:xfrm>
            <a:off x="850900" y="2110739"/>
            <a:ext cx="5943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groups of units that are alike, formed BEFORE sampling - class year, region, age group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490EB5-C42D-BF95-5B7C-4469ECC019FC}"/>
              </a:ext>
            </a:extLst>
          </p:cNvPr>
          <p:cNvSpPr txBox="1"/>
          <p:nvPr/>
        </p:nvSpPr>
        <p:spPr>
          <a:xfrm>
            <a:off x="571500" y="277622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stratified random sample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F5BCF9-8285-D541-7330-1790862F3580}"/>
              </a:ext>
            </a:extLst>
          </p:cNvPr>
          <p:cNvSpPr txBox="1"/>
          <p:nvPr/>
        </p:nvSpPr>
        <p:spPr>
          <a:xfrm>
            <a:off x="850900" y="3045460"/>
            <a:ext cx="59436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separate SRS inside every stratum, combined into one sample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FC2DD-65F2-EFF3-93FB-D22279D7CC17}"/>
              </a:ext>
            </a:extLst>
          </p:cNvPr>
          <p:cNvSpPr txBox="1"/>
          <p:nvPr/>
        </p:nvSpPr>
        <p:spPr>
          <a:xfrm>
            <a:off x="571500" y="346710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proportional allocation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562EC6-6104-9EFC-9213-8793181910F3}"/>
              </a:ext>
            </a:extLst>
          </p:cNvPr>
          <p:cNvSpPr txBox="1"/>
          <p:nvPr/>
        </p:nvSpPr>
        <p:spPr>
          <a:xfrm>
            <a:off x="850900" y="3736340"/>
            <a:ext cx="59436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each stratum gets its share of n: 40, 30, 20, 10 students -&gt; 8, 6, 4,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7D03EC-98B8-EFA6-7B19-7ACF3DF1AE45}"/>
              </a:ext>
            </a:extLst>
          </p:cNvPr>
          <p:cNvSpPr txBox="1"/>
          <p:nvPr/>
        </p:nvSpPr>
        <p:spPr>
          <a:xfrm>
            <a:off x="571500" y="415798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Every group is guaranteed a place - no more 2 juniors by bad luck</a:t>
            </a:r>
          </a:p>
        </p:txBody>
      </p:sp>
      <p:pic>
        <p:nvPicPr>
          <p:cNvPr id="13" name="l8_design_stratified.png">
            <a:extLst>
              <a:ext uri="{FF2B5EF4-FFF2-40B4-BE49-F238E27FC236}">
                <a16:creationId xmlns:a16="http://schemas.microsoft.com/office/drawing/2014/main" id="{178531D0-F711-51C4-33D6-2FDDC352EC9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1778000"/>
            <a:ext cx="4572000" cy="4572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E7A1A481-EFE9-E2B6-2D31-F3B3EDED8C66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706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725DE-1FA3-4673-C2B0-0E94FC359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Proportional allocation with real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3CCAB8-7CC5-6423-8BF9-48B0DE638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2BF07B-2425-181A-F030-3292A7D90694}"/>
              </a:ext>
            </a:extLst>
          </p:cNvPr>
          <p:cNvSpPr txBox="1"/>
          <p:nvPr/>
        </p:nvSpPr>
        <p:spPr>
          <a:xfrm>
            <a:off x="762000" y="19050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heights.csv (on the course Data page) has N = 379 people: 262 female and 117 male. Stratify by sex for a sample of n = 30: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F1A7F7-FF53-53DE-3812-9D91CAFBEE64}"/>
              </a:ext>
            </a:extLst>
          </p:cNvPr>
          <p:cNvSpPr txBox="1"/>
          <p:nvPr/>
        </p:nvSpPr>
        <p:spPr>
          <a:xfrm>
            <a:off x="762000" y="232663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female:  30 x 262/379 = 20.74, so 21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male:    30 x 117/379 =  9.26, so 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0594E7-6F89-A1AE-A32B-8ED7F5BA9252}"/>
              </a:ext>
            </a:extLst>
          </p:cNvPr>
          <p:cNvSpPr txBox="1"/>
          <p:nvPr/>
        </p:nvSpPr>
        <p:spPr>
          <a:xfrm>
            <a:off x="762000" y="29921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Then an SRS of 21 of the women, and a separate SRS of 9 of the men</a:t>
            </a:r>
          </a:p>
        </p:txBody>
      </p:sp>
      <p:pic>
        <p:nvPicPr>
          <p:cNvPr id="9" name="l8_heights_allocation.png">
            <a:extLst>
              <a:ext uri="{FF2B5EF4-FFF2-40B4-BE49-F238E27FC236}">
                <a16:creationId xmlns:a16="http://schemas.microsoft.com/office/drawing/2014/main" id="{000F477B-2346-0354-C917-1E180135AD2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4318000"/>
            <a:ext cx="9144000" cy="1905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5D097974-5BD2-F5B9-C5D0-CD0FE599CFD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325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A24FB-BD5C-3549-431E-3F17F5184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Cluster sample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502884-959E-CB8B-5FA3-97B069536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AF9CE6-6733-CCDC-DB25-6ADD4D505A74}"/>
              </a:ext>
            </a:extLst>
          </p:cNvPr>
          <p:cNvSpPr txBox="1"/>
          <p:nvPr/>
        </p:nvSpPr>
        <p:spPr>
          <a:xfrm>
            <a:off x="571500" y="184150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cluster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834A82-F53C-CCF8-F734-06E4B9082CAB}"/>
              </a:ext>
            </a:extLst>
          </p:cNvPr>
          <p:cNvSpPr txBox="1"/>
          <p:nvPr/>
        </p:nvSpPr>
        <p:spPr>
          <a:xfrm>
            <a:off x="850900" y="2110739"/>
            <a:ext cx="5943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group of units that occurs naturally - a dorm, a classroom, a city block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C11F32-4B84-C7C5-F75A-7E2D88B68E4D}"/>
              </a:ext>
            </a:extLst>
          </p:cNvPr>
          <p:cNvSpPr txBox="1"/>
          <p:nvPr/>
        </p:nvSpPr>
        <p:spPr>
          <a:xfrm>
            <a:off x="571500" y="285242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cluster sample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365F1E-DEDA-651C-46A2-16C3A2709A8F}"/>
              </a:ext>
            </a:extLst>
          </p:cNvPr>
          <p:cNvSpPr txBox="1"/>
          <p:nvPr/>
        </p:nvSpPr>
        <p:spPr>
          <a:xfrm>
            <a:off x="850900" y="3121660"/>
            <a:ext cx="59436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an SRS of clusters, then measure EVERY unit in the clusters chosen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51A1B6-C462-31CF-AB24-A95A9FB20086}"/>
              </a:ext>
            </a:extLst>
          </p:cNvPr>
          <p:cNvSpPr txBox="1"/>
          <p:nvPr/>
        </p:nvSpPr>
        <p:spPr>
          <a:xfrm>
            <a:off x="571500" y="361950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Only needs a list of clusters, not of every person - and far less travel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E6AFF6-DC4E-E6F1-4F31-409AF24F39C2}"/>
              </a:ext>
            </a:extLst>
          </p:cNvPr>
          <p:cNvSpPr txBox="1"/>
          <p:nvPr/>
        </p:nvSpPr>
        <p:spPr>
          <a:xfrm>
            <a:off x="571500" y="4066539"/>
            <a:ext cx="6223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Works best when each cluster is a mini-population: mixed inside, like each column here</a:t>
            </a:r>
          </a:p>
        </p:txBody>
      </p:sp>
      <p:pic>
        <p:nvPicPr>
          <p:cNvPr id="12" name="l8_design_cluster.png">
            <a:extLst>
              <a:ext uri="{FF2B5EF4-FFF2-40B4-BE49-F238E27FC236}">
                <a16:creationId xmlns:a16="http://schemas.microsoft.com/office/drawing/2014/main" id="{EE65C59B-8E58-2252-225A-73C8E4131E9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1778000"/>
            <a:ext cx="4572000" cy="4572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3788119E-74CF-C022-F71C-4A28886659F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35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9" grpId="0"/>
      <p:bldP spid="10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96049-F16C-76DD-D687-979A5EA62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Two-stage cluster sample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DAEF1C-2E72-AA8C-7F8D-52E42EAF8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50E76D-76B9-65AF-3D0A-CEA7CF54B198}"/>
              </a:ext>
            </a:extLst>
          </p:cNvPr>
          <p:cNvSpPr txBox="1"/>
          <p:nvPr/>
        </p:nvSpPr>
        <p:spPr>
          <a:xfrm>
            <a:off x="571500" y="184150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two-stage cluster sample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7B30FB-A637-0871-AD41-355647816C77}"/>
              </a:ext>
            </a:extLst>
          </p:cNvPr>
          <p:cNvSpPr txBox="1"/>
          <p:nvPr/>
        </p:nvSpPr>
        <p:spPr>
          <a:xfrm>
            <a:off x="850900" y="2110739"/>
            <a:ext cx="5943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stage 1: an SRS of clusters.  Stage 2: an SRS of units inside each chosen cluster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1A80A2-F776-CC7D-F274-4DD8D2949385}"/>
              </a:ext>
            </a:extLst>
          </p:cNvPr>
          <p:cNvSpPr txBox="1"/>
          <p:nvPr/>
        </p:nvSpPr>
        <p:spPr>
          <a:xfrm>
            <a:off x="571500" y="285242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Here: 4 of the 10 columns, then 5 students in each, n = 20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FA3B2B-7F32-FCEE-6C85-137E9FC671C7}"/>
              </a:ext>
            </a:extLst>
          </p:cNvPr>
          <p:cNvSpPr txBox="1"/>
          <p:nvPr/>
        </p:nvSpPr>
        <p:spPr>
          <a:xfrm>
            <a:off x="571500" y="3299459"/>
            <a:ext cx="6223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Exit polls work this way: sample polling places, then interview every nth voter leaving each one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63B701-CECB-5097-5529-4525B1F0656F}"/>
              </a:ext>
            </a:extLst>
          </p:cNvPr>
          <p:cNvSpPr txBox="1"/>
          <p:nvPr/>
        </p:nvSpPr>
        <p:spPr>
          <a:xfrm>
            <a:off x="571500" y="3990339"/>
            <a:ext cx="6223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National surveys such as NHANES stack it all: strata, clusters inside strata, households inside clusters</a:t>
            </a:r>
          </a:p>
        </p:txBody>
      </p:sp>
      <p:pic>
        <p:nvPicPr>
          <p:cNvPr id="11" name="l8_design_two_stage.png">
            <a:extLst>
              <a:ext uri="{FF2B5EF4-FFF2-40B4-BE49-F238E27FC236}">
                <a16:creationId xmlns:a16="http://schemas.microsoft.com/office/drawing/2014/main" id="{FFD9DA9A-8CC3-2C6C-1F81-A2A41E0E4D7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1778000"/>
            <a:ext cx="4572000" cy="4572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F0524DA0-2144-8157-3A1C-7AFFB8171948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539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3D759-6589-044E-A5F4-2A25AB5EF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Strata vs. clusters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72818-8AA4-8C8E-31B7-9C3197656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26</a:t>
            </a:fld>
            <a:endParaRPr lang="en-US" sz="1600"/>
          </a:p>
        </p:txBody>
      </p:sp>
      <p:pic>
        <p:nvPicPr>
          <p:cNvPr id="6" name="l8_three_designs.png">
            <a:extLst>
              <a:ext uri="{FF2B5EF4-FFF2-40B4-BE49-F238E27FC236}">
                <a16:creationId xmlns:a16="http://schemas.microsoft.com/office/drawing/2014/main" id="{A68FD79A-6305-EA61-8669-76C7430B6E8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752600"/>
            <a:ext cx="10922000" cy="4191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CBCF5F1-3ED6-FA54-061E-593F582EE09F}"/>
              </a:ext>
            </a:extLst>
          </p:cNvPr>
          <p:cNvSpPr txBox="1"/>
          <p:nvPr/>
        </p:nvSpPr>
        <p:spPr>
          <a:xfrm>
            <a:off x="762000" y="59690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600" b="1">
                <a:solidFill>
                  <a:srgbClr val="1F3864"/>
                </a:solidFill>
              </a:rPr>
              <a:t>Strata: alike inside - sample from EVERY one.     Clusters: mixed inside - sample SOME, whole.</a:t>
            </a:r>
          </a:p>
        </p:txBody>
      </p:sp>
    </p:spTree>
    <p:extLst>
      <p:ext uri="{BB962C8B-B14F-4D97-AF65-F5344CB8AC3E}">
        <p14:creationId xmlns:p14="http://schemas.microsoft.com/office/powerpoint/2010/main" val="3464719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efinition card">
            <a:extLst>
              <a:ext uri="{FF2B5EF4-FFF2-40B4-BE49-F238E27FC236}">
                <a16:creationId xmlns:a16="http://schemas.microsoft.com/office/drawing/2014/main" id="{23A8B403-CAA9-6BE3-A2D6-370954658E26}"/>
              </a:ext>
            </a:extLst>
          </p:cNvPr>
          <p:cNvSpPr/>
          <p:nvPr/>
        </p:nvSpPr>
        <p:spPr>
          <a:xfrm>
            <a:off x="762000" y="430022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1DB226C1-EB15-02C4-2DDA-EF28B380F4E6}"/>
              </a:ext>
            </a:extLst>
          </p:cNvPr>
          <p:cNvSpPr/>
          <p:nvPr/>
        </p:nvSpPr>
        <p:spPr>
          <a:xfrm>
            <a:off x="762000" y="307086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D693D69B-6061-5D41-654C-F51E8969D956}"/>
              </a:ext>
            </a:extLst>
          </p:cNvPr>
          <p:cNvSpPr/>
          <p:nvPr/>
        </p:nvSpPr>
        <p:spPr>
          <a:xfrm>
            <a:off x="762000" y="184150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264EEC-AEDC-13FC-C31B-557FD7F63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Two kinds of error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B1CC95-C9A5-3048-6EE3-083C5E102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D3F9A6-81F3-EE4F-08F3-DA677F1891CD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sampling error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A014A0-7484-60C9-7401-F6A703F6FC4E}"/>
              </a:ext>
            </a:extLst>
          </p:cNvPr>
          <p:cNvSpPr txBox="1"/>
          <p:nvPr/>
        </p:nvSpPr>
        <p:spPr>
          <a:xfrm>
            <a:off x="4013200" y="194310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natural gap between a sample and the population, caused by which units happened to be chosen</a:t>
            </a:r>
          </a:p>
          <a:p>
            <a:r>
              <a:rPr lang="en-US" i="1">
                <a:solidFill>
                  <a:srgbClr val="595959"/>
                </a:solidFill>
              </a:rPr>
              <a:t>every sample has some - a larger sample makes it smaller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D63AAF-CDBB-FC92-3E67-2DC3B2E0D3FE}"/>
              </a:ext>
            </a:extLst>
          </p:cNvPr>
          <p:cNvSpPr txBox="1"/>
          <p:nvPr/>
        </p:nvSpPr>
        <p:spPr>
          <a:xfrm>
            <a:off x="914400" y="317246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nonsampling error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740826-8BB7-EE20-2E4D-41CD635218F6}"/>
              </a:ext>
            </a:extLst>
          </p:cNvPr>
          <p:cNvSpPr txBox="1"/>
          <p:nvPr/>
        </p:nvSpPr>
        <p:spPr>
          <a:xfrm>
            <a:off x="4013200" y="317246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errors that do not come from chance - biased methods, bad questions, data-entry mistakes, faulty instruments</a:t>
            </a:r>
          </a:p>
          <a:p>
            <a:r>
              <a:rPr lang="en-US" i="1">
                <a:solidFill>
                  <a:srgbClr val="595959"/>
                </a:solidFill>
              </a:rPr>
              <a:t>a larger sample does not make these smaller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633517-E064-B119-4728-E6FDE708798C}"/>
              </a:ext>
            </a:extLst>
          </p:cNvPr>
          <p:cNvSpPr txBox="1"/>
          <p:nvPr/>
        </p:nvSpPr>
        <p:spPr>
          <a:xfrm>
            <a:off x="914400" y="440182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sampling bias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BA1AE1-9AED-46DD-25B7-2E2B1AA57C4A}"/>
              </a:ext>
            </a:extLst>
          </p:cNvPr>
          <p:cNvSpPr txBox="1"/>
          <p:nvPr/>
        </p:nvSpPr>
        <p:spPr>
          <a:xfrm>
            <a:off x="4013200" y="440182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some members of the population are less likely to be chosen than others</a:t>
            </a:r>
          </a:p>
          <a:p>
            <a:r>
              <a:rPr lang="en-US" i="1">
                <a:solidFill>
                  <a:srgbClr val="595959"/>
                </a:solidFill>
              </a:rPr>
              <a:t>convenience and voluntary response samples, or a frame that leaves people out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1E118F2C-5AC8-29C7-6207-F3DA63B7D968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470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efinition card">
            <a:extLst>
              <a:ext uri="{FF2B5EF4-FFF2-40B4-BE49-F238E27FC236}">
                <a16:creationId xmlns:a16="http://schemas.microsoft.com/office/drawing/2014/main" id="{DD5BB63E-3EA2-F0FB-5E89-A169F5F63425}"/>
              </a:ext>
            </a:extLst>
          </p:cNvPr>
          <p:cNvSpPr/>
          <p:nvPr/>
        </p:nvSpPr>
        <p:spPr>
          <a:xfrm>
            <a:off x="762000" y="420878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Definition card">
            <a:extLst>
              <a:ext uri="{FF2B5EF4-FFF2-40B4-BE49-F238E27FC236}">
                <a16:creationId xmlns:a16="http://schemas.microsoft.com/office/drawing/2014/main" id="{C8545C68-728D-3DBC-8856-E53F52C1B3D9}"/>
              </a:ext>
            </a:extLst>
          </p:cNvPr>
          <p:cNvSpPr/>
          <p:nvPr/>
        </p:nvSpPr>
        <p:spPr>
          <a:xfrm>
            <a:off x="762000" y="32537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efinition card">
            <a:extLst>
              <a:ext uri="{FF2B5EF4-FFF2-40B4-BE49-F238E27FC236}">
                <a16:creationId xmlns:a16="http://schemas.microsoft.com/office/drawing/2014/main" id="{4AA8FAE9-8DC7-B2A0-44CD-52960C69B86E}"/>
              </a:ext>
            </a:extLst>
          </p:cNvPr>
          <p:cNvSpPr/>
          <p:nvPr/>
        </p:nvSpPr>
        <p:spPr>
          <a:xfrm>
            <a:off x="762000" y="22987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5C7FE2-DED0-DF94-72E3-76FCDB232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Three common nonsampling errors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A7756A-EA9C-ACC1-25C6-DB720DDD8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AB3F2F-0B42-8831-992A-4E3802B15C93}"/>
              </a:ext>
            </a:extLst>
          </p:cNvPr>
          <p:cNvSpPr txBox="1"/>
          <p:nvPr/>
        </p:nvSpPr>
        <p:spPr>
          <a:xfrm>
            <a:off x="762000" y="18415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Even a perfectly random design can end up biased: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308314-0CC3-5177-9B67-07586A023635}"/>
              </a:ext>
            </a:extLst>
          </p:cNvPr>
          <p:cNvSpPr txBox="1"/>
          <p:nvPr/>
        </p:nvSpPr>
        <p:spPr>
          <a:xfrm>
            <a:off x="914400" y="24003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undercoverage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0D2D80-EC4C-68D9-D43B-33D78AF08FD1}"/>
              </a:ext>
            </a:extLst>
          </p:cNvPr>
          <p:cNvSpPr txBox="1"/>
          <p:nvPr/>
        </p:nvSpPr>
        <p:spPr>
          <a:xfrm>
            <a:off x="4013200" y="24002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sampling frame leaves part of the population out</a:t>
            </a:r>
          </a:p>
          <a:p>
            <a:r>
              <a:rPr lang="en-US" i="1">
                <a:solidFill>
                  <a:srgbClr val="595959"/>
                </a:solidFill>
              </a:rPr>
              <a:t>students who are not on the list you sampled from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58AC8D-1C6E-890A-F148-8C98005A5368}"/>
              </a:ext>
            </a:extLst>
          </p:cNvPr>
          <p:cNvSpPr txBox="1"/>
          <p:nvPr/>
        </p:nvSpPr>
        <p:spPr>
          <a:xfrm>
            <a:off x="914400" y="33553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nonresponse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FA4A44-B99B-F127-11E3-A826DA55FCF2}"/>
              </a:ext>
            </a:extLst>
          </p:cNvPr>
          <p:cNvSpPr txBox="1"/>
          <p:nvPr/>
        </p:nvSpPr>
        <p:spPr>
          <a:xfrm>
            <a:off x="4013200" y="33553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people who are chosen cannot be reached, or refuse to answer</a:t>
            </a:r>
          </a:p>
          <a:p>
            <a:r>
              <a:rPr lang="en-US" i="1">
                <a:solidFill>
                  <a:srgbClr val="595959"/>
                </a:solidFill>
              </a:rPr>
              <a:t>a problem when the people who do not answer differ from those who do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6C9A0E-3FF6-5F4F-388B-DDF252F3F7BD}"/>
              </a:ext>
            </a:extLst>
          </p:cNvPr>
          <p:cNvSpPr txBox="1"/>
          <p:nvPr/>
        </p:nvSpPr>
        <p:spPr>
          <a:xfrm>
            <a:off x="914400" y="43103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response bias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E3CE1B-C94D-3503-4E43-FC5847C34E55}"/>
              </a:ext>
            </a:extLst>
          </p:cNvPr>
          <p:cNvSpPr txBox="1"/>
          <p:nvPr/>
        </p:nvSpPr>
        <p:spPr>
          <a:xfrm>
            <a:off x="4013200" y="431038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answers themselves are wrong</a:t>
            </a:r>
          </a:p>
          <a:p>
            <a:r>
              <a:rPr lang="en-US" i="1">
                <a:solidFill>
                  <a:srgbClr val="595959"/>
                </a:solidFill>
              </a:rPr>
              <a:t>leading or confusing questions, sensitive topics, wanting to please the interviewer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2618AECC-D5FC-BBC6-16CC-A46A88B0572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694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  <p:bldP spid="1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BC30F-FE23-34A2-8070-9BE65D2DF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Nonresponse: when nobody picks up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7E6F44-2A76-793A-043A-08A9FB8E2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2ADB7B-1189-1655-8200-D65A4A1F9291}"/>
              </a:ext>
            </a:extLst>
          </p:cNvPr>
          <p:cNvSpPr txBox="1"/>
          <p:nvPr/>
        </p:nvSpPr>
        <p:spPr>
          <a:xfrm>
            <a:off x="762000" y="18415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Pew Research Center reached 36% of the people it called for its phone surveys in 1997. By 2018 it reached 6%.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8F050F-9CE6-CDAA-2EA3-4E0A75A555B8}"/>
              </a:ext>
            </a:extLst>
          </p:cNvPr>
          <p:cNvSpPr txBox="1"/>
          <p:nvPr/>
        </p:nvSpPr>
        <p:spPr>
          <a:xfrm>
            <a:off x="762000" y="23139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Does a 6% response rate automatically make a survey biased?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EBAA9D-EED2-9FEE-FC7C-BEBC1EB5614F}"/>
              </a:ext>
            </a:extLst>
          </p:cNvPr>
          <p:cNvSpPr txBox="1"/>
          <p:nvPr/>
        </p:nvSpPr>
        <p:spPr>
          <a:xfrm>
            <a:off x="1117600" y="26085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 - only if the people who answer differ from the people who do not. The trouble is that you usually cannot check.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59F6C6-619A-EC51-149D-30AF04709744}"/>
              </a:ext>
            </a:extLst>
          </p:cNvPr>
          <p:cNvSpPr txBox="1"/>
          <p:nvPr/>
        </p:nvSpPr>
        <p:spPr>
          <a:xfrm>
            <a:off x="762000" y="310641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In 2020, national polls in the final two weeks overstated Biden's margin by 3.9 points on average - the largest error in 40 years. What could cause that?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4CF00F-69F2-2D2C-C726-EC572859921B}"/>
              </a:ext>
            </a:extLst>
          </p:cNvPr>
          <p:cNvSpPr txBox="1"/>
          <p:nvPr/>
        </p:nvSpPr>
        <p:spPr>
          <a:xfrm>
            <a:off x="1117600" y="364489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pollsters' own task force concluded that at least some of the error came from nonresponse: the people who answered differed from those who did not.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885E25-6555-D74C-5812-4A01CD2716EB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Pew Research Center (2019); AAPOR Task Force on 2020 Pre-Election Polling (2021)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185388C1-F6C9-2CC5-12C3-4EE502AE9F3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76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84FB8-131C-CD66-6D35-E547EB1DE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Question wording: same law, two names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102B64-5B6B-DDCB-7308-2F771CFD2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B6F6AE-F7DC-E672-67CB-83C138622793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In September 2013, CNBC asked half of its poll respondents about “Obamacare” and the other half about “the Affordable Care Act” - the same law.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85BCC4-EDEE-8F47-EF6A-B7F45B3442CD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Which name do you think drew more opposition?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3055AB-3BD9-15C6-4864-B93CE66D179E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Obamacare: 46% opposed it, against 37% for the Affordable Care Act.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2846B4-5FEC-6BAC-D100-DCC8A67EEF9F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So did fewer people support Obamacare, too?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26C3AE-0131-5C64-FEE7-521026B9665D}"/>
              </a:ext>
            </a:extLst>
          </p:cNvPr>
          <p:cNvSpPr txBox="1"/>
          <p:nvPr/>
        </p:nvSpPr>
        <p:spPr>
          <a:xfrm>
            <a:off x="1117600" y="364489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 - 29% supported Obamacare and 22% the ACA. 30% said they did not know about the ACA, but only 12% about Obamacare.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44738A-850C-94A5-8BF5-8D7B9ABAF140}"/>
              </a:ext>
            </a:extLst>
          </p:cNvPr>
          <p:cNvSpPr txBox="1"/>
          <p:nvPr/>
        </p:nvSpPr>
        <p:spPr>
          <a:xfrm>
            <a:off x="762000" y="43865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What does this tell you about survey questions?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99BA77-C486-61E6-94C8-0A8BBAFA0E6E}"/>
              </a:ext>
            </a:extLst>
          </p:cNvPr>
          <p:cNvSpPr txBox="1"/>
          <p:nvPr/>
        </p:nvSpPr>
        <p:spPr>
          <a:xfrm>
            <a:off x="1117600" y="46812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words in a question change the answers. A familiar, politically loaded name pulled people off the fence.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33F665-24AD-B31C-EFB7-2CA4D78C0A26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NBC News (September 27, 2013); Harvard Political Review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973C24F-319A-12C4-D3F2-B67CE4105031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83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64581-A7B8-058F-CE00-7D2789AD2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name the sampling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DBFDB3-321E-5463-C253-6D7E97AC7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31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A274E0-0312-B057-A4C4-76E1E2E0445B}"/>
              </a:ext>
            </a:extLst>
          </p:cNvPr>
          <p:cNvSpPr txBox="1"/>
          <p:nvPr/>
        </p:nvSpPr>
        <p:spPr>
          <a:xfrm>
            <a:off x="762000" y="18415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A reporter interviews the first 50 students who walk out of the Idaho Student Union Building.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5BA503-495C-07C2-CB72-E174ACD67A25}"/>
              </a:ext>
            </a:extLst>
          </p:cNvPr>
          <p:cNvSpPr txBox="1"/>
          <p:nvPr/>
        </p:nvSpPr>
        <p:spPr>
          <a:xfrm>
            <a:off x="1117600" y="213614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Convenience sample - only students who happen to pass the SUB can be chosen.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2BAA32-B5BB-1FA1-716F-2D93D0A390FB}"/>
              </a:ext>
            </a:extLst>
          </p:cNvPr>
          <p:cNvSpPr txBox="1"/>
          <p:nvPr/>
        </p:nvSpPr>
        <p:spPr>
          <a:xfrm>
            <a:off x="762000" y="26339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The registrar numbers every enrolled student, and a computer picks 200 of the numbers at random.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F76B3F-5477-00E3-27D5-828B6BE3AB4E}"/>
              </a:ext>
            </a:extLst>
          </p:cNvPr>
          <p:cNvSpPr txBox="1"/>
          <p:nvPr/>
        </p:nvSpPr>
        <p:spPr>
          <a:xfrm>
            <a:off x="1117600" y="29286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Simple random sample.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F43331-0DAF-78F9-4749-53B896EBE422}"/>
              </a:ext>
            </a:extLst>
          </p:cNvPr>
          <p:cNvSpPr txBox="1"/>
          <p:nvPr/>
        </p:nvSpPr>
        <p:spPr>
          <a:xfrm>
            <a:off x="762000" y="34264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A principal polls 50 first-years, 50 sophomores, 50 juniors and 50 seniors, chosen at random within each year.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C9D8FD-2696-7FAE-6F81-0D2CA68A2BE1}"/>
              </a:ext>
            </a:extLst>
          </p:cNvPr>
          <p:cNvSpPr txBox="1"/>
          <p:nvPr/>
        </p:nvSpPr>
        <p:spPr>
          <a:xfrm>
            <a:off x="1117600" y="37211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Stratified random sample - the class years are the strata.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60E4CB-A494-2804-FF46-F58AA4F79F9E}"/>
              </a:ext>
            </a:extLst>
          </p:cNvPr>
          <p:cNvSpPr txBox="1"/>
          <p:nvPr/>
        </p:nvSpPr>
        <p:spPr>
          <a:xfrm>
            <a:off x="762000" y="42189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4.</a:t>
            </a:r>
            <a:r>
              <a:rPr lang="en-US" sz="1600">
                <a:solidFill>
                  <a:srgbClr val="000000"/>
                </a:solidFill>
              </a:rPr>
              <a:t>  5 of the 40 apartment buildings in town are chosen at random, and every household in them is surveyed.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609785-9111-F45E-6739-FD1FCD7CFB62}"/>
              </a:ext>
            </a:extLst>
          </p:cNvPr>
          <p:cNvSpPr txBox="1"/>
          <p:nvPr/>
        </p:nvSpPr>
        <p:spPr>
          <a:xfrm>
            <a:off x="1117600" y="45135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Cluster sample - the buildings are the clusters.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C2B130-480D-FFEA-63DC-70CD80DD6359}"/>
              </a:ext>
            </a:extLst>
          </p:cNvPr>
          <p:cNvSpPr txBox="1"/>
          <p:nvPr/>
        </p:nvSpPr>
        <p:spPr>
          <a:xfrm>
            <a:off x="762000" y="50114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5.</a:t>
            </a:r>
            <a:r>
              <a:rPr lang="en-US" sz="1600">
                <a:solidFill>
                  <a:srgbClr val="000000"/>
                </a:solidFill>
              </a:rPr>
              <a:t>  A medical researcher interviews every third patient on a hospital list, starting from a randomly chosen one of the first three.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ABF5D8-B607-D737-5983-9B9364B7B05E}"/>
              </a:ext>
            </a:extLst>
          </p:cNvPr>
          <p:cNvSpPr txBox="1"/>
          <p:nvPr/>
        </p:nvSpPr>
        <p:spPr>
          <a:xfrm>
            <a:off x="1117600" y="530606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Systematic sample, with k = 3.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DCB1E00-6304-AA9E-D05E-EAC6156E4E0A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976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0"/>
      <p:bldP spid="1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00CE20B6-38A7-15FC-A780-9236ED5B251A}"/>
              </a:ext>
            </a:extLst>
          </p:cNvPr>
          <p:cNvSpPr/>
          <p:nvPr/>
        </p:nvSpPr>
        <p:spPr>
          <a:xfrm>
            <a:off x="635000" y="1752600"/>
            <a:ext cx="10922000" cy="22860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963740-143A-20EF-58DF-B74D9BEEB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Your course project: Part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86C05-48F2-7DC9-0EF2-19875F895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905000"/>
            <a:ext cx="10668000" cy="4064000"/>
          </a:xfrm>
        </p:spPr>
        <p:txBody>
          <a:bodyPr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Part 3</a:t>
            </a:r>
            <a:r>
              <a:rPr lang="en-US" sz="1600"/>
              <a:t> asks you to draw a sample of 20 to 30 observations from your dataset</a:t>
            </a:r>
          </a:p>
          <a:p>
            <a:r>
              <a:rPr lang="en-US" sz="1600"/>
              <a:t>Pick a design: simple random, systematic, stratified or cluster sampling</a:t>
            </a:r>
          </a:p>
          <a:p>
            <a:r>
              <a:rPr lang="en-US" sz="1600"/>
              <a:t>Say exactly how you drew it - the method, n, and the tool - so someone else could repeat it</a:t>
            </a:r>
          </a:p>
          <a:p>
            <a:r>
              <a:rPr lang="en-US" sz="1600"/>
              <a:t>Justify the choice for YOUR data: is there a natural group to stratify on? natural clusters?</a:t>
            </a:r>
          </a:p>
          <a:p>
            <a:r>
              <a:rPr lang="en-US" sz="1600"/>
              <a:t>Name any bias your method could introduce</a:t>
            </a:r>
          </a:p>
          <a:p>
            <a:r>
              <a:rPr lang="en-US" sz="1600" b="1">
                <a:solidFill>
                  <a:srgbClr val="C00000"/>
                </a:solidFill>
              </a:rPr>
              <a:t>Steps 1 to 4</a:t>
            </a:r>
            <a:r>
              <a:rPr lang="en-US" sz="1600"/>
              <a:t> of the project can be started as soon as this lecture is finished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C69CF3-35F0-165A-7204-570EF6498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32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14587468-C3E1-89FF-09F9-A150441DB070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0814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2B5552-A4BF-1448-5C51-D2350D33A4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8, Part 2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Experiments and Causation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B0AEAD4-41B8-DB7F-DFB2-FA8D0099C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33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35205221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efinition card">
            <a:extLst>
              <a:ext uri="{FF2B5EF4-FFF2-40B4-BE49-F238E27FC236}">
                <a16:creationId xmlns:a16="http://schemas.microsoft.com/office/drawing/2014/main" id="{BA60B263-976A-5CE5-8272-06ECCD1782D2}"/>
              </a:ext>
            </a:extLst>
          </p:cNvPr>
          <p:cNvSpPr/>
          <p:nvPr/>
        </p:nvSpPr>
        <p:spPr>
          <a:xfrm>
            <a:off x="762000" y="449072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finition card">
            <a:extLst>
              <a:ext uri="{FF2B5EF4-FFF2-40B4-BE49-F238E27FC236}">
                <a16:creationId xmlns:a16="http://schemas.microsoft.com/office/drawing/2014/main" id="{73797005-D6BA-BE76-B18D-7DB36CA669FC}"/>
              </a:ext>
            </a:extLst>
          </p:cNvPr>
          <p:cNvSpPr/>
          <p:nvPr/>
        </p:nvSpPr>
        <p:spPr>
          <a:xfrm>
            <a:off x="762000" y="358648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069840F7-0E13-9381-8D34-7E063722E17D}"/>
              </a:ext>
            </a:extLst>
          </p:cNvPr>
          <p:cNvSpPr/>
          <p:nvPr/>
        </p:nvSpPr>
        <p:spPr>
          <a:xfrm>
            <a:off x="762000" y="26822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E51AF47B-0951-E409-02DA-7B830ECEC321}"/>
              </a:ext>
            </a:extLst>
          </p:cNvPr>
          <p:cNvSpPr/>
          <p:nvPr/>
        </p:nvSpPr>
        <p:spPr>
          <a:xfrm>
            <a:off x="762000" y="17780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FA2C48-23E4-4878-293C-39723AFED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Observational studies and experiments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6904D-CB03-8A6F-22D8-860FA1416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FB3D1F-9CFB-F8B7-A4BB-31E30E9ABF20}"/>
              </a:ext>
            </a:extLst>
          </p:cNvPr>
          <p:cNvSpPr txBox="1"/>
          <p:nvPr/>
        </p:nvSpPr>
        <p:spPr>
          <a:xfrm>
            <a:off x="914400" y="18796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response variable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2D33E3-5943-711A-B3A7-4F7C76D2D91F}"/>
              </a:ext>
            </a:extLst>
          </p:cNvPr>
          <p:cNvSpPr txBox="1"/>
          <p:nvPr/>
        </p:nvSpPr>
        <p:spPr>
          <a:xfrm>
            <a:off x="4013200" y="18795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outcome we measure</a:t>
            </a:r>
          </a:p>
          <a:p>
            <a:r>
              <a:rPr lang="en-US" i="1">
                <a:solidFill>
                  <a:srgbClr val="595959"/>
                </a:solidFill>
              </a:rPr>
              <a:t>heart disease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A1B318-B44F-515D-1570-E10C21509C1A}"/>
              </a:ext>
            </a:extLst>
          </p:cNvPr>
          <p:cNvSpPr txBox="1"/>
          <p:nvPr/>
        </p:nvSpPr>
        <p:spPr>
          <a:xfrm>
            <a:off x="914400" y="27838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explanatory variable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8F129D-9E98-47B7-99C4-3797F7604661}"/>
              </a:ext>
            </a:extLst>
          </p:cNvPr>
          <p:cNvSpPr txBox="1"/>
          <p:nvPr/>
        </p:nvSpPr>
        <p:spPr>
          <a:xfrm>
            <a:off x="4013200" y="27838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variable we think explains or influences the response</a:t>
            </a:r>
          </a:p>
          <a:p>
            <a:r>
              <a:rPr lang="en-US" i="1">
                <a:solidFill>
                  <a:srgbClr val="595959"/>
                </a:solidFill>
              </a:rPr>
              <a:t>hormone therapy (yes or no)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25F996-D838-8944-A200-71D57A7B9D53}"/>
              </a:ext>
            </a:extLst>
          </p:cNvPr>
          <p:cNvSpPr txBox="1"/>
          <p:nvPr/>
        </p:nvSpPr>
        <p:spPr>
          <a:xfrm>
            <a:off x="914400" y="36880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observational study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CDA115-0F9C-A8C1-A8EF-9F1BE5A2D48E}"/>
              </a:ext>
            </a:extLst>
          </p:cNvPr>
          <p:cNvSpPr txBox="1"/>
          <p:nvPr/>
        </p:nvSpPr>
        <p:spPr>
          <a:xfrm>
            <a:off x="4013200" y="368807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observe individuals and measure variables, without influencing anything</a:t>
            </a:r>
          </a:p>
          <a:p>
            <a:r>
              <a:rPr lang="en-US" i="1">
                <a:solidFill>
                  <a:srgbClr val="595959"/>
                </a:solidFill>
              </a:rPr>
              <a:t>survey women about the hormones they chose to take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02C101-798C-B303-319A-F4AB6DA42C79}"/>
              </a:ext>
            </a:extLst>
          </p:cNvPr>
          <p:cNvSpPr txBox="1"/>
          <p:nvPr/>
        </p:nvSpPr>
        <p:spPr>
          <a:xfrm>
            <a:off x="914400" y="459232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experiment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91DFC-44B2-46A4-A39A-1243F86B104A}"/>
              </a:ext>
            </a:extLst>
          </p:cNvPr>
          <p:cNvSpPr txBox="1"/>
          <p:nvPr/>
        </p:nvSpPr>
        <p:spPr>
          <a:xfrm>
            <a:off x="4013200" y="459231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researcher deliberately assigns treatments, then measures the response</a:t>
            </a:r>
          </a:p>
          <a:p>
            <a:r>
              <a:rPr lang="en-US" i="1">
                <a:solidFill>
                  <a:srgbClr val="595959"/>
                </a:solidFill>
              </a:rPr>
              <a:t>randomly assign women to hormones or a placebo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C15352-59F5-E396-6639-A433A1F79951}"/>
              </a:ext>
            </a:extLst>
          </p:cNvPr>
          <p:cNvSpPr txBox="1"/>
          <p:nvPr/>
        </p:nvSpPr>
        <p:spPr>
          <a:xfrm>
            <a:off x="762000" y="54203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Ask: who decided which group each unit ended up in? The units themselves -&gt; observational. The researcher -&gt; experiment.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7F0848F-4234-6352-776D-6A856730F931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663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  <p:bldP spid="17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BF846-6815-E010-8F4E-0E679E841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Association is not causation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966D85-78FC-A3ED-348A-07D5FD0BD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D88A43-C5A7-802F-BDBD-CCE30CC783EF}"/>
              </a:ext>
            </a:extLst>
          </p:cNvPr>
          <p:cNvSpPr txBox="1"/>
          <p:nvPr/>
        </p:nvSpPr>
        <p:spPr>
          <a:xfrm>
            <a:off x="571500" y="184150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association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324555-BA7F-CDD8-B0F1-68F3508220D3}"/>
              </a:ext>
            </a:extLst>
          </p:cNvPr>
          <p:cNvSpPr txBox="1"/>
          <p:nvPr/>
        </p:nvSpPr>
        <p:spPr>
          <a:xfrm>
            <a:off x="850900" y="2110740"/>
            <a:ext cx="50546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two variables move together in the 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AEEA9D-6F6C-F4AB-EC91-DDB4B28CCAA3}"/>
              </a:ext>
            </a:extLst>
          </p:cNvPr>
          <p:cNvSpPr txBox="1"/>
          <p:nvPr/>
        </p:nvSpPr>
        <p:spPr>
          <a:xfrm>
            <a:off x="571500" y="253238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causation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EF420A-5F7F-DABA-6144-A5522D27D0DF}"/>
              </a:ext>
            </a:extLst>
          </p:cNvPr>
          <p:cNvSpPr txBox="1"/>
          <p:nvPr/>
        </p:nvSpPr>
        <p:spPr>
          <a:xfrm>
            <a:off x="850900" y="2801620"/>
            <a:ext cx="50546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changing one variable would change the other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296CCB-5F2E-7A85-75DB-483DA92E48F9}"/>
              </a:ext>
            </a:extLst>
          </p:cNvPr>
          <p:cNvSpPr txBox="1"/>
          <p:nvPr/>
        </p:nvSpPr>
        <p:spPr>
          <a:xfrm>
            <a:off x="571500" y="322326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lurking variable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1A6BA3-C0B9-84D6-D5F1-8F2A8EC788BC}"/>
              </a:ext>
            </a:extLst>
          </p:cNvPr>
          <p:cNvSpPr txBox="1"/>
          <p:nvPr/>
        </p:nvSpPr>
        <p:spPr>
          <a:xfrm>
            <a:off x="850900" y="3492499"/>
            <a:ext cx="5054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variable not in the study that influences both the explanatory and the response variable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6F8AA2-EB6E-B099-A9C7-80584E6C21C7}"/>
              </a:ext>
            </a:extLst>
          </p:cNvPr>
          <p:cNvSpPr txBox="1"/>
          <p:nvPr/>
        </p:nvSpPr>
        <p:spPr>
          <a:xfrm>
            <a:off x="571500" y="415798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confounded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9E3446-E4E6-ABA6-1DE4-FE0D3ACC824E}"/>
              </a:ext>
            </a:extLst>
          </p:cNvPr>
          <p:cNvSpPr txBox="1"/>
          <p:nvPr/>
        </p:nvSpPr>
        <p:spPr>
          <a:xfrm>
            <a:off x="850900" y="4427219"/>
            <a:ext cx="5054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two variables whose effects on the response cannot be separated</a:t>
            </a:r>
          </a:p>
        </p:txBody>
      </p:sp>
      <p:pic>
        <p:nvPicPr>
          <p:cNvPr id="14" name="l8_confounding.png">
            <a:extLst>
              <a:ext uri="{FF2B5EF4-FFF2-40B4-BE49-F238E27FC236}">
                <a16:creationId xmlns:a16="http://schemas.microsoft.com/office/drawing/2014/main" id="{DA6A759B-A5B3-3C3F-6E71-07F7A573524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1400" y="1905000"/>
            <a:ext cx="5842000" cy="3175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9DCA095-5637-5F84-8712-02A1A02FE668}"/>
              </a:ext>
            </a:extLst>
          </p:cNvPr>
          <p:cNvSpPr txBox="1"/>
          <p:nvPr/>
        </p:nvSpPr>
        <p:spPr>
          <a:xfrm>
            <a:off x="6121400" y="5206999"/>
            <a:ext cx="5842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Ice cream sales and drownings rise together. The lurking variable: hot weather. The association is real - the causal story is not.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DB65428A-4306-892C-0D7E-F8DB58E21C6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231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0"/>
      <p:bldP spid="1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9E750-8300-9D79-C9E6-2C0668028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Hormone therapy and heart disease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14074-70FD-4EAD-C2F1-B98283C2A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36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B82DF3-CBCF-F4EF-48A6-C0BAE1D72E7D}"/>
              </a:ext>
            </a:extLst>
          </p:cNvPr>
          <p:cNvSpPr txBox="1"/>
          <p:nvPr/>
        </p:nvSpPr>
        <p:spPr>
          <a:xfrm>
            <a:off x="762000" y="1905000"/>
            <a:ext cx="10668000" cy="1631216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Large observational studies, such as the Nurses' Health Study, found that women who took hormone therapy after menopause had less heart disease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The Women's Health Initiative then randomly assigned 16,608 women aged 50 to 79 to estrogen plus progestin or a placebo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It was stopped early in 2002 because the risks outweighed the benefits: more breast cancer, and MORE heart disease, not less</a:t>
            </a:r>
          </a:p>
          <a:p>
            <a:pPr>
              <a:spcAft>
                <a:spcPts val="800"/>
              </a:spcAft>
            </a:pPr>
            <a:r>
              <a:rPr lang="en-US" sz="1600" b="1">
                <a:solidFill>
                  <a:srgbClr val="1F3864"/>
                </a:solidFill>
              </a:rPr>
              <a:t>Why did the observational studies point the wrong way?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BE0274B-59F9-AB74-8F9A-ACCE67441A4E}"/>
              </a:ext>
            </a:extLst>
          </p:cNvPr>
          <p:cNvSpPr/>
          <p:nvPr/>
        </p:nvSpPr>
        <p:spPr>
          <a:xfrm>
            <a:off x="762000" y="4597400"/>
            <a:ext cx="10668000" cy="13208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/>
          <a:lstStyle/>
          <a:p>
            <a:r>
              <a:rPr lang="en-US" sz="1600" b="1">
                <a:solidFill>
                  <a:srgbClr val="C00000"/>
                </a:solidFill>
              </a:rPr>
              <a:t>Lurking variables.</a:t>
            </a:r>
          </a:p>
          <a:p>
            <a:r>
              <a:rPr lang="en-US" sz="1600">
                <a:solidFill>
                  <a:srgbClr val="000000"/>
                </a:solidFill>
              </a:rPr>
              <a:t>Women who chose hormone therapy tended to be wealthier, better educated and healthier to start with - and that,</a:t>
            </a:r>
          </a:p>
          <a:p>
            <a:r>
              <a:rPr lang="en-US" sz="1600">
                <a:solidFill>
                  <a:srgbClr val="000000"/>
                </a:solidFill>
              </a:rPr>
              <a:t>not the hormones, lowered their heart risk. Random assignment balanced those differences out.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830291-3BFE-7470-EF0A-843217C4F363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Writing Group for the WHI Investigators (2002), JAMA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88B02BED-2AE5-639A-9FB5-0563AC06183F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835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9C90A-874C-9408-C3AA-9D7B0825B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Can we claim cause without an experiment?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680207-1BC0-55AF-A06B-5004730EF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905000"/>
            <a:ext cx="10668000" cy="4064000"/>
          </a:xfrm>
        </p:spPr>
        <p:txBody>
          <a:bodyPr>
            <a:noAutofit/>
          </a:bodyPr>
          <a:lstStyle/>
          <a:p>
            <a:r>
              <a:rPr lang="en-US" sz="1600"/>
              <a:t>Nobody can randomly assign people to smoke for thirty years - or randomly assign their birth order</a:t>
            </a:r>
          </a:p>
          <a:p>
            <a:r>
              <a:rPr lang="en-US" sz="1600"/>
              <a:t>Yet we are confident that smoking causes lung cancer. Decades of observational studies found:</a:t>
            </a:r>
          </a:p>
          <a:p>
            <a:pPr lvl="1"/>
            <a:r>
              <a:rPr lang="en-US" sz="1600"/>
              <a:t>a strong association, found again and again in different populations</a:t>
            </a:r>
          </a:p>
          <a:p>
            <a:pPr lvl="1"/>
            <a:r>
              <a:rPr lang="en-US" sz="1600"/>
              <a:t>a dose-response pattern: the more cigarettes, the higher the risk</a:t>
            </a:r>
          </a:p>
          <a:p>
            <a:pPr lvl="1"/>
            <a:r>
              <a:rPr lang="en-US" sz="1600"/>
              <a:t>the right order in time: the smoking comes before the cancer</a:t>
            </a:r>
          </a:p>
          <a:p>
            <a:pPr lvl="1"/>
            <a:r>
              <a:rPr lang="en-US" sz="1600"/>
              <a:t>a plausible biological explanation, backed by laboratory evidence</a:t>
            </a:r>
          </a:p>
          <a:p>
            <a:r>
              <a:rPr lang="en-US" sz="1600"/>
              <a:t>The 2014 Surgeon General's report: smoking causes at least 480,000 premature U.S. deaths a year, about 127,700 of them from lung cancer</a:t>
            </a:r>
          </a:p>
          <a:p>
            <a:r>
              <a:rPr lang="en-US" sz="1600"/>
              <a:t>Without an experiment, a causal claim needs this much evidence - </a:t>
            </a:r>
            <a:r>
              <a:rPr lang="en-US" sz="1600" b="1">
                <a:solidFill>
                  <a:srgbClr val="C00000"/>
                </a:solidFill>
              </a:rPr>
              <a:t>never one study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D729E7-FFA2-29BB-2354-01F49A3A9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A0B40C-8745-6E52-D76C-46CA53ABD2E4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U.S. Department of Health and Human Services (2014)</a:t>
            </a:r>
          </a:p>
        </p:txBody>
      </p:sp>
      <p:sp>
        <p:nvSpPr>
          <p:cNvPr id="6" name="Title rule">
            <a:extLst>
              <a:ext uri="{FF2B5EF4-FFF2-40B4-BE49-F238E27FC236}">
                <a16:creationId xmlns:a16="http://schemas.microsoft.com/office/drawing/2014/main" id="{1939F72A-BEBD-8766-65C6-B4203F49E6A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2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efinition card">
            <a:extLst>
              <a:ext uri="{FF2B5EF4-FFF2-40B4-BE49-F238E27FC236}">
                <a16:creationId xmlns:a16="http://schemas.microsoft.com/office/drawing/2014/main" id="{5B6B4083-6A76-3AB1-6E4E-BD2ABB06907C}"/>
              </a:ext>
            </a:extLst>
          </p:cNvPr>
          <p:cNvSpPr/>
          <p:nvPr/>
        </p:nvSpPr>
        <p:spPr>
          <a:xfrm>
            <a:off x="762000" y="45847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Definition card">
            <a:extLst>
              <a:ext uri="{FF2B5EF4-FFF2-40B4-BE49-F238E27FC236}">
                <a16:creationId xmlns:a16="http://schemas.microsoft.com/office/drawing/2014/main" id="{728E254B-B963-8B15-E6D8-B608C62B921F}"/>
              </a:ext>
            </a:extLst>
          </p:cNvPr>
          <p:cNvSpPr/>
          <p:nvPr/>
        </p:nvSpPr>
        <p:spPr>
          <a:xfrm>
            <a:off x="762000" y="38989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finition card">
            <a:extLst>
              <a:ext uri="{FF2B5EF4-FFF2-40B4-BE49-F238E27FC236}">
                <a16:creationId xmlns:a16="http://schemas.microsoft.com/office/drawing/2014/main" id="{56B8FF7B-CD8F-BC90-921C-D691BD6A67E6}"/>
              </a:ext>
            </a:extLst>
          </p:cNvPr>
          <p:cNvSpPr/>
          <p:nvPr/>
        </p:nvSpPr>
        <p:spPr>
          <a:xfrm>
            <a:off x="762000" y="32131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4A85B32D-EFA9-B551-D206-9D3E66E3F717}"/>
              </a:ext>
            </a:extLst>
          </p:cNvPr>
          <p:cNvSpPr/>
          <p:nvPr/>
        </p:nvSpPr>
        <p:spPr>
          <a:xfrm>
            <a:off x="762000" y="25273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A388A91A-393F-5A40-E3CF-608DDC8059D1}"/>
              </a:ext>
            </a:extLst>
          </p:cNvPr>
          <p:cNvSpPr/>
          <p:nvPr/>
        </p:nvSpPr>
        <p:spPr>
          <a:xfrm>
            <a:off x="762000" y="18415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7F31B9-1873-4E71-A9F4-6BEDD3C38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language of experiments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EA6BA-8F68-5854-36C7-853E531DE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900F10-CA11-2A25-8C44-81AF34F24A47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experimental units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9862C4-1503-054A-E3F5-C010116F1698}"/>
              </a:ext>
            </a:extLst>
          </p:cNvPr>
          <p:cNvSpPr txBox="1"/>
          <p:nvPr/>
        </p:nvSpPr>
        <p:spPr>
          <a:xfrm>
            <a:off x="4013200" y="19431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individuals or objects the treatments are applied to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96D211-16DE-824A-0C3A-1EABE54E5A1C}"/>
              </a:ext>
            </a:extLst>
          </p:cNvPr>
          <p:cNvSpPr txBox="1"/>
          <p:nvPr/>
        </p:nvSpPr>
        <p:spPr>
          <a:xfrm>
            <a:off x="914400" y="26289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subjects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AA2096-A3E1-2E74-6B4B-55BEC2D4DA9D}"/>
              </a:ext>
            </a:extLst>
          </p:cNvPr>
          <p:cNvSpPr txBox="1"/>
          <p:nvPr/>
        </p:nvSpPr>
        <p:spPr>
          <a:xfrm>
            <a:off x="4013200" y="26289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experimental units that are people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36A0A0-6B40-F51C-D006-7E6530D26A22}"/>
              </a:ext>
            </a:extLst>
          </p:cNvPr>
          <p:cNvSpPr txBox="1"/>
          <p:nvPr/>
        </p:nvSpPr>
        <p:spPr>
          <a:xfrm>
            <a:off x="914400" y="33147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factor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B905AE-3467-B06B-3986-9E632C2A8492}"/>
              </a:ext>
            </a:extLst>
          </p:cNvPr>
          <p:cNvSpPr txBox="1"/>
          <p:nvPr/>
        </p:nvSpPr>
        <p:spPr>
          <a:xfrm>
            <a:off x="4013200" y="33147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an explanatory variable the researcher controls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B1DD15-BDEF-1360-23DE-61EE06C8C957}"/>
              </a:ext>
            </a:extLst>
          </p:cNvPr>
          <p:cNvSpPr txBox="1"/>
          <p:nvPr/>
        </p:nvSpPr>
        <p:spPr>
          <a:xfrm>
            <a:off x="914400" y="40005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levels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4EB79A-241B-7774-AEC9-725D191F6A33}"/>
              </a:ext>
            </a:extLst>
          </p:cNvPr>
          <p:cNvSpPr txBox="1"/>
          <p:nvPr/>
        </p:nvSpPr>
        <p:spPr>
          <a:xfrm>
            <a:off x="4013200" y="40005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specific values a factor is set to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BD3C7A-A136-6A70-0060-76FF802CDFEA}"/>
              </a:ext>
            </a:extLst>
          </p:cNvPr>
          <p:cNvSpPr txBox="1"/>
          <p:nvPr/>
        </p:nvSpPr>
        <p:spPr>
          <a:xfrm>
            <a:off x="914400" y="46863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treatment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E00C68-AFE6-C72F-A7FD-81B4E594114A}"/>
              </a:ext>
            </a:extLst>
          </p:cNvPr>
          <p:cNvSpPr txBox="1"/>
          <p:nvPr/>
        </p:nvSpPr>
        <p:spPr>
          <a:xfrm>
            <a:off x="4013200" y="46863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condition a unit receives: one combination of factor levels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AE184CCB-0A67-C2ED-C2C8-65879478851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280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  <p:bldP spid="18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39F2B-D79C-B061-7D7C-D0E3E9E9F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the VITAL trial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869749-915A-A889-6AF8-EEE3DE2B6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54EC98-752B-E4E1-3A6C-D7C162824379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VITAL randomly assigned 25,871 U.S. adults to vitamin D (2,000 IU a day) or a placebo, AND to omega-3 fish oil (1 g a day) or a placebo, then followed them for about 5 years.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A24511-5DA8-139E-D168-B30F6FC9D645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What are the experimental units - and what do we call them?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AD3336-BE2D-C5F7-C1A2-C937A4C032A2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25,871 adults. They are people, so they are subjects.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03E08D-862C-AF03-64BB-BE6B12D52B9E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What are the factors, and how many levels does each have?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93DCC8-196D-E1A6-C6DA-904079F554A1}"/>
              </a:ext>
            </a:extLst>
          </p:cNvPr>
          <p:cNvSpPr txBox="1"/>
          <p:nvPr/>
        </p:nvSpPr>
        <p:spPr>
          <a:xfrm>
            <a:off x="1117600" y="36449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Vitamin D and omega-3 - 2 levels each (the supplement or a placebo).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E25D4A-4773-05CB-3292-48B30A495FCF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How many treatments are there?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F8927A-06B7-68FB-674D-7CEEB23B0E4F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2 x 2 = 4: vitamin D + omega-3, vitamin D + placebo, placebo + omega-3, placebo + placebo.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AC598D-D11F-462C-0B3E-1312AD123B2D}"/>
              </a:ext>
            </a:extLst>
          </p:cNvPr>
          <p:cNvSpPr txBox="1"/>
          <p:nvPr/>
        </p:nvSpPr>
        <p:spPr>
          <a:xfrm>
            <a:off x="762000" y="49352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4.</a:t>
            </a:r>
            <a:r>
              <a:rPr lang="en-US" sz="1600">
                <a:solidFill>
                  <a:srgbClr val="000000"/>
                </a:solidFill>
              </a:rPr>
              <a:t>  What happened?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32CBC3-2896-472B-A54A-0EF0CDD6FDC6}"/>
              </a:ext>
            </a:extLst>
          </p:cNvPr>
          <p:cNvSpPr txBox="1"/>
          <p:nvPr/>
        </p:nvSpPr>
        <p:spPr>
          <a:xfrm>
            <a:off x="1117600" y="522986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Neither supplement lowered the rate of invasive cancer or of major cardiovascular events.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15CB9B-7BE5-0C0D-696A-48328ABA1439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Manson et al. (2019), New England Journal of Medicine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3842B88-3FD8-7BBF-86D4-D79A31D0D324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070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3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efinition card">
            <a:extLst>
              <a:ext uri="{FF2B5EF4-FFF2-40B4-BE49-F238E27FC236}">
                <a16:creationId xmlns:a16="http://schemas.microsoft.com/office/drawing/2014/main" id="{527CC9D9-A452-0F04-D7C0-F8B69F5FD4C0}"/>
              </a:ext>
            </a:extLst>
          </p:cNvPr>
          <p:cNvSpPr/>
          <p:nvPr/>
        </p:nvSpPr>
        <p:spPr>
          <a:xfrm>
            <a:off x="762000" y="375158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14A0377C-BFF0-B79A-19D7-981494C77764}"/>
              </a:ext>
            </a:extLst>
          </p:cNvPr>
          <p:cNvSpPr/>
          <p:nvPr/>
        </p:nvSpPr>
        <p:spPr>
          <a:xfrm>
            <a:off x="762000" y="27965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646E8175-71AD-D653-1B18-4535B9169AC0}"/>
              </a:ext>
            </a:extLst>
          </p:cNvPr>
          <p:cNvSpPr/>
          <p:nvPr/>
        </p:nvSpPr>
        <p:spPr>
          <a:xfrm>
            <a:off x="762000" y="18415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D8048B-F56E-F853-6D78-C47055947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Principles of experimental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E4708-CDE4-49E1-2123-2142A283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8215F6-8FCE-DFDC-A690-266976110908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control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CBEDF8-CA87-BB2E-E7CC-E75E0EBDCEEF}"/>
              </a:ext>
            </a:extLst>
          </p:cNvPr>
          <p:cNvSpPr txBox="1"/>
          <p:nvPr/>
        </p:nvSpPr>
        <p:spPr>
          <a:xfrm>
            <a:off x="4013200" y="19430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compare the treatment against a control group, so the treatment is the only systematic difference between the groups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115D86-8FC4-38CD-E9E4-1D9C20B84007}"/>
              </a:ext>
            </a:extLst>
          </p:cNvPr>
          <p:cNvSpPr txBox="1"/>
          <p:nvPr/>
        </p:nvSpPr>
        <p:spPr>
          <a:xfrm>
            <a:off x="914400" y="28981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random assignment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3CF75-0947-A75D-A911-27285F7282DC}"/>
              </a:ext>
            </a:extLst>
          </p:cNvPr>
          <p:cNvSpPr txBox="1"/>
          <p:nvPr/>
        </p:nvSpPr>
        <p:spPr>
          <a:xfrm>
            <a:off x="4013200" y="28981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let chance assign units to treatments - it balances the lurking variables we know about AND the ones we do not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2A74FA-ACCD-0444-2FD1-C5FE41F3DEBE}"/>
              </a:ext>
            </a:extLst>
          </p:cNvPr>
          <p:cNvSpPr txBox="1"/>
          <p:nvPr/>
        </p:nvSpPr>
        <p:spPr>
          <a:xfrm>
            <a:off x="914400" y="38531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replication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E8E4AF-B0A9-AA0C-9A85-E8AD8B4D0E1E}"/>
              </a:ext>
            </a:extLst>
          </p:cNvPr>
          <p:cNvSpPr txBox="1"/>
          <p:nvPr/>
        </p:nvSpPr>
        <p:spPr>
          <a:xfrm>
            <a:off x="4013200" y="385317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put enough units in each group that chance differences between the groups average out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0FBAB81F-3E0F-CC4A-57E6-BF5693CD09F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743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efinition card">
            <a:extLst>
              <a:ext uri="{FF2B5EF4-FFF2-40B4-BE49-F238E27FC236}">
                <a16:creationId xmlns:a16="http://schemas.microsoft.com/office/drawing/2014/main" id="{0986321D-DD51-CC3D-7DD0-2F9B636F6666}"/>
              </a:ext>
            </a:extLst>
          </p:cNvPr>
          <p:cNvSpPr/>
          <p:nvPr/>
        </p:nvSpPr>
        <p:spPr>
          <a:xfrm>
            <a:off x="762000" y="47117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finition card">
            <a:extLst>
              <a:ext uri="{FF2B5EF4-FFF2-40B4-BE49-F238E27FC236}">
                <a16:creationId xmlns:a16="http://schemas.microsoft.com/office/drawing/2014/main" id="{3240A742-6545-D275-21CB-933A9D3A95BD}"/>
              </a:ext>
            </a:extLst>
          </p:cNvPr>
          <p:cNvSpPr/>
          <p:nvPr/>
        </p:nvSpPr>
        <p:spPr>
          <a:xfrm>
            <a:off x="762000" y="40259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748393A2-618F-1098-18D2-B69CA52BD216}"/>
              </a:ext>
            </a:extLst>
          </p:cNvPr>
          <p:cNvSpPr/>
          <p:nvPr/>
        </p:nvSpPr>
        <p:spPr>
          <a:xfrm>
            <a:off x="762000" y="279654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AD35FDEF-A6C9-D92F-1656-6ED66949569F}"/>
              </a:ext>
            </a:extLst>
          </p:cNvPr>
          <p:cNvSpPr/>
          <p:nvPr/>
        </p:nvSpPr>
        <p:spPr>
          <a:xfrm>
            <a:off x="762000" y="18415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AA9945-18E2-A815-CD09-6E30DA8CC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Placebos and blinding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D39166-75E8-99F6-EF42-55FFE5636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41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914461-1C87-49C0-A9DA-02B03CA129A0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placebo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0A0659-C886-4CB8-B25B-5E2B59B4990B}"/>
              </a:ext>
            </a:extLst>
          </p:cNvPr>
          <p:cNvSpPr txBox="1"/>
          <p:nvPr/>
        </p:nvSpPr>
        <p:spPr>
          <a:xfrm>
            <a:off x="4013200" y="19430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an inactive treatment that looks exactly like the real one</a:t>
            </a:r>
          </a:p>
          <a:p>
            <a:r>
              <a:rPr lang="en-US" i="1">
                <a:solidFill>
                  <a:srgbClr val="595959"/>
                </a:solidFill>
              </a:rPr>
              <a:t>a sugar pill, or a saline injection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3E6C15-B051-DA6B-FC50-75C45B601985}"/>
              </a:ext>
            </a:extLst>
          </p:cNvPr>
          <p:cNvSpPr txBox="1"/>
          <p:nvPr/>
        </p:nvSpPr>
        <p:spPr>
          <a:xfrm>
            <a:off x="914400" y="28981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placebo effect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11B553-B0DF-9622-DF06-AFFDA7ADF708}"/>
              </a:ext>
            </a:extLst>
          </p:cNvPr>
          <p:cNvSpPr txBox="1"/>
          <p:nvPr/>
        </p:nvSpPr>
        <p:spPr>
          <a:xfrm>
            <a:off x="4013200" y="289814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people often improve simply because they believe they are being treated</a:t>
            </a:r>
          </a:p>
          <a:p>
            <a:r>
              <a:rPr lang="en-US" i="1">
                <a:solidFill>
                  <a:srgbClr val="595959"/>
                </a:solidFill>
              </a:rPr>
              <a:t>in one study, believing you had taken a performance drug worked almost as well as the drug itself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88549-1922-B620-2B4E-9464BCE53BB2}"/>
              </a:ext>
            </a:extLst>
          </p:cNvPr>
          <p:cNvSpPr txBox="1"/>
          <p:nvPr/>
        </p:nvSpPr>
        <p:spPr>
          <a:xfrm>
            <a:off x="914400" y="41275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blinding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5D28C7-3333-6E48-704B-CF3132518528}"/>
              </a:ext>
            </a:extLst>
          </p:cNvPr>
          <p:cNvSpPr txBox="1"/>
          <p:nvPr/>
        </p:nvSpPr>
        <p:spPr>
          <a:xfrm>
            <a:off x="4013200" y="41275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subjects do not know which treatment they received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CD5F34-944C-50F9-7B04-0A433180EADC}"/>
              </a:ext>
            </a:extLst>
          </p:cNvPr>
          <p:cNvSpPr txBox="1"/>
          <p:nvPr/>
        </p:nvSpPr>
        <p:spPr>
          <a:xfrm>
            <a:off x="914400" y="48133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double-blind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F50005-2E1E-E3B6-F676-29A98A6D4792}"/>
              </a:ext>
            </a:extLst>
          </p:cNvPr>
          <p:cNvSpPr txBox="1"/>
          <p:nvPr/>
        </p:nvSpPr>
        <p:spPr>
          <a:xfrm>
            <a:off x="4013200" y="48132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neither the subjects nor the researchers working with them know who received what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E11A2D97-48DE-89D2-6522-EBF2B2D53551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102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15B16-617F-F91A-E768-60685CC2F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2020 Pfizer-BioNTech vaccine trial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73F39A-FB57-1204-AB85-BFED90862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9C21BD-9532-392A-1ADC-7094172C5BC4}"/>
              </a:ext>
            </a:extLst>
          </p:cNvPr>
          <p:cNvSpPr txBox="1"/>
          <p:nvPr/>
        </p:nvSpPr>
        <p:spPr>
          <a:xfrm>
            <a:off x="762000" y="1841499"/>
            <a:ext cx="106680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43,548 people were randomly assigned, half and half, to two shots of the COVID-19 vaccine or two shots of a saline placebo. Participants and the staff assessing them did not know who got which. Afterwards: 8 COVID-19 cases in the vaccine group, 162 in the placebo group.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3BEC6E-F862-FBAF-E1D5-A21B197591D4}"/>
              </a:ext>
            </a:extLst>
          </p:cNvPr>
          <p:cNvSpPr txBox="1"/>
          <p:nvPr/>
        </p:nvSpPr>
        <p:spPr>
          <a:xfrm>
            <a:off x="762000" y="28016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Why give the control group a saline shot instead of no shot at all?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374361-B6BF-56E2-BB7E-9C77E3EAFA32}"/>
              </a:ext>
            </a:extLst>
          </p:cNvPr>
          <p:cNvSpPr txBox="1"/>
          <p:nvPr/>
        </p:nvSpPr>
        <p:spPr>
          <a:xfrm>
            <a:off x="1117600" y="309625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So both groups have the same experience. A difference in cases can then only come from the vaccine, not from expectations.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14AA95-81B2-0E2E-FE21-D50E35C6D672}"/>
              </a:ext>
            </a:extLst>
          </p:cNvPr>
          <p:cNvSpPr txBox="1"/>
          <p:nvPr/>
        </p:nvSpPr>
        <p:spPr>
          <a:xfrm>
            <a:off x="762000" y="38379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Why randomize, instead of letting people choose whether to get the vaccine?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8161EE-C1D2-5729-30B3-60F805D911B5}"/>
              </a:ext>
            </a:extLst>
          </p:cNvPr>
          <p:cNvSpPr txBox="1"/>
          <p:nvPr/>
        </p:nvSpPr>
        <p:spPr>
          <a:xfrm>
            <a:off x="1117600" y="41325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People who choose a new vaccine may also be more careful in other ways - a lurking variable. Randomizing balances it.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C07AEF-2F3C-5F98-7416-32548ECBAE2D}"/>
              </a:ext>
            </a:extLst>
          </p:cNvPr>
          <p:cNvSpPr txBox="1"/>
          <p:nvPr/>
        </p:nvSpPr>
        <p:spPr>
          <a:xfrm>
            <a:off x="762000" y="46304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What does 8 cases versus 162 suggest?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B0D47C-2CA4-17F0-F93D-EF0EDE1376BA}"/>
              </a:ext>
            </a:extLst>
          </p:cNvPr>
          <p:cNvSpPr txBox="1"/>
          <p:nvPr/>
        </p:nvSpPr>
        <p:spPr>
          <a:xfrm>
            <a:off x="1117600" y="492506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vaccine group had about 95% fewer cases - and because of the design, we can credit that to the vaccine.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919372-51FF-D9A9-4502-CC2DDA37DE5F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Polack et al. (2020), New England Journal of Medicine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E52C4A4-CBD4-248B-5876-3F7BDD6EBAB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336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 placebo surgery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4C9AC6-4D0C-1228-AAA9-21B804DFEE48}"/>
              </a:ext>
            </a:extLst>
          </p:cNvPr>
          <p:cNvSpPr txBox="1"/>
          <p:nvPr/>
        </p:nvSpPr>
        <p:spPr>
          <a:xfrm>
            <a:off x="762000" y="1905000"/>
            <a:ext cx="10668000" cy="1631216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Arthroscopic knee surgery for arthritis was common, and patients said it helped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Moseley and colleagues (2002) randomly assigned 180 patients with knee osteoarthritis to two real arthroscopic procedures, or to placebo surgery - skin incisions only, with no instruments inserted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Patients, and the staff who assessed their pain, did not know who got which</a:t>
            </a:r>
          </a:p>
          <a:p>
            <a:pPr>
              <a:spcAft>
                <a:spcPts val="800"/>
              </a:spcAft>
            </a:pPr>
            <a:r>
              <a:rPr lang="en-US" sz="1600" b="1">
                <a:solidFill>
                  <a:srgbClr val="1F3864"/>
                </a:solidFill>
              </a:rPr>
              <a:t>Over two years, which group reported the most improvement?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30B310F-DAC4-4E75-0390-F480FCCED58F}"/>
              </a:ext>
            </a:extLst>
          </p:cNvPr>
          <p:cNvSpPr/>
          <p:nvPr/>
        </p:nvSpPr>
        <p:spPr>
          <a:xfrm>
            <a:off x="762000" y="4597400"/>
            <a:ext cx="10668000" cy="13208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/>
          <a:lstStyle/>
          <a:p>
            <a:r>
              <a:rPr lang="en-US" sz="1600" b="1">
                <a:solidFill>
                  <a:srgbClr val="C00000"/>
                </a:solidFill>
              </a:rPr>
              <a:t>None of them.</a:t>
            </a:r>
          </a:p>
          <a:p>
            <a:r>
              <a:rPr lang="en-US" sz="1600">
                <a:solidFill>
                  <a:srgbClr val="000000"/>
                </a:solidFill>
              </a:rPr>
              <a:t>The placebo group did as well as both surgery groups on pain and function. The benefit came from believing</a:t>
            </a:r>
          </a:p>
          <a:p>
            <a:r>
              <a:rPr lang="en-US" sz="1600">
                <a:solidFill>
                  <a:srgbClr val="000000"/>
                </a:solidFill>
              </a:rPr>
              <a:t>you had surgery - and without a placebo group and blinding, nobody would have known.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606FF6-2B22-36E5-8DCE-A56C8CF16F63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Moseley et al. (2002), New England Journal of Medicine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76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DFFFD-794F-2D51-6BF6-99175D91A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Completely randomized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4F55A9-BBE0-BEF2-E763-410F3F2D8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B25ADE-6103-7A0C-04BB-BDC5C6DAFA8D}"/>
              </a:ext>
            </a:extLst>
          </p:cNvPr>
          <p:cNvSpPr txBox="1"/>
          <p:nvPr/>
        </p:nvSpPr>
        <p:spPr>
          <a:xfrm>
            <a:off x="762000" y="1841500"/>
            <a:ext cx="3556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completely randomized design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944CA3-DDEF-F323-A745-E769C814FD58}"/>
              </a:ext>
            </a:extLst>
          </p:cNvPr>
          <p:cNvSpPr txBox="1"/>
          <p:nvPr/>
        </p:nvSpPr>
        <p:spPr>
          <a:xfrm>
            <a:off x="4419600" y="1841500"/>
            <a:ext cx="7010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every unit is assigned to a treatment completely at random - the simplest design</a:t>
            </a:r>
          </a:p>
        </p:txBody>
      </p:sp>
      <p:pic>
        <p:nvPicPr>
          <p:cNvPr id="8" name="l8_crd.png">
            <a:extLst>
              <a:ext uri="{FF2B5EF4-FFF2-40B4-BE49-F238E27FC236}">
                <a16:creationId xmlns:a16="http://schemas.microsoft.com/office/drawing/2014/main" id="{3FC0221E-5D8D-7C80-A7E6-B2E075C913A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415540"/>
            <a:ext cx="10668000" cy="3175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2EA08B7-5DFB-36CD-640D-6116218D8A8F}"/>
              </a:ext>
            </a:extLst>
          </p:cNvPr>
          <p:cNvSpPr txBox="1"/>
          <p:nvPr/>
        </p:nvSpPr>
        <p:spPr>
          <a:xfrm>
            <a:off x="762000" y="59690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 Pfizer-BioNTech vaccine trial was a completely randomized design with two groups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9CF4558A-F54B-AF72-380B-784DCD25734D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642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63B3A-82BB-BE51-84B8-B8AF27E3C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Randomized block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7082B3-3A15-6187-05D8-948D87958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8D7313-2EFA-DDCC-83CD-016A2EA319DF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block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68491B-42D0-6F62-D1EB-414351AE3540}"/>
              </a:ext>
            </a:extLst>
          </p:cNvPr>
          <p:cNvSpPr txBox="1"/>
          <p:nvPr/>
        </p:nvSpPr>
        <p:spPr>
          <a:xfrm>
            <a:off x="4038600" y="1841499"/>
            <a:ext cx="7391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group of units that are alike in a way that affects the response, formed BEFORE treatments are assigned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111355-2EF9-878B-BBF5-3AD598A60D7B}"/>
              </a:ext>
            </a:extLst>
          </p:cNvPr>
          <p:cNvSpPr txBox="1"/>
          <p:nvPr/>
        </p:nvSpPr>
        <p:spPr>
          <a:xfrm>
            <a:off x="762000" y="250698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randomized block design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4EE7E9-B4FA-AE7D-2F32-7824F8BEBECC}"/>
              </a:ext>
            </a:extLst>
          </p:cNvPr>
          <p:cNvSpPr txBox="1"/>
          <p:nvPr/>
        </p:nvSpPr>
        <p:spPr>
          <a:xfrm>
            <a:off x="4038600" y="2506979"/>
            <a:ext cx="73914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randomize treatments separately inside each block, then compare treatments within blocks</a:t>
            </a:r>
          </a:p>
          <a:p>
            <a:r>
              <a:rPr lang="en-US" sz="1600" i="1">
                <a:solidFill>
                  <a:srgbClr val="595959"/>
                </a:solidFill>
              </a:rPr>
              <a:t>blocking is to experiments what stratifying is to sampling</a:t>
            </a:r>
          </a:p>
        </p:txBody>
      </p:sp>
      <p:pic>
        <p:nvPicPr>
          <p:cNvPr id="10" name="l8_rcbd.png">
            <a:extLst>
              <a:ext uri="{FF2B5EF4-FFF2-40B4-BE49-F238E27FC236}">
                <a16:creationId xmlns:a16="http://schemas.microsoft.com/office/drawing/2014/main" id="{4D9C6247-9EE5-17B5-FA09-387DA7C382E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3429000"/>
            <a:ext cx="10668000" cy="28702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683653CB-384B-87DB-C6CB-FB5F26D39118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600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Matched pairs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46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matched pairs design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block design where every block is a pair of very similar units, and a coin flip decides which one gets each treatment</a:t>
            </a:r>
          </a:p>
          <a:p>
            <a:r>
              <a:rPr lang="en-US" sz="1600" i="1">
                <a:solidFill>
                  <a:srgbClr val="595959"/>
                </a:solidFill>
              </a:rPr>
              <a:t>or each subject is their own pair, receiving both treatments in a random order</a:t>
            </a:r>
          </a:p>
        </p:txBody>
      </p:sp>
      <p:pic>
        <p:nvPicPr>
          <p:cNvPr id="8" name="l8_matched_pairs.png">
            <a:extLst>
              <a:ext uri="{FF2B5EF4-FFF2-40B4-BE49-F238E27FC236}">
                <a16:creationId xmlns:a16="http://schemas.microsoft.com/office/drawing/2014/main" id="{3439A8BA-7800-029C-E47E-C6620E508DF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852420"/>
            <a:ext cx="10668000" cy="2921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54AE21D-EF44-4EB5-7BCB-35F9FA4BF6CF}"/>
              </a:ext>
            </a:extLst>
          </p:cNvPr>
          <p:cNvSpPr txBox="1"/>
          <p:nvPr/>
        </p:nvSpPr>
        <p:spPr>
          <a:xfrm>
            <a:off x="762000" y="59944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Before-and-after data with no random order or control group is much weaker evidence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97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220BC-F401-2AC4-1387-5CA1219B7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does randomization buy you?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126EC-9647-D00A-626C-6261106C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B04C0C-E47B-20AC-31E4-94DC4C4ABB5F}"/>
              </a:ext>
            </a:extLst>
          </p:cNvPr>
          <p:cNvSpPr txBox="1"/>
          <p:nvPr/>
        </p:nvSpPr>
        <p:spPr>
          <a:xfrm>
            <a:off x="508000" y="2031999"/>
            <a:ext cx="3683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 sampling</a:t>
            </a:r>
            <a:r>
              <a:rPr lang="en-US" sz="1600">
                <a:solidFill>
                  <a:srgbClr val="000000"/>
                </a:solidFill>
              </a:rPr>
              <a:t> lets you generalize from the sample to the population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E720C4-0587-0E87-63EC-96B92E67C00D}"/>
              </a:ext>
            </a:extLst>
          </p:cNvPr>
          <p:cNvSpPr txBox="1"/>
          <p:nvPr/>
        </p:nvSpPr>
        <p:spPr>
          <a:xfrm>
            <a:off x="508000" y="2799079"/>
            <a:ext cx="3683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 assignment</a:t>
            </a:r>
            <a:r>
              <a:rPr lang="en-US" sz="1600">
                <a:solidFill>
                  <a:srgbClr val="000000"/>
                </a:solidFill>
              </a:rPr>
              <a:t> lets you conclude cause and effect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592FD8-9A4E-5BB8-6D38-E386520B604D}"/>
              </a:ext>
            </a:extLst>
          </p:cNvPr>
          <p:cNvSpPr txBox="1"/>
          <p:nvPr/>
        </p:nvSpPr>
        <p:spPr>
          <a:xfrm>
            <a:off x="508000" y="3566159"/>
            <a:ext cx="36830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Most studies have only one. A trial on volunteers shows a vaccine works - for people like those volunteers</a:t>
            </a:r>
          </a:p>
        </p:txBody>
      </p:sp>
      <p:pic>
        <p:nvPicPr>
          <p:cNvPr id="9" name="l8_sampling_vs_assignment.png">
            <a:extLst>
              <a:ext uri="{FF2B5EF4-FFF2-40B4-BE49-F238E27FC236}">
                <a16:creationId xmlns:a16="http://schemas.microsoft.com/office/drawing/2014/main" id="{155BFB16-B6F6-9547-0319-A28383F0992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8000" y="1854200"/>
            <a:ext cx="7747000" cy="4445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1784CFE6-ACD1-AC71-8278-C12730A8BD57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82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4CEAD-BED6-366D-B1C7-78228E9BC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design the study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54598-F929-FBEF-0FCD-3842D9238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AF5A54-3217-1980-49D5-537B627C1769}"/>
              </a:ext>
            </a:extLst>
          </p:cNvPr>
          <p:cNvSpPr txBox="1"/>
          <p:nvPr/>
        </p:nvSpPr>
        <p:spPr>
          <a:xfrm>
            <a:off x="762000" y="18415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You want to know whether texting slows how quickly a driver reacts when the car ahead brakes.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F77CB1-5024-41A2-F8A3-6B89CE2AF015}"/>
              </a:ext>
            </a:extLst>
          </p:cNvPr>
          <p:cNvSpPr txBox="1"/>
          <p:nvPr/>
        </p:nvSpPr>
        <p:spPr>
          <a:xfrm>
            <a:off x="762000" y="23139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What are the explanatory variable, the response variable, and the treatments?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81DEAB-C346-C1FC-6F30-AE7180E156BE}"/>
              </a:ext>
            </a:extLst>
          </p:cNvPr>
          <p:cNvSpPr txBox="1"/>
          <p:nvPr/>
        </p:nvSpPr>
        <p:spPr>
          <a:xfrm>
            <a:off x="1117600" y="26085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Explanatory: texting or not. Response: reaction time. Treatments: driving while texting, and driving only.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FD67D3-A732-4066-5E2D-00FF4E4A5E82}"/>
              </a:ext>
            </a:extLst>
          </p:cNvPr>
          <p:cNvSpPr txBox="1"/>
          <p:nvPr/>
        </p:nvSpPr>
        <p:spPr>
          <a:xfrm>
            <a:off x="762000" y="31064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Your partner wants to split drivers at random into a texting group and a driving-only group. Is there a better design?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0BB92E-59CE-E9A9-9010-0BDBAD66B2A2}"/>
              </a:ext>
            </a:extLst>
          </p:cNvPr>
          <p:cNvSpPr txBox="1"/>
          <p:nvPr/>
        </p:nvSpPr>
        <p:spPr>
          <a:xfrm>
            <a:off x="1117600" y="340105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Matched pairs: each driver does both, in a random order. Reaction times vary a lot between people, so compare each driver to themselves.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F174C9-C009-AC02-9C35-B6BD2A0EFCDD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Can the study be blinded?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F3EB21-B37F-C852-F822-D27D33186934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Not for the drivers - they know when they are texting. But the person measuring reaction times can be kept blind.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C9BE4-E6DE-D686-2782-B7D82B17E03C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Adapted from Introductory Statistics 2e (OpenStax), Section 1.4, Try It 1.21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0C9AC535-E8E9-27B3-3BD7-A56C99861C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220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FBCDC-48E3-34D7-E16A-ED185680B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Ethics: the Facebook experiment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7D343A-B691-3B93-BC2E-2BC7ADBAE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3EF544-7BC1-830E-74B1-64EDAAE169AE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For one week in January 2012, Facebook changed the News Feeds of 689,003 users: some saw fewer positive posts, some fewer negative ones. The results were published in 2014. The users never knew.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3928F0-6402-96DA-08AE-79702CFCC1E5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Facebook said agreeing to its Data Use Policy counted as informed consent. Do you agree?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6B0234-5946-443E-D3EF-6B904164792E}"/>
              </a:ext>
            </a:extLst>
          </p:cNvPr>
          <p:cNvSpPr txBox="1"/>
          <p:nvPr/>
        </p:nvSpPr>
        <p:spPr>
          <a:xfrm>
            <a:off x="1117600" y="285241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journal did not: its Expression of Concern said the study may not have met the principles of informed consent and the chance to opt out.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BAFEBF-2B58-DFE7-62AD-B002E3656906}"/>
              </a:ext>
            </a:extLst>
          </p:cNvPr>
          <p:cNvSpPr txBox="1"/>
          <p:nvPr/>
        </p:nvSpPr>
        <p:spPr>
          <a:xfrm>
            <a:off x="762000" y="35941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Why did no ethics board stop it?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C5EB09-8181-01D4-0AE9-A06C5E9A6703}"/>
              </a:ext>
            </a:extLst>
          </p:cNvPr>
          <p:cNvSpPr txBox="1"/>
          <p:nvPr/>
        </p:nvSpPr>
        <p:spPr>
          <a:xfrm>
            <a:off x="1117600" y="388873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Facebook, a private company, was not bound by the federal rules. Cornell's board decided its researcher was not directly involved, so it did no review.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35831A-51A3-E82F-82A5-67061AA1A22E}"/>
              </a:ext>
            </a:extLst>
          </p:cNvPr>
          <p:cNvSpPr txBox="1"/>
          <p:nvPr/>
        </p:nvSpPr>
        <p:spPr>
          <a:xfrm>
            <a:off x="762000" y="46304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What is the lesson?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EE7946-5EA0-8B72-F855-AEB4B6636110}"/>
              </a:ext>
            </a:extLst>
          </p:cNvPr>
          <p:cNvSpPr txBox="1"/>
          <p:nvPr/>
        </p:nvSpPr>
        <p:spPr>
          <a:xfrm>
            <a:off x="1117600" y="492506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Clicking I agree on a terms-of-service page is not informed consent - even for a well-designed experiment.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8E5BD3-1CF7-2352-2707-2D7DBFFA6EBD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Kramer, Guillory and Hancock (2014), PNAS; PNAS Editorial Expression of Concern (2014)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2A19CE9B-6143-6D05-1FF1-AF917901111D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584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efinition card">
            <a:extLst>
              <a:ext uri="{FF2B5EF4-FFF2-40B4-BE49-F238E27FC236}">
                <a16:creationId xmlns:a16="http://schemas.microsoft.com/office/drawing/2014/main" id="{7BD18FF9-F244-4051-FAD0-50D9E3F9B913}"/>
              </a:ext>
            </a:extLst>
          </p:cNvPr>
          <p:cNvSpPr/>
          <p:nvPr/>
        </p:nvSpPr>
        <p:spPr>
          <a:xfrm>
            <a:off x="762000" y="392938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Definition card">
            <a:extLst>
              <a:ext uri="{FF2B5EF4-FFF2-40B4-BE49-F238E27FC236}">
                <a16:creationId xmlns:a16="http://schemas.microsoft.com/office/drawing/2014/main" id="{DA368FF5-4992-376F-150A-E28A94DE7BFC}"/>
              </a:ext>
            </a:extLst>
          </p:cNvPr>
          <p:cNvSpPr/>
          <p:nvPr/>
        </p:nvSpPr>
        <p:spPr>
          <a:xfrm>
            <a:off x="762000" y="324358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efinition card">
            <a:extLst>
              <a:ext uri="{FF2B5EF4-FFF2-40B4-BE49-F238E27FC236}">
                <a16:creationId xmlns:a16="http://schemas.microsoft.com/office/drawing/2014/main" id="{8CF68A3F-0FA8-8ECC-D7CB-0626410EEFD1}"/>
              </a:ext>
            </a:extLst>
          </p:cNvPr>
          <p:cNvSpPr/>
          <p:nvPr/>
        </p:nvSpPr>
        <p:spPr>
          <a:xfrm>
            <a:off x="762000" y="255778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6A45CA-C4F4-9D9F-D8E5-C79272808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Belmont Report: three principles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7DE2E0-7558-C45C-187E-016F1FE28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1E51A2-1D0E-5639-923C-392124A5CB29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i="1">
                <a:solidFill>
                  <a:srgbClr val="595959"/>
                </a:solidFill>
              </a:rPr>
              <a:t>Why the rules exist: in the U.S. Public Health Service syphilis study at Tuskegee (1932 to 1972), hundreds of Black men with syphilis were left untreated without informed consent. The Belmont Report (1979) followed.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200ADF-E689-6E6A-E87D-5EB74130530C}"/>
              </a:ext>
            </a:extLst>
          </p:cNvPr>
          <p:cNvSpPr txBox="1"/>
          <p:nvPr/>
        </p:nvSpPr>
        <p:spPr>
          <a:xfrm>
            <a:off x="914400" y="26593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respect for persons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0B713D-5F8F-97DD-C206-B99F1CEAC80A}"/>
              </a:ext>
            </a:extLst>
          </p:cNvPr>
          <p:cNvSpPr txBox="1"/>
          <p:nvPr/>
        </p:nvSpPr>
        <p:spPr>
          <a:xfrm>
            <a:off x="4013200" y="265938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people decide for themselves whether to take part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51F8F8-2547-3F26-8823-D9E427FFEBB9}"/>
              </a:ext>
            </a:extLst>
          </p:cNvPr>
          <p:cNvSpPr txBox="1"/>
          <p:nvPr/>
        </p:nvSpPr>
        <p:spPr>
          <a:xfrm>
            <a:off x="914400" y="33451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beneficence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40F527-F153-AAE7-3F71-CB7DAEB38160}"/>
              </a:ext>
            </a:extLst>
          </p:cNvPr>
          <p:cNvSpPr txBox="1"/>
          <p:nvPr/>
        </p:nvSpPr>
        <p:spPr>
          <a:xfrm>
            <a:off x="4013200" y="334518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do no harm: maximize the possible benefits and minimize the possible risks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E5DBA7-1041-887E-1AA2-424094C359F1}"/>
              </a:ext>
            </a:extLst>
          </p:cNvPr>
          <p:cNvSpPr txBox="1"/>
          <p:nvPr/>
        </p:nvSpPr>
        <p:spPr>
          <a:xfrm>
            <a:off x="914400" y="40309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justice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B11E9C-DC32-C8BD-25C2-03DB4FF2BA76}"/>
              </a:ext>
            </a:extLst>
          </p:cNvPr>
          <p:cNvSpPr txBox="1"/>
          <p:nvPr/>
        </p:nvSpPr>
        <p:spPr>
          <a:xfrm>
            <a:off x="4013200" y="403098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burdens and benefits of research are shared fairly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102D1C2D-D027-E787-DF9B-D90AB9F6F91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235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  <p:bldP spid="13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efinition card">
            <a:extLst>
              <a:ext uri="{FF2B5EF4-FFF2-40B4-BE49-F238E27FC236}">
                <a16:creationId xmlns:a16="http://schemas.microsoft.com/office/drawing/2014/main" id="{8A4F3FCB-C7A9-82F3-8E10-9339C32AE6DF}"/>
              </a:ext>
            </a:extLst>
          </p:cNvPr>
          <p:cNvSpPr/>
          <p:nvPr/>
        </p:nvSpPr>
        <p:spPr>
          <a:xfrm>
            <a:off x="762000" y="375158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62506592-1FEC-CE15-6D30-62EAE03D82AD}"/>
              </a:ext>
            </a:extLst>
          </p:cNvPr>
          <p:cNvSpPr/>
          <p:nvPr/>
        </p:nvSpPr>
        <p:spPr>
          <a:xfrm>
            <a:off x="762000" y="27965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62CB8193-5F73-50AC-3051-4D642866D20A}"/>
              </a:ext>
            </a:extLst>
          </p:cNvPr>
          <p:cNvSpPr/>
          <p:nvPr/>
        </p:nvSpPr>
        <p:spPr>
          <a:xfrm>
            <a:off x="762000" y="18415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CC5247-8B4B-54C8-3455-0EB32B299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Research ethics today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598EAA-E7F8-FC9B-8A28-8101A2273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51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8AF89E-601A-B5F9-2D65-135EBA0406FB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informed consent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2C5DDB-F229-9070-C88A-A2681B8F3FF5}"/>
              </a:ext>
            </a:extLst>
          </p:cNvPr>
          <p:cNvSpPr txBox="1"/>
          <p:nvPr/>
        </p:nvSpPr>
        <p:spPr>
          <a:xfrm>
            <a:off x="4013200" y="19430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subjects are told the purpose, procedures and risks in advance, and can refuse or quit at any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BB26A7-0561-F122-F164-A6F6ADA86702}"/>
              </a:ext>
            </a:extLst>
          </p:cNvPr>
          <p:cNvSpPr txBox="1"/>
          <p:nvPr/>
        </p:nvSpPr>
        <p:spPr>
          <a:xfrm>
            <a:off x="914400" y="28981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confidentiality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2E6370-67AB-0ED8-7D3B-CC849A8AFECD}"/>
              </a:ext>
            </a:extLst>
          </p:cNvPr>
          <p:cNvSpPr txBox="1"/>
          <p:nvPr/>
        </p:nvSpPr>
        <p:spPr>
          <a:xfrm>
            <a:off x="4013200" y="28981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information about individuals is protected and never released in a form that identifies them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12902B-5B96-ABFE-050C-EECF749813D9}"/>
              </a:ext>
            </a:extLst>
          </p:cNvPr>
          <p:cNvSpPr txBox="1"/>
          <p:nvPr/>
        </p:nvSpPr>
        <p:spPr>
          <a:xfrm>
            <a:off x="914400" y="3853179"/>
            <a:ext cx="30226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Institutional Review Board (IRB)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934950-E37B-7F6C-1D87-713CC1B80B52}"/>
              </a:ext>
            </a:extLst>
          </p:cNvPr>
          <p:cNvSpPr txBox="1"/>
          <p:nvPr/>
        </p:nvSpPr>
        <p:spPr>
          <a:xfrm>
            <a:off x="4013200" y="385317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reviews and approves studies on human subjects before they start</a:t>
            </a:r>
          </a:p>
          <a:p>
            <a:r>
              <a:rPr lang="en-US" i="1">
                <a:solidFill>
                  <a:srgbClr val="595959"/>
                </a:solidFill>
              </a:rPr>
              <a:t>at UI, through the Office of Research Assurances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18159BBA-B771-78A5-3930-056EC59B3DC2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805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E9C50-2180-9A09-7608-C08B3B78F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Ethics: honest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03678C-7C08-89CA-E3B2-CB2008D7B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8108D8-C022-6582-B6B8-EB2AE42F8E82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Ethics also means honest data. An investigation of psychologist Diederik Stapel found he had invented data: it tainted more than 55 of his papers and 10 PhD dissertations he supervised. A researcher is surveying households in a community: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CC0BD2-74EB-8BD3-2FA2-EDF53C0DB90C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They choose a block where they already know many of the neighbors. What is the problem?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3A2E9A-6FFD-CC4B-0BB8-6E3EE5F60F15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 convenience sample - it is biased, and claiming it represents the community is misleading.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61BC9F-8DF7-4ADB-68EF-D1A416279CEB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Nobody is home at four houses, so they skip them and never go back. What is the problem?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EC7D30-25A5-81AE-2894-7068B4D9B330}"/>
              </a:ext>
            </a:extLst>
          </p:cNvPr>
          <p:cNvSpPr txBox="1"/>
          <p:nvPr/>
        </p:nvSpPr>
        <p:spPr>
          <a:xfrm>
            <a:off x="1117600" y="36449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Nonresponse - people who are not home, such as working families, may differ from the people who are.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AAC60D-581D-7FA4-26CF-042E9E2B03F5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Running late, they fill in four forms with answers copied from neighbors. What is the problem?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CD2DD0-5481-A2A7-66F2-84DB6CD15D72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Fabricated data. It is never acceptable, even when the answers look realistic.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DC1D6A-F2F5-13CF-ACE8-FA96E392EA08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Introductory Statistics 2e (OpenStax), Section 1.4 and Example 1.22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CD14A3EC-A9EF-F0CA-9E7C-BE87A5742DBA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4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what design, and can it show cause?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415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A survey finds that people who own dogs have lower blood pressure than people who do not.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13614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Observational - nobody was assigned a dog. Active people may both own dogs and have lower blood pressure.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6339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60 volunteers with insomnia are randomly split: 30 get melatonin, 30 get an identical-looking placebo.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29286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Completely randomized experiment - it can show cause, for people like these volunteers.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4264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In each of 4 greenhouses, tomato plants are randomly assigned to fertilizer A or fertilizer B.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7211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Randomized block design, with greenhouses as the blocks - it can show cause.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AB4AB3-AF76-E343-8E9D-F510689F4DA5}"/>
              </a:ext>
            </a:extLst>
          </p:cNvPr>
          <p:cNvSpPr txBox="1"/>
          <p:nvPr/>
        </p:nvSpPr>
        <p:spPr>
          <a:xfrm>
            <a:off x="762000" y="421893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4.</a:t>
            </a:r>
            <a:r>
              <a:rPr lang="en-US" sz="1600">
                <a:solidFill>
                  <a:srgbClr val="000000"/>
                </a:solidFill>
              </a:rPr>
              <a:t>  Subjects complete mazes wearing a floral-scented mask and an unscented mask, in a random order. Can the subjects be blinded?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8CA5C4-59E4-103B-3E2C-908EA083FB6B}"/>
              </a:ext>
            </a:extLst>
          </p:cNvPr>
          <p:cNvSpPr txBox="1"/>
          <p:nvPr/>
        </p:nvSpPr>
        <p:spPr>
          <a:xfrm>
            <a:off x="1117600" y="4757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 - they can smell the flowers. But the researchers timing the mazes can be blinded. (Textbook Example 1.20)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080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2185</TotalTime>
  <Words>5448</Words>
  <Application>Microsoft Office PowerPoint</Application>
  <PresentationFormat>Widescreen</PresentationFormat>
  <Paragraphs>474</Paragraphs>
  <Slides>53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8" baseType="lpstr">
      <vt:lpstr>Arial</vt:lpstr>
      <vt:lpstr>Calibri</vt:lpstr>
      <vt:lpstr>Calibri Light</vt:lpstr>
      <vt:lpstr>Consolas</vt:lpstr>
      <vt:lpstr>Office Theme</vt:lpstr>
      <vt:lpstr>Lecture 8 Sampling and Experimental Design</vt:lpstr>
      <vt:lpstr>Start with a question</vt:lpstr>
      <vt:lpstr>Words we need</vt:lpstr>
      <vt:lpstr>More words we need</vt:lpstr>
      <vt:lpstr>Example: exercise at a small college</vt:lpstr>
      <vt:lpstr>Census, sample and sampling error</vt:lpstr>
      <vt:lpstr>Practice: find the sampling frame</vt:lpstr>
      <vt:lpstr>With or without replacement?</vt:lpstr>
      <vt:lpstr>Be Skeptical</vt:lpstr>
      <vt:lpstr>Misleading graphs: OxyContin</vt:lpstr>
      <vt:lpstr>Should we believe the graph?</vt:lpstr>
      <vt:lpstr>Two easy ways to get a sample</vt:lpstr>
      <vt:lpstr>What could go wrong?</vt:lpstr>
      <vt:lpstr>17.5 million votes</vt:lpstr>
      <vt:lpstr>Online opt-in polls</vt:lpstr>
      <vt:lpstr>Estimates are shots at a target</vt:lpstr>
      <vt:lpstr>A bigger sample does not fix bias</vt:lpstr>
      <vt:lpstr>The fix: let chance choose</vt:lpstr>
      <vt:lpstr>Simple random sample (SRS)</vt:lpstr>
      <vt:lpstr>Drawing an SRS in practice</vt:lpstr>
      <vt:lpstr>Systematic sample</vt:lpstr>
      <vt:lpstr>Stratified random sample</vt:lpstr>
      <vt:lpstr>Proportional allocation with real data</vt:lpstr>
      <vt:lpstr>Cluster sample</vt:lpstr>
      <vt:lpstr>Two-stage cluster sample</vt:lpstr>
      <vt:lpstr>Strata vs. clusters</vt:lpstr>
      <vt:lpstr>Two kinds of error</vt:lpstr>
      <vt:lpstr>Three common nonsampling errors</vt:lpstr>
      <vt:lpstr>Nonresponse: when nobody picks up</vt:lpstr>
      <vt:lpstr>Question wording: same law, two names</vt:lpstr>
      <vt:lpstr>Practice: name the sampling design</vt:lpstr>
      <vt:lpstr>Your course project: Part 3</vt:lpstr>
      <vt:lpstr>Lecture 8, Part 2 Experiments and Causation</vt:lpstr>
      <vt:lpstr>Observational studies and experiments</vt:lpstr>
      <vt:lpstr>Association is not causation</vt:lpstr>
      <vt:lpstr>Hormone therapy and heart disease</vt:lpstr>
      <vt:lpstr>Can we claim cause without an experiment?</vt:lpstr>
      <vt:lpstr>The language of experiments</vt:lpstr>
      <vt:lpstr>Example: the VITAL trial</vt:lpstr>
      <vt:lpstr>Principles of experimental design</vt:lpstr>
      <vt:lpstr>Placebos and blinding</vt:lpstr>
      <vt:lpstr>The 2020 Pfizer-BioNTech vaccine trial</vt:lpstr>
      <vt:lpstr>A placebo surgery</vt:lpstr>
      <vt:lpstr>Completely randomized design</vt:lpstr>
      <vt:lpstr>Randomized block design</vt:lpstr>
      <vt:lpstr>Matched pairs design</vt:lpstr>
      <vt:lpstr>What does randomization buy you?</vt:lpstr>
      <vt:lpstr>Practice: design the study</vt:lpstr>
      <vt:lpstr>Ethics: the Facebook experiment</vt:lpstr>
      <vt:lpstr>The Belmont Report: three principles</vt:lpstr>
      <vt:lpstr>Research ethics today</vt:lpstr>
      <vt:lpstr>Ethics: honest data</vt:lpstr>
      <vt:lpstr>Practice: what design, and can it show cause?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349</cp:revision>
  <dcterms:created xsi:type="dcterms:W3CDTF">2023-08-05T23:57:41Z</dcterms:created>
  <dcterms:modified xsi:type="dcterms:W3CDTF">2026-09-14T19:42:08Z</dcterms:modified>
</cp:coreProperties>
</file>