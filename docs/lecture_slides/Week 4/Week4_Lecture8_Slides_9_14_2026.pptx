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8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Sampling and Experimental Design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D948-9EC7-CBD2-A6D1-7889E397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Start with a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8BC7-C310-D8C1-71ED-02274ED8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8E7DB7-88A3-D17E-E917-10778BBC3BDD}"/>
              </a:ext>
            </a:extLst>
          </p:cNvPr>
          <p:cNvSpPr/>
          <p:nvPr/>
        </p:nvSpPr>
        <p:spPr>
          <a:xfrm>
            <a:off x="889000" y="2032000"/>
            <a:ext cx="10414000" cy="1905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pPr>
              <a:spcAft>
                <a:spcPts val="1000"/>
              </a:spcAft>
            </a:pPr>
            <a:r>
              <a:rPr lang="en-US" sz="2400" b="1">
                <a:solidFill>
                  <a:srgbClr val="000000"/>
                </a:solidFill>
              </a:rPr>
              <a:t>How many hours a week does a typical University of Idaho student spend exercising?</a:t>
            </a:r>
          </a:p>
          <a:p>
            <a:pPr>
              <a:spcAft>
                <a:spcPts val="1000"/>
              </a:spcAft>
            </a:pPr>
            <a:r>
              <a:rPr lang="en-US" sz="2000">
                <a:solidFill>
                  <a:srgbClr val="000000"/>
                </a:solidFill>
              </a:rPr>
              <a:t>We cannot ask every student. So how would you get the data?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A8E01-73A1-D229-5BA4-622D81B81520}"/>
              </a:ext>
            </a:extLst>
          </p:cNvPr>
          <p:cNvSpPr txBox="1"/>
          <p:nvPr/>
        </p:nvSpPr>
        <p:spPr>
          <a:xfrm>
            <a:off x="889000" y="4318000"/>
            <a:ext cx="10414000" cy="4064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 i="1">
                <a:solidFill>
                  <a:srgbClr val="C00000"/>
                </a:solidFill>
              </a:rPr>
              <a:t>Talk to your neighbor for one minute: who would you ask, and how would you choose them?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B78D7EB-5CC1-C7CB-9FFC-35E4A2CE4BF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0FADA15D-D5F7-A040-BA2D-D089BDD7DD73}"/>
              </a:ext>
            </a:extLst>
          </p:cNvPr>
          <p:cNvSpPr/>
          <p:nvPr/>
        </p:nvSpPr>
        <p:spPr>
          <a:xfrm>
            <a:off x="762000" y="470662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FB666A1F-AEE1-66F5-B56A-BFB3F5579B3B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17544803-6D6E-7F6D-E7B1-C2107FE8FDAD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95176581-EF2B-344E-44B9-CC6E47D4A325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92D96-AAC7-0213-EF15-9A19171B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Words we need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B584E-4624-7FF9-C4BA-6342B473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C5926-193E-A6CB-E899-512823BF21D2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E516D-7B92-8A9D-2E34-FF72EDD8B362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entire group we want to learn about</a:t>
            </a:r>
          </a:p>
          <a:p>
            <a:r>
              <a:rPr lang="en-US" i="1">
                <a:solidFill>
                  <a:srgbClr val="595959"/>
                </a:solidFill>
              </a:rPr>
              <a:t>every University of Idaho student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2F265-6F85-1760-2AAF-55573E2A690A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parameter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79D30-46F1-4759-E704-8B88F8BF9AB9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 number that describes the population</a:t>
            </a:r>
          </a:p>
          <a:p>
            <a:r>
              <a:rPr lang="en-US" i="1">
                <a:solidFill>
                  <a:srgbClr val="595959"/>
                </a:solidFill>
              </a:rPr>
              <a:t>the mean weekly exercise hours of ALL UI students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39970-F241-F968-B4D8-AD05BCC1FC48}"/>
              </a:ext>
            </a:extLst>
          </p:cNvPr>
          <p:cNvSpPr txBox="1"/>
          <p:nvPr/>
        </p:nvSpPr>
        <p:spPr>
          <a:xfrm>
            <a:off x="914400" y="3853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E89700-1F70-11C6-D2F6-A06D72C5D379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part of the population we actually observe</a:t>
            </a:r>
          </a:p>
          <a:p>
            <a:r>
              <a:rPr lang="en-US" i="1">
                <a:solidFill>
                  <a:srgbClr val="595959"/>
                </a:solidFill>
              </a:rPr>
              <a:t>the students we end up asking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6E661-7E46-C961-08EF-2B7E7986DE61}"/>
              </a:ext>
            </a:extLst>
          </p:cNvPr>
          <p:cNvSpPr txBox="1"/>
          <p:nvPr/>
        </p:nvSpPr>
        <p:spPr>
          <a:xfrm>
            <a:off x="914400" y="480822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statistic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762692-2943-0F20-F8DA-411FBF04F43F}"/>
              </a:ext>
            </a:extLst>
          </p:cNvPr>
          <p:cNvSpPr txBox="1"/>
          <p:nvPr/>
        </p:nvSpPr>
        <p:spPr>
          <a:xfrm>
            <a:off x="4013200" y="480821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 number computed from the sample</a:t>
            </a:r>
          </a:p>
          <a:p>
            <a:r>
              <a:rPr lang="en-US" i="1">
                <a:solidFill>
                  <a:srgbClr val="595959"/>
                </a:solidFill>
              </a:rPr>
              <a:t>the mean exercise hours of the students we asked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F101DE2-C30A-EF29-C33A-4FBE869797C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3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finition card">
            <a:extLst>
              <a:ext uri="{FF2B5EF4-FFF2-40B4-BE49-F238E27FC236}">
                <a16:creationId xmlns:a16="http://schemas.microsoft.com/office/drawing/2014/main" id="{071BCEC3-50A2-6060-5596-19EB109A9B01}"/>
              </a:ext>
            </a:extLst>
          </p:cNvPr>
          <p:cNvSpPr/>
          <p:nvPr/>
        </p:nvSpPr>
        <p:spPr>
          <a:xfrm>
            <a:off x="762000" y="495808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efinition card">
            <a:extLst>
              <a:ext uri="{FF2B5EF4-FFF2-40B4-BE49-F238E27FC236}">
                <a16:creationId xmlns:a16="http://schemas.microsoft.com/office/drawing/2014/main" id="{0C72A64A-2D44-E516-67C4-069B050F8BB2}"/>
              </a:ext>
            </a:extLst>
          </p:cNvPr>
          <p:cNvSpPr/>
          <p:nvPr/>
        </p:nvSpPr>
        <p:spPr>
          <a:xfrm>
            <a:off x="762000" y="42976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358C5CEA-BB32-D647-9C07-412F2C3BE836}"/>
              </a:ext>
            </a:extLst>
          </p:cNvPr>
          <p:cNvSpPr/>
          <p:nvPr/>
        </p:nvSpPr>
        <p:spPr>
          <a:xfrm>
            <a:off x="762000" y="36372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492279C1-48DA-BEC4-CD2E-67B67133E6E2}"/>
              </a:ext>
            </a:extLst>
          </p:cNvPr>
          <p:cNvSpPr/>
          <p:nvPr/>
        </p:nvSpPr>
        <p:spPr>
          <a:xfrm>
            <a:off x="762000" y="27076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307EC70F-675D-2934-2295-55CE6389C430}"/>
              </a:ext>
            </a:extLst>
          </p:cNvPr>
          <p:cNvSpPr/>
          <p:nvPr/>
        </p:nvSpPr>
        <p:spPr>
          <a:xfrm>
            <a:off x="762000" y="17780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49B81-331F-4297-715C-1A0AD1BC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More words we need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9B3F-2CE4-60ED-E945-3CF3B763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B019F-9205-223A-E2C7-2FDC033E1DCF}"/>
              </a:ext>
            </a:extLst>
          </p:cNvPr>
          <p:cNvSpPr txBox="1"/>
          <p:nvPr/>
        </p:nvSpPr>
        <p:spPr>
          <a:xfrm>
            <a:off x="914400" y="18796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census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B44C3-5BF9-136A-D451-607AB01EA097}"/>
              </a:ext>
            </a:extLst>
          </p:cNvPr>
          <p:cNvSpPr txBox="1"/>
          <p:nvPr/>
        </p:nvSpPr>
        <p:spPr>
          <a:xfrm>
            <a:off x="4013200" y="18795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data collected on every member of the population</a:t>
            </a:r>
          </a:p>
          <a:p>
            <a:r>
              <a:rPr lang="en-US" i="1">
                <a:solidFill>
                  <a:srgbClr val="595959"/>
                </a:solidFill>
              </a:rPr>
              <a:t>asking all UI students - slow, expensive, often impossible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3AE8D-27D1-C5F5-20A0-3D8E5D61F611}"/>
              </a:ext>
            </a:extLst>
          </p:cNvPr>
          <p:cNvSpPr txBox="1"/>
          <p:nvPr/>
        </p:nvSpPr>
        <p:spPr>
          <a:xfrm>
            <a:off x="914400" y="28092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frame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1718E-A848-9C1E-F98B-52EFF59C5B62}"/>
              </a:ext>
            </a:extLst>
          </p:cNvPr>
          <p:cNvSpPr txBox="1"/>
          <p:nvPr/>
        </p:nvSpPr>
        <p:spPr>
          <a:xfrm>
            <a:off x="4013200" y="28092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list we actually choose the sample from</a:t>
            </a:r>
          </a:p>
          <a:p>
            <a:r>
              <a:rPr lang="en-US" i="1">
                <a:solidFill>
                  <a:srgbClr val="595959"/>
                </a:solidFill>
              </a:rPr>
              <a:t>the registrar's list of enrolled students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F5BEF6-5D4E-96D1-0EE3-A37D33134681}"/>
              </a:ext>
            </a:extLst>
          </p:cNvPr>
          <p:cNvSpPr txBox="1"/>
          <p:nvPr/>
        </p:nvSpPr>
        <p:spPr>
          <a:xfrm>
            <a:off x="914400" y="37388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690B4-3FB2-2999-BB28-46163A762FFE}"/>
              </a:ext>
            </a:extLst>
          </p:cNvPr>
          <p:cNvSpPr txBox="1"/>
          <p:nvPr/>
        </p:nvSpPr>
        <p:spPr>
          <a:xfrm>
            <a:off x="4013200" y="37388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rule we use to choose the sample from the frame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F0AD9-DA6B-0E91-396C-6B01A03DAD62}"/>
              </a:ext>
            </a:extLst>
          </p:cNvPr>
          <p:cNvSpPr txBox="1"/>
          <p:nvPr/>
        </p:nvSpPr>
        <p:spPr>
          <a:xfrm>
            <a:off x="914400" y="43992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representative sample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2DD17-1CC5-F653-7BA2-989B3993CD58}"/>
              </a:ext>
            </a:extLst>
          </p:cNvPr>
          <p:cNvSpPr txBox="1"/>
          <p:nvPr/>
        </p:nvSpPr>
        <p:spPr>
          <a:xfrm>
            <a:off x="4013200" y="43992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 sample with the same characteristics as the population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1D7D4-C82D-F9F7-8F96-5F9AC0E204D4}"/>
              </a:ext>
            </a:extLst>
          </p:cNvPr>
          <p:cNvSpPr txBox="1"/>
          <p:nvPr/>
        </p:nvSpPr>
        <p:spPr>
          <a:xfrm>
            <a:off x="914400" y="50596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error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7EAEF2-6123-978E-60F6-5B9046E68FB6}"/>
              </a:ext>
            </a:extLst>
          </p:cNvPr>
          <p:cNvSpPr txBox="1"/>
          <p:nvPr/>
        </p:nvSpPr>
        <p:spPr>
          <a:xfrm>
            <a:off x="4013200" y="505968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gap between a statistic and the parameter, just from which units happened to be chosen</a:t>
            </a:r>
          </a:p>
          <a:p>
            <a:r>
              <a:rPr lang="en-US" i="1">
                <a:solidFill>
                  <a:srgbClr val="595959"/>
                </a:solidFill>
              </a:rPr>
              <a:t>a different sample would give a slightly different answer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5D01C7FA-68B4-25CD-6A54-1CF7D81C050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1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3866-9B7C-6E84-D6D9-C059BD25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exercise at a small college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F897D-81A1-0B2B-5DD2-7002EF6D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pic>
        <p:nvPicPr>
          <p:cNvPr id="6" name="l8_frame_setup.png">
            <a:extLst>
              <a:ext uri="{FF2B5EF4-FFF2-40B4-BE49-F238E27FC236}">
                <a16:creationId xmlns:a16="http://schemas.microsoft.com/office/drawing/2014/main" id="{95A83EF1-46B1-A770-E28F-CF73B8DBAD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03400"/>
            <a:ext cx="5588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918957-D1F6-1ECC-D963-C313C3D9E254}"/>
              </a:ext>
            </a:extLst>
          </p:cNvPr>
          <p:cNvSpPr txBox="1"/>
          <p:nvPr/>
        </p:nvSpPr>
        <p:spPr>
          <a:xfrm>
            <a:off x="6350000" y="1841499"/>
            <a:ext cx="5334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A small college has 100 students. Its health center wants to know the mean number of hours students exercised last week.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32A28-77A3-9891-4287-13DC56782113}"/>
              </a:ext>
            </a:extLst>
          </p:cNvPr>
          <p:cNvSpPr txBox="1"/>
          <p:nvPr/>
        </p:nvSpPr>
        <p:spPr>
          <a:xfrm>
            <a:off x="6350000" y="280162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What is the population, and what is the parameter?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B1BEF-1CDF-C141-2A25-6A1BCCB61B14}"/>
              </a:ext>
            </a:extLst>
          </p:cNvPr>
          <p:cNvSpPr txBox="1"/>
          <p:nvPr/>
        </p:nvSpPr>
        <p:spPr>
          <a:xfrm>
            <a:off x="6705600" y="3096260"/>
            <a:ext cx="4978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All 100 students, and the mean exercise hours of all 100.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EBE2B3-5C28-873C-D3BC-ADA1CE644942}"/>
              </a:ext>
            </a:extLst>
          </p:cNvPr>
          <p:cNvSpPr txBox="1"/>
          <p:nvPr/>
        </p:nvSpPr>
        <p:spPr>
          <a:xfrm>
            <a:off x="6350000" y="3594099"/>
            <a:ext cx="5334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The registrar's list, in the dashed box, has only 90 names. What is that list?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60E4E-A802-4A46-2D1E-CDBEFA03958F}"/>
              </a:ext>
            </a:extLst>
          </p:cNvPr>
          <p:cNvSpPr txBox="1"/>
          <p:nvPr/>
        </p:nvSpPr>
        <p:spPr>
          <a:xfrm>
            <a:off x="6705600" y="4132579"/>
            <a:ext cx="4978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sampling frame. The 10 late enrollees are not on it, so they cannot be chosen.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69A93-DFED-B090-5E13-0DB8C8FF3F89}"/>
              </a:ext>
            </a:extLst>
          </p:cNvPr>
          <p:cNvSpPr txBox="1"/>
          <p:nvPr/>
        </p:nvSpPr>
        <p:spPr>
          <a:xfrm>
            <a:off x="6350000" y="487426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would asking all 100 students be called?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EE232-B970-4603-FD10-AD65FD303EB1}"/>
              </a:ext>
            </a:extLst>
          </p:cNvPr>
          <p:cNvSpPr txBox="1"/>
          <p:nvPr/>
        </p:nvSpPr>
        <p:spPr>
          <a:xfrm>
            <a:off x="6705600" y="5168900"/>
            <a:ext cx="4978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census.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7A2743D-69EB-3092-79E6-433599FFE8E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6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FF01-847A-7585-B88B-9D9108FB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Census, sample and sampling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B7BB2-1566-A9B6-4B6B-6EBDCCBB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pic>
        <p:nvPicPr>
          <p:cNvPr id="6" name="l8_frame_example.png">
            <a:extLst>
              <a:ext uri="{FF2B5EF4-FFF2-40B4-BE49-F238E27FC236}">
                <a16:creationId xmlns:a16="http://schemas.microsoft.com/office/drawing/2014/main" id="{1F7B47DC-CE10-4897-8F0E-FFC19D1E23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03400"/>
            <a:ext cx="5588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03C9DB-DB25-E952-EC6B-5DDBE7450536}"/>
              </a:ext>
            </a:extLst>
          </p:cNvPr>
          <p:cNvSpPr txBox="1"/>
          <p:nvPr/>
        </p:nvSpPr>
        <p:spPr>
          <a:xfrm>
            <a:off x="6350000" y="184150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census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69327-18FA-5919-A6E1-D407E00A3C0E}"/>
              </a:ext>
            </a:extLst>
          </p:cNvPr>
          <p:cNvSpPr txBox="1"/>
          <p:nvPr/>
        </p:nvSpPr>
        <p:spPr>
          <a:xfrm>
            <a:off x="6629400" y="211073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asking all 100 students gives a mean of 4.6 hours - the parameter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0F90D-B55A-A15D-CE62-E1C9F30510A1}"/>
              </a:ext>
            </a:extLst>
          </p:cNvPr>
          <p:cNvSpPr txBox="1"/>
          <p:nvPr/>
        </p:nvSpPr>
        <p:spPr>
          <a:xfrm>
            <a:off x="6350000" y="282702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23B35-A6B4-38D5-A2A7-A1AC6798A187}"/>
              </a:ext>
            </a:extLst>
          </p:cNvPr>
          <p:cNvSpPr txBox="1"/>
          <p:nvPr/>
        </p:nvSpPr>
        <p:spPr>
          <a:xfrm>
            <a:off x="6629400" y="309625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an SRS of 10 from the list, in red, gives a mean of 4.4 hours - the statistic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F43EAF-71D6-25BF-CB8F-126F4C09BE95}"/>
              </a:ext>
            </a:extLst>
          </p:cNvPr>
          <p:cNvSpPr txBox="1"/>
          <p:nvPr/>
        </p:nvSpPr>
        <p:spPr>
          <a:xfrm>
            <a:off x="6350000" y="381254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sampling 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698FE-8253-24C7-1883-2FB9D47D31E3}"/>
              </a:ext>
            </a:extLst>
          </p:cNvPr>
          <p:cNvSpPr txBox="1"/>
          <p:nvPr/>
        </p:nvSpPr>
        <p:spPr>
          <a:xfrm>
            <a:off x="6629400" y="408177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4.4 - 4.6 = -0.2 hours. A different random sample would give a different error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AF462D9-1273-98A6-DDAE-D38EF7FF880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7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9213-C15F-4599-8882-2BF6BEE9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find the sampling frame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1BBC4-6531-CB74-B705-52D04C36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04A54-D5E7-14EE-B177-A9DD018DBE76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Student government wants to know how students feel about a parking-fee increase. It emails a survey to 500 students picked at random from the university email directory.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AA36B-1472-956F-13FD-E14DA1B9F318}"/>
              </a:ext>
            </a:extLst>
          </p:cNvPr>
          <p:cNvSpPr txBox="1"/>
          <p:nvPr/>
        </p:nvSpPr>
        <p:spPr>
          <a:xfrm>
            <a:off x="1117600" y="23799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Frame: the university email directory. It lists nearly every enrolled student, so it matches the population well.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2B386-C88B-2C4D-1D42-3642F25041A3}"/>
              </a:ext>
            </a:extLst>
          </p:cNvPr>
          <p:cNvSpPr txBox="1"/>
          <p:nvPr/>
        </p:nvSpPr>
        <p:spPr>
          <a:xfrm>
            <a:off x="762000" y="287781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A Moscow coffee shop wants its customers' opinions on a new menu. It surveys 100 people picked at random from its loyalty-app members.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ED661-188C-FEAF-E447-A34B39D2E5FD}"/>
              </a:ext>
            </a:extLst>
          </p:cNvPr>
          <p:cNvSpPr txBox="1"/>
          <p:nvPr/>
        </p:nvSpPr>
        <p:spPr>
          <a:xfrm>
            <a:off x="1117600" y="34163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Frame: the loyalty-app member list. Customers who never joined the app cannot be chosen.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2190BD-528E-6EFB-F005-98CDDD771E40}"/>
              </a:ext>
            </a:extLst>
          </p:cNvPr>
          <p:cNvSpPr txBox="1"/>
          <p:nvPr/>
        </p:nvSpPr>
        <p:spPr>
          <a:xfrm>
            <a:off x="762000" y="39141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A city council wants residents' views on a new bike lane. It calls numbers picked at random from a printed phone directory.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183B4-EB54-8BD2-5FF8-22EDFD7624BC}"/>
              </a:ext>
            </a:extLst>
          </p:cNvPr>
          <p:cNvSpPr txBox="1"/>
          <p:nvPr/>
        </p:nvSpPr>
        <p:spPr>
          <a:xfrm>
            <a:off x="1117600" y="42087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Frame: the phone directory. It misses everyone without a listed landline - a group that skews young.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D9F95A9F-92E8-C6AD-D1F3-4E0803CA8A2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1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finition card">
            <a:extLst>
              <a:ext uri="{FF2B5EF4-FFF2-40B4-BE49-F238E27FC236}">
                <a16:creationId xmlns:a16="http://schemas.microsoft.com/office/drawing/2014/main" id="{85266698-E955-A089-792F-5F1F2EE4A2ED}"/>
              </a:ext>
            </a:extLst>
          </p:cNvPr>
          <p:cNvSpPr/>
          <p:nvPr/>
        </p:nvSpPr>
        <p:spPr>
          <a:xfrm>
            <a:off x="762000" y="24384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096B80F2-3EF9-F71F-A6E5-4BDE7079FF22}"/>
              </a:ext>
            </a:extLst>
          </p:cNvPr>
          <p:cNvSpPr/>
          <p:nvPr/>
        </p:nvSpPr>
        <p:spPr>
          <a:xfrm>
            <a:off x="762000" y="17780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29B41-9B81-7CD7-1327-8D059587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With or without replacement?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7890-9CD8-6B63-28D5-30DE7B3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A9B30-6D1A-2559-33DF-896D9FC1770F}"/>
              </a:ext>
            </a:extLst>
          </p:cNvPr>
          <p:cNvSpPr txBox="1"/>
          <p:nvPr/>
        </p:nvSpPr>
        <p:spPr>
          <a:xfrm>
            <a:off x="914400" y="1879600"/>
            <a:ext cx="3657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without replacement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ACC7C-3CF6-B14B-62A9-E05164DDFA5E}"/>
              </a:ext>
            </a:extLst>
          </p:cNvPr>
          <p:cNvSpPr txBox="1"/>
          <p:nvPr/>
        </p:nvSpPr>
        <p:spPr>
          <a:xfrm>
            <a:off x="4648200" y="1879600"/>
            <a:ext cx="6629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 picked unit is set aside, so it can be chosen only once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2973A-0B6A-A999-F622-2BD39A322B15}"/>
              </a:ext>
            </a:extLst>
          </p:cNvPr>
          <p:cNvSpPr txBox="1"/>
          <p:nvPr/>
        </p:nvSpPr>
        <p:spPr>
          <a:xfrm>
            <a:off x="914400" y="2540000"/>
            <a:ext cx="3657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with replacement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F0B78-7CCA-B6F7-B01E-FBD0EC291E10}"/>
              </a:ext>
            </a:extLst>
          </p:cNvPr>
          <p:cNvSpPr txBox="1"/>
          <p:nvPr/>
        </p:nvSpPr>
        <p:spPr>
          <a:xfrm>
            <a:off x="4648200" y="2540000"/>
            <a:ext cx="6629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 picked unit is put back, so it could be chosen again</a:t>
            </a:r>
          </a:p>
        </p:txBody>
      </p:sp>
      <p:pic>
        <p:nvPicPr>
          <p:cNvPr id="12" name="l8_replacement.png">
            <a:extLst>
              <a:ext uri="{FF2B5EF4-FFF2-40B4-BE49-F238E27FC236}">
                <a16:creationId xmlns:a16="http://schemas.microsoft.com/office/drawing/2014/main" id="{DA191A5D-8442-7A92-2DCB-C658EB2EEA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175000"/>
            <a:ext cx="10922000" cy="228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39AB04-2C6B-18B8-A95C-4E0888ED81E8}"/>
              </a:ext>
            </a:extLst>
          </p:cNvPr>
          <p:cNvSpPr txBox="1"/>
          <p:nvPr/>
        </p:nvSpPr>
        <p:spPr>
          <a:xfrm>
            <a:off x="762000" y="55625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Surveys sample without replacement. When the population is much bigger than the sample, the two give practically the same results.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EA63814A-CF5D-ACD9-4B28-85E1835D687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3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keptic card">
            <a:extLst>
              <a:ext uri="{FF2B5EF4-FFF2-40B4-BE49-F238E27FC236}">
                <a16:creationId xmlns:a16="http://schemas.microsoft.com/office/drawing/2014/main" id="{98123A36-5981-B121-E131-43C5B6F9FF1B}"/>
              </a:ext>
            </a:extLst>
          </p:cNvPr>
          <p:cNvSpPr/>
          <p:nvPr/>
        </p:nvSpPr>
        <p:spPr>
          <a:xfrm>
            <a:off x="8001000" y="45212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keptic card">
            <a:extLst>
              <a:ext uri="{FF2B5EF4-FFF2-40B4-BE49-F238E27FC236}">
                <a16:creationId xmlns:a16="http://schemas.microsoft.com/office/drawing/2014/main" id="{EA5C75D7-4385-62D0-5D70-1DA43ECD6735}"/>
              </a:ext>
            </a:extLst>
          </p:cNvPr>
          <p:cNvSpPr/>
          <p:nvPr/>
        </p:nvSpPr>
        <p:spPr>
          <a:xfrm>
            <a:off x="4381500" y="45212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keptic card">
            <a:extLst>
              <a:ext uri="{FF2B5EF4-FFF2-40B4-BE49-F238E27FC236}">
                <a16:creationId xmlns:a16="http://schemas.microsoft.com/office/drawing/2014/main" id="{EA9C0C43-E214-296C-2D6A-1C12AD60CA73}"/>
              </a:ext>
            </a:extLst>
          </p:cNvPr>
          <p:cNvSpPr/>
          <p:nvPr/>
        </p:nvSpPr>
        <p:spPr>
          <a:xfrm>
            <a:off x="762000" y="45212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keptic card">
            <a:extLst>
              <a:ext uri="{FF2B5EF4-FFF2-40B4-BE49-F238E27FC236}">
                <a16:creationId xmlns:a16="http://schemas.microsoft.com/office/drawing/2014/main" id="{EAB3AD73-ADF4-902E-0166-71F59EF3A37B}"/>
              </a:ext>
            </a:extLst>
          </p:cNvPr>
          <p:cNvSpPr/>
          <p:nvPr/>
        </p:nvSpPr>
        <p:spPr>
          <a:xfrm>
            <a:off x="8001000" y="31496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ptic card">
            <a:extLst>
              <a:ext uri="{FF2B5EF4-FFF2-40B4-BE49-F238E27FC236}">
                <a16:creationId xmlns:a16="http://schemas.microsoft.com/office/drawing/2014/main" id="{FE21C0D9-4D17-0637-111A-160709C290D4}"/>
              </a:ext>
            </a:extLst>
          </p:cNvPr>
          <p:cNvSpPr/>
          <p:nvPr/>
        </p:nvSpPr>
        <p:spPr>
          <a:xfrm>
            <a:off x="4381500" y="31496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keptic card">
            <a:extLst>
              <a:ext uri="{FF2B5EF4-FFF2-40B4-BE49-F238E27FC236}">
                <a16:creationId xmlns:a16="http://schemas.microsoft.com/office/drawing/2014/main" id="{D4A49895-EA1E-4966-01FC-5D086F6D99E9}"/>
              </a:ext>
            </a:extLst>
          </p:cNvPr>
          <p:cNvSpPr/>
          <p:nvPr/>
        </p:nvSpPr>
        <p:spPr>
          <a:xfrm>
            <a:off x="762000" y="31496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ptic card">
            <a:extLst>
              <a:ext uri="{FF2B5EF4-FFF2-40B4-BE49-F238E27FC236}">
                <a16:creationId xmlns:a16="http://schemas.microsoft.com/office/drawing/2014/main" id="{7557BF1E-E01B-86B1-3D75-4D02C70F5483}"/>
              </a:ext>
            </a:extLst>
          </p:cNvPr>
          <p:cNvSpPr/>
          <p:nvPr/>
        </p:nvSpPr>
        <p:spPr>
          <a:xfrm>
            <a:off x="8001000" y="17780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ptic card">
            <a:extLst>
              <a:ext uri="{FF2B5EF4-FFF2-40B4-BE49-F238E27FC236}">
                <a16:creationId xmlns:a16="http://schemas.microsoft.com/office/drawing/2014/main" id="{DD104A9F-8053-5215-6A7A-0756FEE5A5C5}"/>
              </a:ext>
            </a:extLst>
          </p:cNvPr>
          <p:cNvSpPr/>
          <p:nvPr/>
        </p:nvSpPr>
        <p:spPr>
          <a:xfrm>
            <a:off x="4381500" y="17780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keptic card">
            <a:extLst>
              <a:ext uri="{FF2B5EF4-FFF2-40B4-BE49-F238E27FC236}">
                <a16:creationId xmlns:a16="http://schemas.microsoft.com/office/drawing/2014/main" id="{82DFE9A3-86F3-FBA6-A406-A9D220141E83}"/>
              </a:ext>
            </a:extLst>
          </p:cNvPr>
          <p:cNvSpPr/>
          <p:nvPr/>
        </p:nvSpPr>
        <p:spPr>
          <a:xfrm>
            <a:off x="762000" y="17780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F3288-5FE5-9DC1-ED42-CC385962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Be Skeptical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7AE26-4E22-1025-E113-5D69AF4D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CCE82-AA2B-DFD6-3E48-9BEBCD0BEB99}"/>
              </a:ext>
            </a:extLst>
          </p:cNvPr>
          <p:cNvSpPr txBox="1"/>
          <p:nvPr/>
        </p:nvSpPr>
        <p:spPr>
          <a:xfrm>
            <a:off x="838200" y="18288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Problems with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A7815-DEDA-0E8B-3FB6-32088BF09C24}"/>
              </a:ext>
            </a:extLst>
          </p:cNvPr>
          <p:cNvSpPr txBox="1"/>
          <p:nvPr/>
        </p:nvSpPr>
        <p:spPr>
          <a:xfrm>
            <a:off x="838200" y="2158999"/>
            <a:ext cx="33401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Is the sample representative? A biased sample gives results that are not valid.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4C1AE-0C5C-FA60-ED8A-6D01C693693E}"/>
              </a:ext>
            </a:extLst>
          </p:cNvPr>
          <p:cNvSpPr txBox="1"/>
          <p:nvPr/>
        </p:nvSpPr>
        <p:spPr>
          <a:xfrm>
            <a:off x="4457700" y="18288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Self-selected samples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0AAEA-DED4-D011-3148-E18092903AE8}"/>
              </a:ext>
            </a:extLst>
          </p:cNvPr>
          <p:cNvSpPr txBox="1"/>
          <p:nvPr/>
        </p:nvSpPr>
        <p:spPr>
          <a:xfrm>
            <a:off x="4457700" y="2158999"/>
            <a:ext cx="33401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Only people who chose to respond, as in call-in or online polls - often unreliable.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3D741-BED5-2128-D02F-FAF543B6AB72}"/>
              </a:ext>
            </a:extLst>
          </p:cNvPr>
          <p:cNvSpPr txBox="1"/>
          <p:nvPr/>
        </p:nvSpPr>
        <p:spPr>
          <a:xfrm>
            <a:off x="8077200" y="18288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Sample size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2206D-DCC8-F3BD-79E8-E377BBF7B775}"/>
              </a:ext>
            </a:extLst>
          </p:cNvPr>
          <p:cNvSpPr txBox="1"/>
          <p:nvPr/>
        </p:nvSpPr>
        <p:spPr>
          <a:xfrm>
            <a:off x="8077200" y="2158999"/>
            <a:ext cx="33401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Samples that are too small may be unreliable. Larger is better when possible.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EC158-BC2B-5E8F-1691-7E5A5269494F}"/>
              </a:ext>
            </a:extLst>
          </p:cNvPr>
          <p:cNvSpPr txBox="1"/>
          <p:nvPr/>
        </p:nvSpPr>
        <p:spPr>
          <a:xfrm>
            <a:off x="838200" y="32004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Undue influence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7E33D0-0903-2CCF-C966-FB6F0E15D530}"/>
              </a:ext>
            </a:extLst>
          </p:cNvPr>
          <p:cNvSpPr txBox="1"/>
          <p:nvPr/>
        </p:nvSpPr>
        <p:spPr>
          <a:xfrm>
            <a:off x="838200" y="3530599"/>
            <a:ext cx="33401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Were the questions asked in a way that pushes people toward an answer?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8019EA-715C-61E9-61E2-2BA08D5D5B9E}"/>
              </a:ext>
            </a:extLst>
          </p:cNvPr>
          <p:cNvSpPr txBox="1"/>
          <p:nvPr/>
        </p:nvSpPr>
        <p:spPr>
          <a:xfrm>
            <a:off x="4457700" y="32004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Nonresponse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FB079D-E58B-FAC2-38B8-247E7FB042A9}"/>
              </a:ext>
            </a:extLst>
          </p:cNvPr>
          <p:cNvSpPr txBox="1"/>
          <p:nvPr/>
        </p:nvSpPr>
        <p:spPr>
          <a:xfrm>
            <a:off x="4457700" y="3530599"/>
            <a:ext cx="33401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Did many people refuse? Those who do answer may have strong opinions.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674B08-3B96-54AA-72C4-4D9D33220548}"/>
              </a:ext>
            </a:extLst>
          </p:cNvPr>
          <p:cNvSpPr txBox="1"/>
          <p:nvPr/>
        </p:nvSpPr>
        <p:spPr>
          <a:xfrm>
            <a:off x="8077200" y="32004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Causality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84C8D5-E56D-7852-37D8-2128B1931848}"/>
              </a:ext>
            </a:extLst>
          </p:cNvPr>
          <p:cNvSpPr txBox="1"/>
          <p:nvPr/>
        </p:nvSpPr>
        <p:spPr>
          <a:xfrm>
            <a:off x="8077200" y="3530599"/>
            <a:ext cx="33401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relationship between two variables does not mean one causes the other.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E8DAA7-418B-116D-5F19-FBCAB640E646}"/>
              </a:ext>
            </a:extLst>
          </p:cNvPr>
          <p:cNvSpPr txBox="1"/>
          <p:nvPr/>
        </p:nvSpPr>
        <p:spPr>
          <a:xfrm>
            <a:off x="838200" y="45720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Self-funded studies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37EE83-E3AA-53D5-CA84-D2C19C80FAC5}"/>
              </a:ext>
            </a:extLst>
          </p:cNvPr>
          <p:cNvSpPr txBox="1"/>
          <p:nvPr/>
        </p:nvSpPr>
        <p:spPr>
          <a:xfrm>
            <a:off x="838200" y="4902199"/>
            <a:ext cx="33401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Who paid for it, and why? Read it critically - but judge it on its merits.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0E0661-D215-18E5-F016-8C1DADFF570C}"/>
              </a:ext>
            </a:extLst>
          </p:cNvPr>
          <p:cNvSpPr txBox="1"/>
          <p:nvPr/>
        </p:nvSpPr>
        <p:spPr>
          <a:xfrm>
            <a:off x="4457700" y="45720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Misleading use of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15575E-ED5A-88EB-F8B1-C6B18FFDAAE9}"/>
              </a:ext>
            </a:extLst>
          </p:cNvPr>
          <p:cNvSpPr txBox="1"/>
          <p:nvPr/>
        </p:nvSpPr>
        <p:spPr>
          <a:xfrm>
            <a:off x="4457700" y="4902199"/>
            <a:ext cx="33401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Watch for badly displayed graphs, incomplete data, or missing context.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1C1FFF-83DF-B02B-CE83-018EB62DE659}"/>
              </a:ext>
            </a:extLst>
          </p:cNvPr>
          <p:cNvSpPr txBox="1"/>
          <p:nvPr/>
        </p:nvSpPr>
        <p:spPr>
          <a:xfrm>
            <a:off x="8077200" y="4572000"/>
            <a:ext cx="33401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Confounding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003CC4-78A1-614F-C496-61E6439995B9}"/>
              </a:ext>
            </a:extLst>
          </p:cNvPr>
          <p:cNvSpPr txBox="1"/>
          <p:nvPr/>
        </p:nvSpPr>
        <p:spPr>
          <a:xfrm>
            <a:off x="8077200" y="4902199"/>
            <a:ext cx="33401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effects of several factors on the response cannot be separated.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8ED933-DD55-F8EB-5A74-CC7E9306AED5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Introductory Statistics 2e (OpenStax), Section 1.2, Critical Evaluation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4890160-2437-DAD6-8F78-D76413377FC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6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8" grpId="0"/>
      <p:bldP spid="21" grpId="0"/>
      <p:bldP spid="24" grpId="0"/>
      <p:bldP spid="27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finition card">
            <a:extLst>
              <a:ext uri="{FF2B5EF4-FFF2-40B4-BE49-F238E27FC236}">
                <a16:creationId xmlns:a16="http://schemas.microsoft.com/office/drawing/2014/main" id="{B6117F31-DD34-C0FD-47A8-5E8784D03D40}"/>
              </a:ext>
            </a:extLst>
          </p:cNvPr>
          <p:cNvSpPr/>
          <p:nvPr/>
        </p:nvSpPr>
        <p:spPr>
          <a:xfrm>
            <a:off x="762000" y="307086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F227CA24-2BAF-1845-65FA-94C3DAF87426}"/>
              </a:ext>
            </a:extLst>
          </p:cNvPr>
          <p:cNvSpPr/>
          <p:nvPr/>
        </p:nvSpPr>
        <p:spPr>
          <a:xfrm>
            <a:off x="762000" y="184150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C5174-AD38-F233-E48C-3A54D10B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easy ways to get a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3F8A1-F786-A2B2-5927-B2D961EC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B4258-DB64-F3F5-FA1E-CBE7FB12F0F9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convenience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616B1-7015-8742-38EA-B9D84F752E6B}"/>
              </a:ext>
            </a:extLst>
          </p:cNvPr>
          <p:cNvSpPr txBox="1"/>
          <p:nvPr/>
        </p:nvSpPr>
        <p:spPr>
          <a:xfrm>
            <a:off x="4013200" y="194310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ask whoever is easiest to reach</a:t>
            </a:r>
          </a:p>
          <a:p>
            <a:r>
              <a:rPr lang="en-US" i="1">
                <a:solidFill>
                  <a:srgbClr val="595959"/>
                </a:solidFill>
              </a:rPr>
              <a:t>stand outside the Student Recreation Center and ask the first 50 people who walk by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36B99-2DDE-B59D-178A-7716907A47B2}"/>
              </a:ext>
            </a:extLst>
          </p:cNvPr>
          <p:cNvSpPr txBox="1"/>
          <p:nvPr/>
        </p:nvSpPr>
        <p:spPr>
          <a:xfrm>
            <a:off x="914400" y="317246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voluntary response sample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852DE-B6F7-6B38-BFB3-3DCFE7EF3B78}"/>
              </a:ext>
            </a:extLst>
          </p:cNvPr>
          <p:cNvSpPr txBox="1"/>
          <p:nvPr/>
        </p:nvSpPr>
        <p:spPr>
          <a:xfrm>
            <a:off x="4013200" y="317246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put out a call and let people choose whether to answer (the textbook calls these self-selected samples)</a:t>
            </a:r>
          </a:p>
          <a:p>
            <a:r>
              <a:rPr lang="en-US" i="1">
                <a:solidFill>
                  <a:srgbClr val="595959"/>
                </a:solidFill>
              </a:rPr>
              <a:t>post a poll on a UI student Instagram account and count the replies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D51D47-7485-6402-2333-DB1AE6D66C49}"/>
              </a:ext>
            </a:extLst>
          </p:cNvPr>
          <p:cNvSpPr txBox="1"/>
          <p:nvPr/>
        </p:nvSpPr>
        <p:spPr>
          <a:xfrm>
            <a:off x="762000" y="4452620"/>
            <a:ext cx="10668000" cy="4064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1F3864"/>
                </a:solidFill>
              </a:rPr>
              <a:t>Both are quick, cheap and easy. So what is the problem?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AD8D8D22-CBCF-DF83-3405-F3062A6BCD6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7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9F42-006F-6E92-1FE8-FDAA358F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could go wrong?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03902-1A40-304C-583A-51991DA2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A5F6E-E027-8B5F-17E9-E02C29C85112}"/>
              </a:ext>
            </a:extLst>
          </p:cNvPr>
          <p:cNvSpPr txBox="1"/>
          <p:nvPr/>
        </p:nvSpPr>
        <p:spPr>
          <a:xfrm>
            <a:off x="762000" y="1778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For each story: is it a convenience sample or a voluntary response sample? What could go wrong?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F319D-EABF-567B-8B2A-52842759499B}"/>
              </a:ext>
            </a:extLst>
          </p:cNvPr>
          <p:cNvSpPr txBox="1"/>
          <p:nvPr/>
        </p:nvSpPr>
        <p:spPr>
          <a:xfrm>
            <a:off x="762000" y="225043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A nutrition club wants to know how many servings of vegetables UI students eat a day. Members ask the first 60 students who walk out of the campus dining hall at lunch.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ACF54-EF03-5E04-8CCF-5658F8ED2301}"/>
              </a:ext>
            </a:extLst>
          </p:cNvPr>
          <p:cNvSpPr txBox="1"/>
          <p:nvPr/>
        </p:nvSpPr>
        <p:spPr>
          <a:xfrm>
            <a:off x="1117600" y="278891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Convenience sample. Only lunchtime dining-hall eaters can be chosen - off-campus students and students who cook for themselves are missed.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15590-9DA8-D0A4-85D9-7C2B317B31B1}"/>
              </a:ext>
            </a:extLst>
          </p:cNvPr>
          <p:cNvSpPr txBox="1"/>
          <p:nvPr/>
        </p:nvSpPr>
        <p:spPr>
          <a:xfrm>
            <a:off x="762000" y="35305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The campus paper wants to know whether students favor moving 8 a.m. classes later. It posts a Vote now! link on social media: 1,200 students vote and 85% say yes.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5D3E5A-9931-8D85-B626-84159A42C16A}"/>
              </a:ext>
            </a:extLst>
          </p:cNvPr>
          <p:cNvSpPr txBox="1"/>
          <p:nvPr/>
        </p:nvSpPr>
        <p:spPr>
          <a:xfrm>
            <a:off x="1117600" y="406907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Voluntary response sample. Students who dread 8 a.m. classes are the most eager to vote, so 85% likely overstates support.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C8234-B203-4102-ACC9-CEA60EDC152B}"/>
              </a:ext>
            </a:extLst>
          </p:cNvPr>
          <p:cNvSpPr txBox="1"/>
          <p:nvPr/>
        </p:nvSpPr>
        <p:spPr>
          <a:xfrm>
            <a:off x="762000" y="481075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A professor wants to know how many hours a week the 300 students in her lecture study. She asks the 25 students who come to her office hours that week.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87CE7-BAF2-C649-F535-B15FF687C7E1}"/>
              </a:ext>
            </a:extLst>
          </p:cNvPr>
          <p:cNvSpPr txBox="1"/>
          <p:nvPr/>
        </p:nvSpPr>
        <p:spPr>
          <a:xfrm>
            <a:off x="1117600" y="534923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Convenience sample - just whoever was there. Students who come to office hours probably study more than the class as a whole.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DAE32383-62D0-89D2-9A78-C995C87D482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5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7415-F712-1BEF-5528-3712A0A7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17.5 million votes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93389-AA08-98EC-8969-EA59FEAC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8E76D-6D23-E5BC-8657-2FF0C80331C0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On December 18, 2022, Elon Musk posted a poll: “Should I step down as head of Twitter? I will abide by the results of this poll.” In 12 hours it drew more than 17.5 million votes, and 57.5% said yes.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2EDE71-570B-D714-5CCE-9C3E7BDA1339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Who could vote in this poll?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0B53E-9CD3-CB11-0FF3-95D3FAEA4232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Anyone who saw the post and chose to vote - mostly Musk's own followers. Nothing stopped fake accounts from voting.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5D756-CC3D-99F2-4F15-3E82DED91149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What kind of sample is this?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D1871-3980-9C58-E0AE-07D7F605C89A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voluntary response sample.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BCA39-0CB4-A99C-ED8C-A01B48DB638A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So does 57.5% tell us what Twitter users - or anyone else - think?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4861A-6F55-8FEB-F7CF-60D736A1F5C1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No. 17.5 million self-selected votes describe only the people who chose to vote. Size does not fix that.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E9BEA4-5C10-FFEC-275E-1EA124965E66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NBC News; Associated Press (December 19, 2022)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834C4FE5-164A-9539-A177-043645CCB7C6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2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3578-20FC-A5EA-0B6D-362C2961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Online opt-in polls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5D3F2-EA88-BB65-88C5-8649BAA9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69AEB-ADCC-6126-B180-7FC38DD4A579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Many online polls use opt-in panels: anyone can sign up to take surveys, and they are paid for each one they finish.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7D475-E480-3A92-6BD8-22EE0FBF6FDB}"/>
              </a:ext>
            </a:extLst>
          </p:cNvPr>
          <p:cNvSpPr txBox="1"/>
          <p:nvPr/>
        </p:nvSpPr>
        <p:spPr>
          <a:xfrm>
            <a:off x="762000" y="2313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In opt-in polls, what percent of adults under 30 said they were licensed to operate a nuclear submarine?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4A6B2-B71E-1807-5006-F113008BDA98}"/>
              </a:ext>
            </a:extLst>
          </p:cNvPr>
          <p:cNvSpPr txBox="1"/>
          <p:nvPr/>
        </p:nvSpPr>
        <p:spPr>
          <a:xfrm>
            <a:off x="1117600" y="2608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12% - and 24% of Hispanic respondents. Almost nobody is licensed to operate a nuclear submarine.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46099-462F-56CB-3D91-32881AEBE28E}"/>
              </a:ext>
            </a:extLst>
          </p:cNvPr>
          <p:cNvSpPr txBox="1"/>
          <p:nvPr/>
        </p:nvSpPr>
        <p:spPr>
          <a:xfrm>
            <a:off x="762000" y="310641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An opt-in poll found 20% of adults under 30 agreed that the Holocaust is a myth. Pew asked the same question of a random sample. What did it find?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F4EC-799B-5740-0D82-9D0AFB3BD65C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3%. Bogus and careless respondents answering for the money made most of the 20%.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6F60A-E777-BAA7-82D8-695C5CE8F198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Why does this matter for how we read headlines about young people?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22763-DA38-C846-57D4-1AEBF7EFC397}"/>
              </a:ext>
            </a:extLst>
          </p:cNvPr>
          <p:cNvSpPr txBox="1"/>
          <p:nvPr/>
        </p:nvSpPr>
        <p:spPr>
          <a:xfrm>
            <a:off x="1117600" y="443737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Opt-in panels are voluntary response samples. A shocking number about a subgroup may be about who signed up, not what people think.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4D11B4-06B0-4692-F0BE-F519EB1F28CC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Mercer, Kennedy and Keeter (2024), Pew Research Center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00877CF-49A8-6CD6-E316-F00BD1D2261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1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3996-9D6A-9FB3-25CD-BF70D2CE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Estimates are shots at a target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28816-6A3B-C376-5058-5736CE1E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B5991-68C1-C658-D706-1732CA25D201}"/>
              </a:ext>
            </a:extLst>
          </p:cNvPr>
          <p:cNvSpPr txBox="1"/>
          <p:nvPr/>
        </p:nvSpPr>
        <p:spPr>
          <a:xfrm>
            <a:off x="571500" y="1841499"/>
            <a:ext cx="558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bullseye is the parameter. Each shot is the estimate from one sample - take a new sample, take a new shot.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B6025-B38A-4FD2-52CB-9DE6D67609E6}"/>
              </a:ext>
            </a:extLst>
          </p:cNvPr>
          <p:cNvSpPr txBox="1"/>
          <p:nvPr/>
        </p:nvSpPr>
        <p:spPr>
          <a:xfrm>
            <a:off x="571500" y="2532380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bias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9A5CF-87BB-4545-99EC-9147C25597FD}"/>
              </a:ext>
            </a:extLst>
          </p:cNvPr>
          <p:cNvSpPr txBox="1"/>
          <p:nvPr/>
        </p:nvSpPr>
        <p:spPr>
          <a:xfrm>
            <a:off x="850900" y="2801619"/>
            <a:ext cx="5308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shots are centered off the bullseye, missing in the same direction every time: an ACCURACY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B6E1F-EA7D-80D3-94F7-3D7C86432789}"/>
              </a:ext>
            </a:extLst>
          </p:cNvPr>
          <p:cNvSpPr txBox="1"/>
          <p:nvPr/>
        </p:nvSpPr>
        <p:spPr>
          <a:xfrm>
            <a:off x="571500" y="3543300"/>
            <a:ext cx="558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standard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3C092-BCC9-BF88-CFF0-25149AB3B95F}"/>
              </a:ext>
            </a:extLst>
          </p:cNvPr>
          <p:cNvSpPr txBox="1"/>
          <p:nvPr/>
        </p:nvSpPr>
        <p:spPr>
          <a:xfrm>
            <a:off x="850900" y="3812539"/>
            <a:ext cx="5308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how spread out the shots are from one sample to the next: a PRECISION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3A6451-360E-539D-6DBE-0E621E612AE8}"/>
              </a:ext>
            </a:extLst>
          </p:cNvPr>
          <p:cNvSpPr txBox="1"/>
          <p:nvPr/>
        </p:nvSpPr>
        <p:spPr>
          <a:xfrm>
            <a:off x="571500" y="4579619"/>
            <a:ext cx="558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Convenience and voluntary response samples are biased: they miss the bullseye however carefully we aim.</a:t>
            </a:r>
          </a:p>
        </p:txBody>
      </p:sp>
      <p:pic>
        <p:nvPicPr>
          <p:cNvPr id="12" name="l8_bullseye.png">
            <a:extLst>
              <a:ext uri="{FF2B5EF4-FFF2-40B4-BE49-F238E27FC236}">
                <a16:creationId xmlns:a16="http://schemas.microsoft.com/office/drawing/2014/main" id="{C14F839E-F50B-7F62-1A2F-562FAC7249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803400"/>
            <a:ext cx="5588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C92EA692-B6CC-BCAD-9145-3A4B86E96DB2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E8136-46FD-259C-36B5-12633F85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 bigger sample does not fix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EDCFB-4B59-3B96-7E1B-1A9B689E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905000"/>
            <a:ext cx="4445000" cy="4191000"/>
          </a:xfrm>
        </p:spPr>
        <p:txBody>
          <a:bodyPr>
            <a:noAutofit/>
          </a:bodyPr>
          <a:lstStyle/>
          <a:p>
            <a:r>
              <a:rPr lang="en-US" sz="1600"/>
              <a:t>Suppose 40% of UI students exercise at least three times a week</a:t>
            </a:r>
          </a:p>
          <a:p>
            <a:r>
              <a:rPr lang="en-US" sz="1600"/>
              <a:t>Blue: 5000 simple random samples of 200 students</a:t>
            </a:r>
          </a:p>
          <a:p>
            <a:r>
              <a:rPr lang="en-US" sz="1600"/>
              <a:t>Grey: 5000 Rec Center surveys of 2000 students</a:t>
            </a:r>
          </a:p>
          <a:p>
            <a:r>
              <a:rPr lang="en-US" sz="1600"/>
              <a:t>The Rec Center survey is more </a:t>
            </a:r>
            <a:r>
              <a:rPr lang="en-US" sz="1600" b="1">
                <a:solidFill>
                  <a:srgbClr val="C00000"/>
                </a:solidFill>
              </a:rPr>
              <a:t>precise</a:t>
            </a:r>
            <a:r>
              <a:rPr lang="en-US" sz="1600"/>
              <a:t> - a smaller standard error</a:t>
            </a:r>
          </a:p>
          <a:p>
            <a:r>
              <a:rPr lang="en-US" sz="1600"/>
              <a:t>and every one of its estimates misses the truth: </a:t>
            </a:r>
            <a:r>
              <a:rPr lang="en-US" sz="1600" b="1">
                <a:solidFill>
                  <a:srgbClr val="C00000"/>
                </a:solidFill>
              </a:rPr>
              <a:t>bias</a:t>
            </a:r>
          </a:p>
          <a:p>
            <a:r>
              <a:rPr lang="en-US" sz="1600"/>
              <a:t>More data buys precision. Only a </a:t>
            </a:r>
            <a:r>
              <a:rPr lang="en-US" sz="1600" b="1">
                <a:solidFill>
                  <a:srgbClr val="C00000"/>
                </a:solidFill>
              </a:rPr>
              <a:t>better design</a:t>
            </a:r>
            <a:r>
              <a:rPr lang="en-US" sz="1600"/>
              <a:t> buys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9C29E-6440-ED68-EF4E-EE689335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pic>
        <p:nvPicPr>
          <p:cNvPr id="6" name="l8_bias_vs_n.png">
            <a:extLst>
              <a:ext uri="{FF2B5EF4-FFF2-40B4-BE49-F238E27FC236}">
                <a16:creationId xmlns:a16="http://schemas.microsoft.com/office/drawing/2014/main" id="{71433EFE-DBD1-5369-48FA-09821203DC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1905000"/>
            <a:ext cx="6858000" cy="4191000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46E12F37-E1A4-8B3C-8798-61E8D04C4A2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2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16D2-B025-5D29-A311-4079BE2F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fix: let chance choose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AEB6E-45A9-4B5F-6C33-A18D2C2D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FD132-E3FE-3678-BDAF-8BC672D34AFB}"/>
              </a:ext>
            </a:extLst>
          </p:cNvPr>
          <p:cNvSpPr txBox="1"/>
          <p:nvPr/>
        </p:nvSpPr>
        <p:spPr>
          <a:xfrm>
            <a:off x="762000" y="1905000"/>
            <a:ext cx="10668000" cy="7112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1F3864"/>
                </a:solidFill>
              </a:rPr>
              <a:t>Convenience and voluntary response samples go wrong because a person decides who gets in. Take the person out of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C7C0A-2626-CC73-7722-895639D92CC4}"/>
              </a:ext>
            </a:extLst>
          </p:cNvPr>
          <p:cNvSpPr txBox="1"/>
          <p:nvPr/>
        </p:nvSpPr>
        <p:spPr>
          <a:xfrm>
            <a:off x="762000" y="2794000"/>
            <a:ext cx="2921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sampling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50347-0B53-389F-41A6-284AC27EFCDD}"/>
              </a:ext>
            </a:extLst>
          </p:cNvPr>
          <p:cNvSpPr txBox="1"/>
          <p:nvPr/>
        </p:nvSpPr>
        <p:spPr>
          <a:xfrm>
            <a:off x="3784600" y="2793999"/>
            <a:ext cx="7645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using chance to choose the sample, so neither the researcher nor the respondents decide who is in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B3F7E-D4C3-8CC2-F2E9-69443D79A73B}"/>
              </a:ext>
            </a:extLst>
          </p:cNvPr>
          <p:cNvSpPr txBox="1"/>
          <p:nvPr/>
        </p:nvSpPr>
        <p:spPr>
          <a:xfrm>
            <a:off x="1016000" y="3586480"/>
            <a:ext cx="1041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No person is doing the choosing, so the selection cannot systematically favor anyone - no bias from the selection itself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073A3-DD25-9132-5899-A895A2F7970A}"/>
              </a:ext>
            </a:extLst>
          </p:cNvPr>
          <p:cNvSpPr txBox="1"/>
          <p:nvPr/>
        </p:nvSpPr>
        <p:spPr>
          <a:xfrm>
            <a:off x="1016000" y="4033519"/>
            <a:ext cx="10414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Chance still moves the estimate from sample to sample, but by rules we understand - so we can measure it. That is the standard error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A482349A-A08D-E206-B43C-975EA550435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8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C9BF-3F96-B36D-65E2-938176CD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Simple random sample (SRS)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E1B79-F529-B7D8-E233-112AECD2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B47E0-A506-84F9-41BD-D8064F43C518}"/>
              </a:ext>
            </a:extLst>
          </p:cNvPr>
          <p:cNvSpPr txBox="1"/>
          <p:nvPr/>
        </p:nvSpPr>
        <p:spPr>
          <a:xfrm>
            <a:off x="571500" y="1905000"/>
            <a:ext cx="6096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simple random sample (SRS)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BBF7A-126A-7FC0-AE34-D2CBCFC3F6DC}"/>
              </a:ext>
            </a:extLst>
          </p:cNvPr>
          <p:cNvSpPr txBox="1"/>
          <p:nvPr/>
        </p:nvSpPr>
        <p:spPr>
          <a:xfrm>
            <a:off x="850900" y="2174239"/>
            <a:ext cx="5816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every possible group of n units has the same chance of being the sample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83CFD-6294-0E48-5148-719970D89D54}"/>
              </a:ext>
            </a:extLst>
          </p:cNvPr>
          <p:cNvSpPr txBox="1"/>
          <p:nvPr/>
        </p:nvSpPr>
        <p:spPr>
          <a:xfrm>
            <a:off x="571500" y="2966719"/>
            <a:ext cx="6096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Here N = 100 students and n = 20, so each student has a 20/100 = 1 in 5 chance of being chosen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15F51-E7AA-3DBF-4C1B-2B40F84AF57C}"/>
              </a:ext>
            </a:extLst>
          </p:cNvPr>
          <p:cNvSpPr txBox="1"/>
          <p:nvPr/>
        </p:nvSpPr>
        <p:spPr>
          <a:xfrm>
            <a:off x="571500" y="3682999"/>
            <a:ext cx="6096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This SRS happened to draw 4 seniors but only 2 juniors. An SRS is </a:t>
            </a:r>
            <a:r>
              <a:rPr lang="en-US" sz="1600" b="1">
                <a:solidFill>
                  <a:srgbClr val="C00000"/>
                </a:solidFill>
              </a:rPr>
              <a:t>fair on average</a:t>
            </a:r>
            <a:r>
              <a:rPr lang="en-US" sz="1600">
                <a:solidFill>
                  <a:srgbClr val="000000"/>
                </a:solidFill>
              </a:rPr>
              <a:t> - not balanced every time</a:t>
            </a:r>
          </a:p>
        </p:txBody>
      </p:sp>
      <p:pic>
        <p:nvPicPr>
          <p:cNvPr id="10" name="l8_design_srs.png">
            <a:extLst>
              <a:ext uri="{FF2B5EF4-FFF2-40B4-BE49-F238E27FC236}">
                <a16:creationId xmlns:a16="http://schemas.microsoft.com/office/drawing/2014/main" id="{70A99D59-9894-8D42-06F5-36A7F288D6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5FE11CF7-92C1-BC81-D1F0-CF073061DEA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4B7C-EF00-2EDD-BF29-C8D39C6C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Drawing an SRS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614F0-5E2D-D6B8-04F8-12E17D19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4CED9-8468-214A-88C1-B06197971F4F}"/>
              </a:ext>
            </a:extLst>
          </p:cNvPr>
          <p:cNvSpPr txBox="1"/>
          <p:nvPr/>
        </p:nvSpPr>
        <p:spPr>
          <a:xfrm>
            <a:off x="762000" y="1841500"/>
            <a:ext cx="10668000" cy="123110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1.  Get a sampling frame and number it 1 to N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2.  Let a random number generator choose n different numbers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in R:   sample(1:379, 30)   picks 30 of 379 row numbers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3.  The units with those numbers are the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B28CE-715D-5BA5-F0E1-084249194AA2}"/>
              </a:ext>
            </a:extLst>
          </p:cNvPr>
          <p:cNvSpPr txBox="1"/>
          <p:nvPr/>
        </p:nvSpPr>
        <p:spPr>
          <a:xfrm>
            <a:off x="762000" y="3250406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sample() draws without replacement - no row can be picked twice - unless you add replace = 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40D54-26F4-AA02-2A6B-68CE00735E9A}"/>
              </a:ext>
            </a:extLst>
          </p:cNvPr>
          <p:cNvSpPr txBox="1"/>
          <p:nvPr/>
        </p:nvSpPr>
        <p:spPr>
          <a:xfrm>
            <a:off x="762000" y="3773646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This is exactly what Part 3 of your course project asks you to do.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E017B77-7E03-4F73-6956-8EA65B5587B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2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7B92-8806-6848-D176-59F92C6C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Systematic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8CCB1-F3B7-D856-6B23-DB167AB2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99220-3825-452A-2A99-0E32A2C5F724}"/>
              </a:ext>
            </a:extLst>
          </p:cNvPr>
          <p:cNvSpPr txBox="1"/>
          <p:nvPr/>
        </p:nvSpPr>
        <p:spPr>
          <a:xfrm>
            <a:off x="762000" y="1841500"/>
            <a:ext cx="2921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systematic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23C75-D7F0-3FCA-BAA6-0E5520F8B17C}"/>
              </a:ext>
            </a:extLst>
          </p:cNvPr>
          <p:cNvSpPr txBox="1"/>
          <p:nvPr/>
        </p:nvSpPr>
        <p:spPr>
          <a:xfrm>
            <a:off x="3784600" y="1841499"/>
            <a:ext cx="7645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pick a random starting point among the first k units of an ordered list, then take every kth unit after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EDDFF-D7C9-B5A4-9DF4-928BBE0B9198}"/>
              </a:ext>
            </a:extLst>
          </p:cNvPr>
          <p:cNvSpPr txBox="1"/>
          <p:nvPr/>
        </p:nvSpPr>
        <p:spPr>
          <a:xfrm>
            <a:off x="762000" y="25323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k = N/n = 100/20 = 5.  Random start = 2, so we take list positions 2, 7, 12, 17, ... , 97</a:t>
            </a:r>
          </a:p>
        </p:txBody>
      </p:sp>
      <p:pic>
        <p:nvPicPr>
          <p:cNvPr id="9" name="l8_design_systematic.png">
            <a:extLst>
              <a:ext uri="{FF2B5EF4-FFF2-40B4-BE49-F238E27FC236}">
                <a16:creationId xmlns:a16="http://schemas.microsoft.com/office/drawing/2014/main" id="{7874EC94-9E0D-E071-3085-224D6CDDB5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928620"/>
            <a:ext cx="10668000" cy="2921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E23C4E-48E2-ECA7-00A7-2D481D9CC888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Works like an SRS - unless the list has a repeating pattern that lines up with k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E204769-00E1-C672-6CC7-9C6B9D4FBBAE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7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AD12-3C9F-F098-549F-146A13FA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Stratified random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06ABE-9E5E-771E-AA35-B9CF6CF0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F0988-214A-C34B-1A83-5C2A0849C9B0}"/>
              </a:ext>
            </a:extLst>
          </p:cNvPr>
          <p:cNvSpPr txBox="1"/>
          <p:nvPr/>
        </p:nvSpPr>
        <p:spPr>
          <a:xfrm>
            <a:off x="571500" y="1841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4FA6C-7D5F-2D6C-8130-29061EEF53D6}"/>
              </a:ext>
            </a:extLst>
          </p:cNvPr>
          <p:cNvSpPr txBox="1"/>
          <p:nvPr/>
        </p:nvSpPr>
        <p:spPr>
          <a:xfrm>
            <a:off x="850900" y="2110739"/>
            <a:ext cx="5943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groups of units that are alike, formed BEFORE sampling - class year, region, age 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EC1D8-1250-7E15-1D51-009BF4F75866}"/>
              </a:ext>
            </a:extLst>
          </p:cNvPr>
          <p:cNvSpPr txBox="1"/>
          <p:nvPr/>
        </p:nvSpPr>
        <p:spPr>
          <a:xfrm>
            <a:off x="571500" y="277622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stratified random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0B7945-18B3-678B-7B4E-89F4E5C6FBB8}"/>
              </a:ext>
            </a:extLst>
          </p:cNvPr>
          <p:cNvSpPr txBox="1"/>
          <p:nvPr/>
        </p:nvSpPr>
        <p:spPr>
          <a:xfrm>
            <a:off x="850900" y="3045460"/>
            <a:ext cx="5943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separate SRS inside every stratum, combined into one sample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08C6A-1573-BA5A-B5E3-F49647725280}"/>
              </a:ext>
            </a:extLst>
          </p:cNvPr>
          <p:cNvSpPr txBox="1"/>
          <p:nvPr/>
        </p:nvSpPr>
        <p:spPr>
          <a:xfrm>
            <a:off x="571500" y="34671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proportional allocation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E9441-D2D6-0555-574E-AC6B2E1471AB}"/>
              </a:ext>
            </a:extLst>
          </p:cNvPr>
          <p:cNvSpPr txBox="1"/>
          <p:nvPr/>
        </p:nvSpPr>
        <p:spPr>
          <a:xfrm>
            <a:off x="850900" y="3736340"/>
            <a:ext cx="5943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each stratum gets its share of n: 40, 30, 20, 10 students -&gt; 8, 6, 4,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AD2AAC-B80B-BCAA-816A-5A1974B3C6B6}"/>
              </a:ext>
            </a:extLst>
          </p:cNvPr>
          <p:cNvSpPr txBox="1"/>
          <p:nvPr/>
        </p:nvSpPr>
        <p:spPr>
          <a:xfrm>
            <a:off x="571500" y="415798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Every group is guaranteed a place - no more 2 juniors by bad luck</a:t>
            </a:r>
          </a:p>
        </p:txBody>
      </p:sp>
      <p:pic>
        <p:nvPicPr>
          <p:cNvPr id="13" name="l8_design_stratified.png">
            <a:extLst>
              <a:ext uri="{FF2B5EF4-FFF2-40B4-BE49-F238E27FC236}">
                <a16:creationId xmlns:a16="http://schemas.microsoft.com/office/drawing/2014/main" id="{71E54E4F-78E9-A460-85B6-2487744EF4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8A1188CC-4D1C-58E2-F954-863A4B66BA6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4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EB4C-6677-29CF-148D-294A1A23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Proportional allocation with real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BF039-9C91-2EB5-3EAF-AE270F50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F9982-5AE7-489F-71B6-F6084C45D2A2}"/>
              </a:ext>
            </a:extLst>
          </p:cNvPr>
          <p:cNvSpPr txBox="1"/>
          <p:nvPr/>
        </p:nvSpPr>
        <p:spPr>
          <a:xfrm>
            <a:off x="762000" y="1905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heights.csv (on the course Data page) has N = 379 people: 262 female and 117 male. Stratify by sex for a sample of n = 30: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0E7A0-112A-3B5C-8EEA-FAB93E8E3BD8}"/>
              </a:ext>
            </a:extLst>
          </p:cNvPr>
          <p:cNvSpPr txBox="1"/>
          <p:nvPr/>
        </p:nvSpPr>
        <p:spPr>
          <a:xfrm>
            <a:off x="762000" y="232663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female:  30 x 262/379 = 20.74, so 21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male:    30 x 117/379 =  9.26, so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BB121-F59A-F706-6E1A-CB2B37E0C0F5}"/>
              </a:ext>
            </a:extLst>
          </p:cNvPr>
          <p:cNvSpPr txBox="1"/>
          <p:nvPr/>
        </p:nvSpPr>
        <p:spPr>
          <a:xfrm>
            <a:off x="762000" y="29921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Then an SRS of 21 of the women, and a separate SRS of 9 of the men</a:t>
            </a:r>
          </a:p>
        </p:txBody>
      </p:sp>
      <p:pic>
        <p:nvPicPr>
          <p:cNvPr id="9" name="l8_heights_allocation.png">
            <a:extLst>
              <a:ext uri="{FF2B5EF4-FFF2-40B4-BE49-F238E27FC236}">
                <a16:creationId xmlns:a16="http://schemas.microsoft.com/office/drawing/2014/main" id="{3BB7345C-CE79-4B33-8E0C-30AEC89A16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318000"/>
            <a:ext cx="9144000" cy="1905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9D8274DA-89E7-E74A-EA1D-EE9C69E1B1D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2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E8DE-4FCA-B2DC-65C3-2CE0366F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Cluster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0E910-8C36-BAB5-7E1F-E6D9945F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35B85-8F3D-D26B-7AF1-75090ED3C228}"/>
              </a:ext>
            </a:extLst>
          </p:cNvPr>
          <p:cNvSpPr txBox="1"/>
          <p:nvPr/>
        </p:nvSpPr>
        <p:spPr>
          <a:xfrm>
            <a:off x="571500" y="1841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cluster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5A2D5-83C8-E272-FF20-81C92FB67BD9}"/>
              </a:ext>
            </a:extLst>
          </p:cNvPr>
          <p:cNvSpPr txBox="1"/>
          <p:nvPr/>
        </p:nvSpPr>
        <p:spPr>
          <a:xfrm>
            <a:off x="850900" y="2110739"/>
            <a:ext cx="5943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group of units that occurs naturally - a dorm, a classroom, a city 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C2B5F-0775-09DB-7B5B-50AAAE2F6447}"/>
              </a:ext>
            </a:extLst>
          </p:cNvPr>
          <p:cNvSpPr txBox="1"/>
          <p:nvPr/>
        </p:nvSpPr>
        <p:spPr>
          <a:xfrm>
            <a:off x="571500" y="285242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cluster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62B6F-E530-A325-9CAD-FB36B2FEB48B}"/>
              </a:ext>
            </a:extLst>
          </p:cNvPr>
          <p:cNvSpPr txBox="1"/>
          <p:nvPr/>
        </p:nvSpPr>
        <p:spPr>
          <a:xfrm>
            <a:off x="850900" y="3121660"/>
            <a:ext cx="5943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an SRS of clusters, then measure EVERY unit in the clusters chosen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DBDC0-411F-3C59-8663-D8FE86E858AF}"/>
              </a:ext>
            </a:extLst>
          </p:cNvPr>
          <p:cNvSpPr txBox="1"/>
          <p:nvPr/>
        </p:nvSpPr>
        <p:spPr>
          <a:xfrm>
            <a:off x="571500" y="3619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Only needs a list of clusters, not of every person - and far less travel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28CBA9-599D-B2F3-7FE5-3E64BD969EC3}"/>
              </a:ext>
            </a:extLst>
          </p:cNvPr>
          <p:cNvSpPr txBox="1"/>
          <p:nvPr/>
        </p:nvSpPr>
        <p:spPr>
          <a:xfrm>
            <a:off x="571500" y="4066539"/>
            <a:ext cx="622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Works best when each cluster is a mini-population: mixed inside, like each column here</a:t>
            </a:r>
          </a:p>
        </p:txBody>
      </p:sp>
      <p:pic>
        <p:nvPicPr>
          <p:cNvPr id="12" name="l8_design_cluster.png">
            <a:extLst>
              <a:ext uri="{FF2B5EF4-FFF2-40B4-BE49-F238E27FC236}">
                <a16:creationId xmlns:a16="http://schemas.microsoft.com/office/drawing/2014/main" id="{68FFE672-7A3B-FC83-988F-8F8E29E6211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93B09023-2FD5-693A-EF27-CDA8582C013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2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2433-9BCC-065C-8EBF-D4D1C9B9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Two-stage cluster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DDADA-1D78-C6A0-1478-E23F1F72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9F8C7-F1CB-0637-4248-F6EED4260AD8}"/>
              </a:ext>
            </a:extLst>
          </p:cNvPr>
          <p:cNvSpPr txBox="1"/>
          <p:nvPr/>
        </p:nvSpPr>
        <p:spPr>
          <a:xfrm>
            <a:off x="571500" y="184150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two-stage cluster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B1F95-D334-003F-1147-67DF8245129D}"/>
              </a:ext>
            </a:extLst>
          </p:cNvPr>
          <p:cNvSpPr txBox="1"/>
          <p:nvPr/>
        </p:nvSpPr>
        <p:spPr>
          <a:xfrm>
            <a:off x="850900" y="2110739"/>
            <a:ext cx="5943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stage 1: an SRS of clusters.  Stage 2: an SRS of units inside each chosen cluster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4676B-4006-B848-60CD-860F604A4444}"/>
              </a:ext>
            </a:extLst>
          </p:cNvPr>
          <p:cNvSpPr txBox="1"/>
          <p:nvPr/>
        </p:nvSpPr>
        <p:spPr>
          <a:xfrm>
            <a:off x="571500" y="2852420"/>
            <a:ext cx="6223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Here: 4 of the 10 columns, then 5 students in each, n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D7DC6-AAAA-5C8E-7AFD-070CB2BE17D1}"/>
              </a:ext>
            </a:extLst>
          </p:cNvPr>
          <p:cNvSpPr txBox="1"/>
          <p:nvPr/>
        </p:nvSpPr>
        <p:spPr>
          <a:xfrm>
            <a:off x="571500" y="3299459"/>
            <a:ext cx="622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Exit polls work this way: sample polling places, then interview every nth voter leaving each 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651CB-8FC2-36EB-60E5-514FC09CA40F}"/>
              </a:ext>
            </a:extLst>
          </p:cNvPr>
          <p:cNvSpPr txBox="1"/>
          <p:nvPr/>
        </p:nvSpPr>
        <p:spPr>
          <a:xfrm>
            <a:off x="571500" y="3990339"/>
            <a:ext cx="622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National surveys such as NHANES stack it all: strata, clusters inside strata, households inside clusters</a:t>
            </a:r>
          </a:p>
        </p:txBody>
      </p:sp>
      <p:pic>
        <p:nvPicPr>
          <p:cNvPr id="11" name="l8_design_two_stage.png">
            <a:extLst>
              <a:ext uri="{FF2B5EF4-FFF2-40B4-BE49-F238E27FC236}">
                <a16:creationId xmlns:a16="http://schemas.microsoft.com/office/drawing/2014/main" id="{E49C7469-4205-49E1-D5D7-0678C5BD34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4572000" cy="4572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AA9D0895-3AB8-B27F-DAF7-114594043BE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1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6638-D41E-B9B1-4EA9-471107CD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Strata vs.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FF531-001B-B8B9-04E1-892CF770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24</a:t>
            </a:fld>
            <a:endParaRPr lang="en-US" sz="1600"/>
          </a:p>
        </p:txBody>
      </p:sp>
      <p:pic>
        <p:nvPicPr>
          <p:cNvPr id="6" name="l8_three_designs.png">
            <a:extLst>
              <a:ext uri="{FF2B5EF4-FFF2-40B4-BE49-F238E27FC236}">
                <a16:creationId xmlns:a16="http://schemas.microsoft.com/office/drawing/2014/main" id="{FE7C9728-C2CC-D5C4-CD36-EE80A557A7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752600"/>
            <a:ext cx="10922000" cy="4191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0D1BC7-D7FF-92D4-E83F-F6B74F1C7D9C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1F3864"/>
                </a:solidFill>
              </a:rPr>
              <a:t>Strata: alike inside - sample from EVERY one.     Clusters: mixed inside - sample SOME, whole.</a:t>
            </a:r>
          </a:p>
        </p:txBody>
      </p:sp>
    </p:spTree>
    <p:extLst>
      <p:ext uri="{BB962C8B-B14F-4D97-AF65-F5344CB8AC3E}">
        <p14:creationId xmlns:p14="http://schemas.microsoft.com/office/powerpoint/2010/main" val="194507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06338DA5-E362-5478-024A-C0691F4B3964}"/>
              </a:ext>
            </a:extLst>
          </p:cNvPr>
          <p:cNvSpPr/>
          <p:nvPr/>
        </p:nvSpPr>
        <p:spPr>
          <a:xfrm>
            <a:off x="762000" y="430022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89D1D536-AE3D-BC0C-9D3A-DC328F709FDD}"/>
              </a:ext>
            </a:extLst>
          </p:cNvPr>
          <p:cNvSpPr/>
          <p:nvPr/>
        </p:nvSpPr>
        <p:spPr>
          <a:xfrm>
            <a:off x="762000" y="307086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A69A1CC2-2E32-4313-26D1-D7E32908B769}"/>
              </a:ext>
            </a:extLst>
          </p:cNvPr>
          <p:cNvSpPr/>
          <p:nvPr/>
        </p:nvSpPr>
        <p:spPr>
          <a:xfrm>
            <a:off x="762000" y="184150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86C79-1EB2-87F9-031F-AF3AA648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kinds of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ACB58-73C9-6816-E1F0-24228E05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D6666-5174-0458-D049-1DBE0D077B60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error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E363C-F2A8-BD1A-CBAE-EEB7D9C69C1E}"/>
              </a:ext>
            </a:extLst>
          </p:cNvPr>
          <p:cNvSpPr txBox="1"/>
          <p:nvPr/>
        </p:nvSpPr>
        <p:spPr>
          <a:xfrm>
            <a:off x="4013200" y="194310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natural gap between a sample and the population, caused by which units happened to be chosen</a:t>
            </a:r>
          </a:p>
          <a:p>
            <a:r>
              <a:rPr lang="en-US" i="1">
                <a:solidFill>
                  <a:srgbClr val="595959"/>
                </a:solidFill>
              </a:rPr>
              <a:t>every sample has some - a larger sample makes it smaller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2FA84-44F1-43AC-4616-E21F81F374BF}"/>
              </a:ext>
            </a:extLst>
          </p:cNvPr>
          <p:cNvSpPr txBox="1"/>
          <p:nvPr/>
        </p:nvSpPr>
        <p:spPr>
          <a:xfrm>
            <a:off x="914400" y="317246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nonsampling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9C274-4141-FF4C-A787-B19A567B4712}"/>
              </a:ext>
            </a:extLst>
          </p:cNvPr>
          <p:cNvSpPr txBox="1"/>
          <p:nvPr/>
        </p:nvSpPr>
        <p:spPr>
          <a:xfrm>
            <a:off x="4013200" y="317246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errors that do not come from chance - biased methods, bad questions, data-entry mistakes, faulty instruments</a:t>
            </a:r>
          </a:p>
          <a:p>
            <a:r>
              <a:rPr lang="en-US" i="1">
                <a:solidFill>
                  <a:srgbClr val="595959"/>
                </a:solidFill>
              </a:rPr>
              <a:t>a larger sample does not make these smaller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ACCC3-414F-66BC-DDB7-FBE949D38B39}"/>
              </a:ext>
            </a:extLst>
          </p:cNvPr>
          <p:cNvSpPr txBox="1"/>
          <p:nvPr/>
        </p:nvSpPr>
        <p:spPr>
          <a:xfrm>
            <a:off x="914400" y="440182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sampling bias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DD2A2-E433-B37A-81EF-BD0357803268}"/>
              </a:ext>
            </a:extLst>
          </p:cNvPr>
          <p:cNvSpPr txBox="1"/>
          <p:nvPr/>
        </p:nvSpPr>
        <p:spPr>
          <a:xfrm>
            <a:off x="4013200" y="440182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some members of the population are less likely to be chosen than others</a:t>
            </a:r>
          </a:p>
          <a:p>
            <a:r>
              <a:rPr lang="en-US" i="1">
                <a:solidFill>
                  <a:srgbClr val="595959"/>
                </a:solidFill>
              </a:rPr>
              <a:t>convenience and voluntary response samples, or a frame that leaves people out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867F7D0-470A-A457-0FEB-D5341419E86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4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efinition card">
            <a:extLst>
              <a:ext uri="{FF2B5EF4-FFF2-40B4-BE49-F238E27FC236}">
                <a16:creationId xmlns:a16="http://schemas.microsoft.com/office/drawing/2014/main" id="{6346C7EF-26BA-A07C-0D8F-4B74AB59DD8A}"/>
              </a:ext>
            </a:extLst>
          </p:cNvPr>
          <p:cNvSpPr/>
          <p:nvPr/>
        </p:nvSpPr>
        <p:spPr>
          <a:xfrm>
            <a:off x="762000" y="420878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efinition card">
            <a:extLst>
              <a:ext uri="{FF2B5EF4-FFF2-40B4-BE49-F238E27FC236}">
                <a16:creationId xmlns:a16="http://schemas.microsoft.com/office/drawing/2014/main" id="{FFC28BD7-E9F0-B655-7CD3-EC29272EE4DE}"/>
              </a:ext>
            </a:extLst>
          </p:cNvPr>
          <p:cNvSpPr/>
          <p:nvPr/>
        </p:nvSpPr>
        <p:spPr>
          <a:xfrm>
            <a:off x="762000" y="32537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finition card">
            <a:extLst>
              <a:ext uri="{FF2B5EF4-FFF2-40B4-BE49-F238E27FC236}">
                <a16:creationId xmlns:a16="http://schemas.microsoft.com/office/drawing/2014/main" id="{8AB8E778-7BF1-A9F2-FDB9-41E089276856}"/>
              </a:ext>
            </a:extLst>
          </p:cNvPr>
          <p:cNvSpPr/>
          <p:nvPr/>
        </p:nvSpPr>
        <p:spPr>
          <a:xfrm>
            <a:off x="762000" y="22987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64E67-7042-2E72-EC9A-AC0B7A7A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Three common nonsampling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4A0D-4165-BEB8-CE04-1074B73D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74A32-E188-A2A9-869D-A4C423336C0B}"/>
              </a:ext>
            </a:extLst>
          </p:cNvPr>
          <p:cNvSpPr txBox="1"/>
          <p:nvPr/>
        </p:nvSpPr>
        <p:spPr>
          <a:xfrm>
            <a:off x="762000" y="1841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Even a perfectly random design can end up biased: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C54DD-DDED-A5F3-E6B8-75E99D88C7D0}"/>
              </a:ext>
            </a:extLst>
          </p:cNvPr>
          <p:cNvSpPr txBox="1"/>
          <p:nvPr/>
        </p:nvSpPr>
        <p:spPr>
          <a:xfrm>
            <a:off x="914400" y="2400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undercoverage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99F4E-F7FA-BC1D-337F-31B2B18B443D}"/>
              </a:ext>
            </a:extLst>
          </p:cNvPr>
          <p:cNvSpPr txBox="1"/>
          <p:nvPr/>
        </p:nvSpPr>
        <p:spPr>
          <a:xfrm>
            <a:off x="4013200" y="24002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sampling frame leaves part of the population out</a:t>
            </a:r>
          </a:p>
          <a:p>
            <a:r>
              <a:rPr lang="en-US" i="1">
                <a:solidFill>
                  <a:srgbClr val="595959"/>
                </a:solidFill>
              </a:rPr>
              <a:t>students who are not on the list you sampled from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AEB69-22A3-0383-4862-995A4C541A3D}"/>
              </a:ext>
            </a:extLst>
          </p:cNvPr>
          <p:cNvSpPr txBox="1"/>
          <p:nvPr/>
        </p:nvSpPr>
        <p:spPr>
          <a:xfrm>
            <a:off x="914400" y="33553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nonresponse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48E33-91C8-6ACD-09B9-C2521F200DF3}"/>
              </a:ext>
            </a:extLst>
          </p:cNvPr>
          <p:cNvSpPr txBox="1"/>
          <p:nvPr/>
        </p:nvSpPr>
        <p:spPr>
          <a:xfrm>
            <a:off x="4013200" y="33553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who are chosen cannot be reached, or refuse to answer</a:t>
            </a:r>
          </a:p>
          <a:p>
            <a:r>
              <a:rPr lang="en-US" i="1">
                <a:solidFill>
                  <a:srgbClr val="595959"/>
                </a:solidFill>
              </a:rPr>
              <a:t>a problem when the people who do not answer differ from those who do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9A690B-4386-F962-0477-06A4EC4B84AF}"/>
              </a:ext>
            </a:extLst>
          </p:cNvPr>
          <p:cNvSpPr txBox="1"/>
          <p:nvPr/>
        </p:nvSpPr>
        <p:spPr>
          <a:xfrm>
            <a:off x="914400" y="43103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response bias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6F450-B92B-1B74-AE66-1453DE003C90}"/>
              </a:ext>
            </a:extLst>
          </p:cNvPr>
          <p:cNvSpPr txBox="1"/>
          <p:nvPr/>
        </p:nvSpPr>
        <p:spPr>
          <a:xfrm>
            <a:off x="4013200" y="431038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answers themselves are wrong</a:t>
            </a:r>
          </a:p>
          <a:p>
            <a:r>
              <a:rPr lang="en-US" i="1">
                <a:solidFill>
                  <a:srgbClr val="595959"/>
                </a:solidFill>
              </a:rPr>
              <a:t>leading or confusing questions, sensitive topics, wanting to please the interviewer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98BCDE97-A188-D8EC-E8E4-59D202EE679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432C-7359-77FA-7BBE-BB1A05DD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Nonresponse: when nobody picks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205B3-8A72-2D64-3502-AB53A108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F4BE5C-D37E-B17E-B16C-490545533622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Pew Research Center reached 36% of the people it called for its phone surveys in 1997. By 2018 it reached 6%.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142C9-5488-7F14-F339-5B758F394D12}"/>
              </a:ext>
            </a:extLst>
          </p:cNvPr>
          <p:cNvSpPr txBox="1"/>
          <p:nvPr/>
        </p:nvSpPr>
        <p:spPr>
          <a:xfrm>
            <a:off x="762000" y="2313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Does a 6% response rate automatically make a survey biased?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CA900-6064-99F1-DD1D-8ED3FED01D23}"/>
              </a:ext>
            </a:extLst>
          </p:cNvPr>
          <p:cNvSpPr txBox="1"/>
          <p:nvPr/>
        </p:nvSpPr>
        <p:spPr>
          <a:xfrm>
            <a:off x="1117600" y="2608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 - only if the people who answer differ from the people who do not. The trouble is that you usually cannot check.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1D352-8837-82E6-70DB-769D0AF5586C}"/>
              </a:ext>
            </a:extLst>
          </p:cNvPr>
          <p:cNvSpPr txBox="1"/>
          <p:nvPr/>
        </p:nvSpPr>
        <p:spPr>
          <a:xfrm>
            <a:off x="762000" y="310641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In 2020, national polls in the final two weeks overstated Biden's margin by 3.9 points on average - the largest error in 40 years. What could cause that?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C760E-0F87-47CD-2073-26C92FBE519C}"/>
              </a:ext>
            </a:extLst>
          </p:cNvPr>
          <p:cNvSpPr txBox="1"/>
          <p:nvPr/>
        </p:nvSpPr>
        <p:spPr>
          <a:xfrm>
            <a:off x="1117600" y="364489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pollsters' own task force concluded that at least some of the error came from nonresponse: the people who answered differed from those who did not.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67BFC-41D2-A033-FEDC-08A099886125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Pew Research Center (2019); AAPOR Task Force on 2020 Pre-Election Polling (2021)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6333D6E-6C00-21D5-FB59-C30849BE9D76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2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152C-9FBF-2284-385D-995F3B215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Question wording: same law, two names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95405-0BD7-87D2-6535-40672716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4D8B8-1323-85D8-3748-63F78EF7F68E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In September 2013, CNBC asked half of its poll respondents about “Obamacare” and the other half about “the Affordable Care Act” - the same law.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530E2-3428-F2B9-5DB7-5B44BE61E83D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Which name do you think drew more opposition?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F0F99-73DB-14D5-88DC-A8DBB671738A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Obamacare: 46% opposed it, against 37% for the Affordable Care 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B8629-9585-9038-026C-F53A906ED1E0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So did fewer people support Obamacare, too?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03F83-7AAB-75C6-6249-E1002597AB0D}"/>
              </a:ext>
            </a:extLst>
          </p:cNvPr>
          <p:cNvSpPr txBox="1"/>
          <p:nvPr/>
        </p:nvSpPr>
        <p:spPr>
          <a:xfrm>
            <a:off x="1117600" y="364489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 - 29% supported Obamacare and 22% the ACA. 30% said they did not know about the ACA, but only 12% about Obamacare.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5496A-2CEF-0561-F6C0-7B86F1C685B3}"/>
              </a:ext>
            </a:extLst>
          </p:cNvPr>
          <p:cNvSpPr txBox="1"/>
          <p:nvPr/>
        </p:nvSpPr>
        <p:spPr>
          <a:xfrm>
            <a:off x="762000" y="43865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does this tell you about survey questions?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02B5F-9823-644B-2B18-D5CAE1E5CB2E}"/>
              </a:ext>
            </a:extLst>
          </p:cNvPr>
          <p:cNvSpPr txBox="1"/>
          <p:nvPr/>
        </p:nvSpPr>
        <p:spPr>
          <a:xfrm>
            <a:off x="1117600" y="46812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words in a question change the answers. A familiar, politically loaded name pulled people off the fence.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B62EA-FCC4-F119-FCF1-41E87E807AA7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NBC News (September 27, 2013); Harvard Political Review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71D5B9BD-517A-9DF1-60AA-BD2E78C5CD1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1872-855D-B08C-D98E-6B1297CC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name the sampling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6AA21-467B-B554-21DB-BF1ADC89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1BFAF-E605-6AF6-3493-6F8F84E58DFB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A reporter interviews the first 50 students who walk out of the Idaho Student Union Building.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8EB1E-657A-E3E9-68E1-8DFE7302A8DE}"/>
              </a:ext>
            </a:extLst>
          </p:cNvPr>
          <p:cNvSpPr txBox="1"/>
          <p:nvPr/>
        </p:nvSpPr>
        <p:spPr>
          <a:xfrm>
            <a:off x="1117600" y="21361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Convenience sample - only students who happen to pass the SUB can be chosen.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74035-D417-7F2B-E906-D46E0DE4443F}"/>
              </a:ext>
            </a:extLst>
          </p:cNvPr>
          <p:cNvSpPr txBox="1"/>
          <p:nvPr/>
        </p:nvSpPr>
        <p:spPr>
          <a:xfrm>
            <a:off x="762000" y="26339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The registrar numbers every enrolled student, and a computer picks 200 of the numbers at random.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201C8C-842A-032C-9CC2-05F7B8380C53}"/>
              </a:ext>
            </a:extLst>
          </p:cNvPr>
          <p:cNvSpPr txBox="1"/>
          <p:nvPr/>
        </p:nvSpPr>
        <p:spPr>
          <a:xfrm>
            <a:off x="1117600" y="29286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Simple random sample.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00982-D477-33D2-BDF4-26DDF7B6B4A2}"/>
              </a:ext>
            </a:extLst>
          </p:cNvPr>
          <p:cNvSpPr txBox="1"/>
          <p:nvPr/>
        </p:nvSpPr>
        <p:spPr>
          <a:xfrm>
            <a:off x="762000" y="34264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A principal polls 50 first-years, 50 sophomores, 50 juniors and 50 seniors, chosen at random within each year.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D0D13C-049B-4867-2C21-B59FEACCB9BC}"/>
              </a:ext>
            </a:extLst>
          </p:cNvPr>
          <p:cNvSpPr txBox="1"/>
          <p:nvPr/>
        </p:nvSpPr>
        <p:spPr>
          <a:xfrm>
            <a:off x="1117600" y="37211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Stratified random sample - the class years are the strata.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ADAB0-87A7-C4F5-20EA-36A21B3F9D7A}"/>
              </a:ext>
            </a:extLst>
          </p:cNvPr>
          <p:cNvSpPr txBox="1"/>
          <p:nvPr/>
        </p:nvSpPr>
        <p:spPr>
          <a:xfrm>
            <a:off x="762000" y="4218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5 of the 40 apartment buildings in town are chosen at random, and every household in them is surveyed.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7B7F9-E013-1612-7EC8-2AF473593740}"/>
              </a:ext>
            </a:extLst>
          </p:cNvPr>
          <p:cNvSpPr txBox="1"/>
          <p:nvPr/>
        </p:nvSpPr>
        <p:spPr>
          <a:xfrm>
            <a:off x="1117600" y="4513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Cluster sample - the buildings are the clusters.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183C8-E96A-3F81-AA5B-AA4FC6F3627C}"/>
              </a:ext>
            </a:extLst>
          </p:cNvPr>
          <p:cNvSpPr txBox="1"/>
          <p:nvPr/>
        </p:nvSpPr>
        <p:spPr>
          <a:xfrm>
            <a:off x="762000" y="5011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5.</a:t>
            </a:r>
            <a:r>
              <a:rPr lang="en-US" sz="1600">
                <a:solidFill>
                  <a:srgbClr val="000000"/>
                </a:solidFill>
              </a:rPr>
              <a:t>  A medical researcher interviews every third patient on a hospital list, starting from a randomly chosen one of the first three.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63CA0-D8EF-DDA7-E92B-4D6FC86922B4}"/>
              </a:ext>
            </a:extLst>
          </p:cNvPr>
          <p:cNvSpPr txBox="1"/>
          <p:nvPr/>
        </p:nvSpPr>
        <p:spPr>
          <a:xfrm>
            <a:off x="1117600" y="5306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Systematic sample, with k = 3.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AAE6B48B-86DC-63A6-1084-7013B19425A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66FA490E-BC03-A1F2-2DAD-78F07C231B88}"/>
              </a:ext>
            </a:extLst>
          </p:cNvPr>
          <p:cNvSpPr/>
          <p:nvPr/>
        </p:nvSpPr>
        <p:spPr>
          <a:xfrm>
            <a:off x="635000" y="1752600"/>
            <a:ext cx="10922000" cy="22860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77CD-A238-1BA4-7D64-7E52485C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Your course project: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8A94F-4081-2AD8-5866-007558E27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064000"/>
          </a:xfrm>
        </p:spPr>
        <p:txBody>
          <a:bodyPr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Part 3</a:t>
            </a:r>
            <a:r>
              <a:rPr lang="en-US" sz="1600"/>
              <a:t> asks you to draw a sample of 20 to 30 observations from your dataset</a:t>
            </a:r>
          </a:p>
          <a:p>
            <a:r>
              <a:rPr lang="en-US" sz="1600"/>
              <a:t>Pick a design: simple random, systematic, stratified or cluster sampling</a:t>
            </a:r>
          </a:p>
          <a:p>
            <a:r>
              <a:rPr lang="en-US" sz="1600"/>
              <a:t>Say exactly how you drew it - the method, n, and the tool - so someone else could repeat it</a:t>
            </a:r>
          </a:p>
          <a:p>
            <a:r>
              <a:rPr lang="en-US" sz="1600"/>
              <a:t>Justify the choice for YOUR data: is there a natural group to stratify on? natural clusters?</a:t>
            </a:r>
          </a:p>
          <a:p>
            <a:r>
              <a:rPr lang="en-US" sz="1600"/>
              <a:t>Name any bias your method could introduce</a:t>
            </a:r>
          </a:p>
          <a:p>
            <a:r>
              <a:rPr lang="en-US" sz="1600" b="1">
                <a:solidFill>
                  <a:srgbClr val="C00000"/>
                </a:solidFill>
              </a:rPr>
              <a:t>Steps 1 to 4</a:t>
            </a:r>
            <a:r>
              <a:rPr lang="en-US" sz="1600"/>
              <a:t> of the project can be started as soon as this lecture is finished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79839-D7D5-FC2E-3C6C-7E09770A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30</a:t>
            </a:fld>
            <a:endParaRPr lang="en-US" sz="1600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DA41BC6B-3752-BDAB-EEE1-1BFF05D3B07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78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0647-AE90-5298-5B68-B1229F2EA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8, Part 2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Experiments and Causation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69E92-A3BB-84D9-0B52-D699B322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31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468820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D0CF9A43-8849-E7C1-50CD-491B93F4B7A6}"/>
              </a:ext>
            </a:extLst>
          </p:cNvPr>
          <p:cNvSpPr/>
          <p:nvPr/>
        </p:nvSpPr>
        <p:spPr>
          <a:xfrm>
            <a:off x="762000" y="449072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634EA3F8-511D-556E-8EEB-8EA7FDDEDDDD}"/>
              </a:ext>
            </a:extLst>
          </p:cNvPr>
          <p:cNvSpPr/>
          <p:nvPr/>
        </p:nvSpPr>
        <p:spPr>
          <a:xfrm>
            <a:off x="762000" y="35864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5BF7BF17-07AB-CCEA-58CE-426C240E0F33}"/>
              </a:ext>
            </a:extLst>
          </p:cNvPr>
          <p:cNvSpPr/>
          <p:nvPr/>
        </p:nvSpPr>
        <p:spPr>
          <a:xfrm>
            <a:off x="762000" y="26822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859FC701-E3DA-B035-AC8A-03FF0618E0A0}"/>
              </a:ext>
            </a:extLst>
          </p:cNvPr>
          <p:cNvSpPr/>
          <p:nvPr/>
        </p:nvSpPr>
        <p:spPr>
          <a:xfrm>
            <a:off x="762000" y="17780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3AD10-691C-38E3-EFF6-B44600FD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Observational studies and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3B365-3E0A-B0FC-1F18-F1D8B5E4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215A1-6DD1-A14E-F867-0E215BBDB476}"/>
              </a:ext>
            </a:extLst>
          </p:cNvPr>
          <p:cNvSpPr txBox="1"/>
          <p:nvPr/>
        </p:nvSpPr>
        <p:spPr>
          <a:xfrm>
            <a:off x="914400" y="18796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response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081AD-9A62-F2B7-DDDF-9D2E4699F394}"/>
              </a:ext>
            </a:extLst>
          </p:cNvPr>
          <p:cNvSpPr txBox="1"/>
          <p:nvPr/>
        </p:nvSpPr>
        <p:spPr>
          <a:xfrm>
            <a:off x="4013200" y="18795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outcome we measure</a:t>
            </a:r>
          </a:p>
          <a:p>
            <a:r>
              <a:rPr lang="en-US" i="1">
                <a:solidFill>
                  <a:srgbClr val="595959"/>
                </a:solidFill>
              </a:rPr>
              <a:t>heart disease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63658-0DAD-2C11-127A-D3C1BF86C017}"/>
              </a:ext>
            </a:extLst>
          </p:cNvPr>
          <p:cNvSpPr txBox="1"/>
          <p:nvPr/>
        </p:nvSpPr>
        <p:spPr>
          <a:xfrm>
            <a:off x="914400" y="27838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explanatory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32228-E5A0-5C0C-CF1F-29D3819976A4}"/>
              </a:ext>
            </a:extLst>
          </p:cNvPr>
          <p:cNvSpPr txBox="1"/>
          <p:nvPr/>
        </p:nvSpPr>
        <p:spPr>
          <a:xfrm>
            <a:off x="4013200" y="27838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variable we think explains or influences the response</a:t>
            </a:r>
          </a:p>
          <a:p>
            <a:r>
              <a:rPr lang="en-US" i="1">
                <a:solidFill>
                  <a:srgbClr val="595959"/>
                </a:solidFill>
              </a:rPr>
              <a:t>hormone therapy (yes or no)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672E6-99DD-80E9-7BBE-CBDDC1D88F59}"/>
              </a:ext>
            </a:extLst>
          </p:cNvPr>
          <p:cNvSpPr txBox="1"/>
          <p:nvPr/>
        </p:nvSpPr>
        <p:spPr>
          <a:xfrm>
            <a:off x="914400" y="36880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observational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86DDB-4EDF-378E-6482-C193E8341B9E}"/>
              </a:ext>
            </a:extLst>
          </p:cNvPr>
          <p:cNvSpPr txBox="1"/>
          <p:nvPr/>
        </p:nvSpPr>
        <p:spPr>
          <a:xfrm>
            <a:off x="4013200" y="36880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observe individuals and measure variables, without influencing anything</a:t>
            </a:r>
          </a:p>
          <a:p>
            <a:r>
              <a:rPr lang="en-US" i="1">
                <a:solidFill>
                  <a:srgbClr val="595959"/>
                </a:solidFill>
              </a:rPr>
              <a:t>survey women about the hormones they chose to take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61D95-0DDE-A6B9-574E-7B6CD1EBF287}"/>
              </a:ext>
            </a:extLst>
          </p:cNvPr>
          <p:cNvSpPr txBox="1"/>
          <p:nvPr/>
        </p:nvSpPr>
        <p:spPr>
          <a:xfrm>
            <a:off x="914400" y="459232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experiment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D6C9E-A56F-CA2C-CE61-3B091F6F6FE3}"/>
              </a:ext>
            </a:extLst>
          </p:cNvPr>
          <p:cNvSpPr txBox="1"/>
          <p:nvPr/>
        </p:nvSpPr>
        <p:spPr>
          <a:xfrm>
            <a:off x="4013200" y="459231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researcher deliberately assigns treatments, then measures the response</a:t>
            </a:r>
          </a:p>
          <a:p>
            <a:r>
              <a:rPr lang="en-US" i="1">
                <a:solidFill>
                  <a:srgbClr val="595959"/>
                </a:solidFill>
              </a:rPr>
              <a:t>randomly assign women to hormones or a placebo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F8483D-F867-BBF9-61A1-8D8FD60C962E}"/>
              </a:ext>
            </a:extLst>
          </p:cNvPr>
          <p:cNvSpPr txBox="1"/>
          <p:nvPr/>
        </p:nvSpPr>
        <p:spPr>
          <a:xfrm>
            <a:off x="762000" y="54203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1F3864"/>
                </a:solidFill>
              </a:rPr>
              <a:t>Ask: who decided which group each unit ended up in? The units themselves -&gt; observational. The researcher -&gt; experiment.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F1C6C7A6-F404-090B-8A1F-409CB517C21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0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7743-E229-72C9-04BC-51874CE6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Association is not causation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F5F52-2E6D-30CC-1F66-5F061602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6D3B8-5FF6-E967-96B7-590CB1B26658}"/>
              </a:ext>
            </a:extLst>
          </p:cNvPr>
          <p:cNvSpPr txBox="1"/>
          <p:nvPr/>
        </p:nvSpPr>
        <p:spPr>
          <a:xfrm>
            <a:off x="571500" y="184150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association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C9D2E-597B-5FC6-20C6-11337398146F}"/>
              </a:ext>
            </a:extLst>
          </p:cNvPr>
          <p:cNvSpPr txBox="1"/>
          <p:nvPr/>
        </p:nvSpPr>
        <p:spPr>
          <a:xfrm>
            <a:off x="850900" y="2110740"/>
            <a:ext cx="5054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two variables move together in the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F65CC-8E63-662C-FD8C-3DCBC2F3D288}"/>
              </a:ext>
            </a:extLst>
          </p:cNvPr>
          <p:cNvSpPr txBox="1"/>
          <p:nvPr/>
        </p:nvSpPr>
        <p:spPr>
          <a:xfrm>
            <a:off x="571500" y="253238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causation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B0BF4-D5CA-9A72-1F06-DBF0A727ECF6}"/>
              </a:ext>
            </a:extLst>
          </p:cNvPr>
          <p:cNvSpPr txBox="1"/>
          <p:nvPr/>
        </p:nvSpPr>
        <p:spPr>
          <a:xfrm>
            <a:off x="850900" y="2801620"/>
            <a:ext cx="50546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changing one variable would change the other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16285-39DF-F72B-D63B-8209B360E43F}"/>
              </a:ext>
            </a:extLst>
          </p:cNvPr>
          <p:cNvSpPr txBox="1"/>
          <p:nvPr/>
        </p:nvSpPr>
        <p:spPr>
          <a:xfrm>
            <a:off x="571500" y="322326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lurking 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BF7AF-3B6D-C659-CDDC-ADBAD84B74D4}"/>
              </a:ext>
            </a:extLst>
          </p:cNvPr>
          <p:cNvSpPr txBox="1"/>
          <p:nvPr/>
        </p:nvSpPr>
        <p:spPr>
          <a:xfrm>
            <a:off x="850900" y="349249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variable not in the study that influences both the explanatory and the response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8AE92-6730-1ACC-168C-D0C170CF1D87}"/>
              </a:ext>
            </a:extLst>
          </p:cNvPr>
          <p:cNvSpPr txBox="1"/>
          <p:nvPr/>
        </p:nvSpPr>
        <p:spPr>
          <a:xfrm>
            <a:off x="571500" y="4157980"/>
            <a:ext cx="5334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confounded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B55EB-0442-6556-8267-C3506FD808B4}"/>
              </a:ext>
            </a:extLst>
          </p:cNvPr>
          <p:cNvSpPr txBox="1"/>
          <p:nvPr/>
        </p:nvSpPr>
        <p:spPr>
          <a:xfrm>
            <a:off x="850900" y="4427219"/>
            <a:ext cx="50546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two variables whose effects on the response cannot be separated</a:t>
            </a:r>
          </a:p>
        </p:txBody>
      </p:sp>
      <p:pic>
        <p:nvPicPr>
          <p:cNvPr id="14" name="l8_confounding.png">
            <a:extLst>
              <a:ext uri="{FF2B5EF4-FFF2-40B4-BE49-F238E27FC236}">
                <a16:creationId xmlns:a16="http://schemas.microsoft.com/office/drawing/2014/main" id="{83841BE2-7088-8F9E-E001-D8BC100251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00" y="1905000"/>
            <a:ext cx="5842000" cy="3175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FFF667-417E-5A93-540B-5CD33E71A188}"/>
              </a:ext>
            </a:extLst>
          </p:cNvPr>
          <p:cNvSpPr txBox="1"/>
          <p:nvPr/>
        </p:nvSpPr>
        <p:spPr>
          <a:xfrm>
            <a:off x="6121400" y="5206999"/>
            <a:ext cx="5842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Ice cream sales and drownings rise together. The lurking variable: hot weather. The association is real - the causal story is not.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EFA9EF0E-A360-0C03-A7CA-1C6AB9318E7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7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DD6D-B0C8-A3E1-4355-0C8DCE1C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Hormone therapy and heart disease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348D9-D0B7-1233-FF22-553A9233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D63B6-9548-CF04-AA00-D037C4DD5B9A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Large observational studies, such as the Nurses' Health Study, found that women who took hormone therapy after menopause had less heart disease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The Women's Health Initiative then randomly assigned 16,608 women aged 50 to 79 to estrogen plus progestin or a placebo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It was stopped early in 2002 because the risks outweighed the benefits: more breast cancer, and MORE heart disease, not less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Why did the observational studies point the wrong way?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FA3062-71D2-B01A-BDC2-C58E6241E49D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Lurking variables.</a:t>
            </a:r>
          </a:p>
          <a:p>
            <a:r>
              <a:rPr lang="en-US" sz="1600">
                <a:solidFill>
                  <a:srgbClr val="000000"/>
                </a:solidFill>
              </a:rPr>
              <a:t>Women who chose hormone therapy tended to be wealthier, better educated and healthier to start with - and that,</a:t>
            </a:r>
          </a:p>
          <a:p>
            <a:r>
              <a:rPr lang="en-US" sz="1600">
                <a:solidFill>
                  <a:srgbClr val="000000"/>
                </a:solidFill>
              </a:rPr>
              <a:t>not the hormones, lowered their heart risk. Random assignment balanced those differences out.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8E7FC-326E-CF9B-EDB3-AA927379BE95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Writing Group for the WHI Investigators (2002), JAMA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8A62C92E-85E2-512D-E0C1-012758CA8F8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3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709F-2934-7B3E-6EF6-18F53449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Can we claim cause without an experiment?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06358-E052-8CE7-B60B-B2B7C51F9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064000"/>
          </a:xfrm>
        </p:spPr>
        <p:txBody>
          <a:bodyPr>
            <a:noAutofit/>
          </a:bodyPr>
          <a:lstStyle/>
          <a:p>
            <a:r>
              <a:rPr lang="en-US" sz="1600"/>
              <a:t>Nobody can randomly assign people to smoke for thirty years - or randomly assign their birth order</a:t>
            </a:r>
          </a:p>
          <a:p>
            <a:r>
              <a:rPr lang="en-US" sz="1600"/>
              <a:t>Yet we are confident that smoking causes lung cancer. Decades of observational studies found:</a:t>
            </a:r>
          </a:p>
          <a:p>
            <a:pPr lvl="1"/>
            <a:r>
              <a:rPr lang="en-US" sz="1600"/>
              <a:t>a strong association, found again and again in different populations</a:t>
            </a:r>
          </a:p>
          <a:p>
            <a:pPr lvl="1"/>
            <a:r>
              <a:rPr lang="en-US" sz="1600"/>
              <a:t>a dose-response pattern: the more cigarettes, the higher the risk</a:t>
            </a:r>
          </a:p>
          <a:p>
            <a:pPr lvl="1"/>
            <a:r>
              <a:rPr lang="en-US" sz="1600"/>
              <a:t>the right order in time: the smoking comes before the cancer</a:t>
            </a:r>
          </a:p>
          <a:p>
            <a:pPr lvl="1"/>
            <a:r>
              <a:rPr lang="en-US" sz="1600"/>
              <a:t>a plausible biological explanation, backed by laboratory evidence</a:t>
            </a:r>
          </a:p>
          <a:p>
            <a:r>
              <a:rPr lang="en-US" sz="1600"/>
              <a:t>The 2014 Surgeon General's report: smoking causes at least 480,000 premature U.S. deaths a year, about 127,700 of them from lung cancer</a:t>
            </a:r>
          </a:p>
          <a:p>
            <a:r>
              <a:rPr lang="en-US" sz="1600"/>
              <a:t>Without an experiment, a causal claim needs this much evidence - </a:t>
            </a:r>
            <a:r>
              <a:rPr lang="en-US" sz="1600" b="1">
                <a:solidFill>
                  <a:srgbClr val="C00000"/>
                </a:solidFill>
              </a:rPr>
              <a:t>never one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60052-99B5-CC22-0E33-C12A192B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EA48A-3D54-696A-2ECA-278C98C7AE7B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U.S. Department of Health and Human Services (2014)</a:t>
            </a:r>
          </a:p>
        </p:txBody>
      </p:sp>
      <p:sp>
        <p:nvSpPr>
          <p:cNvPr id="6" name="Title rule">
            <a:extLst>
              <a:ext uri="{FF2B5EF4-FFF2-40B4-BE49-F238E27FC236}">
                <a16:creationId xmlns:a16="http://schemas.microsoft.com/office/drawing/2014/main" id="{3530954B-5B57-300D-B113-64E9207C034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90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finition card">
            <a:extLst>
              <a:ext uri="{FF2B5EF4-FFF2-40B4-BE49-F238E27FC236}">
                <a16:creationId xmlns:a16="http://schemas.microsoft.com/office/drawing/2014/main" id="{59EBD907-A6E8-657E-188D-FE00A49193D1}"/>
              </a:ext>
            </a:extLst>
          </p:cNvPr>
          <p:cNvSpPr/>
          <p:nvPr/>
        </p:nvSpPr>
        <p:spPr>
          <a:xfrm>
            <a:off x="762000" y="45847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efinition card">
            <a:extLst>
              <a:ext uri="{FF2B5EF4-FFF2-40B4-BE49-F238E27FC236}">
                <a16:creationId xmlns:a16="http://schemas.microsoft.com/office/drawing/2014/main" id="{9C1CD9DF-E193-A4B5-BA87-9666322397FC}"/>
              </a:ext>
            </a:extLst>
          </p:cNvPr>
          <p:cNvSpPr/>
          <p:nvPr/>
        </p:nvSpPr>
        <p:spPr>
          <a:xfrm>
            <a:off x="762000" y="38989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A7D6B4EF-A031-21CF-39A5-711151159313}"/>
              </a:ext>
            </a:extLst>
          </p:cNvPr>
          <p:cNvSpPr/>
          <p:nvPr/>
        </p:nvSpPr>
        <p:spPr>
          <a:xfrm>
            <a:off x="762000" y="32131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B9CB5A08-F2A1-E98D-13E6-B0ECE76DDADC}"/>
              </a:ext>
            </a:extLst>
          </p:cNvPr>
          <p:cNvSpPr/>
          <p:nvPr/>
        </p:nvSpPr>
        <p:spPr>
          <a:xfrm>
            <a:off x="762000" y="25273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D1EFC808-5844-34DE-7746-FEF49FC9B4C9}"/>
              </a:ext>
            </a:extLst>
          </p:cNvPr>
          <p:cNvSpPr/>
          <p:nvPr/>
        </p:nvSpPr>
        <p:spPr>
          <a:xfrm>
            <a:off x="762000" y="18415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3E16A-31AB-E7D2-B8F9-1FDC4D29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language of experiments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9EBC0-97E5-F4A8-EECC-674F4216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EF591-C30D-BD7F-5CBF-BCCF0D1D0796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experimental units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CC513-44C3-6104-C6CA-D5E364C3E4D1}"/>
              </a:ext>
            </a:extLst>
          </p:cNvPr>
          <p:cNvSpPr txBox="1"/>
          <p:nvPr/>
        </p:nvSpPr>
        <p:spPr>
          <a:xfrm>
            <a:off x="4013200" y="19431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individuals or objects the treatments are applied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35CAC-0474-55C9-D17B-00AD2EC24D9F}"/>
              </a:ext>
            </a:extLst>
          </p:cNvPr>
          <p:cNvSpPr txBox="1"/>
          <p:nvPr/>
        </p:nvSpPr>
        <p:spPr>
          <a:xfrm>
            <a:off x="914400" y="26289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subjects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C84BA-9C70-844B-A1BF-C4C634534EAA}"/>
              </a:ext>
            </a:extLst>
          </p:cNvPr>
          <p:cNvSpPr txBox="1"/>
          <p:nvPr/>
        </p:nvSpPr>
        <p:spPr>
          <a:xfrm>
            <a:off x="4013200" y="26289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experimental units that are people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78774-3443-1DB0-62E7-162BB085D70C}"/>
              </a:ext>
            </a:extLst>
          </p:cNvPr>
          <p:cNvSpPr txBox="1"/>
          <p:nvPr/>
        </p:nvSpPr>
        <p:spPr>
          <a:xfrm>
            <a:off x="914400" y="33147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6C711-7DCD-5CE6-45F6-7F6B9D9681F6}"/>
              </a:ext>
            </a:extLst>
          </p:cNvPr>
          <p:cNvSpPr txBox="1"/>
          <p:nvPr/>
        </p:nvSpPr>
        <p:spPr>
          <a:xfrm>
            <a:off x="4013200" y="33147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an explanatory variable the researcher controls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A33C8-B418-739E-EE1E-10E2DA5308B8}"/>
              </a:ext>
            </a:extLst>
          </p:cNvPr>
          <p:cNvSpPr txBox="1"/>
          <p:nvPr/>
        </p:nvSpPr>
        <p:spPr>
          <a:xfrm>
            <a:off x="914400" y="40005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levels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E96262-2E8D-6302-AB30-EF5562FB2341}"/>
              </a:ext>
            </a:extLst>
          </p:cNvPr>
          <p:cNvSpPr txBox="1"/>
          <p:nvPr/>
        </p:nvSpPr>
        <p:spPr>
          <a:xfrm>
            <a:off x="4013200" y="40005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specific values a factor is set 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0EC0B1-9269-0A41-BF49-5B7F03FDD5F2}"/>
              </a:ext>
            </a:extLst>
          </p:cNvPr>
          <p:cNvSpPr txBox="1"/>
          <p:nvPr/>
        </p:nvSpPr>
        <p:spPr>
          <a:xfrm>
            <a:off x="914400" y="4686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treatment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9E218-E792-7120-D08B-D3A0F0B77D58}"/>
              </a:ext>
            </a:extLst>
          </p:cNvPr>
          <p:cNvSpPr txBox="1"/>
          <p:nvPr/>
        </p:nvSpPr>
        <p:spPr>
          <a:xfrm>
            <a:off x="4013200" y="46863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condition a unit receives: one combination of factor levels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B134D43-3F6B-E5BD-E67E-6D4226AA8453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0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98F7-8570-0C52-5D41-467A2BDB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the VITAL trial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B3444-375E-E824-8EEF-5C69EBC9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0DBB2-D057-85C3-9C80-C510F2B923A6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VITAL randomly assigned 25,871 U.S. adults to vitamin D (2,000 IU a day) or a placebo, AND to omega-3 fish oil (1 g a day) or a placebo, then followed them for about 5 years.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21DAF-1F22-8801-7C9B-0EC85CA211A0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What are the experimental units - and what do we call them?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A215A-C8FD-FC74-4B68-6001F26E304A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25,871 adults. They are people, so they are subjects.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2D7F42-2ABE-E4CC-FDCC-7CDD413932B6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What are the factors, and how many levels does each have?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24626-47AF-4F3F-80CF-EF895DD87BE4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Vitamin D and omega-3 - 2 levels each (the supplement or a placebo).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B521F5-01B0-AE05-B963-1491C55487E9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How many treatments are there?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C9B71-58CE-FF84-6535-33BFB7E52EEA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2 x 2 = 4: vitamin D + omega-3, vitamin D + placebo, placebo + omega-3, placebo + placebo.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B2C93-7EFB-E81B-3D5F-10AD17B017B5}"/>
              </a:ext>
            </a:extLst>
          </p:cNvPr>
          <p:cNvSpPr txBox="1"/>
          <p:nvPr/>
        </p:nvSpPr>
        <p:spPr>
          <a:xfrm>
            <a:off x="762000" y="49352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What happened?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20E50-8185-4E7B-2E9C-73C00BB57E22}"/>
              </a:ext>
            </a:extLst>
          </p:cNvPr>
          <p:cNvSpPr txBox="1"/>
          <p:nvPr/>
        </p:nvSpPr>
        <p:spPr>
          <a:xfrm>
            <a:off x="1117600" y="52298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Neither supplement lowered the rate of invasive cancer or of major cardiovascular events.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655A3-BCE5-0BD6-38DE-77AC3466EB5A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Manson et al. (2019),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0BF8F389-5B0C-2924-374E-63273FB4B61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1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E82CF43F-D306-DCC2-AB42-38FBEAB03F93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BD05B7D2-0534-3E3F-D282-7A72564A0C22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A9F7853C-9751-65D9-7751-1E128F338B2F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47093-C5E0-4B06-5636-D6527FB6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Principles of experimental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C2D02-E056-96CB-4772-839482B3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49FA0-9906-C0E0-94B5-5B043E093348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A76B4-CCFE-0C6A-68D5-76AFADBB5658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compare the treatment against a control group, so the treatment is the only systematic difference between the groups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D6E2C-3AC6-6379-1989-5CDC9B4C400D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random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D397D-86F4-7700-EF80-D63F29676BE4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let chance assign units to treatments - it balances the lurking variables we know about AND the ones we do not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FFDA6-24B2-0218-3473-7D30892C06CA}"/>
              </a:ext>
            </a:extLst>
          </p:cNvPr>
          <p:cNvSpPr txBox="1"/>
          <p:nvPr/>
        </p:nvSpPr>
        <p:spPr>
          <a:xfrm>
            <a:off x="914400" y="3853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49E08-E2D6-F998-0D41-9374670E2FE2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put enough units in each group that chance differences between the groups average out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A7FD67B2-7381-4EC9-FE0E-74B09B8CD59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9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efinition card">
            <a:extLst>
              <a:ext uri="{FF2B5EF4-FFF2-40B4-BE49-F238E27FC236}">
                <a16:creationId xmlns:a16="http://schemas.microsoft.com/office/drawing/2014/main" id="{9B5E487D-6036-108D-8163-38ABDFA3D501}"/>
              </a:ext>
            </a:extLst>
          </p:cNvPr>
          <p:cNvSpPr/>
          <p:nvPr/>
        </p:nvSpPr>
        <p:spPr>
          <a:xfrm>
            <a:off x="762000" y="47117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inition card">
            <a:extLst>
              <a:ext uri="{FF2B5EF4-FFF2-40B4-BE49-F238E27FC236}">
                <a16:creationId xmlns:a16="http://schemas.microsoft.com/office/drawing/2014/main" id="{5391B709-00DD-A9D0-519D-0B261D087725}"/>
              </a:ext>
            </a:extLst>
          </p:cNvPr>
          <p:cNvSpPr/>
          <p:nvPr/>
        </p:nvSpPr>
        <p:spPr>
          <a:xfrm>
            <a:off x="762000" y="402590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F32049DD-D350-3DE8-3303-2DC0379842C8}"/>
              </a:ext>
            </a:extLst>
          </p:cNvPr>
          <p:cNvSpPr/>
          <p:nvPr/>
        </p:nvSpPr>
        <p:spPr>
          <a:xfrm>
            <a:off x="762000" y="2796540"/>
            <a:ext cx="10668000" cy="110236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9D24748C-32BE-2A64-76FE-C99C4FADA054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EB290-6304-B21F-831D-E67FC83E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Placebos and blinding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4BB48-11F0-7D12-F31D-C9DE4098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461FB-7D6A-A96E-BCE2-925B38AA092A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placebo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0799A-71D9-4087-28EC-AA780FE5B537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an inactive treatment that looks exactly like the real one</a:t>
            </a:r>
          </a:p>
          <a:p>
            <a:r>
              <a:rPr lang="en-US" i="1">
                <a:solidFill>
                  <a:srgbClr val="595959"/>
                </a:solidFill>
              </a:rPr>
              <a:t>a sugar pill, or a saline injection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FC3D0-80DD-7B80-C332-2A80A7E61E2C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placebo effect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37BDE-6BB9-54B7-1460-B9A46773C81B}"/>
              </a:ext>
            </a:extLst>
          </p:cNvPr>
          <p:cNvSpPr txBox="1"/>
          <p:nvPr/>
        </p:nvSpPr>
        <p:spPr>
          <a:xfrm>
            <a:off x="4013200" y="2898140"/>
            <a:ext cx="7264400" cy="9245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often improve simply because they believe they are being treated</a:t>
            </a:r>
          </a:p>
          <a:p>
            <a:r>
              <a:rPr lang="en-US" i="1">
                <a:solidFill>
                  <a:srgbClr val="595959"/>
                </a:solidFill>
              </a:rPr>
              <a:t>in one study, believing you had taken a performance drug worked almost as well as the drug itself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752CA-14E2-B28C-3BE6-9DCF58746EE2}"/>
              </a:ext>
            </a:extLst>
          </p:cNvPr>
          <p:cNvSpPr txBox="1"/>
          <p:nvPr/>
        </p:nvSpPr>
        <p:spPr>
          <a:xfrm>
            <a:off x="914400" y="41275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blinding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B03380-FD44-B453-164C-1965C1D11FA1}"/>
              </a:ext>
            </a:extLst>
          </p:cNvPr>
          <p:cNvSpPr txBox="1"/>
          <p:nvPr/>
        </p:nvSpPr>
        <p:spPr>
          <a:xfrm>
            <a:off x="4013200" y="412750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subjects do not know which treatment they received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086D80-E05A-F188-EF53-712952931CFA}"/>
              </a:ext>
            </a:extLst>
          </p:cNvPr>
          <p:cNvSpPr txBox="1"/>
          <p:nvPr/>
        </p:nvSpPr>
        <p:spPr>
          <a:xfrm>
            <a:off x="914400" y="48133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double-blind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B4B109-DB7C-9AA6-DBBA-728AA9CFA2F3}"/>
              </a:ext>
            </a:extLst>
          </p:cNvPr>
          <p:cNvSpPr txBox="1"/>
          <p:nvPr/>
        </p:nvSpPr>
        <p:spPr>
          <a:xfrm>
            <a:off x="4013200" y="48132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neither the subjects nor the researchers working with them know who received what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65EA7D67-9EF4-E45C-0220-0AE4D43A06C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1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5B19-F436-0B7B-1C52-6939CE1B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2020 Pfizer-BioNTech vaccine trial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0DF82-4861-4B01-03F9-B8601041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C36BC-A8EC-9ED4-0333-E99142244AE9}"/>
              </a:ext>
            </a:extLst>
          </p:cNvPr>
          <p:cNvSpPr txBox="1"/>
          <p:nvPr/>
        </p:nvSpPr>
        <p:spPr>
          <a:xfrm>
            <a:off x="762000" y="1841499"/>
            <a:ext cx="10668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43,548 people were randomly assigned, half and half, to two shots of the COVID-19 vaccine or two shots of a saline placebo. Participants and the staff assessing them did not know who got which. Afterwards: 8 COVID-19 cases in the vaccine group, 162 in the placebo group.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42F2A-9CE3-4DFD-479E-BF6ABBCDC348}"/>
              </a:ext>
            </a:extLst>
          </p:cNvPr>
          <p:cNvSpPr txBox="1"/>
          <p:nvPr/>
        </p:nvSpPr>
        <p:spPr>
          <a:xfrm>
            <a:off x="762000" y="28016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Why give the control group a saline shot instead of no shot at all?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EDF00F-BAB3-D1FA-FCC1-172149501B1F}"/>
              </a:ext>
            </a:extLst>
          </p:cNvPr>
          <p:cNvSpPr txBox="1"/>
          <p:nvPr/>
        </p:nvSpPr>
        <p:spPr>
          <a:xfrm>
            <a:off x="1117600" y="309625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So both groups have the same experience. A difference in cases can then only come from the vaccine, not from expectations.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EE3F1-0EB1-43FB-EF22-241D598178AD}"/>
              </a:ext>
            </a:extLst>
          </p:cNvPr>
          <p:cNvSpPr txBox="1"/>
          <p:nvPr/>
        </p:nvSpPr>
        <p:spPr>
          <a:xfrm>
            <a:off x="762000" y="3837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Why randomize, instead of letting people choose whether to get the vaccine?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3F1BB-8957-6606-04E1-85AA6457AC1B}"/>
              </a:ext>
            </a:extLst>
          </p:cNvPr>
          <p:cNvSpPr txBox="1"/>
          <p:nvPr/>
        </p:nvSpPr>
        <p:spPr>
          <a:xfrm>
            <a:off x="1117600" y="4132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People who choose a new vaccine may also be more careful in other ways - a lurking variable. Randomizing balances 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4A87B-C516-1E45-71E2-0AD86E5798F8}"/>
              </a:ext>
            </a:extLst>
          </p:cNvPr>
          <p:cNvSpPr txBox="1"/>
          <p:nvPr/>
        </p:nvSpPr>
        <p:spPr>
          <a:xfrm>
            <a:off x="762000" y="4630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does 8 cases versus 162 suggest?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FDCCE-2D62-8C02-FF7C-0E3E7FCC1F95}"/>
              </a:ext>
            </a:extLst>
          </p:cNvPr>
          <p:cNvSpPr txBox="1"/>
          <p:nvPr/>
        </p:nvSpPr>
        <p:spPr>
          <a:xfrm>
            <a:off x="1117600" y="4925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vaccine group had about 95% fewer cases - and because of the design, we can credit that to the vaccine.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381B3-7008-B22E-DFED-A49E8AD2C408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Polack et al. (2020),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C35958AB-F0F0-9592-3640-03FC3A0D7360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9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C0C6-BDC1-BA38-232B-FDAD573B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 placebo surgery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E768F-E676-74F4-984F-13DBE4A3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B239D-0C86-F6F4-4F17-17C613C90CA5}"/>
              </a:ext>
            </a:extLst>
          </p:cNvPr>
          <p:cNvSpPr txBox="1"/>
          <p:nvPr/>
        </p:nvSpPr>
        <p:spPr>
          <a:xfrm>
            <a:off x="762000" y="1905000"/>
            <a:ext cx="10668000" cy="163121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Arthroscopic knee surgery for arthritis was common, and patients said it helped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Moseley and colleagues (2002) randomly assigned 180 patients with knee osteoarthritis to two real arthroscopic procedures, or to placebo surgery - skin incisions only, with no instruments inserted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</a:rPr>
              <a:t>Patients, and the staff who assessed their pain, did not know who got which</a:t>
            </a:r>
          </a:p>
          <a:p>
            <a:pPr>
              <a:spcAft>
                <a:spcPts val="800"/>
              </a:spcAft>
            </a:pPr>
            <a:r>
              <a:rPr lang="en-US" sz="1600" b="1">
                <a:solidFill>
                  <a:srgbClr val="1F3864"/>
                </a:solidFill>
              </a:rPr>
              <a:t>Over two years, which group reported the most improvement?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677372-DAB6-7FB1-33D2-B3CB00FB928D}"/>
              </a:ext>
            </a:extLst>
          </p:cNvPr>
          <p:cNvSpPr/>
          <p:nvPr/>
        </p:nvSpPr>
        <p:spPr>
          <a:xfrm>
            <a:off x="762000" y="4597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/>
          <a:lstStyle/>
          <a:p>
            <a:r>
              <a:rPr lang="en-US" sz="1600" b="1">
                <a:solidFill>
                  <a:srgbClr val="C00000"/>
                </a:solidFill>
              </a:rPr>
              <a:t>None of them.</a:t>
            </a:r>
          </a:p>
          <a:p>
            <a:r>
              <a:rPr lang="en-US" sz="1600">
                <a:solidFill>
                  <a:srgbClr val="000000"/>
                </a:solidFill>
              </a:rPr>
              <a:t>The placebo group did as well as both surgery groups on pain and function. The benefit came from believing</a:t>
            </a:r>
          </a:p>
          <a:p>
            <a:r>
              <a:rPr lang="en-US" sz="1600">
                <a:solidFill>
                  <a:srgbClr val="000000"/>
                </a:solidFill>
              </a:rPr>
              <a:t>you had surgery - and without a placebo group and blinding, nobody would have known.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A2791-C075-A09B-4BD7-00BDECFFC0B8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Moseley et al. (2002), New England Journal of Medicine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6A03FBE1-4ABF-872F-371F-078A0EC48FE1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1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4052-E3DD-7BC6-82BF-756E4390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Completely randomized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4AFDE-8294-6416-8474-C300EA49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4A1BE-5FEC-DF7D-EEB0-6B57D4006CB6}"/>
              </a:ext>
            </a:extLst>
          </p:cNvPr>
          <p:cNvSpPr txBox="1"/>
          <p:nvPr/>
        </p:nvSpPr>
        <p:spPr>
          <a:xfrm>
            <a:off x="762000" y="1841500"/>
            <a:ext cx="3556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completely randomized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50D47-DB19-71AF-B5EB-29454791F893}"/>
              </a:ext>
            </a:extLst>
          </p:cNvPr>
          <p:cNvSpPr txBox="1"/>
          <p:nvPr/>
        </p:nvSpPr>
        <p:spPr>
          <a:xfrm>
            <a:off x="4419600" y="1841500"/>
            <a:ext cx="7010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every unit is assigned to a treatment completely at random - the simplest design</a:t>
            </a:r>
          </a:p>
        </p:txBody>
      </p:sp>
      <p:pic>
        <p:nvPicPr>
          <p:cNvPr id="8" name="l8_crd.png">
            <a:extLst>
              <a:ext uri="{FF2B5EF4-FFF2-40B4-BE49-F238E27FC236}">
                <a16:creationId xmlns:a16="http://schemas.microsoft.com/office/drawing/2014/main" id="{ED1EEEE5-AB99-2B86-C21E-58DDC5AAAE1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15540"/>
            <a:ext cx="10668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DE4499-D47A-A994-0CEE-63EC2517E518}"/>
              </a:ext>
            </a:extLst>
          </p:cNvPr>
          <p:cNvSpPr txBox="1"/>
          <p:nvPr/>
        </p:nvSpPr>
        <p:spPr>
          <a:xfrm>
            <a:off x="762000" y="59690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The Pfizer-BioNTech vaccine trial was a completely randomized design with two groups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AFB02CF-DC22-1C24-F5E1-D0B6DB7B4D0F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3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812E-508E-6339-6C30-85517CE0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Randomized block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086B0-DC2A-6E1D-745B-47A6A86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233F1-6701-EED6-E4AA-9EE2AFED8EBF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block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1E6D3-0C6E-5576-5F3A-52F77F7C85B9}"/>
              </a:ext>
            </a:extLst>
          </p:cNvPr>
          <p:cNvSpPr txBox="1"/>
          <p:nvPr/>
        </p:nvSpPr>
        <p:spPr>
          <a:xfrm>
            <a:off x="4038600" y="1841499"/>
            <a:ext cx="7391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group of units that are alike in a way that affects the response, formed BEFORE treatments are assigned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E0B05-A3CC-0291-7C48-EF870A976431}"/>
              </a:ext>
            </a:extLst>
          </p:cNvPr>
          <p:cNvSpPr txBox="1"/>
          <p:nvPr/>
        </p:nvSpPr>
        <p:spPr>
          <a:xfrm>
            <a:off x="762000" y="250698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randomized block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7938E-5ECC-677D-054C-CB7C3D3A3A86}"/>
              </a:ext>
            </a:extLst>
          </p:cNvPr>
          <p:cNvSpPr txBox="1"/>
          <p:nvPr/>
        </p:nvSpPr>
        <p:spPr>
          <a:xfrm>
            <a:off x="4038600" y="2506979"/>
            <a:ext cx="73914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randomize treatments separately inside each block, then compare treatments within blocks</a:t>
            </a:r>
          </a:p>
          <a:p>
            <a:r>
              <a:rPr lang="en-US" sz="1600" i="1">
                <a:solidFill>
                  <a:srgbClr val="595959"/>
                </a:solidFill>
              </a:rPr>
              <a:t>blocking is to experiments what stratifying is to sampling</a:t>
            </a:r>
          </a:p>
        </p:txBody>
      </p:sp>
      <p:pic>
        <p:nvPicPr>
          <p:cNvPr id="10" name="l8_rcbd.png">
            <a:extLst>
              <a:ext uri="{FF2B5EF4-FFF2-40B4-BE49-F238E27FC236}">
                <a16:creationId xmlns:a16="http://schemas.microsoft.com/office/drawing/2014/main" id="{56A568CE-7B55-F4A9-2810-EA7EA83017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0"/>
            <a:ext cx="10668000" cy="28702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80526FFD-3285-AF0B-483C-59226683CBF6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9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200E-DB9C-39EB-3A04-ABB6C28E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Matched pairs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EB323-7206-D7D7-EA68-EDDEC0D43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2E817-9F83-583B-1E67-125B97E694D7}"/>
              </a:ext>
            </a:extLst>
          </p:cNvPr>
          <p:cNvSpPr txBox="1"/>
          <p:nvPr/>
        </p:nvSpPr>
        <p:spPr>
          <a:xfrm>
            <a:off x="762000" y="1841500"/>
            <a:ext cx="3175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matched pairs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6929A-15C7-BE36-A168-DB6B56E29722}"/>
              </a:ext>
            </a:extLst>
          </p:cNvPr>
          <p:cNvSpPr txBox="1"/>
          <p:nvPr/>
        </p:nvSpPr>
        <p:spPr>
          <a:xfrm>
            <a:off x="4038600" y="1841499"/>
            <a:ext cx="73914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a block design where every block is a pair of very similar units, and a coin flip decides which one gets each treatment</a:t>
            </a:r>
          </a:p>
          <a:p>
            <a:r>
              <a:rPr lang="en-US" sz="1600" i="1">
                <a:solidFill>
                  <a:srgbClr val="595959"/>
                </a:solidFill>
              </a:rPr>
              <a:t>or each subject is their own pair, receiving both treatments in a random order</a:t>
            </a:r>
          </a:p>
        </p:txBody>
      </p:sp>
      <p:pic>
        <p:nvPicPr>
          <p:cNvPr id="8" name="l8_matched_pairs.png">
            <a:extLst>
              <a:ext uri="{FF2B5EF4-FFF2-40B4-BE49-F238E27FC236}">
                <a16:creationId xmlns:a16="http://schemas.microsoft.com/office/drawing/2014/main" id="{6AECFEA0-5BEA-68D3-1A5D-74E28653B3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852420"/>
            <a:ext cx="10668000" cy="292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B5BA8F-9D3E-2CB2-A98C-FA4CFCDE3C02}"/>
              </a:ext>
            </a:extLst>
          </p:cNvPr>
          <p:cNvSpPr txBox="1"/>
          <p:nvPr/>
        </p:nvSpPr>
        <p:spPr>
          <a:xfrm>
            <a:off x="762000" y="59944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Before-and-after data with no random order or control group is much weaker evidence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DFC48B83-AC44-19E4-4C5B-56F100BAE836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0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90FB-9647-3A84-4904-64EA63B2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does randomization buy you?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D35D1-3BF0-5B26-8636-22B69410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006FC-C0B1-25A7-9551-76E66738A25E}"/>
              </a:ext>
            </a:extLst>
          </p:cNvPr>
          <p:cNvSpPr txBox="1"/>
          <p:nvPr/>
        </p:nvSpPr>
        <p:spPr>
          <a:xfrm>
            <a:off x="508000" y="2031999"/>
            <a:ext cx="368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sampling</a:t>
            </a:r>
            <a:r>
              <a:rPr lang="en-US" sz="1600">
                <a:solidFill>
                  <a:srgbClr val="000000"/>
                </a:solidFill>
              </a:rPr>
              <a:t> lets you generalize from the sample to the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A3383-A56A-29B0-5082-D46D124E4F8C}"/>
              </a:ext>
            </a:extLst>
          </p:cNvPr>
          <p:cNvSpPr txBox="1"/>
          <p:nvPr/>
        </p:nvSpPr>
        <p:spPr>
          <a:xfrm>
            <a:off x="508000" y="2799079"/>
            <a:ext cx="3683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 assignment</a:t>
            </a:r>
            <a:r>
              <a:rPr lang="en-US" sz="1600">
                <a:solidFill>
                  <a:srgbClr val="000000"/>
                </a:solidFill>
              </a:rPr>
              <a:t> lets you conclude cause and effect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F7D90-2184-06B6-482C-DE52A5BD2DA9}"/>
              </a:ext>
            </a:extLst>
          </p:cNvPr>
          <p:cNvSpPr txBox="1"/>
          <p:nvPr/>
        </p:nvSpPr>
        <p:spPr>
          <a:xfrm>
            <a:off x="508000" y="3566159"/>
            <a:ext cx="3683000" cy="8331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Most studies have only one. A trial on volunteers shows a vaccine works - for people like those volunteers</a:t>
            </a:r>
          </a:p>
        </p:txBody>
      </p:sp>
      <p:pic>
        <p:nvPicPr>
          <p:cNvPr id="9" name="l8_sampling_vs_assignment.png">
            <a:extLst>
              <a:ext uri="{FF2B5EF4-FFF2-40B4-BE49-F238E27FC236}">
                <a16:creationId xmlns:a16="http://schemas.microsoft.com/office/drawing/2014/main" id="{62D7558E-89E1-11EA-B68C-7E86204E01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854200"/>
            <a:ext cx="7747000" cy="4445000"/>
          </a:xfrm>
          <a:prstGeom prst="rect">
            <a:avLst/>
          </a:prstGeom>
        </p:spPr>
      </p:pic>
      <p:sp>
        <p:nvSpPr>
          <p:cNvPr id="3" name="Title rule">
            <a:extLst>
              <a:ext uri="{FF2B5EF4-FFF2-40B4-BE49-F238E27FC236}">
                <a16:creationId xmlns:a16="http://schemas.microsoft.com/office/drawing/2014/main" id="{8D7C1846-B551-8893-87D0-BA8E75B9276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6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F963-B927-8D59-4EAC-265369B3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design the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7293F-DC20-3A85-FBE0-1C5A1523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90253-C7B7-52D4-699E-E31E04F354A7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You want to know whether texting slows how quickly a driver reacts when the car ahead brakes.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3C0BB-44FB-8049-CBEE-582B0BC69DF4}"/>
              </a:ext>
            </a:extLst>
          </p:cNvPr>
          <p:cNvSpPr txBox="1"/>
          <p:nvPr/>
        </p:nvSpPr>
        <p:spPr>
          <a:xfrm>
            <a:off x="762000" y="23139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What are the explanatory variable, the response variable, and the treatments?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FE240-135F-DD57-A565-BFD59F5B4077}"/>
              </a:ext>
            </a:extLst>
          </p:cNvPr>
          <p:cNvSpPr txBox="1"/>
          <p:nvPr/>
        </p:nvSpPr>
        <p:spPr>
          <a:xfrm>
            <a:off x="1117600" y="26085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Explanatory: texting or not. Response: reaction time. Treatments: driving while texting, and driving only.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DBB0E-15F0-671B-4629-47F97EB8EB04}"/>
              </a:ext>
            </a:extLst>
          </p:cNvPr>
          <p:cNvSpPr txBox="1"/>
          <p:nvPr/>
        </p:nvSpPr>
        <p:spPr>
          <a:xfrm>
            <a:off x="762000" y="3106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Your partner wants to split drivers at random into a texting group and a driving-only group. Is there a better design?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CB23B-48FE-B6C0-C58D-A72C859D3BB8}"/>
              </a:ext>
            </a:extLst>
          </p:cNvPr>
          <p:cNvSpPr txBox="1"/>
          <p:nvPr/>
        </p:nvSpPr>
        <p:spPr>
          <a:xfrm>
            <a:off x="1117600" y="340105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Matched pairs: each driver does both, in a random order. Reaction times vary a lot between people, so compare each driver to themselves.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72431-AE8D-B24B-F605-32977EBFD6D3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Can the study be blinded?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D8A32B-D38F-9D2F-2593-231530093609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Not for the drivers - they know when they are texting. But the person measuring reaction times can be kept blind.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16D447-DC56-1AF8-4B22-23FC7F114166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Adapted from Introductory Statistics 2e (OpenStax), Section 1.4, Try It 1.21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EC745B1-4D9B-AAC9-E853-778CCAC4143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6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A7B4-39A1-FD05-C5EE-B6D6B4D1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Ethics: the Facebook experiment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F3115-8576-9A96-DD99-58792EA2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DF750-8906-E69B-34F9-56ACF2911F28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For one week in January 2012, Facebook changed the News Feeds of 689,003 users: some saw fewer positive posts, some fewer negative ones. The results were published in 2014. The users never knew.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B9013-0D2A-A6F4-56E7-46C39B325B09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Facebook said agreeing to its Data Use Policy counted as informed consent. Do you agree?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04254-B73B-896F-5A52-01B36E4E9B5D}"/>
              </a:ext>
            </a:extLst>
          </p:cNvPr>
          <p:cNvSpPr txBox="1"/>
          <p:nvPr/>
        </p:nvSpPr>
        <p:spPr>
          <a:xfrm>
            <a:off x="1117600" y="285241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journal did not: its Expression of Concern said the study may not have met the principles of informed consent and the chance to opt out.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88BA3-F70B-9562-E570-C226324ED06C}"/>
              </a:ext>
            </a:extLst>
          </p:cNvPr>
          <p:cNvSpPr txBox="1"/>
          <p:nvPr/>
        </p:nvSpPr>
        <p:spPr>
          <a:xfrm>
            <a:off x="762000" y="35941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Why did no ethics board stop it?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49404-D7A1-B764-F282-3E8ACB6E72D7}"/>
              </a:ext>
            </a:extLst>
          </p:cNvPr>
          <p:cNvSpPr txBox="1"/>
          <p:nvPr/>
        </p:nvSpPr>
        <p:spPr>
          <a:xfrm>
            <a:off x="1117600" y="3888739"/>
            <a:ext cx="103124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Facebook, a private company, was not bound by the federal rules. Cornell's board decided its researcher was not directly involved, so it did no review.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9FBDB6-AEF1-50CC-1185-27F9B396F33F}"/>
              </a:ext>
            </a:extLst>
          </p:cNvPr>
          <p:cNvSpPr txBox="1"/>
          <p:nvPr/>
        </p:nvSpPr>
        <p:spPr>
          <a:xfrm>
            <a:off x="762000" y="463042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What is the lesson?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3095BE-67CC-C34C-24A6-312697E32FC8}"/>
              </a:ext>
            </a:extLst>
          </p:cNvPr>
          <p:cNvSpPr txBox="1"/>
          <p:nvPr/>
        </p:nvSpPr>
        <p:spPr>
          <a:xfrm>
            <a:off x="1117600" y="492506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Clicking I agree on a terms-of-service page is not informed consent - even for a well-designed experiment.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D0CD6-F4D0-0E76-134B-A1B62859CBA6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Sources: Kramer, Guillory and Hancock (2014), PNAS; PNAS Editorial Expression of Concern (2014)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9771F087-17D3-086F-65D1-9D207D02CE54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efinition card">
            <a:extLst>
              <a:ext uri="{FF2B5EF4-FFF2-40B4-BE49-F238E27FC236}">
                <a16:creationId xmlns:a16="http://schemas.microsoft.com/office/drawing/2014/main" id="{66D9C119-4C99-C734-732C-D1EFFF7923E6}"/>
              </a:ext>
            </a:extLst>
          </p:cNvPr>
          <p:cNvSpPr/>
          <p:nvPr/>
        </p:nvSpPr>
        <p:spPr>
          <a:xfrm>
            <a:off x="762000" y="39293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efinition card">
            <a:extLst>
              <a:ext uri="{FF2B5EF4-FFF2-40B4-BE49-F238E27FC236}">
                <a16:creationId xmlns:a16="http://schemas.microsoft.com/office/drawing/2014/main" id="{183466B7-5A8D-2655-32C0-BE96DB112DC6}"/>
              </a:ext>
            </a:extLst>
          </p:cNvPr>
          <p:cNvSpPr/>
          <p:nvPr/>
        </p:nvSpPr>
        <p:spPr>
          <a:xfrm>
            <a:off x="762000" y="32435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efinition card">
            <a:extLst>
              <a:ext uri="{FF2B5EF4-FFF2-40B4-BE49-F238E27FC236}">
                <a16:creationId xmlns:a16="http://schemas.microsoft.com/office/drawing/2014/main" id="{BC26ADEF-F4B6-75C1-8493-A6634DB515CA}"/>
              </a:ext>
            </a:extLst>
          </p:cNvPr>
          <p:cNvSpPr/>
          <p:nvPr/>
        </p:nvSpPr>
        <p:spPr>
          <a:xfrm>
            <a:off x="762000" y="2557780"/>
            <a:ext cx="10668000" cy="5588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29A2B-BDB5-844D-D0C5-4A72B35F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Belmont Report: three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F2D05-8938-BB5E-645A-CF6ED807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40B2C-5ACD-04CD-534F-C0559CCB70C0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i="1">
                <a:solidFill>
                  <a:srgbClr val="595959"/>
                </a:solidFill>
              </a:rPr>
              <a:t>Why the rules exist: in the U.S. Public Health Service syphilis study at Tuskegee (1932 to 1972), hundreds of Black men with syphilis were left untreated without informed consent. The Belmont Report (1979) followed.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85D48-8725-5F1B-A97F-59DA0FA30DF9}"/>
              </a:ext>
            </a:extLst>
          </p:cNvPr>
          <p:cNvSpPr txBox="1"/>
          <p:nvPr/>
        </p:nvSpPr>
        <p:spPr>
          <a:xfrm>
            <a:off x="914400" y="26593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respect for persons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25FF4-9A14-DD39-D465-660431C83BF3}"/>
              </a:ext>
            </a:extLst>
          </p:cNvPr>
          <p:cNvSpPr txBox="1"/>
          <p:nvPr/>
        </p:nvSpPr>
        <p:spPr>
          <a:xfrm>
            <a:off x="4013200" y="26593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people decide for themselves whether to take part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E9CBE-F77A-7E68-9044-A294056699FE}"/>
              </a:ext>
            </a:extLst>
          </p:cNvPr>
          <p:cNvSpPr txBox="1"/>
          <p:nvPr/>
        </p:nvSpPr>
        <p:spPr>
          <a:xfrm>
            <a:off x="914400" y="33451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beneficence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1F793-EE4D-A11A-BEBD-C37AA04E9830}"/>
              </a:ext>
            </a:extLst>
          </p:cNvPr>
          <p:cNvSpPr txBox="1"/>
          <p:nvPr/>
        </p:nvSpPr>
        <p:spPr>
          <a:xfrm>
            <a:off x="4013200" y="33451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do no harm: maximize the possible benefits and minimize the possible risks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58AE82-DCA5-F72C-DEDE-EA1169E1E6FE}"/>
              </a:ext>
            </a:extLst>
          </p:cNvPr>
          <p:cNvSpPr txBox="1"/>
          <p:nvPr/>
        </p:nvSpPr>
        <p:spPr>
          <a:xfrm>
            <a:off x="914400" y="403098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justice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5D1BC5-0C56-841B-7A97-13EE4549D97E}"/>
              </a:ext>
            </a:extLst>
          </p:cNvPr>
          <p:cNvSpPr txBox="1"/>
          <p:nvPr/>
        </p:nvSpPr>
        <p:spPr>
          <a:xfrm>
            <a:off x="4013200" y="4030980"/>
            <a:ext cx="72644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the burdens and benefits of research are shared fairly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CBCF14C3-DF0C-1D8E-6D8A-C5F978D5983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4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efinition card">
            <a:extLst>
              <a:ext uri="{FF2B5EF4-FFF2-40B4-BE49-F238E27FC236}">
                <a16:creationId xmlns:a16="http://schemas.microsoft.com/office/drawing/2014/main" id="{01B0C0D5-80EF-DED7-6AC3-6DEF452D8E40}"/>
              </a:ext>
            </a:extLst>
          </p:cNvPr>
          <p:cNvSpPr/>
          <p:nvPr/>
        </p:nvSpPr>
        <p:spPr>
          <a:xfrm>
            <a:off x="762000" y="375158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efinition card">
            <a:extLst>
              <a:ext uri="{FF2B5EF4-FFF2-40B4-BE49-F238E27FC236}">
                <a16:creationId xmlns:a16="http://schemas.microsoft.com/office/drawing/2014/main" id="{31FDCC3D-853B-800E-B626-3BD71CBEBB01}"/>
              </a:ext>
            </a:extLst>
          </p:cNvPr>
          <p:cNvSpPr/>
          <p:nvPr/>
        </p:nvSpPr>
        <p:spPr>
          <a:xfrm>
            <a:off x="762000" y="279654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finition card">
            <a:extLst>
              <a:ext uri="{FF2B5EF4-FFF2-40B4-BE49-F238E27FC236}">
                <a16:creationId xmlns:a16="http://schemas.microsoft.com/office/drawing/2014/main" id="{E92C2068-839C-3DFF-4ABC-343730BB3328}"/>
              </a:ext>
            </a:extLst>
          </p:cNvPr>
          <p:cNvSpPr/>
          <p:nvPr/>
        </p:nvSpPr>
        <p:spPr>
          <a:xfrm>
            <a:off x="762000" y="1841500"/>
            <a:ext cx="10668000" cy="82804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F6405C-BDC0-378B-2956-CF200D16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Research ethics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2F203-59D9-35BB-D7FA-7516E539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8FC1E-5CD5-ED6E-2ED4-7772CD9FE97E}"/>
              </a:ext>
            </a:extLst>
          </p:cNvPr>
          <p:cNvSpPr txBox="1"/>
          <p:nvPr/>
        </p:nvSpPr>
        <p:spPr>
          <a:xfrm>
            <a:off x="914400" y="194310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informed consent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72E08-4414-C3D2-35C6-678555333730}"/>
              </a:ext>
            </a:extLst>
          </p:cNvPr>
          <p:cNvSpPr txBox="1"/>
          <p:nvPr/>
        </p:nvSpPr>
        <p:spPr>
          <a:xfrm>
            <a:off x="4013200" y="194309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subjects are told the purpose, procedures and risks in advance, and can refuse or quit at any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94405-7DD4-2878-B492-24FEBB5F0DBE}"/>
              </a:ext>
            </a:extLst>
          </p:cNvPr>
          <p:cNvSpPr txBox="1"/>
          <p:nvPr/>
        </p:nvSpPr>
        <p:spPr>
          <a:xfrm>
            <a:off x="914400" y="2898140"/>
            <a:ext cx="3022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confidentiality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26BCB-1711-309E-0036-803BAB2FE858}"/>
              </a:ext>
            </a:extLst>
          </p:cNvPr>
          <p:cNvSpPr txBox="1"/>
          <p:nvPr/>
        </p:nvSpPr>
        <p:spPr>
          <a:xfrm>
            <a:off x="4013200" y="289813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information about individuals is protected and never released in a form that identifies them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12A611-1DC2-D777-3448-0DBD7F9BD42E}"/>
              </a:ext>
            </a:extLst>
          </p:cNvPr>
          <p:cNvSpPr txBox="1"/>
          <p:nvPr/>
        </p:nvSpPr>
        <p:spPr>
          <a:xfrm>
            <a:off x="914400" y="3853179"/>
            <a:ext cx="30226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b="1">
                <a:solidFill>
                  <a:srgbClr val="C00000"/>
                </a:solidFill>
              </a:rPr>
              <a:t>Institutional Review Board (IRB)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2753F-C26C-4267-2F43-665B9366D42B}"/>
              </a:ext>
            </a:extLst>
          </p:cNvPr>
          <p:cNvSpPr txBox="1"/>
          <p:nvPr/>
        </p:nvSpPr>
        <p:spPr>
          <a:xfrm>
            <a:off x="4013200" y="3853179"/>
            <a:ext cx="7264400" cy="6502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>
                <a:solidFill>
                  <a:srgbClr val="000000"/>
                </a:solidFill>
              </a:rPr>
              <a:t>reviews and approves studies on human subjects before they start</a:t>
            </a:r>
          </a:p>
          <a:p>
            <a:r>
              <a:rPr lang="en-US" i="1">
                <a:solidFill>
                  <a:srgbClr val="595959"/>
                </a:solidFill>
              </a:rPr>
              <a:t>at UI, through the Office of Research Assurances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02DEF580-127D-14A9-92F2-51CCD1E8138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2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C31E-373E-46FA-A3B0-C39050CB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Ethics: honest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3E1BD-D813-D928-B98F-7CFEECED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20BC2-F903-185F-BA6C-D825790F2CDB}"/>
              </a:ext>
            </a:extLst>
          </p:cNvPr>
          <p:cNvSpPr txBox="1"/>
          <p:nvPr/>
        </p:nvSpPr>
        <p:spPr>
          <a:xfrm>
            <a:off x="762000" y="184149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000000"/>
                </a:solidFill>
              </a:rPr>
              <a:t>Ethics also means honest data. An investigation of psychologist Diederik Stapel found he had invented data: it tainted more than 55 of his papers and 10 PhD dissertations he supervised. A researcher is surveying households in a community: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B763E-DD98-C381-AF39-865934E5B3B1}"/>
              </a:ext>
            </a:extLst>
          </p:cNvPr>
          <p:cNvSpPr txBox="1"/>
          <p:nvPr/>
        </p:nvSpPr>
        <p:spPr>
          <a:xfrm>
            <a:off x="762000" y="25577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They choose a block where they already know many of the neighbors. What is the problem?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1C73EC-F704-6E2A-4988-6E1C08B1CF42}"/>
              </a:ext>
            </a:extLst>
          </p:cNvPr>
          <p:cNvSpPr txBox="1"/>
          <p:nvPr/>
        </p:nvSpPr>
        <p:spPr>
          <a:xfrm>
            <a:off x="1117600" y="2852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convenience sample - it is biased, and claiming it represents the community is misleading.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B0962-12AF-841E-801B-BD19F5AF6B86}"/>
              </a:ext>
            </a:extLst>
          </p:cNvPr>
          <p:cNvSpPr txBox="1"/>
          <p:nvPr/>
        </p:nvSpPr>
        <p:spPr>
          <a:xfrm>
            <a:off x="762000" y="33502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Nobody is home at four houses, so they skip them and never go back. What is the problem?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3A719-A924-C8C4-EF3F-2E1D01B22D33}"/>
              </a:ext>
            </a:extLst>
          </p:cNvPr>
          <p:cNvSpPr txBox="1"/>
          <p:nvPr/>
        </p:nvSpPr>
        <p:spPr>
          <a:xfrm>
            <a:off x="1117600" y="36449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Nonresponse - people who are not home, such as working families, may differ from the people who are.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1BE07-F3F5-2F81-15BE-C857B1A6470C}"/>
              </a:ext>
            </a:extLst>
          </p:cNvPr>
          <p:cNvSpPr txBox="1"/>
          <p:nvPr/>
        </p:nvSpPr>
        <p:spPr>
          <a:xfrm>
            <a:off x="762000" y="414274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Running late, they fill in four forms with answers copied from neighbors. What is the problem?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B09A1-FC20-9B17-8E69-6A126B77720F}"/>
              </a:ext>
            </a:extLst>
          </p:cNvPr>
          <p:cNvSpPr txBox="1"/>
          <p:nvPr/>
        </p:nvSpPr>
        <p:spPr>
          <a:xfrm>
            <a:off x="1117600" y="443738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Fabricated data. It is never acceptable, even when the answers look realistic.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59A94-A795-5BC4-ECC5-A288633E0D30}"/>
              </a:ext>
            </a:extLst>
          </p:cNvPr>
          <p:cNvSpPr txBox="1"/>
          <p:nvPr/>
        </p:nvSpPr>
        <p:spPr>
          <a:xfrm>
            <a:off x="762000" y="60452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1600" i="1">
                <a:solidFill>
                  <a:srgbClr val="595959"/>
                </a:solidFill>
              </a:rPr>
              <a:t>Source: Introductory Statistics 2e (OpenStax), Section 1.4 and Example 1.22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281BC94B-AF3F-532F-BB82-8D0305EEA075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1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DD71-EC90-44D9-9622-CB85789A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what design, and can it show cause?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8F11F-F6FB-2C2C-DCD2-CE6CF4D8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51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AB5FF-813F-C341-975F-B8C32EEBC27B}"/>
              </a:ext>
            </a:extLst>
          </p:cNvPr>
          <p:cNvSpPr txBox="1"/>
          <p:nvPr/>
        </p:nvSpPr>
        <p:spPr>
          <a:xfrm>
            <a:off x="762000" y="18415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1.</a:t>
            </a:r>
            <a:r>
              <a:rPr lang="en-US" sz="1600">
                <a:solidFill>
                  <a:srgbClr val="000000"/>
                </a:solidFill>
              </a:rPr>
              <a:t>  A survey finds that people who own dogs have lower blood pressure than people who do not.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41C55-F5D7-97C9-8B31-8641E961DB40}"/>
              </a:ext>
            </a:extLst>
          </p:cNvPr>
          <p:cNvSpPr txBox="1"/>
          <p:nvPr/>
        </p:nvSpPr>
        <p:spPr>
          <a:xfrm>
            <a:off x="1117600" y="213614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Observational - nobody was assigned a dog. Active people may both own dogs and have lower blood pressure.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EACFF-2592-B671-990F-DBA404C5A985}"/>
              </a:ext>
            </a:extLst>
          </p:cNvPr>
          <p:cNvSpPr txBox="1"/>
          <p:nvPr/>
        </p:nvSpPr>
        <p:spPr>
          <a:xfrm>
            <a:off x="762000" y="263398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2.</a:t>
            </a:r>
            <a:r>
              <a:rPr lang="en-US" sz="1600">
                <a:solidFill>
                  <a:srgbClr val="000000"/>
                </a:solidFill>
              </a:rPr>
              <a:t>  60 volunteers with insomnia are randomly split: 30 get melatonin, 30 get an identical-looking placebo.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39982-1EEA-08FD-7975-59E25F50C4E6}"/>
              </a:ext>
            </a:extLst>
          </p:cNvPr>
          <p:cNvSpPr txBox="1"/>
          <p:nvPr/>
        </p:nvSpPr>
        <p:spPr>
          <a:xfrm>
            <a:off x="1117600" y="29286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Completely randomized experiment - it can show cause, for people like these volunteers.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88850-4198-BD6C-9F5A-79EB2E58F719}"/>
              </a:ext>
            </a:extLst>
          </p:cNvPr>
          <p:cNvSpPr txBox="1"/>
          <p:nvPr/>
        </p:nvSpPr>
        <p:spPr>
          <a:xfrm>
            <a:off x="762000" y="342646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3.</a:t>
            </a:r>
            <a:r>
              <a:rPr lang="en-US" sz="1600">
                <a:solidFill>
                  <a:srgbClr val="000000"/>
                </a:solidFill>
              </a:rPr>
              <a:t>  In each of 4 greenhouses, tomato plants are randomly assigned to fertilizer A or fertilizer 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CB96F-9FEB-1880-BC17-192CC8B4D508}"/>
              </a:ext>
            </a:extLst>
          </p:cNvPr>
          <p:cNvSpPr txBox="1"/>
          <p:nvPr/>
        </p:nvSpPr>
        <p:spPr>
          <a:xfrm>
            <a:off x="1117600" y="372110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Randomized block design, with greenhouses as the blocks - it can show cause.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0B423-77E1-700E-B2B2-F09FB8E3D226}"/>
              </a:ext>
            </a:extLst>
          </p:cNvPr>
          <p:cNvSpPr txBox="1"/>
          <p:nvPr/>
        </p:nvSpPr>
        <p:spPr>
          <a:xfrm>
            <a:off x="762000" y="4218939"/>
            <a:ext cx="10668000" cy="58928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304800" indent="-304800"/>
            <a:r>
              <a:rPr lang="en-US" sz="1600" b="1">
                <a:solidFill>
                  <a:srgbClr val="C00000"/>
                </a:solidFill>
              </a:rPr>
              <a:t>4.</a:t>
            </a:r>
            <a:r>
              <a:rPr lang="en-US" sz="1600">
                <a:solidFill>
                  <a:srgbClr val="000000"/>
                </a:solidFill>
              </a:rPr>
              <a:t>  Subjects complete mazes wearing a floral-scented mask and an unscented mask, in a random order. Can the subjects be blinded?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37C28-ACE5-BFC2-5864-89BD3E300AA2}"/>
              </a:ext>
            </a:extLst>
          </p:cNvPr>
          <p:cNvSpPr txBox="1"/>
          <p:nvPr/>
        </p:nvSpPr>
        <p:spPr>
          <a:xfrm>
            <a:off x="1117600" y="4757420"/>
            <a:ext cx="10312400" cy="345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 - they can smell the flowers. But the researchers timing the mazes can be blinded. (Textbook Example 1.20)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15A3E378-4906-47A1-C1FD-BE54BA831B9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8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5115</Words>
  <Application>Microsoft Office PowerPoint</Application>
  <PresentationFormat>Widescreen</PresentationFormat>
  <Paragraphs>457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Office Theme</vt:lpstr>
      <vt:lpstr>Lecture 8 Sampling and Experimental Design</vt:lpstr>
      <vt:lpstr>Start with a question</vt:lpstr>
      <vt:lpstr>Words we need</vt:lpstr>
      <vt:lpstr>More words we need</vt:lpstr>
      <vt:lpstr>Example: exercise at a small college</vt:lpstr>
      <vt:lpstr>Census, sample and sampling error</vt:lpstr>
      <vt:lpstr>Practice: find the sampling frame</vt:lpstr>
      <vt:lpstr>With or without replacement?</vt:lpstr>
      <vt:lpstr>Be Skeptical</vt:lpstr>
      <vt:lpstr>Two easy ways to get a sample</vt:lpstr>
      <vt:lpstr>What could go wrong?</vt:lpstr>
      <vt:lpstr>17.5 million votes</vt:lpstr>
      <vt:lpstr>Online opt-in polls</vt:lpstr>
      <vt:lpstr>Estimates are shots at a target</vt:lpstr>
      <vt:lpstr>A bigger sample does not fix bias</vt:lpstr>
      <vt:lpstr>The fix: let chance choose</vt:lpstr>
      <vt:lpstr>Simple random sample (SRS)</vt:lpstr>
      <vt:lpstr>Drawing an SRS in practice</vt:lpstr>
      <vt:lpstr>Systematic sample</vt:lpstr>
      <vt:lpstr>Stratified random sample</vt:lpstr>
      <vt:lpstr>Proportional allocation with real data</vt:lpstr>
      <vt:lpstr>Cluster sample</vt:lpstr>
      <vt:lpstr>Two-stage cluster sample</vt:lpstr>
      <vt:lpstr>Strata vs. clusters</vt:lpstr>
      <vt:lpstr>Two kinds of error</vt:lpstr>
      <vt:lpstr>Three common nonsampling errors</vt:lpstr>
      <vt:lpstr>Nonresponse: when nobody picks up</vt:lpstr>
      <vt:lpstr>Question wording: same law, two names</vt:lpstr>
      <vt:lpstr>Practice: name the sampling design</vt:lpstr>
      <vt:lpstr>Your course project: Part 3</vt:lpstr>
      <vt:lpstr>Lecture 8, Part 2 Experiments and Causation</vt:lpstr>
      <vt:lpstr>Observational studies and experiments</vt:lpstr>
      <vt:lpstr>Association is not causation</vt:lpstr>
      <vt:lpstr>Hormone therapy and heart disease</vt:lpstr>
      <vt:lpstr>Can we claim cause without an experiment?</vt:lpstr>
      <vt:lpstr>The language of experiments</vt:lpstr>
      <vt:lpstr>Example: the VITAL trial</vt:lpstr>
      <vt:lpstr>Principles of experimental design</vt:lpstr>
      <vt:lpstr>Placebos and blinding</vt:lpstr>
      <vt:lpstr>The 2020 Pfizer-BioNTech vaccine trial</vt:lpstr>
      <vt:lpstr>A placebo surgery</vt:lpstr>
      <vt:lpstr>Completely randomized design</vt:lpstr>
      <vt:lpstr>Randomized block design</vt:lpstr>
      <vt:lpstr>Matched pairs design</vt:lpstr>
      <vt:lpstr>What does randomization buy you?</vt:lpstr>
      <vt:lpstr>Practice: design the study</vt:lpstr>
      <vt:lpstr>Ethics: the Facebook experiment</vt:lpstr>
      <vt:lpstr>The Belmont Report: three principles</vt:lpstr>
      <vt:lpstr>Research ethics today</vt:lpstr>
      <vt:lpstr>Ethics: honest data</vt:lpstr>
      <vt:lpstr>Practice: what design, and can it show cause?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349</cp:revision>
  <dcterms:created xsi:type="dcterms:W3CDTF">2023-08-05T23:57:41Z</dcterms:created>
  <dcterms:modified xsi:type="dcterms:W3CDTF">2026-09-14T19:14:51Z</dcterms:modified>
</cp:coreProperties>
</file>