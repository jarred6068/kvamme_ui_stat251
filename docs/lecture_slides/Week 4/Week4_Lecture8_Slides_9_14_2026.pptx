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8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 and Experimental Design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5DE07-C96C-E832-C7F1-25F0114D0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Start with a question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F8D36-133B-5964-D637-8CD31B80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6D1DC6A-B8A5-4E18-0CB8-31EA90AA1F23}"/>
              </a:ext>
            </a:extLst>
          </p:cNvPr>
          <p:cNvSpPr/>
          <p:nvPr/>
        </p:nvSpPr>
        <p:spPr>
          <a:xfrm>
            <a:off x="889000" y="2032000"/>
            <a:ext cx="10414000" cy="1905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pPr>
              <a:spcAft>
                <a:spcPts val="1000"/>
              </a:spcAft>
            </a:pPr>
            <a:r>
              <a:rPr lang="en-US" sz="2400" b="1">
                <a:solidFill>
                  <a:srgbClr val="000000"/>
                </a:solidFill>
              </a:rPr>
              <a:t>How many hours a week does a typical University of Idaho student spend exercising?</a:t>
            </a:r>
          </a:p>
          <a:p>
            <a:pPr>
              <a:spcAft>
                <a:spcPts val="1000"/>
              </a:spcAft>
            </a:pPr>
            <a:r>
              <a:rPr lang="en-US" sz="2000">
                <a:solidFill>
                  <a:srgbClr val="000000"/>
                </a:solidFill>
              </a:rPr>
              <a:t>We cannot ask every student. So how would you get the data?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EFD128-09B4-3718-1019-1C5B88617C89}"/>
              </a:ext>
            </a:extLst>
          </p:cNvPr>
          <p:cNvSpPr txBox="1"/>
          <p:nvPr/>
        </p:nvSpPr>
        <p:spPr>
          <a:xfrm>
            <a:off x="889000" y="4318000"/>
            <a:ext cx="10414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 i="1">
                <a:solidFill>
                  <a:srgbClr val="C00000"/>
                </a:solidFill>
              </a:rPr>
              <a:t>Talk to your neighbor for one minute: who would you ask, and how would you choose them?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9DE5410-C910-2CBD-4D8C-9F9E71AB475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964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9EB7950D-5BCF-853C-6DA2-C2F0FBF806F4}"/>
              </a:ext>
            </a:extLst>
          </p:cNvPr>
          <p:cNvSpPr/>
          <p:nvPr/>
        </p:nvSpPr>
        <p:spPr>
          <a:xfrm>
            <a:off x="762000" y="47066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D9030BD9-1564-B891-C3CD-54EA7E5E7D2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73BCDCE-29F2-3918-8C64-AA414AACD168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CBB1D78-BB9B-752F-74E8-9F1D84B0713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C198AA-0A64-4BF2-D56C-9743C9E24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30973-D94B-5ABB-BB5C-AC82CE4B0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9484B2-94C8-2F6F-4B5F-0623959A2D8F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59C58-439A-A1CD-18E9-48B884A64C8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entire group we want to learn about</a:t>
            </a:r>
          </a:p>
          <a:p>
            <a:r>
              <a:rPr lang="en-US" i="1">
                <a:solidFill>
                  <a:srgbClr val="595959"/>
                </a:solidFill>
              </a:rPr>
              <a:t>every University of Idaho student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5C14B-B835-51A2-5C70-38814854E989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D0F09-7E08-C06C-AA5B-0997F8588907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that describes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the mean weekly exercise hours of ALL UI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CCACF5-17F9-790F-EDF2-E54FBB45E009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E02330-C003-22AF-C848-127C951A45A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part of the population we actually observe</a:t>
            </a:r>
          </a:p>
          <a:p>
            <a:r>
              <a:rPr lang="en-US" i="1">
                <a:solidFill>
                  <a:srgbClr val="595959"/>
                </a:solidFill>
              </a:rPr>
              <a:t>the students we end up asking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94FEA6-6794-6AFE-7C9C-B1F3C07A153E}"/>
              </a:ext>
            </a:extLst>
          </p:cNvPr>
          <p:cNvSpPr txBox="1"/>
          <p:nvPr/>
        </p:nvSpPr>
        <p:spPr>
          <a:xfrm>
            <a:off x="914400" y="48082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statistic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B3DD5A-2AAB-4F85-DBB6-E3133D466012}"/>
              </a:ext>
            </a:extLst>
          </p:cNvPr>
          <p:cNvSpPr txBox="1"/>
          <p:nvPr/>
        </p:nvSpPr>
        <p:spPr>
          <a:xfrm>
            <a:off x="4013200" y="48082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number computed from the sample</a:t>
            </a:r>
          </a:p>
          <a:p>
            <a:r>
              <a:rPr lang="en-US" i="1">
                <a:solidFill>
                  <a:srgbClr val="595959"/>
                </a:solidFill>
              </a:rPr>
              <a:t>the mean exercise hours of the students we asked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93B898E-3252-11DA-5B78-F4344AF7770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2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0AE89CC7-7039-527A-E057-BA05621BA78B}"/>
              </a:ext>
            </a:extLst>
          </p:cNvPr>
          <p:cNvSpPr/>
          <p:nvPr/>
        </p:nvSpPr>
        <p:spPr>
          <a:xfrm>
            <a:off x="762000" y="49580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F737D945-053E-5FCB-DFAC-1F932F8B4CA0}"/>
              </a:ext>
            </a:extLst>
          </p:cNvPr>
          <p:cNvSpPr/>
          <p:nvPr/>
        </p:nvSpPr>
        <p:spPr>
          <a:xfrm>
            <a:off x="762000" y="42976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F959EFF3-BA8B-3239-A31F-95426F2F0BBC}"/>
              </a:ext>
            </a:extLst>
          </p:cNvPr>
          <p:cNvSpPr/>
          <p:nvPr/>
        </p:nvSpPr>
        <p:spPr>
          <a:xfrm>
            <a:off x="762000" y="36372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A7E75E4D-F6B4-99C3-D63C-D04263E2B077}"/>
              </a:ext>
            </a:extLst>
          </p:cNvPr>
          <p:cNvSpPr/>
          <p:nvPr/>
        </p:nvSpPr>
        <p:spPr>
          <a:xfrm>
            <a:off x="762000" y="27076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6DC33F-6AF0-66FF-3A5B-F13B65E0BF4E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331934-D7B5-EBCD-45D3-875E183D9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More words we need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179C0-AFBA-E875-CA24-F37E9D03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C46786-BED5-5D41-7CA1-D6B0D6EDEC26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54CD8F-222F-6289-67E2-C5AF7163C72D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data collected on every member of the population</a:t>
            </a:r>
          </a:p>
          <a:p>
            <a:r>
              <a:rPr lang="en-US" i="1">
                <a:solidFill>
                  <a:srgbClr val="595959"/>
                </a:solidFill>
              </a:rPr>
              <a:t>asking all UI students - slow, expensive, often impossible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0BD42-3ACE-D47F-337B-520A2C6D4480}"/>
              </a:ext>
            </a:extLst>
          </p:cNvPr>
          <p:cNvSpPr txBox="1"/>
          <p:nvPr/>
        </p:nvSpPr>
        <p:spPr>
          <a:xfrm>
            <a:off x="914400" y="28092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frame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B0B54F-6E1D-1DA6-8A19-EDB25FA89D75}"/>
              </a:ext>
            </a:extLst>
          </p:cNvPr>
          <p:cNvSpPr txBox="1"/>
          <p:nvPr/>
        </p:nvSpPr>
        <p:spPr>
          <a:xfrm>
            <a:off x="4013200" y="28092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list we actually choose the sample from</a:t>
            </a:r>
          </a:p>
          <a:p>
            <a:r>
              <a:rPr lang="en-US" i="1">
                <a:solidFill>
                  <a:srgbClr val="595959"/>
                </a:solidFill>
              </a:rPr>
              <a:t>the registrar's list of enrolled students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D62AAF-7440-DE15-D184-390EFC5CFEE5}"/>
              </a:ext>
            </a:extLst>
          </p:cNvPr>
          <p:cNvSpPr txBox="1"/>
          <p:nvPr/>
        </p:nvSpPr>
        <p:spPr>
          <a:xfrm>
            <a:off x="914400" y="37388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55A0EC-7DF8-D3AB-9113-CB5991C53C74}"/>
              </a:ext>
            </a:extLst>
          </p:cNvPr>
          <p:cNvSpPr txBox="1"/>
          <p:nvPr/>
        </p:nvSpPr>
        <p:spPr>
          <a:xfrm>
            <a:off x="4013200" y="37388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rule we use to choose the sample from the frame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9C9D24-C691-BEB0-1B63-E613B7574A00}"/>
              </a:ext>
            </a:extLst>
          </p:cNvPr>
          <p:cNvSpPr txBox="1"/>
          <p:nvPr/>
        </p:nvSpPr>
        <p:spPr>
          <a:xfrm>
            <a:off x="914400" y="43992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representative 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2DC0F-5B80-766B-316C-5D4CA4C74105}"/>
              </a:ext>
            </a:extLst>
          </p:cNvPr>
          <p:cNvSpPr txBox="1"/>
          <p:nvPr/>
        </p:nvSpPr>
        <p:spPr>
          <a:xfrm>
            <a:off x="4013200" y="43992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sample with the same characteristics as the population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0EBE80-E528-4DF4-47EE-1CA726ACDD3E}"/>
              </a:ext>
            </a:extLst>
          </p:cNvPr>
          <p:cNvSpPr txBox="1"/>
          <p:nvPr/>
        </p:nvSpPr>
        <p:spPr>
          <a:xfrm>
            <a:off x="914400" y="50596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7A9C7-552C-358D-7DF3-D2AAA8140A48}"/>
              </a:ext>
            </a:extLst>
          </p:cNvPr>
          <p:cNvSpPr txBox="1"/>
          <p:nvPr/>
        </p:nvSpPr>
        <p:spPr>
          <a:xfrm>
            <a:off x="4013200" y="50596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gap between a statistic and the parameter, just from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a different sample would give a slightly different answer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AABD6F-D0B0-9DF5-6A5C-AECA74F50D0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057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CE10B-A5A2-63EE-B52D-147EC07D7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exercise at a small college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D2840-CDEC-CB28-34DA-5D9C00327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pic>
        <p:nvPicPr>
          <p:cNvPr id="6" name="l8_frame_setup.png">
            <a:extLst>
              <a:ext uri="{FF2B5EF4-FFF2-40B4-BE49-F238E27FC236}">
                <a16:creationId xmlns:a16="http://schemas.microsoft.com/office/drawing/2014/main" id="{8EF6C34B-E88E-AB27-3B89-104FADED77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CA7C82-CF25-2A98-147F-F755410B5E93}"/>
              </a:ext>
            </a:extLst>
          </p:cNvPr>
          <p:cNvSpPr txBox="1"/>
          <p:nvPr/>
        </p:nvSpPr>
        <p:spPr>
          <a:xfrm>
            <a:off x="6350000" y="1841499"/>
            <a:ext cx="5334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A small college has 100 students. Its health center wants to know the mean number of hours students exercised last week.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19DEE-4EFC-81DA-DAEE-E193E56E6B7F}"/>
              </a:ext>
            </a:extLst>
          </p:cNvPr>
          <p:cNvSpPr txBox="1"/>
          <p:nvPr/>
        </p:nvSpPr>
        <p:spPr>
          <a:xfrm>
            <a:off x="6350000" y="28016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is the population, and what is the parameter?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998092-FDB2-7C78-C8E5-08A38B425AB8}"/>
              </a:ext>
            </a:extLst>
          </p:cNvPr>
          <p:cNvSpPr txBox="1"/>
          <p:nvPr/>
        </p:nvSpPr>
        <p:spPr>
          <a:xfrm>
            <a:off x="6705600" y="309626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All 100 students, and the mean exercise hours of all 100.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A1FFE-25A0-CC9E-A5F1-01E2C4170A8F}"/>
              </a:ext>
            </a:extLst>
          </p:cNvPr>
          <p:cNvSpPr txBox="1"/>
          <p:nvPr/>
        </p:nvSpPr>
        <p:spPr>
          <a:xfrm>
            <a:off x="6350000" y="3594099"/>
            <a:ext cx="533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registrar's list, in the dashed box, has only 90 names. What is that list?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3E1588-D342-04CF-C33D-D07CA3C2FF9A}"/>
              </a:ext>
            </a:extLst>
          </p:cNvPr>
          <p:cNvSpPr txBox="1"/>
          <p:nvPr/>
        </p:nvSpPr>
        <p:spPr>
          <a:xfrm>
            <a:off x="6705600" y="4132579"/>
            <a:ext cx="4978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sampling frame. The 10 late enrollees are not on it, so they cannot be chosen.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43A16-C89C-B664-7674-4E0D1F49B1CC}"/>
              </a:ext>
            </a:extLst>
          </p:cNvPr>
          <p:cNvSpPr txBox="1"/>
          <p:nvPr/>
        </p:nvSpPr>
        <p:spPr>
          <a:xfrm>
            <a:off x="6350000" y="4874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would asking all 100 students be called?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7646F5-BC9D-9BF8-04D8-BB8A6AE9E78A}"/>
              </a:ext>
            </a:extLst>
          </p:cNvPr>
          <p:cNvSpPr txBox="1"/>
          <p:nvPr/>
        </p:nvSpPr>
        <p:spPr>
          <a:xfrm>
            <a:off x="6705600" y="5168900"/>
            <a:ext cx="4978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census.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2264070-ACAA-E14B-58A6-CF2DEF75D7C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55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30B8F-FC5D-01B7-493D-497BC07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Census, sample and sampling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3B44A-18EA-977F-A28F-562255F11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pic>
        <p:nvPicPr>
          <p:cNvPr id="6" name="l8_frame_example.png">
            <a:extLst>
              <a:ext uri="{FF2B5EF4-FFF2-40B4-BE49-F238E27FC236}">
                <a16:creationId xmlns:a16="http://schemas.microsoft.com/office/drawing/2014/main" id="{14DA2BCF-2446-EBAD-581C-3B42AE00D2B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03400"/>
            <a:ext cx="5588000" cy="457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B128E3-0644-7112-27D5-369CE94E2DC2}"/>
              </a:ext>
            </a:extLst>
          </p:cNvPr>
          <p:cNvSpPr txBox="1"/>
          <p:nvPr/>
        </p:nvSpPr>
        <p:spPr>
          <a:xfrm>
            <a:off x="63500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census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FAFE3-0E03-057A-AAEC-CF2D1AFC0AD6}"/>
              </a:ext>
            </a:extLst>
          </p:cNvPr>
          <p:cNvSpPr txBox="1"/>
          <p:nvPr/>
        </p:nvSpPr>
        <p:spPr>
          <a:xfrm>
            <a:off x="6629400" y="211073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asking all 100 students gives a mean of 4.6 hours - the parameter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24C86B-2D1B-2582-5D76-3456306AB2EA}"/>
              </a:ext>
            </a:extLst>
          </p:cNvPr>
          <p:cNvSpPr txBox="1"/>
          <p:nvPr/>
        </p:nvSpPr>
        <p:spPr>
          <a:xfrm>
            <a:off x="6350000" y="282702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A261F4-7AE5-BB28-48D8-D54366506747}"/>
              </a:ext>
            </a:extLst>
          </p:cNvPr>
          <p:cNvSpPr txBox="1"/>
          <p:nvPr/>
        </p:nvSpPr>
        <p:spPr>
          <a:xfrm>
            <a:off x="6629400" y="309625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10 from the list, in red, gives a mean of 4.4 hours - the statistic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FFE10D-F647-C5D4-8AC9-7400C51FD012}"/>
              </a:ext>
            </a:extLst>
          </p:cNvPr>
          <p:cNvSpPr txBox="1"/>
          <p:nvPr/>
        </p:nvSpPr>
        <p:spPr>
          <a:xfrm>
            <a:off x="6350000" y="381254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2620F-17CF-813C-4423-1F1DDFEAD285}"/>
              </a:ext>
            </a:extLst>
          </p:cNvPr>
          <p:cNvSpPr txBox="1"/>
          <p:nvPr/>
        </p:nvSpPr>
        <p:spPr>
          <a:xfrm>
            <a:off x="6629400" y="408177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4.4 - 4.6 = -0.2 hours. A different random sample would give a different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569389-CCFF-1946-D339-9A3F0044EBD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577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2D4B-6FED-BA69-C557-04F3285C8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find the sampling frame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7F8CA-0442-DF5B-4586-DE36CF229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07326-1C73-FFF3-EB99-98DF71350175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Student government wants to know how students feel about a parking-fee increase. It emails a survey to 500 students picked at random from the university email directory.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7BACEE-1FB5-756D-F4A5-42C739CE244A}"/>
              </a:ext>
            </a:extLst>
          </p:cNvPr>
          <p:cNvSpPr txBox="1"/>
          <p:nvPr/>
        </p:nvSpPr>
        <p:spPr>
          <a:xfrm>
            <a:off x="1117600" y="23799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university email directory. It lists nearly every enrolled student, so it matches the population well.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677345-3B4E-D61C-C18D-60E5F214B9FE}"/>
              </a:ext>
            </a:extLst>
          </p:cNvPr>
          <p:cNvSpPr txBox="1"/>
          <p:nvPr/>
        </p:nvSpPr>
        <p:spPr>
          <a:xfrm>
            <a:off x="762000" y="28778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 Moscow coffee shop wants its customers' opinions on a new menu. It surveys 100 people picked at random from its loyalty-app members.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277A94-99C3-1D5F-2B6F-E3B6BA071333}"/>
              </a:ext>
            </a:extLst>
          </p:cNvPr>
          <p:cNvSpPr txBox="1"/>
          <p:nvPr/>
        </p:nvSpPr>
        <p:spPr>
          <a:xfrm>
            <a:off x="1117600" y="34163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loyalty-app member list. Customers who never joined the app cannot be chosen.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5F4B4E-255A-0F9B-25BE-BCC38DAE731A}"/>
              </a:ext>
            </a:extLst>
          </p:cNvPr>
          <p:cNvSpPr txBox="1"/>
          <p:nvPr/>
        </p:nvSpPr>
        <p:spPr>
          <a:xfrm>
            <a:off x="762000" y="39141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city council wants residents' views on a new bike lane. It calls numbers picked at random from a printed phone directory.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79280-4B23-98AF-70F7-E18C60EB930B}"/>
              </a:ext>
            </a:extLst>
          </p:cNvPr>
          <p:cNvSpPr txBox="1"/>
          <p:nvPr/>
        </p:nvSpPr>
        <p:spPr>
          <a:xfrm>
            <a:off x="1117600" y="42087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Frame: the phone directory. It misses everyone without a listed landline - a group that skews young.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FD20A872-BDD4-88CB-4F7C-BE698F5AF62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01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822BA027-0235-478C-5C82-150703EE8A6E}"/>
              </a:ext>
            </a:extLst>
          </p:cNvPr>
          <p:cNvSpPr/>
          <p:nvPr/>
        </p:nvSpPr>
        <p:spPr>
          <a:xfrm>
            <a:off x="762000" y="24384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B01932F6-5769-10B3-5F5F-909A6C599366}"/>
              </a:ext>
            </a:extLst>
          </p:cNvPr>
          <p:cNvSpPr/>
          <p:nvPr/>
        </p:nvSpPr>
        <p:spPr>
          <a:xfrm>
            <a:off x="762000" y="17780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EE29E-433D-E942-65E5-EA8538A43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With or without replacement?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F5F6A-9812-0B70-C2FE-2A602F5BB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48B28-6852-AB45-446A-31BD93D057C8}"/>
              </a:ext>
            </a:extLst>
          </p:cNvPr>
          <p:cNvSpPr txBox="1"/>
          <p:nvPr/>
        </p:nvSpPr>
        <p:spPr>
          <a:xfrm>
            <a:off x="914400" y="18796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without replacement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7502F5-BE88-2BB5-3E3C-95AD7490E0AD}"/>
              </a:ext>
            </a:extLst>
          </p:cNvPr>
          <p:cNvSpPr txBox="1"/>
          <p:nvPr/>
        </p:nvSpPr>
        <p:spPr>
          <a:xfrm>
            <a:off x="4648200" y="18796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set aside, so it can be chosen only once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AE5546-C73D-73F3-8754-05263D99C04D}"/>
              </a:ext>
            </a:extLst>
          </p:cNvPr>
          <p:cNvSpPr txBox="1"/>
          <p:nvPr/>
        </p:nvSpPr>
        <p:spPr>
          <a:xfrm>
            <a:off x="914400" y="2540000"/>
            <a:ext cx="3657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with replacement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050DA-1801-6FBB-FBC9-74AF796318EE}"/>
              </a:ext>
            </a:extLst>
          </p:cNvPr>
          <p:cNvSpPr txBox="1"/>
          <p:nvPr/>
        </p:nvSpPr>
        <p:spPr>
          <a:xfrm>
            <a:off x="4648200" y="2540000"/>
            <a:ext cx="6629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 picked unit is put back, so it could be chosen again</a:t>
            </a:r>
          </a:p>
        </p:txBody>
      </p:sp>
      <p:pic>
        <p:nvPicPr>
          <p:cNvPr id="12" name="l8_replacement.png">
            <a:extLst>
              <a:ext uri="{FF2B5EF4-FFF2-40B4-BE49-F238E27FC236}">
                <a16:creationId xmlns:a16="http://schemas.microsoft.com/office/drawing/2014/main" id="{3AEF9A0F-9E1F-768C-E68F-93D41D6B92C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3175000"/>
            <a:ext cx="10922000" cy="2286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648004A-ABBC-4ABF-9BEB-BD0C3E75AFD1}"/>
              </a:ext>
            </a:extLst>
          </p:cNvPr>
          <p:cNvSpPr txBox="1"/>
          <p:nvPr/>
        </p:nvSpPr>
        <p:spPr>
          <a:xfrm>
            <a:off x="762000" y="5562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Surveys sample without replacement. When the population is much bigger than the sample, the two give practically the same results.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57121890-CC8D-CDA4-D9F0-84EFD4FEC62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98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keptic card">
            <a:extLst>
              <a:ext uri="{FF2B5EF4-FFF2-40B4-BE49-F238E27FC236}">
                <a16:creationId xmlns:a16="http://schemas.microsoft.com/office/drawing/2014/main" id="{C15762F0-3C7A-7950-A505-001D0234D211}"/>
              </a:ext>
            </a:extLst>
          </p:cNvPr>
          <p:cNvSpPr/>
          <p:nvPr/>
        </p:nvSpPr>
        <p:spPr>
          <a:xfrm>
            <a:off x="8001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keptic card">
            <a:extLst>
              <a:ext uri="{FF2B5EF4-FFF2-40B4-BE49-F238E27FC236}">
                <a16:creationId xmlns:a16="http://schemas.microsoft.com/office/drawing/2014/main" id="{E67FC541-79BF-163D-1E8A-0F716FD43DE4}"/>
              </a:ext>
            </a:extLst>
          </p:cNvPr>
          <p:cNvSpPr/>
          <p:nvPr/>
        </p:nvSpPr>
        <p:spPr>
          <a:xfrm>
            <a:off x="43815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keptic card">
            <a:extLst>
              <a:ext uri="{FF2B5EF4-FFF2-40B4-BE49-F238E27FC236}">
                <a16:creationId xmlns:a16="http://schemas.microsoft.com/office/drawing/2014/main" id="{B2947629-5C2B-808E-93A2-46FDFE914782}"/>
              </a:ext>
            </a:extLst>
          </p:cNvPr>
          <p:cNvSpPr/>
          <p:nvPr/>
        </p:nvSpPr>
        <p:spPr>
          <a:xfrm>
            <a:off x="762000" y="45212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keptic card">
            <a:extLst>
              <a:ext uri="{FF2B5EF4-FFF2-40B4-BE49-F238E27FC236}">
                <a16:creationId xmlns:a16="http://schemas.microsoft.com/office/drawing/2014/main" id="{D5E277A0-2728-A339-56DD-DC6435851EE4}"/>
              </a:ext>
            </a:extLst>
          </p:cNvPr>
          <p:cNvSpPr/>
          <p:nvPr/>
        </p:nvSpPr>
        <p:spPr>
          <a:xfrm>
            <a:off x="8001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Skeptic card">
            <a:extLst>
              <a:ext uri="{FF2B5EF4-FFF2-40B4-BE49-F238E27FC236}">
                <a16:creationId xmlns:a16="http://schemas.microsoft.com/office/drawing/2014/main" id="{1FC31D1C-B63F-59A3-EE9F-756979BB75A7}"/>
              </a:ext>
            </a:extLst>
          </p:cNvPr>
          <p:cNvSpPr/>
          <p:nvPr/>
        </p:nvSpPr>
        <p:spPr>
          <a:xfrm>
            <a:off x="43815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Skeptic card">
            <a:extLst>
              <a:ext uri="{FF2B5EF4-FFF2-40B4-BE49-F238E27FC236}">
                <a16:creationId xmlns:a16="http://schemas.microsoft.com/office/drawing/2014/main" id="{91A92FA3-DCEB-8CEE-D747-6D2FD45AF23E}"/>
              </a:ext>
            </a:extLst>
          </p:cNvPr>
          <p:cNvSpPr/>
          <p:nvPr/>
        </p:nvSpPr>
        <p:spPr>
          <a:xfrm>
            <a:off x="762000" y="31496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keptic card">
            <a:extLst>
              <a:ext uri="{FF2B5EF4-FFF2-40B4-BE49-F238E27FC236}">
                <a16:creationId xmlns:a16="http://schemas.microsoft.com/office/drawing/2014/main" id="{9CEADDFA-EE95-8362-C3D0-44671E74A4D5}"/>
              </a:ext>
            </a:extLst>
          </p:cNvPr>
          <p:cNvSpPr/>
          <p:nvPr/>
        </p:nvSpPr>
        <p:spPr>
          <a:xfrm>
            <a:off x="8001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ptic card">
            <a:extLst>
              <a:ext uri="{FF2B5EF4-FFF2-40B4-BE49-F238E27FC236}">
                <a16:creationId xmlns:a16="http://schemas.microsoft.com/office/drawing/2014/main" id="{CE4C13E2-D744-118B-BA32-E9F8332478DF}"/>
              </a:ext>
            </a:extLst>
          </p:cNvPr>
          <p:cNvSpPr/>
          <p:nvPr/>
        </p:nvSpPr>
        <p:spPr>
          <a:xfrm>
            <a:off x="43815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keptic card">
            <a:extLst>
              <a:ext uri="{FF2B5EF4-FFF2-40B4-BE49-F238E27FC236}">
                <a16:creationId xmlns:a16="http://schemas.microsoft.com/office/drawing/2014/main" id="{D2759BE1-85DD-2A92-62C5-0958CCAA83B5}"/>
              </a:ext>
            </a:extLst>
          </p:cNvPr>
          <p:cNvSpPr/>
          <p:nvPr/>
        </p:nvSpPr>
        <p:spPr>
          <a:xfrm>
            <a:off x="762000" y="1778000"/>
            <a:ext cx="3492500" cy="1270000"/>
          </a:xfrm>
          <a:prstGeom prst="roundRect">
            <a:avLst>
              <a:gd name="adj" fmla="val 8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EB7B35-64AB-11FA-342B-AEC76B6A3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Be Skeptical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481FA-65D1-C436-D2D1-127402258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9A701A-B070-0FF0-C427-947F4678C3E3}"/>
              </a:ext>
            </a:extLst>
          </p:cNvPr>
          <p:cNvSpPr txBox="1"/>
          <p:nvPr/>
        </p:nvSpPr>
        <p:spPr>
          <a:xfrm>
            <a:off x="838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Problems with samples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1AFA53-B60D-18AD-91C9-FAFB8537A7C8}"/>
              </a:ext>
            </a:extLst>
          </p:cNvPr>
          <p:cNvSpPr txBox="1"/>
          <p:nvPr/>
        </p:nvSpPr>
        <p:spPr>
          <a:xfrm>
            <a:off x="838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Is the sample representative? A biased sample gives results that are not valid.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B5A1B-37C5-FE59-039C-BBAC7F8CFB1B}"/>
              </a:ext>
            </a:extLst>
          </p:cNvPr>
          <p:cNvSpPr txBox="1"/>
          <p:nvPr/>
        </p:nvSpPr>
        <p:spPr>
          <a:xfrm>
            <a:off x="44577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Self-selected samples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833C8A-EAD6-9BC7-4DA4-417058C5DD52}"/>
              </a:ext>
            </a:extLst>
          </p:cNvPr>
          <p:cNvSpPr txBox="1"/>
          <p:nvPr/>
        </p:nvSpPr>
        <p:spPr>
          <a:xfrm>
            <a:off x="44577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people who chose to respond, as in call-in or online polls - often unreliable.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3A77DA-A375-0DC2-03A2-5BB1A083C08F}"/>
              </a:ext>
            </a:extLst>
          </p:cNvPr>
          <p:cNvSpPr txBox="1"/>
          <p:nvPr/>
        </p:nvSpPr>
        <p:spPr>
          <a:xfrm>
            <a:off x="8077200" y="18288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Sample size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58E052-5016-941E-34DD-587BB0FE1891}"/>
              </a:ext>
            </a:extLst>
          </p:cNvPr>
          <p:cNvSpPr txBox="1"/>
          <p:nvPr/>
        </p:nvSpPr>
        <p:spPr>
          <a:xfrm>
            <a:off x="8077200" y="21589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Samples that are too small may be unreliable. Larger is better when possible.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F7F8D0-A036-2888-F780-56CAB8FDC736}"/>
              </a:ext>
            </a:extLst>
          </p:cNvPr>
          <p:cNvSpPr txBox="1"/>
          <p:nvPr/>
        </p:nvSpPr>
        <p:spPr>
          <a:xfrm>
            <a:off x="838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Undue influence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764E9B-702B-F357-9D24-6981672FC9A7}"/>
              </a:ext>
            </a:extLst>
          </p:cNvPr>
          <p:cNvSpPr txBox="1"/>
          <p:nvPr/>
        </p:nvSpPr>
        <p:spPr>
          <a:xfrm>
            <a:off x="838200" y="3530599"/>
            <a:ext cx="33401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Were the questions asked in a way that pushes people toward an answer?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39CEEC-EB78-02E0-2D33-1CD4E68A14EC}"/>
              </a:ext>
            </a:extLst>
          </p:cNvPr>
          <p:cNvSpPr txBox="1"/>
          <p:nvPr/>
        </p:nvSpPr>
        <p:spPr>
          <a:xfrm>
            <a:off x="44577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D4BDEF-2C23-3504-124C-429904F962E3}"/>
              </a:ext>
            </a:extLst>
          </p:cNvPr>
          <p:cNvSpPr txBox="1"/>
          <p:nvPr/>
        </p:nvSpPr>
        <p:spPr>
          <a:xfrm>
            <a:off x="44577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Did many people refuse? Those who do answer may have strong opinions.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F2A39C-DA0A-B54B-4E35-99108D574B4A}"/>
              </a:ext>
            </a:extLst>
          </p:cNvPr>
          <p:cNvSpPr txBox="1"/>
          <p:nvPr/>
        </p:nvSpPr>
        <p:spPr>
          <a:xfrm>
            <a:off x="8077200" y="32004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70F9B2-8A36-CB81-422F-B1078963BAB2}"/>
              </a:ext>
            </a:extLst>
          </p:cNvPr>
          <p:cNvSpPr txBox="1"/>
          <p:nvPr/>
        </p:nvSpPr>
        <p:spPr>
          <a:xfrm>
            <a:off x="8077200" y="35305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relationship between two variables does not mean one causes the other.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B06F57-8A35-877D-EF85-CA8648CC6E9B}"/>
              </a:ext>
            </a:extLst>
          </p:cNvPr>
          <p:cNvSpPr txBox="1"/>
          <p:nvPr/>
        </p:nvSpPr>
        <p:spPr>
          <a:xfrm>
            <a:off x="838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Self-funded studies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753725-DFDA-BDFF-2AEA-C9CB5F1F5251}"/>
              </a:ext>
            </a:extLst>
          </p:cNvPr>
          <p:cNvSpPr txBox="1"/>
          <p:nvPr/>
        </p:nvSpPr>
        <p:spPr>
          <a:xfrm>
            <a:off x="838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Who paid for it, and why? Read it critically - but judge it on its merits.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CA85C1-D579-180F-E534-CAE5A2D29137}"/>
              </a:ext>
            </a:extLst>
          </p:cNvPr>
          <p:cNvSpPr txBox="1"/>
          <p:nvPr/>
        </p:nvSpPr>
        <p:spPr>
          <a:xfrm>
            <a:off x="44577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Misleading use of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0A22F7-253C-9655-186E-27A2D324A56E}"/>
              </a:ext>
            </a:extLst>
          </p:cNvPr>
          <p:cNvSpPr txBox="1"/>
          <p:nvPr/>
        </p:nvSpPr>
        <p:spPr>
          <a:xfrm>
            <a:off x="44577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Watch for badly displayed graphs, incomplete data, or missing context.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6E3535-CDC7-D16F-9AE1-D1AC7D1A3B97}"/>
              </a:ext>
            </a:extLst>
          </p:cNvPr>
          <p:cNvSpPr txBox="1"/>
          <p:nvPr/>
        </p:nvSpPr>
        <p:spPr>
          <a:xfrm>
            <a:off x="8077200" y="4572000"/>
            <a:ext cx="33401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25D9B-EB76-8D0B-283E-BDD79CD2AC6A}"/>
              </a:ext>
            </a:extLst>
          </p:cNvPr>
          <p:cNvSpPr txBox="1"/>
          <p:nvPr/>
        </p:nvSpPr>
        <p:spPr>
          <a:xfrm>
            <a:off x="8077200" y="4902199"/>
            <a:ext cx="33401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effects of several factors on the response cannot be separated.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F8CA23-9884-7EE2-66E3-86983BB125E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1.2, Critical Evaluation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63168BF7-86E6-5AC0-9B83-AF9B297A19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949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4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5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5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5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5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6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6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6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6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7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7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7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  <p:bldP spid="21" grpId="0"/>
      <p:bldP spid="24" grpId="0"/>
      <p:bldP spid="27" grpId="0"/>
      <p:bldP spid="3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FE244-AE9A-0AA6-A69E-722F9CD6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Misleading graphs: OxyContin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43A24-93D4-510C-94E6-FF211CC2B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pic>
        <p:nvPicPr>
          <p:cNvPr id="6" name="l8_oxycontin_axes.png">
            <a:extLst>
              <a:ext uri="{FF2B5EF4-FFF2-40B4-BE49-F238E27FC236}">
                <a16:creationId xmlns:a16="http://schemas.microsoft.com/office/drawing/2014/main" id="{6348B2C9-2C45-C59A-23C5-F0A5EE731B1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841500"/>
            <a:ext cx="5715000" cy="406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E3A60A-76A0-4079-F32C-FE87112721F3}"/>
              </a:ext>
            </a:extLst>
          </p:cNvPr>
          <p:cNvSpPr txBox="1"/>
          <p:nvPr/>
        </p:nvSpPr>
        <p:spPr>
          <a:xfrm>
            <a:off x="6477000" y="184149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Purdue promoted OxyContin, a 12-hour opioid, with a chart promising “fewer peaks and valleys” in blood levels - drawn on a logarithmic y-axis.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138E8-12EF-2A37-CE5E-F79236423465}"/>
              </a:ext>
            </a:extLst>
          </p:cNvPr>
          <p:cNvSpPr txBox="1"/>
          <p:nvPr/>
        </p:nvSpPr>
        <p:spPr>
          <a:xfrm>
            <a:off x="6477000" y="2801619"/>
            <a:ext cx="5207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Top: log axis. Bottom: the same curve on a linear axis. Which makes the drop look gentle?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87A619-43FE-F297-6CCE-C0DD07ED259A}"/>
              </a:ext>
            </a:extLst>
          </p:cNvPr>
          <p:cNvSpPr txBox="1"/>
          <p:nvPr/>
        </p:nvSpPr>
        <p:spPr>
          <a:xfrm>
            <a:off x="6832600" y="3340099"/>
            <a:ext cx="485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log axis. On the linear axis the level falls from 10.6 to 3.2 ng/mL - about 70% in 12 hours.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C71701-EED9-BD9A-7100-0637F7115208}"/>
              </a:ext>
            </a:extLst>
          </p:cNvPr>
          <p:cNvSpPr txBox="1"/>
          <p:nvPr/>
        </p:nvSpPr>
        <p:spPr>
          <a:xfrm>
            <a:off x="6477000" y="4107179"/>
            <a:ext cx="5207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In 2007 a Purdue company pleaded guilty to misbranding OxyContin, including sales graphs that exaggerated blood-level differences.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C07E39-4134-2AF9-D7D2-26FF619CE48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Illustrative curve from FDA label values. Sources: U.S. Attorney, W.D. Va. (2007); CBS News (2011)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AA7FA79-D415-9388-317A-68205E1B7F3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512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82D00-54F2-E35A-B69A-ED7A752EC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Should we believe the graph?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AEB17-DE2A-1F6E-B2A3-D47969AD9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A0452-3DD8-B84C-EE09-3AFA30BD34B8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ExxonMobil says its emissions are going down. Its 2024 Advancing Climate Solutions report charts a roadmap for cutting its emissions intensity (emissions per unit produced) - bars that shrink, with no numbers on the y-axis.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BD42A-2BF1-FB6D-9A93-D3EB96E0AEEA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can you conclude from bars that shrink but have no numbers?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54CAF-0FF7-C15E-50BA-9396A7A6729D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that some cut is planned - not how big it is, or how much rests on “CCS, hydrogen, and/or future advancements.”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25342C-A469-CC96-40BE-FF35BF294515}"/>
              </a:ext>
            </a:extLst>
          </p:cNvPr>
          <p:cNvSpPr txBox="1"/>
          <p:nvPr/>
        </p:nvSpPr>
        <p:spPr>
          <a:xfrm>
            <a:off x="762000" y="33502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Exxon's own table: intensity fell from 26.4 to 23.3 tonnes per 100 tonnes produced (2016 to 2023). Did its total emissions fall?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CEEC71-4CAF-147F-41B8-3F02F28A95A1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Intensity alone cannot tell you - if output grows, totals can rise. Here the totals did fall: its operations went from 117 to 98 million tonnes.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104B4-4AFF-97FB-AC02-61DB550CB7B6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 those numbers leave out?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F084BE-A76E-7CE1-9B3E-C681198ECAB4}"/>
              </a:ext>
            </a:extLst>
          </p:cNvPr>
          <p:cNvSpPr txBox="1"/>
          <p:nvPr/>
        </p:nvSpPr>
        <p:spPr>
          <a:xfrm>
            <a:off x="1117600" y="4925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Emissions from burning the oil and gas Exxon produces: about 540 million tonnes in 2023, roughly 85% of its footprint, with no target.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98429-44FD-2BA7-768D-48CF37200DB1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ExxonMobil, 2024 Advancing Climate Solutions; Union of Concerned Scientists (2024)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A8E16B1-F57D-2F46-AD92-78CBD2B17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488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finition card">
            <a:extLst>
              <a:ext uri="{FF2B5EF4-FFF2-40B4-BE49-F238E27FC236}">
                <a16:creationId xmlns:a16="http://schemas.microsoft.com/office/drawing/2014/main" id="{1CC87D29-6BDB-87CC-1C74-0814B2F33E3C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9827A313-B8E7-1D23-27FA-37D7BC06EC78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4D4F41-F41C-8935-C82D-DB922E07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easy ways to get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B6D11-64E8-C0E0-D2F6-55D66215F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9FDBA1-62CB-8F7E-F186-CC64E3D866A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convenience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4A131-A2DA-92B9-BB82-D286A700E031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ask whoever is easiest to reach</a:t>
            </a:r>
          </a:p>
          <a:p>
            <a:r>
              <a:rPr lang="en-US" i="1">
                <a:solidFill>
                  <a:srgbClr val="595959"/>
                </a:solidFill>
              </a:rPr>
              <a:t>stand outside the Student Recreation Center and ask the first 50 people who walk by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1065F-C222-53E3-3D47-DA927E34768F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voluntary response sample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B585-D2FF-BD2B-AA65-D4D6E56279CB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out a call and let people choose whether to answer (the textbook calls these self-selected samples)</a:t>
            </a:r>
          </a:p>
          <a:p>
            <a:r>
              <a:rPr lang="en-US" i="1">
                <a:solidFill>
                  <a:srgbClr val="595959"/>
                </a:solidFill>
              </a:rPr>
              <a:t>post a poll on a UI student Instagram account and count the replies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76987A-E2D1-A64E-5588-AA87D4DB88F4}"/>
              </a:ext>
            </a:extLst>
          </p:cNvPr>
          <p:cNvSpPr txBox="1"/>
          <p:nvPr/>
        </p:nvSpPr>
        <p:spPr>
          <a:xfrm>
            <a:off x="762000" y="4452620"/>
            <a:ext cx="10668000" cy="4064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Both are quick, cheap and easy. So what is the problem?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026192B-187D-328E-883E-18BD735E643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68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73A7B-9955-5330-04D2-EFD67422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could go wrong?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3E5520-5EC6-2BC9-8D3A-4D6F5B97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351EC-F8B3-121B-C544-465D1CC84002}"/>
              </a:ext>
            </a:extLst>
          </p:cNvPr>
          <p:cNvSpPr txBox="1"/>
          <p:nvPr/>
        </p:nvSpPr>
        <p:spPr>
          <a:xfrm>
            <a:off x="762000" y="1778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each story: is it a convenience sample or a voluntary response sample? What could go wrong?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C363C5-0BA0-1A58-5995-0602A783D948}"/>
              </a:ext>
            </a:extLst>
          </p:cNvPr>
          <p:cNvSpPr txBox="1"/>
          <p:nvPr/>
        </p:nvSpPr>
        <p:spPr>
          <a:xfrm>
            <a:off x="762000" y="22504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nutrition club wants to know how many servings of vegetables UI students eat a day. Members ask the first 60 students who walk out of the campus dining hall at lunch.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EBB58-8D83-19A7-5C62-CBC495619FEC}"/>
              </a:ext>
            </a:extLst>
          </p:cNvPr>
          <p:cNvSpPr txBox="1"/>
          <p:nvPr/>
        </p:nvSpPr>
        <p:spPr>
          <a:xfrm>
            <a:off x="1117600" y="27889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sample. Only lunchtime dining-hall eaters can be chosen - off-campus students and students who cook for themselves are missed.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8D82AB-5491-0EA0-F1A1-CE9F22FD3F4A}"/>
              </a:ext>
            </a:extLst>
          </p:cNvPr>
          <p:cNvSpPr txBox="1"/>
          <p:nvPr/>
        </p:nvSpPr>
        <p:spPr>
          <a:xfrm>
            <a:off x="762000" y="3530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campus paper wants to know whether students favor moving 8 a.m. classes later. It posts a Vote now! link on social media: 1,200 students vote and 85% say yes.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9ABA3D-4CF1-2D0C-34C6-DF44AF25C18E}"/>
              </a:ext>
            </a:extLst>
          </p:cNvPr>
          <p:cNvSpPr txBox="1"/>
          <p:nvPr/>
        </p:nvSpPr>
        <p:spPr>
          <a:xfrm>
            <a:off x="1117600" y="40690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Voluntary response sample. Students who dread 8 a.m. classes are the most eager to vote, so 85% likely overstates support.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A4201A-BFDC-42E3-31E6-8FB73A74044F}"/>
              </a:ext>
            </a:extLst>
          </p:cNvPr>
          <p:cNvSpPr txBox="1"/>
          <p:nvPr/>
        </p:nvSpPr>
        <p:spPr>
          <a:xfrm>
            <a:off x="762000" y="481075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professor wants to know how many hours a week the 300 students in her lecture study. She asks the 25 students who come to her office hours that week.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5F123-D252-E4F7-9D11-D43D52CC2BBE}"/>
              </a:ext>
            </a:extLst>
          </p:cNvPr>
          <p:cNvSpPr txBox="1"/>
          <p:nvPr/>
        </p:nvSpPr>
        <p:spPr>
          <a:xfrm>
            <a:off x="1117600" y="53492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just whoever was there. Students who come to office hours probably study more than the class as a whole.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3EEE277-B5EB-783B-059D-F3270C6F13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57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330C-D73F-ECC1-9E4B-5837582F9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17.5 million votes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9DF78B-C542-CC42-EFA0-C9FD6CF8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EA9C63-F815-8879-A8D2-4817F0DC5B4F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On December 18, 2022, Elon Musk posted a poll: “Should I step down as head of Twitter? I will abide by the results of this poll.” In 12 hours it drew more than 17.5 million votes, and 57.5% said yes.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18BB6A-7280-2489-7BBF-4B4A1B152B08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Who could vote in this poll?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C3DB6-BA3D-47E3-11C9-F9FD589000FA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Anyone who saw the post and chose to vote - mostly Musk's own followers. Nothing stopped fake accounts from voting.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099679-CBE2-C437-A062-809E0A113EF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kind of sample is this?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CC5620-4428-8CB7-FAC5-F19F23F2B53F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voluntary response sample.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A5F075-72A8-ECE8-A9E3-498A1FD47AD6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So does 57.5% tell us what Twitter users - or anyone else - think?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8CF07-D6A9-6A95-E1B8-EFFE8390737A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17.5 million self-selected votes describe only the people who chose to vote. Size does not fix that.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EBA736-C9E2-517B-A022-031D0160C2A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News; Associated Press (December 19, 2022)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B1FFB42-C18C-0F6A-EE53-9AAED0EE154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89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ADF5C-4CD4-F4B3-ED68-D1F72E5E2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Online opt-in polls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1D1D8B-2558-678D-B25C-FB65D07C0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533647-AFA0-B2F0-2944-D4C769F3794E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Many online polls use opt-in panels: anyone can sign up to take surveys, and they are paid for each one they finish.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E7B68A-2D8F-4AEC-8318-9F449349365C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In opt-in polls, what percent of adults under 30 said they were licensed to operate a nuclear submarine?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AC4A32-B807-C6C8-D4B6-3F329C2F7030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12% - and 24% of Hispanic respondents. Almost nobody is licensed to operate a nuclear submarine.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0C90DD-4671-858E-A0D1-DF20A8605998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An opt-in poll found 20% of adults under 30 agreed that the Holocaust is a myth. Pew asked the same question of a random sample. What did it find?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B17160-A2AE-AF3F-5EF0-DB0721CBDC5C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3%. Bogus and careless respondents answering for the money made most of the 20%.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F775E9-1E81-130B-522B-F9E2FAC57DEB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Why does this matter for how we read headlines about young people?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820A43-5A75-D994-BD80-2B4207EB5E03}"/>
              </a:ext>
            </a:extLst>
          </p:cNvPr>
          <p:cNvSpPr txBox="1"/>
          <p:nvPr/>
        </p:nvSpPr>
        <p:spPr>
          <a:xfrm>
            <a:off x="1117600" y="443737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Opt-in panels are voluntary response samples. A shocking number about a subgroup may be about who signed up, not what people think.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641A6-9CA7-A031-8770-C049AE3F8EEE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Mercer, Kennedy and Keeter (2024), Pew Research Center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A8B87BA-85A3-9710-8823-CAD95A18397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884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2DF13-D712-987A-9E48-E84C50F00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Estimates are shots at a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78481-D119-BB12-FB42-AF8A00276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BAA51F-B9A0-3D9C-865A-93D0F8CA87AA}"/>
              </a:ext>
            </a:extLst>
          </p:cNvPr>
          <p:cNvSpPr txBox="1"/>
          <p:nvPr/>
        </p:nvSpPr>
        <p:spPr>
          <a:xfrm>
            <a:off x="571500" y="184149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bullseye is the parameter. Each shot is the estimate from one sample - take a new sample, take a new shot.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98DFC0-0E27-8C48-ED13-C44DCC9E84CF}"/>
              </a:ext>
            </a:extLst>
          </p:cNvPr>
          <p:cNvSpPr txBox="1"/>
          <p:nvPr/>
        </p:nvSpPr>
        <p:spPr>
          <a:xfrm>
            <a:off x="571500" y="253238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bias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53984B-7C6F-20B3-CDA3-0CB744A36AF9}"/>
              </a:ext>
            </a:extLst>
          </p:cNvPr>
          <p:cNvSpPr txBox="1"/>
          <p:nvPr/>
        </p:nvSpPr>
        <p:spPr>
          <a:xfrm>
            <a:off x="850900" y="280161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shots are centered off the bullseye, missing in the same direction every time: an ACCURACY problem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44BC6F-5B04-82A2-D461-17C39E75D7E9}"/>
              </a:ext>
            </a:extLst>
          </p:cNvPr>
          <p:cNvSpPr txBox="1"/>
          <p:nvPr/>
        </p:nvSpPr>
        <p:spPr>
          <a:xfrm>
            <a:off x="571500" y="3543300"/>
            <a:ext cx="558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standard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6E2E8A-7348-B64C-C0DB-3C5B60978AA7}"/>
              </a:ext>
            </a:extLst>
          </p:cNvPr>
          <p:cNvSpPr txBox="1"/>
          <p:nvPr/>
        </p:nvSpPr>
        <p:spPr>
          <a:xfrm>
            <a:off x="850900" y="3812539"/>
            <a:ext cx="5308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spread out the shots are from one sample to the next: a PRECISION problem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5DF51-6230-6B51-047F-E0AF7363CDA2}"/>
              </a:ext>
            </a:extLst>
          </p:cNvPr>
          <p:cNvSpPr txBox="1"/>
          <p:nvPr/>
        </p:nvSpPr>
        <p:spPr>
          <a:xfrm>
            <a:off x="571500" y="4579619"/>
            <a:ext cx="558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Convenience and voluntary response samples are biased: they miss the bullseye however carefully we aim.</a:t>
            </a:r>
          </a:p>
        </p:txBody>
      </p:sp>
      <p:pic>
        <p:nvPicPr>
          <p:cNvPr id="12" name="l8_bullseye.png">
            <a:extLst>
              <a:ext uri="{FF2B5EF4-FFF2-40B4-BE49-F238E27FC236}">
                <a16:creationId xmlns:a16="http://schemas.microsoft.com/office/drawing/2014/main" id="{80849495-3CEB-A3CE-F91D-46A0F1098FB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803400"/>
            <a:ext cx="5588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BA3105B-4F51-188E-0776-DA7BE17DB666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7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E6F3B-5AA8-FA32-FA36-F76E403F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bigger sample does not fix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3985D-720F-E661-4B98-2B2B699C4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905000"/>
            <a:ext cx="4445000" cy="4191000"/>
          </a:xfrm>
        </p:spPr>
        <p:txBody>
          <a:bodyPr>
            <a:noAutofit/>
          </a:bodyPr>
          <a:lstStyle/>
          <a:p>
            <a:r>
              <a:rPr lang="en-US" sz="1600"/>
              <a:t>Suppose 40% of UI students exercise at least three times a week</a:t>
            </a:r>
          </a:p>
          <a:p>
            <a:r>
              <a:rPr lang="en-US" sz="1600"/>
              <a:t>Blue: 5000 simple random samples of 200 students</a:t>
            </a:r>
          </a:p>
          <a:p>
            <a:r>
              <a:rPr lang="en-US" sz="1600"/>
              <a:t>Grey: 5000 Rec Center surveys of 2000 students</a:t>
            </a:r>
          </a:p>
          <a:p>
            <a:r>
              <a:rPr lang="en-US" sz="1600"/>
              <a:t>The Rec Center survey is more </a:t>
            </a:r>
            <a:r>
              <a:rPr lang="en-US" sz="1600" b="1">
                <a:solidFill>
                  <a:srgbClr val="C00000"/>
                </a:solidFill>
              </a:rPr>
              <a:t>precise</a:t>
            </a:r>
            <a:r>
              <a:rPr lang="en-US" sz="1600"/>
              <a:t> - a smaller standard error</a:t>
            </a:r>
          </a:p>
          <a:p>
            <a:r>
              <a:rPr lang="en-US" sz="1600"/>
              <a:t>and every one of its estimates misses the truth: </a:t>
            </a:r>
            <a:r>
              <a:rPr lang="en-US" sz="1600" b="1">
                <a:solidFill>
                  <a:srgbClr val="C00000"/>
                </a:solidFill>
              </a:rPr>
              <a:t>bias</a:t>
            </a:r>
          </a:p>
          <a:p>
            <a:r>
              <a:rPr lang="en-US" sz="1600"/>
              <a:t>More data buys precision. Only a </a:t>
            </a:r>
            <a:r>
              <a:rPr lang="en-US" sz="1600" b="1">
                <a:solidFill>
                  <a:srgbClr val="C00000"/>
                </a:solidFill>
              </a:rPr>
              <a:t>better design</a:t>
            </a:r>
            <a:r>
              <a:rPr lang="en-US" sz="1600"/>
              <a:t> buys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24190-EDC9-111D-36F7-A4650D75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pic>
        <p:nvPicPr>
          <p:cNvPr id="6" name="l8_bias_vs_n.png">
            <a:extLst>
              <a:ext uri="{FF2B5EF4-FFF2-40B4-BE49-F238E27FC236}">
                <a16:creationId xmlns:a16="http://schemas.microsoft.com/office/drawing/2014/main" id="{234C5C45-6EA8-A3FB-1854-ABE4469792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0" y="1905000"/>
            <a:ext cx="6858000" cy="4191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E062A62-2B36-42B5-267B-199202BCA92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23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CCD1B-7324-B85B-56B8-EC09F30C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fix: let chance choose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7A180E-3236-3B36-2822-CF77E52A0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63433-8EDC-91AA-9FD4-D109D95097E7}"/>
              </a:ext>
            </a:extLst>
          </p:cNvPr>
          <p:cNvSpPr txBox="1"/>
          <p:nvPr/>
        </p:nvSpPr>
        <p:spPr>
          <a:xfrm>
            <a:off x="762000" y="1905000"/>
            <a:ext cx="10668000" cy="7112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1F3864"/>
                </a:solidFill>
              </a:rPr>
              <a:t>Convenience and voluntary response samples go wrong because a person decides who gets in. Take the person out of 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64C31-E87D-6FDA-5604-D7248672D33B}"/>
              </a:ext>
            </a:extLst>
          </p:cNvPr>
          <p:cNvSpPr txBox="1"/>
          <p:nvPr/>
        </p:nvSpPr>
        <p:spPr>
          <a:xfrm>
            <a:off x="762000" y="2794000"/>
            <a:ext cx="2921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27FA5-F3BE-EB07-6F56-0ABF15375573}"/>
              </a:ext>
            </a:extLst>
          </p:cNvPr>
          <p:cNvSpPr txBox="1"/>
          <p:nvPr/>
        </p:nvSpPr>
        <p:spPr>
          <a:xfrm>
            <a:off x="3784600" y="2793999"/>
            <a:ext cx="7645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using chance to choose the sample, so neither the researcher nor the respondents decide who is in 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E3765-9D45-5E9E-78E9-A5E2BD9FDB99}"/>
              </a:ext>
            </a:extLst>
          </p:cNvPr>
          <p:cNvSpPr txBox="1"/>
          <p:nvPr/>
        </p:nvSpPr>
        <p:spPr>
          <a:xfrm>
            <a:off x="1016000" y="3586480"/>
            <a:ext cx="1041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No person is doing the choosing, so the selection cannot systematically favor anyone - no bias from the selection itself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BA834D-351E-EDB6-A2BF-28F7E042450F}"/>
              </a:ext>
            </a:extLst>
          </p:cNvPr>
          <p:cNvSpPr txBox="1"/>
          <p:nvPr/>
        </p:nvSpPr>
        <p:spPr>
          <a:xfrm>
            <a:off x="1016000" y="4033519"/>
            <a:ext cx="10414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Chance still moves the estimate from sample to sample, but by rules we understand - so we can measure it. That is the standard error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F94673C-6BA5-BCCA-5900-AF632B9CA54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4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92D35-A207-B49C-40B5-06D1D8D1B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Simple random sample (SRS)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BB036-B20C-A56C-9B0C-09F1885A2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30E433-7302-7316-864D-8389988CA7CF}"/>
              </a:ext>
            </a:extLst>
          </p:cNvPr>
          <p:cNvSpPr txBox="1"/>
          <p:nvPr/>
        </p:nvSpPr>
        <p:spPr>
          <a:xfrm>
            <a:off x="571500" y="1905000"/>
            <a:ext cx="609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 (SRS)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9F30AE-82C6-58E5-4188-969E26EA842D}"/>
              </a:ext>
            </a:extLst>
          </p:cNvPr>
          <p:cNvSpPr txBox="1"/>
          <p:nvPr/>
        </p:nvSpPr>
        <p:spPr>
          <a:xfrm>
            <a:off x="850900" y="2174239"/>
            <a:ext cx="5816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possible group of n units has the same chance of being the sample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876BE-5B55-E9DD-6D54-02E2EBCFCD3C}"/>
              </a:ext>
            </a:extLst>
          </p:cNvPr>
          <p:cNvSpPr txBox="1"/>
          <p:nvPr/>
        </p:nvSpPr>
        <p:spPr>
          <a:xfrm>
            <a:off x="571500" y="296671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 N = 100 students and n = 20, so each student has a 20/100 = 1 in 5 chance of being chosen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5C39A-6C50-5A64-9AC5-11F4001DF8AD}"/>
              </a:ext>
            </a:extLst>
          </p:cNvPr>
          <p:cNvSpPr txBox="1"/>
          <p:nvPr/>
        </p:nvSpPr>
        <p:spPr>
          <a:xfrm>
            <a:off x="571500" y="3682999"/>
            <a:ext cx="6096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This SRS happened to draw 4 seniors but only 2 juniors. An SRS is </a:t>
            </a:r>
            <a:r>
              <a:rPr lang="en-US" sz="1600" b="1">
                <a:solidFill>
                  <a:srgbClr val="C00000"/>
                </a:solidFill>
              </a:rPr>
              <a:t>fair on average</a:t>
            </a:r>
            <a:r>
              <a:rPr lang="en-US" sz="1600">
                <a:solidFill>
                  <a:srgbClr val="000000"/>
                </a:solidFill>
              </a:rPr>
              <a:t> - not balanced every time</a:t>
            </a:r>
          </a:p>
        </p:txBody>
      </p:sp>
      <p:pic>
        <p:nvPicPr>
          <p:cNvPr id="10" name="l8_design_srs.png">
            <a:extLst>
              <a:ext uri="{FF2B5EF4-FFF2-40B4-BE49-F238E27FC236}">
                <a16:creationId xmlns:a16="http://schemas.microsoft.com/office/drawing/2014/main" id="{9B942D92-0C2B-4367-E1E4-34BD15E35F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0D4A6BB8-5A41-659B-68B7-B87A44DC769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8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2CA30-A4ED-012B-224D-E46D314D4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Drawing an SRS in practice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FFFFF-6E15-C26E-03DE-D49CD27EB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199FF-0EDA-CEEA-C288-75F9C1815338}"/>
              </a:ext>
            </a:extLst>
          </p:cNvPr>
          <p:cNvSpPr txBox="1"/>
          <p:nvPr/>
        </p:nvSpPr>
        <p:spPr>
          <a:xfrm>
            <a:off x="762000" y="1841500"/>
            <a:ext cx="10668000" cy="123110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1.  Get a sampling frame and number it 1 to N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2.  Let a random number generator choose n different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   in R:   sample(1:379, 30)   picks 30 of 379 row numbers</a:t>
            </a:r>
          </a:p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3.  The units with those numbers are the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CFD1C5-2DF2-7388-C6E1-90365167A324}"/>
              </a:ext>
            </a:extLst>
          </p:cNvPr>
          <p:cNvSpPr txBox="1"/>
          <p:nvPr/>
        </p:nvSpPr>
        <p:spPr>
          <a:xfrm>
            <a:off x="762000" y="325040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sample() draws without replacement - no row can be picked twice - unless you add replace = TRUE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5B9862-97F1-434D-ABED-AF03B4F56B68}"/>
              </a:ext>
            </a:extLst>
          </p:cNvPr>
          <p:cNvSpPr txBox="1"/>
          <p:nvPr/>
        </p:nvSpPr>
        <p:spPr>
          <a:xfrm>
            <a:off x="762000" y="3773646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This is exactly what Part 3 of your course project asks you to do.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40AABC-E642-776A-EDAE-0537DD2BE9D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39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2138</Words>
  <Application>Microsoft Office PowerPoint</Application>
  <PresentationFormat>Widescreen</PresentationFormat>
  <Paragraphs>180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Consolas</vt:lpstr>
      <vt:lpstr>Office Theme</vt:lpstr>
      <vt:lpstr>Lecture 8 Sampling and Experimental Design</vt:lpstr>
      <vt:lpstr>Start with a question</vt:lpstr>
      <vt:lpstr>Words we need</vt:lpstr>
      <vt:lpstr>More words we need</vt:lpstr>
      <vt:lpstr>Example: exercise at a small college</vt:lpstr>
      <vt:lpstr>Census, sample and sampling error</vt:lpstr>
      <vt:lpstr>Practice: find the sampling frame</vt:lpstr>
      <vt:lpstr>With or without replacement?</vt:lpstr>
      <vt:lpstr>Be Skeptical</vt:lpstr>
      <vt:lpstr>Misleading graphs: OxyContin</vt:lpstr>
      <vt:lpstr>Should we believe the graph?</vt:lpstr>
      <vt:lpstr>Two easy ways to get a sample</vt:lpstr>
      <vt:lpstr>What could go wrong?</vt:lpstr>
      <vt:lpstr>17.5 million votes</vt:lpstr>
      <vt:lpstr>Online opt-in polls</vt:lpstr>
      <vt:lpstr>Estimates are shots at a target</vt:lpstr>
      <vt:lpstr>A bigger sample does not fix bias</vt:lpstr>
      <vt:lpstr>The fix: let chance choose</vt:lpstr>
      <vt:lpstr>Simple random sample (SRS)</vt:lpstr>
      <vt:lpstr>Drawing an SRS in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351</cp:revision>
  <dcterms:created xsi:type="dcterms:W3CDTF">2023-08-05T23:57:41Z</dcterms:created>
  <dcterms:modified xsi:type="dcterms:W3CDTF">2026-09-21T18:19:53Z</dcterms:modified>
</cp:coreProperties>
</file>