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31" r:id="rId3"/>
    <p:sldId id="332" r:id="rId4"/>
    <p:sldId id="304" r:id="rId5"/>
    <p:sldId id="330" r:id="rId6"/>
    <p:sldId id="338" r:id="rId7"/>
    <p:sldId id="339" r:id="rId8"/>
    <p:sldId id="307" r:id="rId9"/>
    <p:sldId id="336" r:id="rId10"/>
    <p:sldId id="305" r:id="rId11"/>
    <p:sldId id="337" r:id="rId12"/>
    <p:sldId id="340" r:id="rId13"/>
    <p:sldId id="309" r:id="rId14"/>
    <p:sldId id="308" r:id="rId15"/>
    <p:sldId id="321" r:id="rId16"/>
    <p:sldId id="320" r:id="rId17"/>
    <p:sldId id="322" r:id="rId18"/>
    <p:sldId id="324" r:id="rId19"/>
    <p:sldId id="352" r:id="rId20"/>
    <p:sldId id="348" r:id="rId21"/>
    <p:sldId id="303" r:id="rId22"/>
    <p:sldId id="259" r:id="rId23"/>
    <p:sldId id="325" r:id="rId24"/>
    <p:sldId id="346" r:id="rId25"/>
    <p:sldId id="349" r:id="rId26"/>
    <p:sldId id="341" r:id="rId27"/>
    <p:sldId id="350" r:id="rId28"/>
    <p:sldId id="351" r:id="rId29"/>
    <p:sldId id="345" r:id="rId30"/>
    <p:sldId id="313" r:id="rId31"/>
    <p:sldId id="314" r:id="rId32"/>
    <p:sldId id="315" r:id="rId33"/>
    <p:sldId id="316" r:id="rId34"/>
    <p:sldId id="317" r:id="rId35"/>
    <p:sldId id="283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anshen.com/article/9350375543/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5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Measures of Location and Position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19130"/>
          </a:xfrm>
        </p:spPr>
        <p:txBody>
          <a:bodyPr>
            <a:normAutofit fontScale="90000"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   </a:t>
            </a:r>
            <a:r>
              <a:rPr lang="en-US" b="1"/>
              <a:t>A distribution has two clear peaks. What does that usually tell us?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>
                <a:solidFill>
                  <a:srgbClr val="C00000"/>
                </a:solidFill>
              </a:rPr>
              <a:t>The sample mixes two distinct sub-populations, picked out by some grouping variable.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   </a:t>
            </a:r>
            <a:r>
              <a:rPr lang="en-US" b="1"/>
              <a:t>What makes a distribution skewed?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hard limit on the values – data pile up against the limit and trail away from it.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   </a:t>
            </a:r>
            <a:r>
              <a:rPr lang="en-US" b="1"/>
              <a:t>Name the two very different things an outlier can be.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genuinely unusual observation, or a measurement or recording error.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4   </a:t>
            </a:r>
            <a:r>
              <a:rPr lang="en-US" b="1"/>
              <a:t>Which plot(s) are best for large sample sizes, and which one(s) keep the actual data values?</a:t>
            </a:r>
            <a:endParaRPr lang="en-US" b="1" dirty="0"/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histogram for large n. The stem and leaf plot keeps the original values. Dot plot also – when applied to discrete data.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48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CCDB72-E5D0-6EBA-C0D0-5DEFEBF44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Review: ten video games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98626-D1B4-2C98-5F0C-66A81FA7CC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244600"/>
            <a:ext cx="10795000" cy="482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/>
              <a:t>X = Metacritic critic score, for a random sample of n = 10 best-selling video games (circa 2000’s).</a:t>
            </a:r>
          </a:p>
        </p:txBody>
      </p:sp>
      <p:sp>
        <p:nvSpPr>
          <p:cNvPr id="4" name="Values">
            <a:extLst>
              <a:ext uri="{FF2B5EF4-FFF2-40B4-BE49-F238E27FC236}">
                <a16:creationId xmlns:a16="http://schemas.microsoft.com/office/drawing/2014/main" id="{2121E118-D7CD-D36B-8A0A-3AE9CFBC7F97}"/>
              </a:ext>
            </a:extLst>
          </p:cNvPr>
          <p:cNvSpPr txBox="1"/>
          <p:nvPr/>
        </p:nvSpPr>
        <p:spPr>
          <a:xfrm>
            <a:off x="762000" y="1752600"/>
            <a:ext cx="10795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>
                <a:latin typeface="Consolas" panose="020B0609020204030204" pitchFamily="49" charset="0"/>
              </a:rPr>
              <a:t>x = { 68,  72,  76,  76,  76,  83,  85,  87,  92,  95 }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D30E05-FA21-0086-E1BF-CAB22FEB062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2235200"/>
            <a:ext cx="5969000" cy="3708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D1CA0DC-0DE2-2969-FE79-A5D3F4FDF17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2235200"/>
            <a:ext cx="4826000" cy="23495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46B2299-A507-489C-02DB-EAF355847EEC}"/>
              </a:ext>
            </a:extLst>
          </p:cNvPr>
          <p:cNvSpPr txBox="1"/>
          <p:nvPr/>
        </p:nvSpPr>
        <p:spPr>
          <a:xfrm>
            <a:off x="6858000" y="4800600"/>
            <a:ext cx="48260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 i="1"/>
              <a:t>Four bins of width 10. Most of these games score in the 70s, with a few running up into the 90s.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722DF1-F8EB-F9A0-C853-F023E25A5D6A}"/>
              </a:ext>
            </a:extLst>
          </p:cNvPr>
          <p:cNvSpPr txBox="1"/>
          <p:nvPr/>
        </p:nvSpPr>
        <p:spPr>
          <a:xfrm>
            <a:off x="508000" y="6451600"/>
            <a:ext cx="1117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i="1">
                <a:solidFill>
                  <a:srgbClr val="666666"/>
                </a:solidFill>
              </a:rPr>
              <a:t>Data: VGChartz sales joined to Metacritic ratings, restricted to titles selling 5 million copies or more (127 games).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59FE74-6B0E-C314-8794-38709A7C9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435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  <p:par>
                                <p:cTn id="11" presetID="34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ody card">
            <a:extLst>
              <a:ext uri="{FF2B5EF4-FFF2-40B4-BE49-F238E27FC236}">
                <a16:creationId xmlns:a16="http://schemas.microsoft.com/office/drawing/2014/main" id="{92237A1F-3E90-6556-1E03-548FEED58994}"/>
              </a:ext>
            </a:extLst>
          </p:cNvPr>
          <p:cNvSpPr/>
          <p:nvPr/>
        </p:nvSpPr>
        <p:spPr>
          <a:xfrm>
            <a:off x="635000" y="1346200"/>
            <a:ext cx="10922000" cy="4406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3D0608-1958-6936-37C8-0B0F2E703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Measures of Central Tendency: the Mean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9C4FB3-6656-121C-4A91-2FBCF82E26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96290"/>
                <a:ext cx="9977582" cy="5107709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The (arithmetic) 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mean </a:t>
                </a:r>
                <a:r>
                  <a:rPr lang="en-US" sz="2400" dirty="0"/>
                  <a:t>is the average value of a set of observations </a:t>
                </a:r>
              </a:p>
              <a:p>
                <a:pPr marL="457200" lvl="1" indent="0">
                  <a:buNone/>
                </a:pPr>
                <a:r>
                  <a:rPr lang="en-US" sz="2000" dirty="0"/>
                  <a:t>it measures the center of mass of a distribution (the balancing point)</a:t>
                </a:r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+…+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f>
                          <m:f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nary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/>
                  <a:t>The population mean is also called the </a:t>
                </a:r>
                <a:r>
                  <a:rPr lang="en-US" sz="2400" b="1">
                    <a:solidFill>
                      <a:srgbClr val="C00000"/>
                    </a:solidFill>
                  </a:rPr>
                  <a:t>expected value</a:t>
                </a:r>
                <a:r>
                  <a:rPr lang="en-US" sz="2400"/>
                  <a:t>, written E(X) or μ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US" sz="2000"/>
                  <a:t>the long-run average of the variable; the sample mean is our estimate of it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/>
                  <a:t>the </a:t>
                </a:r>
                <a:r>
                  <a:rPr lang="en-US" sz="2400" dirty="0"/>
                  <a:t>mean is usually not equal to any of the values observed in the sample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 mean is highly influenced by 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outliers </a:t>
                </a:r>
                <a:r>
                  <a:rPr lang="en-US" sz="2400" dirty="0"/>
                  <a:t> - observations that take on extreme values relative to the distribution</a:t>
                </a:r>
                <a:endParaRPr lang="en-US" sz="2400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9C4FB3-6656-121C-4A91-2FBCF82E26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96290"/>
                <a:ext cx="9977582" cy="5107709"/>
              </a:xfrm>
              <a:blipFill>
                <a:blip r:embed="rId2"/>
                <a:stretch>
                  <a:fillRect l="-856" t="-16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B3C1E3-915E-DFCD-DA35-E26A55B11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0093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939A5A2C-D627-C557-2636-A2EABAC4268F}"/>
              </a:ext>
            </a:extLst>
          </p:cNvPr>
          <p:cNvSpPr/>
          <p:nvPr/>
        </p:nvSpPr>
        <p:spPr>
          <a:xfrm>
            <a:off x="635000" y="1676400"/>
            <a:ext cx="10922000" cy="7112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D68A1-D925-CD0E-C91F-BDCFF9B4B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Practice: Calculate The Mean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C930D-CF63-11CB-F799-8B6F103744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636491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C930D-CF63-11CB-F799-8B6F103744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636491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9E4CE-329E-787F-6F4B-4FA86A071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5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0BB0F928-116D-81E8-2332-DEE26E78493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3172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D8063161-C473-F00C-5B63-263462EC7427}"/>
              </a:ext>
            </a:extLst>
          </p:cNvPr>
          <p:cNvSpPr/>
          <p:nvPr/>
        </p:nvSpPr>
        <p:spPr>
          <a:xfrm>
            <a:off x="635000" y="1676400"/>
            <a:ext cx="10922000" cy="35687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7F5637-759B-CDC6-A079-016153789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Alternative formulas for the mean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86C35F-87BF-000B-FFF1-FA6B4C96E0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800" dirty="0"/>
                  <a:t>We can also express the mean in terms of the frequency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2800" dirty="0"/>
                  <a:t> or the relative frequency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𝑅𝐹</m:t>
                    </m:r>
                  </m:oMath>
                </a14:m>
                <a:endParaRPr lang="en-US" sz="2800" dirty="0"/>
              </a:p>
              <a:p>
                <a:endParaRPr lang="en-US" sz="2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or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  <m:acc>
                        <m:accPr>
                          <m:chr m:val="̅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𝑅𝐹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/>
                  <a:t>Where the sum is over all distinct values of the variable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28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86C35F-87BF-000B-FFF1-FA6B4C96E0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3884A8-DEBB-AF09-F355-C31CA06DD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6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4964A124-FA69-D344-BAB7-7B08ACE4442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866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04281-A2B3-E169-D64B-55C4B2F0F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Example: Computing the mean from a frequency 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CB2C17F-8867-4F95-3EA4-C71E0B623A8C}"/>
                  </a:ext>
                </a:extLst>
              </p:cNvPr>
              <p:cNvSpPr txBox="1"/>
              <p:nvPr/>
            </p:nvSpPr>
            <p:spPr>
              <a:xfrm>
                <a:off x="932873" y="1985818"/>
                <a:ext cx="10797309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={1, 3, 5, 5, 6, 7, 7, 8}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CB2C17F-8867-4F95-3EA4-C71E0B623A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873" y="1985818"/>
                <a:ext cx="10797309" cy="1477328"/>
              </a:xfrm>
              <a:prstGeom prst="rect">
                <a:avLst/>
              </a:prstGeom>
              <a:blipFill>
                <a:blip r:embed="rId2"/>
                <a:stretch>
                  <a:fillRect l="-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BED149D-C46B-66BE-11B4-97A112E755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1566213"/>
              </p:ext>
            </p:extLst>
          </p:nvPr>
        </p:nvGraphicFramePr>
        <p:xfrm>
          <a:off x="7389092" y="1421340"/>
          <a:ext cx="434109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030">
                  <a:extLst>
                    <a:ext uri="{9D8B030D-6E8A-4147-A177-3AD203B41FA5}">
                      <a16:colId xmlns:a16="http://schemas.microsoft.com/office/drawing/2014/main" val="2635967006"/>
                    </a:ext>
                  </a:extLst>
                </a:gridCol>
                <a:gridCol w="1447030">
                  <a:extLst>
                    <a:ext uri="{9D8B030D-6E8A-4147-A177-3AD203B41FA5}">
                      <a16:colId xmlns:a16="http://schemas.microsoft.com/office/drawing/2014/main" val="3005329175"/>
                    </a:ext>
                  </a:extLst>
                </a:gridCol>
                <a:gridCol w="1447030">
                  <a:extLst>
                    <a:ext uri="{9D8B030D-6E8A-4147-A177-3AD203B41FA5}">
                      <a16:colId xmlns:a16="http://schemas.microsoft.com/office/drawing/2014/main" val="1816929551"/>
                    </a:ext>
                  </a:extLst>
                </a:gridCol>
              </a:tblGrid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Freq.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Rel. Freq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9691844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206646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8416178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562944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024317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989846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7081470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7C2D55-A2CD-7F99-32CD-D478F9663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407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E330F862-AE9C-EE58-E03B-B824433D306D}"/>
              </a:ext>
            </a:extLst>
          </p:cNvPr>
          <p:cNvSpPr/>
          <p:nvPr/>
        </p:nvSpPr>
        <p:spPr>
          <a:xfrm>
            <a:off x="635000" y="1676400"/>
            <a:ext cx="10922000" cy="44323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2243EE-CAAA-9631-C3E9-DBEC3605D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Measures of Central Tendency: the Median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35A268-CA85-9E12-C415-E91D6F48B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987598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>
                    <a:solidFill>
                      <a:srgbClr val="C00000"/>
                    </a:solidFill>
                  </a:rPr>
                  <a:t>median</a:t>
                </a:r>
                <a:r>
                  <a:rPr lang="en-US" dirty="0"/>
                  <a:t> is the middle value of a set of observations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How to compute the median: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the median by first ordering the observations from smallest value to largest value and choose the number in the middle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odd the median is the middle number</a:t>
                </a:r>
              </a:p>
              <a:p>
                <a:pPr marL="457200" lvl="1" indent="0">
                  <a:buNone/>
                </a:pPr>
                <a:r>
                  <a:rPr lang="en-US" dirty="0"/>
                  <a:t> -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even the median is the sum of the two middle values divided by 2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35A268-CA85-9E12-C415-E91D6F48B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9875982" cy="4351338"/>
              </a:xfrm>
              <a:blipFill>
                <a:blip r:embed="rId2"/>
                <a:stretch>
                  <a:fillRect l="-1296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47B86B-CF4F-5004-F564-F3E9776DF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8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49A69466-6FC3-D6E2-2672-5534F332484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95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9CC7A5F4-AA0B-5409-20AF-B081E05EC2AE}"/>
              </a:ext>
            </a:extLst>
          </p:cNvPr>
          <p:cNvSpPr/>
          <p:nvPr/>
        </p:nvSpPr>
        <p:spPr>
          <a:xfrm>
            <a:off x="635000" y="1676400"/>
            <a:ext cx="10922000" cy="12192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32D970-D5B1-13BB-C01E-5224E1F21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Practice: Calculate the Median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24A11B-CBAA-E4CB-9C3F-629D626DCA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8}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24A11B-CBAA-E4CB-9C3F-629D626DCA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D15A0-7C29-649F-9A4C-AD1A86888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9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F46819D0-BC49-93EF-995D-6024DFEF6A6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408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7AA1FB4F-B4C0-19FC-F8A6-80F1019CDA1B}"/>
              </a:ext>
            </a:extLst>
          </p:cNvPr>
          <p:cNvGrpSpPr/>
          <p:nvPr/>
        </p:nvGrpSpPr>
        <p:grpSpPr>
          <a:xfrm>
            <a:off x="281345" y="2185532"/>
            <a:ext cx="11223178" cy="3231099"/>
            <a:chOff x="170508" y="2213128"/>
            <a:chExt cx="11223178" cy="32310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D94D794-5780-EB94-1BF2-FE234895A4DE}"/>
                    </a:ext>
                  </a:extLst>
                </p:cNvPr>
                <p:cNvSpPr txBox="1"/>
                <p:nvPr/>
              </p:nvSpPr>
              <p:spPr>
                <a:xfrm>
                  <a:off x="2051669" y="5058295"/>
                  <a:ext cx="78925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acc>
                          <m:accPr>
                            <m:chr m:val="̅"/>
                            <m:ctrlP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𝑥</m:t>
                            </m:r>
                          </m:e>
                        </m:acc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=9.2</m:t>
                        </m:r>
                      </m:oMath>
                    </m:oMathPara>
                  </a14:m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D94D794-5780-EB94-1BF2-FE234895A4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1669" y="5058295"/>
                  <a:ext cx="789255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3876" r="-6977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5EB56406-5F22-DCCD-EA7F-C958F3D211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0508" y="2213128"/>
              <a:ext cx="5170726" cy="2494353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E8AA625E-81C5-ECCB-6AEA-588CF86FBB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604632">
              <a:off x="6222960" y="2269308"/>
              <a:ext cx="5170726" cy="2494353"/>
            </a:xfrm>
            <a:prstGeom prst="rect">
              <a:avLst/>
            </a:prstGeom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B2F214C2-1D86-F2C7-F495-1D8DF5707C70}"/>
                </a:ext>
              </a:extLst>
            </p:cNvPr>
            <p:cNvSpPr/>
            <p:nvPr/>
          </p:nvSpPr>
          <p:spPr>
            <a:xfrm>
              <a:off x="7678880" y="4258680"/>
              <a:ext cx="259773" cy="586392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216A7137-8C55-1EF5-CC3D-BFDC40D635C1}"/>
                </a:ext>
              </a:extLst>
            </p:cNvPr>
            <p:cNvSpPr/>
            <p:nvPr/>
          </p:nvSpPr>
          <p:spPr>
            <a:xfrm>
              <a:off x="2123207" y="4296496"/>
              <a:ext cx="259773" cy="586392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9FE77AA-7C50-0F7E-C479-3A2E60163D35}"/>
                    </a:ext>
                  </a:extLst>
                </p:cNvPr>
                <p:cNvSpPr txBox="1"/>
                <p:nvPr/>
              </p:nvSpPr>
              <p:spPr>
                <a:xfrm>
                  <a:off x="7414138" y="4925623"/>
                  <a:ext cx="2095895" cy="51860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𝑚𝑒𝑑𝑖𝑎𝑛</m:t>
                        </m:r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</m:t>
                        </m:r>
                        <m:f>
                          <m:fPr>
                            <m:ctrlP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fPr>
                          <m:num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8+8</m:t>
                            </m:r>
                          </m:num>
                          <m:den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2</m:t>
                            </m:r>
                          </m:den>
                        </m:f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=8</m:t>
                        </m:r>
                      </m:oMath>
                    </m:oMathPara>
                  </a14:m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9FE77AA-7C50-0F7E-C479-3A2E60163D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4138" y="4925623"/>
                  <a:ext cx="2095895" cy="51860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0AB15456-BDE7-CB11-8743-884D2B7E62B6}"/>
              </a:ext>
            </a:extLst>
          </p:cNvPr>
          <p:cNvSpPr txBox="1"/>
          <p:nvPr/>
        </p:nvSpPr>
        <p:spPr>
          <a:xfrm>
            <a:off x="594017" y="5686108"/>
            <a:ext cx="36052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mean is the center of gravity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3A6C0A-C879-8A3D-A8EE-96D4E66E3A74}"/>
              </a:ext>
            </a:extLst>
          </p:cNvPr>
          <p:cNvSpPr txBox="1"/>
          <p:nvPr/>
        </p:nvSpPr>
        <p:spPr>
          <a:xfrm>
            <a:off x="6325923" y="5810799"/>
            <a:ext cx="34387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median is the middle value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CC585F4-2355-392B-9E1E-5B47162BF9BA}"/>
              </a:ext>
            </a:extLst>
          </p:cNvPr>
          <p:cNvSpPr txBox="1"/>
          <p:nvPr/>
        </p:nvSpPr>
        <p:spPr>
          <a:xfrm>
            <a:off x="1320800" y="314036"/>
            <a:ext cx="800251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Data: 3  3  3  3  3  3  3  4  4  4  4  4  4  4  4  4  4  5  5  5  5  5  5  5  5  5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5  5  5  5  5  5  5  5  5  6  6  6  6  6  6  6  6  6  6  7  7  7  7  7  7  7  7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7  8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8  8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8  8  8  9  9  9  9  9  9  9 10 10 10 10 10 10 10 11 11 11 11 11 12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12 12 12 12 12 12 12 13 13 13 14 14 14 14 14 14 15 15 15 16 16 16 16 17 17 17 18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18 20 20 20 20 20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9E5A262-6BA4-80DC-E617-E503A246A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065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00D816A4-B3F0-B160-DCEC-10AB25333721}"/>
              </a:ext>
            </a:extLst>
          </p:cNvPr>
          <p:cNvSpPr/>
          <p:nvPr/>
        </p:nvSpPr>
        <p:spPr>
          <a:xfrm>
            <a:off x="635000" y="1676400"/>
            <a:ext cx="10922000" cy="7112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84DE6C-08A1-E5FC-FBD2-2A6CFB149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Mean and median treat outliers differently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FE07D2-A170-60BA-CCDC-92189FF4B0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8, 32}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FE07D2-A170-60BA-CCDC-92189FF4B0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C1134-D6F8-B04D-3603-E49C46695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11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2ABA5085-7455-2642-D4BB-C6BC88E4633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1481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B45CB9-38D1-C6A4-DC41-174772C79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502" y="0"/>
            <a:ext cx="10050996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1CA4DA7-DBD9-3674-EC49-E9E914B7F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2284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BCB12-022F-4788-84E1-8A1F30003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The mode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930ED-E752-41BA-164E-704684B9D4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C00000"/>
                </a:solidFill>
              </a:rPr>
              <a:t>mode </a:t>
            </a:r>
            <a:r>
              <a:rPr lang="en-US" dirty="0"/>
              <a:t>is the value with the largest relative frequency (</a:t>
            </a:r>
            <a:r>
              <a:rPr lang="en-US" dirty="0" err="1"/>
              <a:t>i.e</a:t>
            </a:r>
            <a:r>
              <a:rPr lang="en-US" dirty="0"/>
              <a:t> the value that occurs most often)</a:t>
            </a:r>
          </a:p>
          <a:p>
            <a:pPr marL="0" indent="0">
              <a:buNone/>
            </a:pPr>
            <a:endParaRPr lang="en-US" dirty="0"/>
          </a:p>
          <a:p>
            <a:pPr lvl="1">
              <a:buFontTx/>
              <a:buChar char="-"/>
            </a:pPr>
            <a:r>
              <a:rPr lang="en-US" dirty="0"/>
              <a:t>Can be used with categorical data (mean and median cannot) </a:t>
            </a:r>
          </a:p>
          <a:p>
            <a:pPr marL="914400" lvl="2" indent="0">
              <a:buNone/>
            </a:pPr>
            <a:r>
              <a:rPr lang="en-US" dirty="0"/>
              <a:t>- </a:t>
            </a:r>
            <a:r>
              <a:rPr lang="en-US" dirty="0" err="1"/>
              <a:t>e.g</a:t>
            </a:r>
            <a:r>
              <a:rPr lang="en-US" dirty="0"/>
              <a:t> the most </a:t>
            </a:r>
            <a:r>
              <a:rPr lang="en-US"/>
              <a:t>frequent category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>
              <a:buFontTx/>
              <a:buChar char="-"/>
            </a:pPr>
            <a:r>
              <a:rPr lang="en-US" dirty="0"/>
              <a:t>It may not be unique if two or more values have the same frequency</a:t>
            </a:r>
          </a:p>
          <a:p>
            <a:pPr lvl="1">
              <a:buFontTx/>
              <a:buChar char="-"/>
            </a:pPr>
            <a:endParaRPr lang="en-US" dirty="0"/>
          </a:p>
          <a:p>
            <a:pPr lvl="1">
              <a:buFontTx/>
              <a:buChar char="-"/>
            </a:pPr>
            <a:r>
              <a:rPr lang="en-US" b="1" u="sng" dirty="0">
                <a:solidFill>
                  <a:srgbClr val="C00000"/>
                </a:solidFill>
              </a:rPr>
              <a:t>Caution</a:t>
            </a:r>
            <a:r>
              <a:rPr lang="en-US" b="1" dirty="0"/>
              <a:t> </a:t>
            </a:r>
            <a:r>
              <a:rPr lang="en-US" dirty="0"/>
              <a:t>for quantitative data, the mode </a:t>
            </a:r>
            <a:r>
              <a:rPr lang="en-US" u="sng" dirty="0"/>
              <a:t>may not </a:t>
            </a:r>
            <a:r>
              <a:rPr lang="en-US" dirty="0"/>
              <a:t>anywhere near the center of the distribution.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54BF4C3-8199-5A84-CD68-A8AED98D62D4}"/>
              </a:ext>
            </a:extLst>
          </p:cNvPr>
          <p:cNvSpPr txBox="1">
            <a:spLocks/>
          </p:cNvSpPr>
          <p:nvPr/>
        </p:nvSpPr>
        <p:spPr>
          <a:xfrm>
            <a:off x="8026400" y="1690688"/>
            <a:ext cx="388389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Ex.)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= 1,1,4,5,6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= 1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= 1,1,4,5,6,6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  1, 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FC46AD-94DD-AE71-3A19-101CF0E4AD10}"/>
              </a:ext>
            </a:extLst>
          </p:cNvPr>
          <p:cNvSpPr/>
          <p:nvPr/>
        </p:nvSpPr>
        <p:spPr>
          <a:xfrm>
            <a:off x="9097817" y="2253672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6B7EBB-3587-1875-97E0-69C04C310EFE}"/>
              </a:ext>
            </a:extLst>
          </p:cNvPr>
          <p:cNvSpPr/>
          <p:nvPr/>
        </p:nvSpPr>
        <p:spPr>
          <a:xfrm>
            <a:off x="9097817" y="4234874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59EECC-247B-77E7-E610-6554F4673539}"/>
              </a:ext>
            </a:extLst>
          </p:cNvPr>
          <p:cNvSpPr/>
          <p:nvPr/>
        </p:nvSpPr>
        <p:spPr>
          <a:xfrm>
            <a:off x="10169234" y="4242018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79E75AB-A549-02EA-22FF-6A0B8294C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6396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A22F9-922D-909D-3C73-EA3AFAF01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Practice 2: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CC8FCB-1C29-7C52-743C-6204403397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0200" y="1727777"/>
                <a:ext cx="4565073" cy="1841211"/>
              </a:xfrm>
            </p:spPr>
            <p:txBody>
              <a:bodyPr>
                <a:normAutofit fontScale="25000" lnSpcReduction="20000"/>
              </a:bodyPr>
              <a:lstStyle/>
              <a:p>
                <a:pPr marL="0"/>
                <a:r>
                  <a:rPr lang="en-US" sz="9600" dirty="0"/>
                  <a:t>Roll a six-sided die </a:t>
                </a:r>
                <a14:m>
                  <m:oMath xmlns:m="http://schemas.openxmlformats.org/officeDocument/2006/math">
                    <m:r>
                      <a:rPr lang="en-US" sz="9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96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9600" dirty="0"/>
                  <a:t> times and record the number rolled each time</a:t>
                </a:r>
              </a:p>
              <a:p>
                <a:pPr marL="0"/>
                <a:endParaRPr lang="en-US" sz="9600" dirty="0"/>
              </a:p>
              <a:p>
                <a:pPr marL="0"/>
                <a:r>
                  <a:rPr lang="en-US" sz="9600" dirty="0"/>
                  <a:t>Data = 1,2,3,3,4,4,4,5,6,6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CC8FCB-1C29-7C52-743C-6204403397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200" y="1727777"/>
                <a:ext cx="4565073" cy="1841211"/>
              </a:xfrm>
              <a:blipFill>
                <a:blip r:embed="rId2"/>
                <a:stretch>
                  <a:fillRect l="-2003" t="-7616" r="-20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142727-FE0E-B241-4F4A-6EE854E438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09" y="3568988"/>
            <a:ext cx="4212438" cy="3147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700DEC-0BFD-362F-79B5-AB575314C21F}"/>
              </a:ext>
            </a:extLst>
          </p:cNvPr>
          <p:cNvSpPr txBox="1"/>
          <p:nvPr/>
        </p:nvSpPr>
        <p:spPr>
          <a:xfrm>
            <a:off x="6363855" y="1727200"/>
            <a:ext cx="3819059" cy="14003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mean</a:t>
            </a:r>
            <a:r>
              <a:rPr kumimoji="0" 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using all 3 equations: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AB8DB7E-A628-DBDD-A692-1EBB10B2F294}"/>
              </a:ext>
            </a:extLst>
          </p:cNvPr>
          <p:cNvSpPr/>
          <p:nvPr/>
        </p:nvSpPr>
        <p:spPr>
          <a:xfrm>
            <a:off x="5969000" y="3124200"/>
            <a:ext cx="5842000" cy="10922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r>
              <a:rPr lang="en-US" sz="1200" b="1">
                <a:solidFill>
                  <a:srgbClr val="000000"/>
                </a:solidFill>
              </a:rPr>
              <a:t>Mean, three ways:</a:t>
            </a:r>
          </a:p>
          <a:p>
            <a:r>
              <a:rPr lang="en-US" sz="1200">
                <a:solidFill>
                  <a:srgbClr val="000000"/>
                </a:solidFill>
              </a:rPr>
              <a:t>  Σ x / n  =  38 / 10  </a:t>
            </a:r>
            <a:r>
              <a:rPr lang="en-US" sz="1200" b="1">
                <a:solidFill>
                  <a:srgbClr val="C00000"/>
                </a:solidFill>
              </a:rPr>
              <a:t>=  3.8</a:t>
            </a:r>
          </a:p>
          <a:p>
            <a:r>
              <a:rPr lang="en-US" sz="1200">
                <a:solidFill>
                  <a:srgbClr val="000000"/>
                </a:solidFill>
              </a:rPr>
              <a:t>  (1/n) Σ x· F(x)  =  (1· 1 + 2· 1 + 3· 2 + 4· 3 + 5· 1 + 6· 2) / 10  =  38 / 10  </a:t>
            </a:r>
            <a:r>
              <a:rPr lang="en-US" sz="1200" b="1">
                <a:solidFill>
                  <a:srgbClr val="C00000"/>
                </a:solidFill>
              </a:rPr>
              <a:t>=  3.8</a:t>
            </a:r>
          </a:p>
          <a:p>
            <a:r>
              <a:rPr lang="en-US" sz="1200">
                <a:solidFill>
                  <a:srgbClr val="000000"/>
                </a:solidFill>
              </a:rPr>
              <a:t>  Σ x· RF(x)  =  1(.1) + 2(.1) + 3(.2) + 4(.3) + 5(.1) + 6(.2)  </a:t>
            </a:r>
            <a:r>
              <a:rPr lang="en-US" sz="1200" b="1">
                <a:solidFill>
                  <a:srgbClr val="C00000"/>
                </a:solidFill>
              </a:rPr>
              <a:t>=  3.8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2CA2118-A966-BB27-8331-0E54805E2F59}"/>
              </a:ext>
            </a:extLst>
          </p:cNvPr>
          <p:cNvSpPr/>
          <p:nvPr/>
        </p:nvSpPr>
        <p:spPr>
          <a:xfrm>
            <a:off x="5969000" y="4318000"/>
            <a:ext cx="5842000" cy="7874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r>
              <a:rPr lang="en-US" sz="1200" b="1">
                <a:solidFill>
                  <a:srgbClr val="000000"/>
                </a:solidFill>
              </a:rPr>
              <a:t>Median:</a:t>
            </a:r>
          </a:p>
          <a:p>
            <a:r>
              <a:rPr lang="en-US" sz="1200">
                <a:solidFill>
                  <a:srgbClr val="000000"/>
                </a:solidFill>
              </a:rPr>
              <a:t>  ordered  1 2 3 3 4 4 4 5 6 6</a:t>
            </a:r>
          </a:p>
          <a:p>
            <a:r>
              <a:rPr lang="en-US" sz="1200">
                <a:solidFill>
                  <a:srgbClr val="000000"/>
                </a:solidFill>
              </a:rPr>
              <a:t>  n is even, so median = (4 + 4) / 2 </a:t>
            </a:r>
            <a:r>
              <a:rPr lang="en-US" sz="1200" b="1">
                <a:solidFill>
                  <a:srgbClr val="C00000"/>
                </a:solidFill>
              </a:rPr>
              <a:t>= 4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F93389C-6502-BFBB-60C7-E80672F9A6EF}"/>
              </a:ext>
            </a:extLst>
          </p:cNvPr>
          <p:cNvSpPr/>
          <p:nvPr/>
        </p:nvSpPr>
        <p:spPr>
          <a:xfrm>
            <a:off x="5969000" y="5207000"/>
            <a:ext cx="5842000" cy="6858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50800" rIns="101600" bIns="50800" rtlCol="0" anchor="ctr"/>
          <a:lstStyle/>
          <a:p>
            <a:r>
              <a:rPr lang="en-US" sz="1200" b="1">
                <a:solidFill>
                  <a:srgbClr val="000000"/>
                </a:solidFill>
              </a:rPr>
              <a:t>Mode:</a:t>
            </a:r>
          </a:p>
          <a:p>
            <a:r>
              <a:rPr lang="en-US" sz="1200">
                <a:solidFill>
                  <a:srgbClr val="000000"/>
                </a:solidFill>
              </a:rPr>
              <a:t>  4 appears three times, more than any other value → mode </a:t>
            </a:r>
            <a:r>
              <a:rPr lang="en-US" sz="1200" b="1">
                <a:solidFill>
                  <a:srgbClr val="C00000"/>
                </a:solidFill>
              </a:rPr>
              <a:t>= 4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CFAB61-889A-B303-F401-6368885AB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156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312522C8-F82C-F1B1-661D-A84147B7BF4A}"/>
              </a:ext>
            </a:extLst>
          </p:cNvPr>
          <p:cNvSpPr/>
          <p:nvPr/>
        </p:nvSpPr>
        <p:spPr>
          <a:xfrm>
            <a:off x="635000" y="1676400"/>
            <a:ext cx="10922000" cy="4406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EE2D53-5E66-79ED-A761-B6AB23ADD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Measures of Location: Quartiles and Percentiles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𝒕𝒉</m:t>
                        </m:r>
                      </m:sup>
                    </m:sSup>
                  </m:oMath>
                </a14:m>
                <a:r>
                  <a:rPr lang="en-US" b="1" dirty="0">
                    <a:solidFill>
                      <a:srgbClr val="C00000"/>
                    </a:solidFill>
                  </a:rPr>
                  <a:t> percentile </a:t>
                </a:r>
                <a:r>
                  <a:rPr lang="en-US" dirty="0"/>
                  <a:t>is a value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percent of the observations in a sample or population fall </a:t>
                </a:r>
                <a:r>
                  <a:rPr lang="en-US" u="sng" dirty="0"/>
                  <a:t>at or below </a:t>
                </a:r>
                <a:r>
                  <a:rPr lang="en-US" dirty="0"/>
                  <a:t>that value</a:t>
                </a:r>
              </a:p>
              <a:p>
                <a:endParaRPr lang="en-US" dirty="0"/>
              </a:p>
              <a:p>
                <a:r>
                  <a:rPr lang="en-US" dirty="0"/>
                  <a:t>Ex. The 50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is of any dataset is the median </a:t>
                </a:r>
              </a:p>
              <a:p>
                <a:endParaRPr lang="en-US" dirty="0"/>
              </a:p>
              <a:p>
                <a:r>
                  <a:rPr lang="en-US" dirty="0"/>
                  <a:t>Three useful percentiles of a distribution are the </a:t>
                </a:r>
                <a:r>
                  <a:rPr lang="en-US" b="1" dirty="0">
                    <a:solidFill>
                      <a:srgbClr val="C00000"/>
                    </a:solidFill>
                  </a:rPr>
                  <a:t>quartiles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first </a:t>
                </a:r>
                <a:r>
                  <a:rPr lang="en-US" b="1" dirty="0">
                    <a:solidFill>
                      <a:srgbClr val="C00000"/>
                    </a:solidFill>
                  </a:rPr>
                  <a:t>quartile Q1</a:t>
                </a:r>
                <a:r>
                  <a:rPr lang="en-US" dirty="0"/>
                  <a:t> is the 25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of the data.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second </a:t>
                </a:r>
                <a:r>
                  <a:rPr lang="en-US" b="1" dirty="0">
                    <a:solidFill>
                      <a:srgbClr val="C00000"/>
                    </a:solidFill>
                  </a:rPr>
                  <a:t>quartile Q2</a:t>
                </a:r>
                <a:r>
                  <a:rPr lang="en-US" dirty="0"/>
                  <a:t> is the 50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or median of the data.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third </a:t>
                </a:r>
                <a:r>
                  <a:rPr lang="en-US" b="1" dirty="0">
                    <a:solidFill>
                      <a:srgbClr val="C00000"/>
                    </a:solidFill>
                  </a:rPr>
                  <a:t>quartile Q3</a:t>
                </a:r>
                <a:r>
                  <a:rPr lang="en-US" dirty="0"/>
                  <a:t> is the 75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of the data.</a:t>
                </a:r>
                <a:r>
                  <a:rPr lang="en-US" b="1" dirty="0"/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b="1" dirty="0"/>
              </a:p>
              <a:p>
                <a:r>
                  <a:rPr lang="en-US" dirty="0"/>
                  <a:t>The quartiles split a distribution in four equal parts each containing 25% of the observations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361" r="-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89C34-90E0-B6D3-9341-EE353FF1A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15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ED9EF298-909D-5D9D-52F8-8B793436934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3845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E2D53-5E66-79ED-A761-B6AB23ADD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79500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1F3864"/>
                </a:solidFill>
              </a:rPr>
              <a:t>Measures of Position: Quartiles and Percentiles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5FE47C-18E2-0DCE-12A0-928F930B5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834" y="1732917"/>
            <a:ext cx="10974332" cy="45345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99FA9F0-7125-2ED8-956F-615EE6E8610C}"/>
              </a:ext>
            </a:extLst>
          </p:cNvPr>
          <p:cNvSpPr txBox="1"/>
          <p:nvPr/>
        </p:nvSpPr>
        <p:spPr>
          <a:xfrm>
            <a:off x="3867150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CD8DD7-4F83-EF03-FCC3-5F401F96D765}"/>
              </a:ext>
            </a:extLst>
          </p:cNvPr>
          <p:cNvSpPr txBox="1"/>
          <p:nvPr/>
        </p:nvSpPr>
        <p:spPr>
          <a:xfrm>
            <a:off x="5191125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25BD45-E96F-BA6B-FF4F-BA5BCB352326}"/>
              </a:ext>
            </a:extLst>
          </p:cNvPr>
          <p:cNvSpPr txBox="1"/>
          <p:nvPr/>
        </p:nvSpPr>
        <p:spPr>
          <a:xfrm>
            <a:off x="6436075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039AF1-32EB-CF28-66BC-B3F83BAB9A0E}"/>
              </a:ext>
            </a:extLst>
          </p:cNvPr>
          <p:cNvSpPr txBox="1"/>
          <p:nvPr/>
        </p:nvSpPr>
        <p:spPr>
          <a:xfrm>
            <a:off x="7681025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A4B9C-0B38-BC45-00E4-EDED0FFBFB44}"/>
              </a:ext>
            </a:extLst>
          </p:cNvPr>
          <p:cNvSpPr txBox="1"/>
          <p:nvPr/>
        </p:nvSpPr>
        <p:spPr>
          <a:xfrm>
            <a:off x="4567380" y="1415930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21B3ED-6831-A631-657F-5DD8040E33E4}"/>
              </a:ext>
            </a:extLst>
          </p:cNvPr>
          <p:cNvSpPr txBox="1"/>
          <p:nvPr/>
        </p:nvSpPr>
        <p:spPr>
          <a:xfrm>
            <a:off x="5782452" y="1415930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50%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F380B1-34E1-E77D-6F4D-B006308A41D2}"/>
              </a:ext>
            </a:extLst>
          </p:cNvPr>
          <p:cNvSpPr txBox="1"/>
          <p:nvPr/>
        </p:nvSpPr>
        <p:spPr>
          <a:xfrm>
            <a:off x="6924675" y="1415930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75%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EBD2C6-0E7D-E81F-6787-780ACE6CD50C}"/>
              </a:ext>
            </a:extLst>
          </p:cNvPr>
          <p:cNvSpPr txBox="1"/>
          <p:nvPr/>
        </p:nvSpPr>
        <p:spPr>
          <a:xfrm>
            <a:off x="5643791" y="1159908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64F246-5AC2-C460-5DB1-D0754A925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7406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44A9729B-13C9-6E88-5FC7-D2B3D011B4A5}"/>
              </a:ext>
            </a:extLst>
          </p:cNvPr>
          <p:cNvSpPr/>
          <p:nvPr/>
        </p:nvSpPr>
        <p:spPr>
          <a:xfrm>
            <a:off x="635000" y="1676400"/>
            <a:ext cx="10922000" cy="3733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EE2D53-5E66-79ED-A761-B6AB23ADD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Computing the Quartiles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How to compute the quartiles: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Arrange the data in increasing order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Find the median and label as </a:t>
                </a:r>
                <a:r>
                  <a:rPr lang="en-US" b="1" dirty="0">
                    <a:solidFill>
                      <a:srgbClr val="C00000"/>
                    </a:solidFill>
                  </a:rPr>
                  <a:t>Q2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Consider the </a:t>
                </a:r>
                <a:r>
                  <a:rPr lang="en-US" u="sng" dirty="0"/>
                  <a:t>lower half </a:t>
                </a:r>
                <a:r>
                  <a:rPr lang="en-US" dirty="0"/>
                  <a:t>of the observations (excluding the median itself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an odd number).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Mark the median for the </a:t>
                </a:r>
                <a:r>
                  <a:rPr lang="en-US" u="sng" dirty="0"/>
                  <a:t>lower half</a:t>
                </a:r>
                <a:r>
                  <a:rPr lang="en-US" dirty="0"/>
                  <a:t> of the observations and label as </a:t>
                </a:r>
                <a:r>
                  <a:rPr lang="en-US" b="1" dirty="0">
                    <a:solidFill>
                      <a:srgbClr val="C00000"/>
                    </a:solidFill>
                  </a:rPr>
                  <a:t>Q1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Consider the </a:t>
                </a:r>
                <a:r>
                  <a:rPr lang="en-US" u="sng" dirty="0"/>
                  <a:t>upper half</a:t>
                </a:r>
                <a:r>
                  <a:rPr lang="en-US" b="1" u="sng" dirty="0"/>
                  <a:t> </a:t>
                </a:r>
                <a:r>
                  <a:rPr lang="en-US" dirty="0"/>
                  <a:t>of the observations (again excluding the median itself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odd)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Mark the median for the </a:t>
                </a:r>
                <a:r>
                  <a:rPr lang="en-US" u="sng" dirty="0"/>
                  <a:t>upper half</a:t>
                </a:r>
                <a:r>
                  <a:rPr lang="en-US" dirty="0"/>
                  <a:t> of the observations and label as </a:t>
                </a:r>
                <a:r>
                  <a:rPr lang="en-US" b="1" dirty="0">
                    <a:solidFill>
                      <a:srgbClr val="C00000"/>
                    </a:solidFill>
                  </a:rPr>
                  <a:t>Q3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B8A3C-62AA-1C35-C849-13F4C208F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17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ADB5BFF9-1BCC-26C3-331E-415A99490D0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1976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Consider the following data which come from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𝑛</m:t>
                    </m:r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20 rolls of a six-sided die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lower half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middle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upper half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Data = 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1, 1, 1, 2, </a:t>
                </a:r>
                <a:r>
                  <a:rPr kumimoji="0" 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2, 2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2, 2, 2, </a:t>
                </a:r>
                <a:r>
                  <a:rPr kumimoji="0" 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2, 3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3, 3, 3, </a:t>
                </a:r>
                <a:r>
                  <a:rPr kumimoji="0" 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4, 5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5, 6, 6, 6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Q2 = median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2+3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=2.5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Q1 = median lower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2+2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=2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Q3 = median upper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4+5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  <a:blipFill>
                <a:blip r:embed="rId2"/>
                <a:stretch>
                  <a:fillRect l="-8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61818"/>
            <a:ext cx="4783697" cy="106752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rgbClr val="1F3864"/>
                </a:solidFill>
                <a:latin typeface="+mj-lt"/>
                <a:ea typeface="+mj-ea"/>
                <a:cs typeface="+mj-cs"/>
              </a:rPr>
              <a:t>Ex. </a:t>
            </a:r>
            <a:r>
              <a:rPr lang="en-US" sz="4000" dirty="0">
                <a:solidFill>
                  <a:srgbClr val="1F3864"/>
                </a:solidFill>
              </a:rPr>
              <a:t>Quartiles</a:t>
            </a:r>
            <a:endParaRPr lang="en-US" sz="4000" kern="1200" dirty="0">
              <a:solidFill>
                <a:srgbClr val="1F3864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A83090-59E8-EFFB-3135-1672E48B6474}"/>
              </a:ext>
            </a:extLst>
          </p:cNvPr>
          <p:cNvSpPr/>
          <p:nvPr/>
        </p:nvSpPr>
        <p:spPr>
          <a:xfrm>
            <a:off x="1939636" y="3066473"/>
            <a:ext cx="3519055" cy="48029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A39C5B-257E-372D-3412-85E2D621D863}"/>
              </a:ext>
            </a:extLst>
          </p:cNvPr>
          <p:cNvSpPr/>
          <p:nvPr/>
        </p:nvSpPr>
        <p:spPr>
          <a:xfrm>
            <a:off x="5458691" y="3066473"/>
            <a:ext cx="3519055" cy="48029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DC5D79-F5C2-F6DE-CEB4-6150C85D6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5030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DEF69-32E0-75BE-12DF-06323FC38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Quartiles from the cumulative relative frequency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C3EB1C-6CB9-BA32-AEB6-4F2CEDBBD1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778000"/>
            <a:ext cx="5334000" cy="4191000"/>
          </a:xfrm>
        </p:spPr>
        <p:txBody>
          <a:bodyPr>
            <a:normAutofit/>
          </a:bodyPr>
          <a:lstStyle/>
          <a:p>
            <a:r>
              <a:rPr lang="en-US" sz="1500"/>
              <a:t>The crf column says what fraction of the data falls at or below each value</a:t>
            </a:r>
          </a:p>
          <a:p>
            <a:r>
              <a:rPr lang="en-US" sz="1500"/>
              <a:t>So the percentiles can be read straight off the table</a:t>
            </a:r>
          </a:p>
          <a:p>
            <a:pPr lvl="1"/>
            <a:r>
              <a:rPr lang="en-US" sz="1500"/>
              <a:t>the pth percentile is the first value whose crf reaches p/100</a:t>
            </a:r>
          </a:p>
          <a:p>
            <a:r>
              <a:rPr lang="en-US" sz="1500"/>
              <a:t>Q1: first crf at or above 0.25   gives x = 3</a:t>
            </a:r>
          </a:p>
          <a:p>
            <a:r>
              <a:rPr lang="en-US" sz="1500"/>
              <a:t>Q2: first crf at or above 0.50   gives x = 4</a:t>
            </a:r>
          </a:p>
          <a:p>
            <a:r>
              <a:rPr lang="en-US" sz="1500"/>
              <a:t>Q3: first crf at or above 0.75   gives x = 5</a:t>
            </a:r>
          </a:p>
          <a:p>
            <a:r>
              <a:rPr lang="en-US" sz="1500"/>
              <a:t>The same Q1, Q2 and Q3 the halving method gave us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24F549-AAD8-5F9A-5ACE-6D53AA8606D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905000"/>
            <a:ext cx="5511800" cy="304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AD81BF8-8E96-4D07-03B3-A9FAD528F326}"/>
              </a:ext>
            </a:extLst>
          </p:cNvPr>
          <p:cNvSpPr txBox="1"/>
          <p:nvPr/>
        </p:nvSpPr>
        <p:spPr>
          <a:xfrm>
            <a:off x="6172200" y="5130800"/>
            <a:ext cx="55118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 i="1"/>
              <a:t>One caution: when a crf lands exactly on 0.25, 0.50 or 0.75, the two methods can differ by one step. Keep using the halving method as the definition; read the table to check yourself.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F11F6-54C5-E223-975D-74844E3B1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19</a:t>
            </a:fld>
            <a:endParaRPr lang="en-US"/>
          </a:p>
        </p:txBody>
      </p:sp>
      <p:sp>
        <p:nvSpPr>
          <p:cNvPr id="7" name="Title rule">
            <a:extLst>
              <a:ext uri="{FF2B5EF4-FFF2-40B4-BE49-F238E27FC236}">
                <a16:creationId xmlns:a16="http://schemas.microsoft.com/office/drawing/2014/main" id="{9A16F97E-3607-2F14-5FD3-965BB54FB2CF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1835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4A9B47AF-A64F-D46D-799F-562257440635}"/>
              </a:ext>
            </a:extLst>
          </p:cNvPr>
          <p:cNvSpPr/>
          <p:nvPr/>
        </p:nvSpPr>
        <p:spPr>
          <a:xfrm>
            <a:off x="635000" y="1676400"/>
            <a:ext cx="10922000" cy="3263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89C3C6-C810-835B-54A4-E5A4037C1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Practice: Quartiles from Exam Scores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FDE7D-C54C-9F70-498E-F05F62BAA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 the following 15 exam scores of students in a statistics course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61,61,65,65,66,68,69,73,74,75,76,78,79,90,94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Compute the 3 quartiles Q1, Q2, and Q3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E19E6-64D1-F26C-FB1D-51B158B9B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20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2EB0C8EA-315D-031B-189D-F018E26D8B7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4588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6764E-1650-762B-5308-1049092EA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Variability of A Distribution: Measures of Spread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F4481B-DAA2-3B91-063C-978376309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689" y="1771748"/>
            <a:ext cx="8783276" cy="481079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38AD11-2CC4-2AB6-9CE5-DCCB89DAA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04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2D83D08-E688-A516-345A-2BA8AFF85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23" y="3687010"/>
            <a:ext cx="5685913" cy="317099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83EFD-680B-07F4-94B1-411EFE5D3C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834" y="1825625"/>
            <a:ext cx="5257800" cy="466725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C00000"/>
                </a:solidFill>
              </a:rPr>
              <a:t>range</a:t>
            </a:r>
            <a:r>
              <a:rPr lang="en-US" dirty="0"/>
              <a:t> is a measure of the distance between the smallest and largest values in the data</a:t>
            </a:r>
          </a:p>
          <a:p>
            <a:endParaRPr lang="en-US" dirty="0"/>
          </a:p>
          <a:p>
            <a:pPr marL="457200" lvl="1" indent="0">
              <a:buNone/>
            </a:pPr>
            <a:r>
              <a:rPr lang="en-US" dirty="0"/>
              <a:t>The range can be computed with only two data points the minimum value and maximum value</a:t>
            </a:r>
          </a:p>
          <a:p>
            <a:endParaRPr lang="en-US" dirty="0"/>
          </a:p>
          <a:p>
            <a:r>
              <a:rPr lang="en-US" dirty="0"/>
              <a:t>If the range of a set of data is large, then usually this indicates greater dispersion of values</a:t>
            </a:r>
          </a:p>
          <a:p>
            <a:endParaRPr lang="en-US" dirty="0"/>
          </a:p>
          <a:p>
            <a:r>
              <a:rPr lang="en-US" dirty="0"/>
              <a:t>The range is </a:t>
            </a:r>
            <a:r>
              <a:rPr lang="en-US" u="sng" dirty="0"/>
              <a:t>severely</a:t>
            </a:r>
            <a:r>
              <a:rPr lang="en-US" dirty="0"/>
              <a:t> affected by the presence of outliers</a:t>
            </a:r>
          </a:p>
          <a:p>
            <a:endParaRPr lang="en-US" dirty="0"/>
          </a:p>
          <a:p>
            <a:r>
              <a:rPr lang="en-US" dirty="0"/>
              <a:t>We typically </a:t>
            </a:r>
            <a:r>
              <a:rPr lang="en-US" u="sng" dirty="0"/>
              <a:t>do not</a:t>
            </a:r>
            <a:r>
              <a:rPr lang="en-US" dirty="0"/>
              <a:t> use the range to measure variability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C44C54-000D-E381-2205-131B79AD8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24" y="942974"/>
            <a:ext cx="5466842" cy="31388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084E88-7278-810D-D713-71E32243F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Measures of Spread: Range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203966-5407-94DA-479C-BB9A9F8F2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5988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BE8495F7-FD8E-CE47-6FF5-9B67FDC5FFCF}"/>
              </a:ext>
            </a:extLst>
          </p:cNvPr>
          <p:cNvSpPr/>
          <p:nvPr/>
        </p:nvSpPr>
        <p:spPr>
          <a:xfrm>
            <a:off x="635000" y="1676400"/>
            <a:ext cx="10922000" cy="4749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6D6BCC-CAB3-F735-AC9E-6A7940310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>
                <a:solidFill>
                  <a:srgbClr val="1F3864"/>
                </a:solidFill>
              </a:rPr>
              <a:t>Measures of Spread: Interquartile Range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8E8586-DD23-94D2-D323-FAF1EE2B0E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>
                    <a:solidFill>
                      <a:srgbClr val="C00000"/>
                    </a:solidFill>
                  </a:rPr>
                  <a:t>interquartile range (IQR)</a:t>
                </a:r>
                <a:r>
                  <a:rPr lang="en-US" dirty="0"/>
                  <a:t> measures the spread of the middle 50% of the observations </a:t>
                </a:r>
              </a:p>
              <a:p>
                <a:endParaRPr lang="en-US" dirty="0"/>
              </a:p>
              <a:p>
                <a:r>
                  <a:rPr lang="en-US" dirty="0"/>
                  <a:t>It is resistant to outliers</a:t>
                </a:r>
              </a:p>
              <a:p>
                <a:pPr marL="0" indent="0" algn="ctr">
                  <a:buNone/>
                </a:pPr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𝑰𝑸𝑹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sz="2400" b="1" dirty="0"/>
              </a:p>
              <a:p>
                <a:pPr marL="0" indent="0" algn="ctr">
                  <a:buNone/>
                </a:pPr>
                <a:endParaRPr lang="en-US" sz="2400" b="1" dirty="0"/>
              </a:p>
              <a:p>
                <a:r>
                  <a:rPr lang="en-US" sz="2400" dirty="0"/>
                  <a:t>The more variability the larger the value of the 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IQR</a:t>
                </a:r>
                <a:r>
                  <a:rPr lang="en-US" sz="2400" dirty="0"/>
                  <a:t> </a:t>
                </a:r>
              </a:p>
              <a:p>
                <a:endParaRPr lang="en-US" sz="2400" dirty="0"/>
              </a:p>
              <a:p>
                <a:r>
                  <a:rPr lang="en-US" sz="2400" b="1" dirty="0">
                    <a:solidFill>
                      <a:srgbClr val="C00000"/>
                    </a:solidFill>
                  </a:rPr>
                  <a:t>IQR </a:t>
                </a:r>
                <a:r>
                  <a:rPr lang="en-US" sz="2400" dirty="0"/>
                  <a:t>is a good choice for distributions that are highly skewed!</a:t>
                </a:r>
                <a:endParaRPr lang="en-US" sz="2400" b="1" dirty="0"/>
              </a:p>
              <a:p>
                <a:pPr marL="0" indent="0" algn="ctr">
                  <a:buNone/>
                </a:pPr>
                <a:endParaRPr lang="en-US" sz="2400" b="1" dirty="0"/>
              </a:p>
              <a:p>
                <a:endParaRPr lang="en-US" sz="2400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8E8586-DD23-94D2-D323-FAF1EE2B0E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r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8AED4B-7D0B-B025-EFFA-10727BEB6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23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6C59B7F6-6EC8-75C4-2EBA-7F43BFA74F9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7710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02C0B440-F91E-6F7A-3DFC-2793BD9D70C0}"/>
              </a:ext>
            </a:extLst>
          </p:cNvPr>
          <p:cNvSpPr/>
          <p:nvPr/>
        </p:nvSpPr>
        <p:spPr>
          <a:xfrm>
            <a:off x="635000" y="1676400"/>
            <a:ext cx="10922000" cy="1739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EA510B-84BA-0986-946A-7635FB295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Practice: Finding quartiles and IQR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B3D4BA-5F56-129C-FF6C-FCDB24448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Exam Scores 61,61,65,65,66,68,69,73,74,75,76,78,79,90,94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Compute the IQR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B69AC6-F494-838D-32D6-9D4046F5E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24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5E310728-7EBB-3282-A6DF-A2124C2A2A9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0978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AA028-A7CA-27E1-ACC7-31804B9B3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1F3864"/>
                </a:solidFill>
              </a:rPr>
              <a:t>The Boxplot (Box and Whisker Plot): A five number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0CDBC-1066-FD3E-EAC4-1CD68D780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763"/>
            <a:ext cx="4448175" cy="4662199"/>
          </a:xfrm>
        </p:spPr>
        <p:txBody>
          <a:bodyPr>
            <a:normAutofit fontScale="92500"/>
          </a:bodyPr>
          <a:lstStyle/>
          <a:p>
            <a:r>
              <a:rPr lang="en-US" dirty="0"/>
              <a:t> Pros: </a:t>
            </a:r>
          </a:p>
          <a:p>
            <a:pPr lvl="1"/>
            <a:r>
              <a:rPr lang="en-US" dirty="0"/>
              <a:t>good for describing shape and location</a:t>
            </a:r>
          </a:p>
          <a:p>
            <a:pPr lvl="1"/>
            <a:r>
              <a:rPr lang="en-US" dirty="0"/>
              <a:t>Can be used to identify outliers</a:t>
            </a:r>
          </a:p>
          <a:p>
            <a:pPr lvl="1"/>
            <a:r>
              <a:rPr lang="en-US" dirty="0"/>
              <a:t>Length of whiskers indicates skew</a:t>
            </a:r>
          </a:p>
          <a:p>
            <a:pPr lvl="1"/>
            <a:r>
              <a:rPr lang="en-US" dirty="0"/>
              <a:t>Good for comparing two distributions or across categories</a:t>
            </a:r>
          </a:p>
          <a:p>
            <a:r>
              <a:rPr lang="en-US" dirty="0"/>
              <a:t>Cons: </a:t>
            </a:r>
          </a:p>
          <a:p>
            <a:pPr lvl="1"/>
            <a:r>
              <a:rPr lang="en-US" dirty="0"/>
              <a:t>does not show certain features like mounds, or gaps as well as a histogram</a:t>
            </a:r>
          </a:p>
        </p:txBody>
      </p:sp>
      <p:pic>
        <p:nvPicPr>
          <p:cNvPr id="5" name="Picture 4" descr="A diagram of a box plot&#10;&#10;Description automatically generated">
            <a:extLst>
              <a:ext uri="{FF2B5EF4-FFF2-40B4-BE49-F238E27FC236}">
                <a16:creationId xmlns:a16="http://schemas.microsoft.com/office/drawing/2014/main" id="{018FD8B2-9B43-319A-0198-F033315EAD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451619" y="2368404"/>
            <a:ext cx="6657975" cy="366712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735FB2-D8B7-AAF8-DAEA-A410B5774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4010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56E2CDD-0BF2-1E07-E65C-54C10EEB8C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454" y="0"/>
            <a:ext cx="9149091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2A178C-85BE-9C3D-8880-ADF68CEC9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0219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Consider the following data which come from 20 rolls of a six-sided die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lower half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middle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upper half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Data = 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1, 1, 1, 2, </a:t>
                </a:r>
                <a:r>
                  <a:rPr kumimoji="0" 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2, 2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2, 2, 2, </a:t>
                </a:r>
                <a:r>
                  <a:rPr kumimoji="0" 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2, 3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3, 3, 3, </a:t>
                </a:r>
                <a:r>
                  <a:rPr kumimoji="0" 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4, 5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5, 6, 6, 6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lang="en-US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lang="en-US" sz="2400" dirty="0">
                    <a:solidFill>
                      <a:srgbClr val="00B050"/>
                    </a:solidFill>
                    <a:latin typeface="Calibri" panose="020F0502020204030204"/>
                  </a:rPr>
                  <a:t>Q2 = median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2+3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=2.5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</a:rPr>
                  <a:t>Q1 = median lower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2+2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Q3 = median upper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4+5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  <a:blipFill>
                <a:blip r:embed="rId2"/>
                <a:stretch>
                  <a:fillRect l="-8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61818"/>
            <a:ext cx="4783697" cy="1067529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000" kern="1200" dirty="0">
                <a:solidFill>
                  <a:srgbClr val="1F3864"/>
                </a:solidFill>
                <a:latin typeface="+mj-lt"/>
                <a:ea typeface="+mj-ea"/>
                <a:cs typeface="+mj-cs"/>
              </a:rPr>
              <a:t>Ex. </a:t>
            </a:r>
            <a:r>
              <a:rPr lang="en-US" sz="4000" dirty="0">
                <a:solidFill>
                  <a:srgbClr val="1F3864"/>
                </a:solidFill>
              </a:rPr>
              <a:t>Construct a Boxplot</a:t>
            </a:r>
            <a:endParaRPr lang="en-US" sz="4000" kern="1200" dirty="0">
              <a:solidFill>
                <a:srgbClr val="1F3864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A83090-59E8-EFFB-3135-1672E48B6474}"/>
              </a:ext>
            </a:extLst>
          </p:cNvPr>
          <p:cNvSpPr/>
          <p:nvPr/>
        </p:nvSpPr>
        <p:spPr>
          <a:xfrm>
            <a:off x="1939636" y="3066473"/>
            <a:ext cx="3519055" cy="48029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A39C5B-257E-372D-3412-85E2D621D863}"/>
              </a:ext>
            </a:extLst>
          </p:cNvPr>
          <p:cNvSpPr/>
          <p:nvPr/>
        </p:nvSpPr>
        <p:spPr>
          <a:xfrm>
            <a:off x="5458691" y="3066473"/>
            <a:ext cx="3519055" cy="48029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6C7B98-5A0C-A4DC-7715-7487860F3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6189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CB4BA65E-42BC-C3E0-8EF0-D373FC1C12C5}"/>
              </a:ext>
            </a:extLst>
          </p:cNvPr>
          <p:cNvSpPr/>
          <p:nvPr/>
        </p:nvSpPr>
        <p:spPr>
          <a:xfrm>
            <a:off x="635000" y="1676400"/>
            <a:ext cx="10922000" cy="2247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CDEDB4-D308-EF0A-43A7-3BA893E1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Practice: Construct a Boxplot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843BF-7D1D-9153-A164-BE2AA5E36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Construct the boxplot for student exam scores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Exam Scores 61,61,65,65,66,68,69,73,74,75,76,78,79,90,94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54BA3-3EE4-E355-6CEC-1440F7097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28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3C8EF96B-2D5B-6F64-9249-6A4C511401A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1097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CC926376-94AB-9179-7369-7C7C6CDBBBFE}"/>
              </a:ext>
            </a:extLst>
          </p:cNvPr>
          <p:cNvSpPr/>
          <p:nvPr/>
        </p:nvSpPr>
        <p:spPr>
          <a:xfrm>
            <a:off x="635000" y="1676400"/>
            <a:ext cx="10922000" cy="3263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6B69AC-9E45-9EA9-B899-B3797D5B7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kern="1200" dirty="0">
                <a:solidFill>
                  <a:srgbClr val="1F3864"/>
                </a:solidFill>
                <a:latin typeface="+mj-lt"/>
                <a:ea typeface="+mj-ea"/>
                <a:cs typeface="+mj-cs"/>
              </a:rPr>
              <a:t>Ex2. </a:t>
            </a:r>
            <a:r>
              <a:rPr lang="en-US" sz="4400" dirty="0">
                <a:solidFill>
                  <a:srgbClr val="1F3864"/>
                </a:solidFill>
              </a:rPr>
              <a:t>Construct a Boxplot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9D6F1-D1E4-EA2F-1694-74768E613E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 the following 12 observations of a quantitative variable X</a:t>
            </a:r>
          </a:p>
          <a:p>
            <a:pPr marL="0" indent="0">
              <a:buNone/>
            </a:pPr>
            <a:r>
              <a:rPr lang="en-US" dirty="0"/>
              <a:t>X = { -5.7, -2.6, -1.5, -1.3, -0.4, 0.2, 1.5, 2.2, 2.3, 2.6, 2.9, 10.4 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Compute the 5 number summary and draw a boxplot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Compare the IQR with the range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126FC2-D9C8-EF57-1C53-B6A7F0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29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3CE34886-97D6-4A80-E40A-362CCC47BE2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3544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2BAC071F-BA2C-5E2E-0CAD-1A176EFD288F}"/>
              </a:ext>
            </a:extLst>
          </p:cNvPr>
          <p:cNvSpPr/>
          <p:nvPr/>
        </p:nvSpPr>
        <p:spPr>
          <a:xfrm>
            <a:off x="635000" y="1676400"/>
            <a:ext cx="10922000" cy="4749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74CF04-6A9A-C024-DDD4-4EA11F99D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F3864"/>
                </a:solidFill>
              </a:rPr>
              <a:t>Measures of Spread: Deviation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F7291A-45D9-8440-5889-A0D10595CB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26795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 better measure of variability that uses </a:t>
                </a:r>
                <a:r>
                  <a:rPr lang="en-US" i="1" dirty="0"/>
                  <a:t>all</a:t>
                </a:r>
                <a:r>
                  <a:rPr lang="en-US" dirty="0"/>
                  <a:t> the data is based on </a:t>
                </a:r>
                <a:r>
                  <a:rPr lang="en-US" b="1" dirty="0">
                    <a:solidFill>
                      <a:srgbClr val="C00000"/>
                    </a:solidFill>
                  </a:rPr>
                  <a:t>deviations</a:t>
                </a:r>
                <a:endParaRPr lang="en-US" dirty="0">
                  <a:solidFill>
                    <a:srgbClr val="C00000"/>
                  </a:solidFill>
                </a:endParaRPr>
              </a:p>
              <a:p>
                <a:endParaRPr lang="en-US" dirty="0"/>
              </a:p>
              <a:p>
                <a:r>
                  <a:rPr lang="en-US" b="1" dirty="0">
                    <a:solidFill>
                      <a:srgbClr val="C00000"/>
                    </a:solidFill>
                  </a:rPr>
                  <a:t>deviations</a:t>
                </a:r>
                <a:r>
                  <a:rPr lang="en-US" dirty="0"/>
                  <a:t> are the </a:t>
                </a:r>
                <a:r>
                  <a:rPr lang="en-US" u="sng" dirty="0"/>
                  <a:t>distances</a:t>
                </a:r>
                <a:r>
                  <a:rPr lang="en-US" dirty="0"/>
                  <a:t> of each value from the mean of the data:</a:t>
                </a:r>
              </a:p>
              <a:p>
                <a:pPr marL="914400" lvl="2" indent="0">
                  <a:buNone/>
                </a:pPr>
                <a:r>
                  <a:rPr lang="en-US" sz="2400" b="0" dirty="0"/>
                  <a:t>Deviation of an observation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−</m:t>
                    </m:r>
                    <m:acc>
                      <m:accPr>
                        <m:chr m:val="̅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914400" lvl="2" indent="0">
                  <a:buNone/>
                </a:pPr>
                <a:endParaRPr lang="en-US" dirty="0"/>
              </a:p>
              <a:p>
                <a:r>
                  <a:rPr lang="en-US" dirty="0"/>
                  <a:t>Every observation will have a deviation from the mean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F7291A-45D9-8440-5889-A0D10595CB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267950" cy="4351338"/>
              </a:xfrm>
              <a:blipFill>
                <a:blip r:embed="rId2"/>
                <a:stretch>
                  <a:fillRect l="-1069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C464D-2F8C-3618-EE3E-5E66E8861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30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6BA83F57-FB71-D7DE-CCA6-B27182313D0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0281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AD4BAC8-DF07-082E-EBA7-3A6128B34D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748882"/>
            <a:ext cx="10306050" cy="574399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256D99A-7249-27F8-2F8D-EA0FC4B870BA}"/>
              </a:ext>
            </a:extLst>
          </p:cNvPr>
          <p:cNvSpPr txBox="1"/>
          <p:nvPr/>
        </p:nvSpPr>
        <p:spPr>
          <a:xfrm>
            <a:off x="8899976" y="538404"/>
            <a:ext cx="26329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Rice </a:t>
            </a:r>
            <a:r>
              <a:rPr lang="en-US" sz="2000" b="1" dirty="0" err="1">
                <a:solidFill>
                  <a:srgbClr val="0070C0"/>
                </a:solidFill>
              </a:rPr>
              <a:t>Krispes</a:t>
            </a:r>
            <a:r>
              <a:rPr lang="en-US" sz="2000" b="1" dirty="0">
                <a:solidFill>
                  <a:srgbClr val="0070C0"/>
                </a:solidFill>
              </a:rPr>
              <a:t> = 340 (mg)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8554AD-23CC-6BD4-2F40-8A6ED06437AB}"/>
              </a:ext>
            </a:extLst>
          </p:cNvPr>
          <p:cNvSpPr txBox="1"/>
          <p:nvPr/>
        </p:nvSpPr>
        <p:spPr>
          <a:xfrm>
            <a:off x="4998805" y="443992"/>
            <a:ext cx="1984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Mean = 167 (mg)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A4E7E84C-0911-1392-D0D5-DA31D45F4D32}"/>
              </a:ext>
            </a:extLst>
          </p:cNvPr>
          <p:cNvSpPr/>
          <p:nvPr/>
        </p:nvSpPr>
        <p:spPr>
          <a:xfrm rot="16200000">
            <a:off x="8100087" y="738701"/>
            <a:ext cx="249796" cy="4257966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0572141-56E1-D65C-762A-8EB6762F1B7E}"/>
              </a:ext>
            </a:extLst>
          </p:cNvPr>
          <p:cNvCxnSpPr>
            <a:cxnSpLocks/>
          </p:cNvCxnSpPr>
          <p:nvPr/>
        </p:nvCxnSpPr>
        <p:spPr>
          <a:xfrm>
            <a:off x="10420350" y="844102"/>
            <a:ext cx="0" cy="4503175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9182893-F575-370F-93FD-AABD46DB5B34}"/>
                  </a:ext>
                </a:extLst>
              </p:cNvPr>
              <p:cNvSpPr txBox="1"/>
              <p:nvPr/>
            </p:nvSpPr>
            <p:spPr>
              <a:xfrm>
                <a:off x="7328629" y="2282563"/>
                <a:ext cx="207268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340 −167=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𝟏𝟕𝟑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9182893-F575-370F-93FD-AABD46DB5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8629" y="2282563"/>
                <a:ext cx="2072682" cy="307777"/>
              </a:xfrm>
              <a:prstGeom prst="rect">
                <a:avLst/>
              </a:prstGeom>
              <a:blipFill>
                <a:blip r:embed="rId3"/>
                <a:stretch>
                  <a:fillRect l="-2353" r="-264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7A10761-3E76-A720-4A01-BCEED23A554E}"/>
              </a:ext>
            </a:extLst>
          </p:cNvPr>
          <p:cNvCxnSpPr>
            <a:cxnSpLocks/>
          </p:cNvCxnSpPr>
          <p:nvPr/>
        </p:nvCxnSpPr>
        <p:spPr>
          <a:xfrm>
            <a:off x="1816678" y="844102"/>
            <a:ext cx="0" cy="4503175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C28DDED-55BC-DD33-5745-B9634F33AA7B}"/>
              </a:ext>
            </a:extLst>
          </p:cNvPr>
          <p:cNvSpPr txBox="1"/>
          <p:nvPr/>
        </p:nvSpPr>
        <p:spPr>
          <a:xfrm>
            <a:off x="378598" y="338349"/>
            <a:ext cx="33198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</a:rPr>
              <a:t>Frosted Mini Wheats = 0 (mg)</a:t>
            </a:r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F14E752A-1AFD-2EE1-5241-D58BCCB24693}"/>
              </a:ext>
            </a:extLst>
          </p:cNvPr>
          <p:cNvSpPr/>
          <p:nvPr/>
        </p:nvSpPr>
        <p:spPr>
          <a:xfrm rot="16200000">
            <a:off x="3787077" y="-99858"/>
            <a:ext cx="239373" cy="416892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4312EA1-A247-DCFB-9E28-98A481EE5EBD}"/>
                  </a:ext>
                </a:extLst>
              </p:cNvPr>
              <p:cNvSpPr txBox="1"/>
              <p:nvPr/>
            </p:nvSpPr>
            <p:spPr>
              <a:xfrm>
                <a:off x="3084520" y="1485666"/>
                <a:ext cx="19797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0 −167=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𝟏𝟔𝟕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4312EA1-A247-DCFB-9E28-98A481EE5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4520" y="1485666"/>
                <a:ext cx="1979709" cy="307777"/>
              </a:xfrm>
              <a:prstGeom prst="rect">
                <a:avLst/>
              </a:prstGeom>
              <a:blipFill>
                <a:blip r:embed="rId4"/>
                <a:stretch>
                  <a:fillRect l="-2769" r="-2154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1622FF-13C1-B17C-CD0D-D92F5A243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3406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ADA239E0-422E-62C2-D03D-DCFDFA55E2C8}"/>
              </a:ext>
            </a:extLst>
          </p:cNvPr>
          <p:cNvSpPr/>
          <p:nvPr/>
        </p:nvSpPr>
        <p:spPr>
          <a:xfrm>
            <a:off x="635000" y="1676400"/>
            <a:ext cx="10922000" cy="4368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1D9B-D3D0-4DD3-432B-B05376CC1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Measures of Spread: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24D4B1-FB15-A405-14E1-A713E04E39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sum of all deviations is zero. 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We typically use either the </a:t>
                </a:r>
                <a:r>
                  <a:rPr lang="en-US" b="1" dirty="0">
                    <a:solidFill>
                      <a:srgbClr val="C00000"/>
                    </a:solidFill>
                  </a:rPr>
                  <a:t>squared deviations</a:t>
                </a:r>
                <a:r>
                  <a:rPr lang="en-US" dirty="0"/>
                  <a:t> or their </a:t>
                </a:r>
                <a:r>
                  <a:rPr lang="en-US" b="1" dirty="0">
                    <a:solidFill>
                      <a:srgbClr val="C00000"/>
                    </a:solidFill>
                  </a:rPr>
                  <a:t>absolute value</a:t>
                </a:r>
              </a:p>
              <a:p>
                <a:pPr marL="914400" lvl="2" indent="0">
                  <a:buNone/>
                </a:pPr>
                <a:r>
                  <a:rPr lang="en-US" sz="2400" dirty="0"/>
                  <a:t>Squared deviation of an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 </m:t>
                            </m:r>
                            <m:acc>
                              <m:accPr>
                                <m:chr m:val="̅"/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914400" lvl="2" indent="0">
                  <a:buNone/>
                </a:pPr>
                <a:endParaRPr lang="en-US" dirty="0"/>
              </a:p>
              <a:p>
                <a:r>
                  <a:rPr lang="en-US" dirty="0"/>
                  <a:t>The </a:t>
                </a:r>
                <a:r>
                  <a:rPr lang="en-US" b="1" dirty="0">
                    <a:solidFill>
                      <a:srgbClr val="C00000"/>
                    </a:solidFill>
                  </a:rPr>
                  <a:t>Variance </a:t>
                </a:r>
                <a:r>
                  <a:rPr lang="en-US" dirty="0"/>
                  <a:t>of a distribution is the </a:t>
                </a:r>
                <a:r>
                  <a:rPr lang="en-US" u="sng" dirty="0"/>
                  <a:t>average</a:t>
                </a:r>
                <a:r>
                  <a:rPr lang="en-US" dirty="0"/>
                  <a:t> squared deviation from the mean</a:t>
                </a:r>
              </a:p>
              <a:p>
                <a:pPr marL="1828800" lvl="4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n-US" sz="2400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600" dirty="0"/>
              </a:p>
              <a:p>
                <a:r>
                  <a:rPr lang="en-US" sz="2600" dirty="0"/>
                  <a:t>The sum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26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6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60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260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2600" dirty="0"/>
                  <a:t> is called the sum of squares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24D4B1-FB15-A405-14E1-A713E04E39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A80644-5A7D-5117-2E8F-7FDCB0896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32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23D7432A-DD44-AE9D-5929-8975DDC7167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0886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ody card">
            <a:extLst>
              <a:ext uri="{FF2B5EF4-FFF2-40B4-BE49-F238E27FC236}">
                <a16:creationId xmlns:a16="http://schemas.microsoft.com/office/drawing/2014/main" id="{32716F67-54E6-4EF2-C210-3CB90EEDFEBB}"/>
              </a:ext>
            </a:extLst>
          </p:cNvPr>
          <p:cNvSpPr/>
          <p:nvPr/>
        </p:nvSpPr>
        <p:spPr>
          <a:xfrm>
            <a:off x="635000" y="1397000"/>
            <a:ext cx="10922000" cy="50292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759E61-7A67-5D11-4320-1B5FFC922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dirty="0">
                <a:solidFill>
                  <a:srgbClr val="1F3864"/>
                </a:solidFill>
              </a:rPr>
              <a:t>Measures of Spread: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01D609-D493-78C3-4B57-D24A155F0A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8533"/>
                <a:ext cx="10515600" cy="493539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Since the variance uses the squared deviation, we usually take its square root called the </a:t>
                </a:r>
                <a:r>
                  <a:rPr lang="en-US" b="1" dirty="0">
                    <a:solidFill>
                      <a:srgbClr val="C00000"/>
                    </a:solidFill>
                  </a:rPr>
                  <a:t>standard deviation</a:t>
                </a:r>
              </a:p>
              <a:p>
                <a:endParaRPr lang="en-US" b="1" dirty="0">
                  <a:solidFill>
                    <a:srgbClr val="C00000"/>
                  </a:solidFill>
                </a:endParaRPr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</m:oMath>
                  </m:oMathPara>
                </a14:m>
                <a:endParaRPr lang="en-US" sz="2400" dirty="0"/>
              </a:p>
              <a:p>
                <a:endParaRPr lang="en-US" dirty="0"/>
              </a:p>
              <a:p>
                <a:r>
                  <a:rPr lang="en-US" dirty="0"/>
                  <a:t>The standard deviation represents (roughly) the average distance of an observation from the mean </a:t>
                </a:r>
              </a:p>
              <a:p>
                <a:endParaRPr lang="en-US" dirty="0"/>
              </a:p>
              <a:p>
                <a:r>
                  <a:rPr lang="en-US" dirty="0"/>
                  <a:t>The greater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is the greater the variability in the data is</a:t>
                </a:r>
              </a:p>
              <a:p>
                <a:endParaRPr lang="en-US" dirty="0"/>
              </a:p>
              <a:p>
                <a:r>
                  <a:rPr lang="en-US" dirty="0"/>
                  <a:t>We denote the population parameter for the variance and standard deviation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01D609-D493-78C3-4B57-D24A155F0A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8533"/>
                <a:ext cx="10515600" cy="4935393"/>
              </a:xfrm>
              <a:blipFill>
                <a:blip r:embed="rId2"/>
                <a:stretch>
                  <a:fillRect l="-812" t="-2840" b="-1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79AC86-B215-32AD-CECC-47522CC45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3585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7E7EEE50-9936-2C88-2AE4-3B761902A19A}"/>
              </a:ext>
            </a:extLst>
          </p:cNvPr>
          <p:cNvSpPr/>
          <p:nvPr/>
        </p:nvSpPr>
        <p:spPr>
          <a:xfrm>
            <a:off x="635000" y="1676400"/>
            <a:ext cx="10922000" cy="42291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DD5E1B0-DD07-8EDA-1858-2D2EA2B4B38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1F3864"/>
                    </a:solidFill>
                  </a:rPr>
                  <a:t>Why divide by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1F3864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1F3864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>
                    <a:solidFill>
                      <a:srgbClr val="1F3864"/>
                    </a:solidFill>
                  </a:rPr>
                  <a:t> ?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DD5E1B0-DD07-8EDA-1858-2D2EA2B4B3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A4BF34-A2FA-6993-0CE4-3573B865FE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We divide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because we have only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−1 </m:t>
                    </m:r>
                  </m:oMath>
                </a14:m>
                <a:r>
                  <a:rPr lang="en-US" dirty="0"/>
                  <a:t>pieces of independent information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r>
                  <a:rPr lang="en-US" dirty="0"/>
                  <a:t>Since the sum of the deviations must add to zero, then if we know the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deviations we can always figure out the last one</a:t>
                </a:r>
              </a:p>
              <a:p>
                <a:endParaRPr lang="en-US" dirty="0"/>
              </a:p>
              <a:p>
                <a:r>
                  <a:rPr lang="en-US" dirty="0"/>
                  <a:t>Ex.) suppose we have two data points and deviation of the first data point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=−5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Then the deviation of the second data point </a:t>
                </a:r>
                <a:r>
                  <a:rPr lang="en-US" u="sng" dirty="0"/>
                  <a:t>has</a:t>
                </a:r>
                <a:r>
                  <a:rPr lang="en-US" dirty="0"/>
                  <a:t> to be 5 for the sum of deviations to be zero.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A4BF34-A2FA-6993-0CE4-3573B865FE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3081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0D4E2-DF09-B131-AB19-D6E73490E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34</a:t>
            </a:fld>
            <a:endParaRPr lang="en-US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E4346553-408C-AAA9-A308-0A74A79B30F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7023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2587ECF-85E9-4393-9D87-8EB6F3F6C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37883"/>
            <a:ext cx="4783697" cy="194281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>
                <a:solidFill>
                  <a:srgbClr val="1F3864"/>
                </a:solidFill>
                <a:latin typeface="+mj-lt"/>
                <a:ea typeface="+mj-ea"/>
                <a:cs typeface="+mj-cs"/>
              </a:rPr>
              <a:t>Try it out: Computing 𝑠 and  𝑠 2</a:t>
            </a:r>
            <a:endParaRPr lang="en-US" sz="4000" kern="1200" dirty="0">
              <a:solidFill>
                <a:srgbClr val="1F3864"/>
              </a:solidFill>
              <a:latin typeface="+mj-lt"/>
              <a:ea typeface="+mj-ea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2686323"/>
                <a:ext cx="4783697" cy="343358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Roll a six-sided die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𝑛</m:t>
                    </m:r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=10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times and record the number rolled each time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Data = 1,2,3,3,4,4,4,5,6,6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lang="en-US" sz="2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Mean = 3.8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2686323"/>
                <a:ext cx="4783697" cy="3433583"/>
              </a:xfrm>
              <a:prstGeom prst="rect">
                <a:avLst/>
              </a:prstGeom>
              <a:blipFill>
                <a:blip r:embed="rId3"/>
                <a:stretch>
                  <a:fillRect l="-19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 descr="Beer die - EUSwiki">
            <a:extLst>
              <a:ext uri="{FF2B5EF4-FFF2-40B4-BE49-F238E27FC236}">
                <a16:creationId xmlns:a16="http://schemas.microsoft.com/office/drawing/2014/main" id="{98F16938-2ED7-9FB6-1FC2-1BF322196D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276159" y="2927927"/>
            <a:ext cx="3077639" cy="3124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818292-3AE6-B7AB-CA1F-D0F516426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992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2178</TotalTime>
  <Words>2218</Words>
  <Application>Microsoft Office PowerPoint</Application>
  <PresentationFormat>Widescreen</PresentationFormat>
  <Paragraphs>303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Calibri Light</vt:lpstr>
      <vt:lpstr>Cambria Math</vt:lpstr>
      <vt:lpstr>Consolas</vt:lpstr>
      <vt:lpstr>Office Theme</vt:lpstr>
      <vt:lpstr>Lecture 5 Measures of Location and Position</vt:lpstr>
      <vt:lpstr>Review</vt:lpstr>
      <vt:lpstr>Review: ten video games</vt:lpstr>
      <vt:lpstr>Measures of Central Tendency: the Mean</vt:lpstr>
      <vt:lpstr>Practice: Calculate The Mean</vt:lpstr>
      <vt:lpstr>Alternative formulas for the mean</vt:lpstr>
      <vt:lpstr>Example: Computing the mean from a frequency table</vt:lpstr>
      <vt:lpstr>Measures of Central Tendency: the Median</vt:lpstr>
      <vt:lpstr>Practice: Calculate the Median</vt:lpstr>
      <vt:lpstr>PowerPoint Presentation</vt:lpstr>
      <vt:lpstr>Mean and median treat outliers differently</vt:lpstr>
      <vt:lpstr>PowerPoint Presentation</vt:lpstr>
      <vt:lpstr>The mode</vt:lpstr>
      <vt:lpstr>Practice 2:</vt:lpstr>
      <vt:lpstr>Measures of Location: Quartiles and Percentiles</vt:lpstr>
      <vt:lpstr>Measures of Position: Quartiles and Percentiles</vt:lpstr>
      <vt:lpstr>Computing the Quartiles</vt:lpstr>
      <vt:lpstr>Ex. Quartiles</vt:lpstr>
      <vt:lpstr>Quartiles from the cumulative relative frequency</vt:lpstr>
      <vt:lpstr>Practice: Quartiles from Exam Scores</vt:lpstr>
      <vt:lpstr>Variability of A Distribution: Measures of Spread</vt:lpstr>
      <vt:lpstr>Measures of Spread: Range</vt:lpstr>
      <vt:lpstr>Measures of Spread: Interquartile Range</vt:lpstr>
      <vt:lpstr>Practice: Finding quartiles and IQR</vt:lpstr>
      <vt:lpstr>The Boxplot (Box and Whisker Plot): A five number summary</vt:lpstr>
      <vt:lpstr>PowerPoint Presentation</vt:lpstr>
      <vt:lpstr>Ex. Construct a Boxplot</vt:lpstr>
      <vt:lpstr>Practice: Construct a Boxplot</vt:lpstr>
      <vt:lpstr>Ex2. Construct a Boxplot</vt:lpstr>
      <vt:lpstr>Measures of Spread: Deviation</vt:lpstr>
      <vt:lpstr>PowerPoint Presentation</vt:lpstr>
      <vt:lpstr>Measures of Spread: Variance</vt:lpstr>
      <vt:lpstr>Measures of Spread: Standard Deviation</vt:lpstr>
      <vt:lpstr>Why divide by n-1 ?</vt:lpstr>
      <vt:lpstr>Try it out: Computing 𝑠 and  𝑠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341</cp:revision>
  <dcterms:created xsi:type="dcterms:W3CDTF">2023-08-05T23:57:41Z</dcterms:created>
  <dcterms:modified xsi:type="dcterms:W3CDTF">2026-09-04T19:10:35Z</dcterms:modified>
</cp:coreProperties>
</file>