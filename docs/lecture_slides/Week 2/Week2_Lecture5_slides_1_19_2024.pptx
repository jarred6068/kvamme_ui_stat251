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  <p:sldId id="332" r:id="rId4"/>
    <p:sldId id="304" r:id="rId5"/>
    <p:sldId id="330" r:id="rId6"/>
    <p:sldId id="338" r:id="rId7"/>
    <p:sldId id="339" r:id="rId8"/>
    <p:sldId id="307" r:id="rId9"/>
    <p:sldId id="336" r:id="rId10"/>
    <p:sldId id="305" r:id="rId11"/>
    <p:sldId id="337" r:id="rId12"/>
    <p:sldId id="340" r:id="rId13"/>
    <p:sldId id="309" r:id="rId14"/>
    <p:sldId id="308" r:id="rId15"/>
    <p:sldId id="321" r:id="rId16"/>
    <p:sldId id="320" r:id="rId17"/>
    <p:sldId id="322" r:id="rId18"/>
    <p:sldId id="324" r:id="rId19"/>
    <p:sldId id="352" r:id="rId20"/>
    <p:sldId id="34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5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Measures of Location and Position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A distribution has two clear peaks. What does that usually tell us?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C00000"/>
                </a:solidFill>
              </a:rPr>
              <a:t>The sample mixes two distinct sub-populations, picked out by some grouping variable.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makes a distribution skewed?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hard limit on the values – data pile up against the limit and trail away from it.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Name the two very different things an outlier can be.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genuinely unusual observation, or a measurement or recording error.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Which plot(s) are best for large sample sizes, and which one(s) keep the actual data values?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histogram for large n. The stem and leaf plot keeps the original values. Dot plot also – when applied to discrete data.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DB72-E5D0-6EBA-C0D0-5DEFEBF4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Review: ten video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98626-D1B4-2C98-5F0C-66A81FA7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4600"/>
            <a:ext cx="10795000" cy="48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X = Metacritic critic score, for a random sample of n = 10 best-selling video games (circa 2000’s).</a:t>
            </a:r>
          </a:p>
        </p:txBody>
      </p:sp>
      <p:sp>
        <p:nvSpPr>
          <p:cNvPr id="4" name="Values">
            <a:extLst>
              <a:ext uri="{FF2B5EF4-FFF2-40B4-BE49-F238E27FC236}">
                <a16:creationId xmlns:a16="http://schemas.microsoft.com/office/drawing/2014/main" id="{2121E118-D7CD-D36B-8A0A-3AE9CFBC7F97}"/>
              </a:ext>
            </a:extLst>
          </p:cNvPr>
          <p:cNvSpPr txBox="1"/>
          <p:nvPr/>
        </p:nvSpPr>
        <p:spPr>
          <a:xfrm>
            <a:off x="762000" y="1752600"/>
            <a:ext cx="1079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latin typeface="Consolas" panose="020B0609020204030204" pitchFamily="49" charset="0"/>
              </a:rPr>
              <a:t>x = { 68,  72,  76,  76,  76,  83,  85,  87,  92,  95 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30E05-FA21-0086-E1BF-CAB22FEB06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235200"/>
            <a:ext cx="5969000" cy="370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1CA0DC-0DE2-2969-FE79-A5D3F4FDF1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235200"/>
            <a:ext cx="4826000" cy="2349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B2299-A507-489C-02DB-EAF355847EEC}"/>
              </a:ext>
            </a:extLst>
          </p:cNvPr>
          <p:cNvSpPr txBox="1"/>
          <p:nvPr/>
        </p:nvSpPr>
        <p:spPr>
          <a:xfrm>
            <a:off x="6858000" y="4800600"/>
            <a:ext cx="482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i="1"/>
              <a:t>Four bins of width 10. Most of these games score in the 70s, with a few running up into the 90s.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722DF1-F8EB-F9A0-C853-F023E25A5D6A}"/>
              </a:ext>
            </a:extLst>
          </p:cNvPr>
          <p:cNvSpPr txBox="1"/>
          <p:nvPr/>
        </p:nvSpPr>
        <p:spPr>
          <a:xfrm>
            <a:off x="508000" y="6451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i="1">
                <a:solidFill>
                  <a:srgbClr val="666666"/>
                </a:solidFill>
              </a:rPr>
              <a:t>Data: VGChartz sales joined to Metacritic ratings, restricted to titles selling 5 million copies or more (127 games).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9FE74-6B0E-C314-8794-38709A7C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3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 card">
            <a:extLst>
              <a:ext uri="{FF2B5EF4-FFF2-40B4-BE49-F238E27FC236}">
                <a16:creationId xmlns:a16="http://schemas.microsoft.com/office/drawing/2014/main" id="{92237A1F-3E90-6556-1E03-548FEED58994}"/>
              </a:ext>
            </a:extLst>
          </p:cNvPr>
          <p:cNvSpPr/>
          <p:nvPr/>
        </p:nvSpPr>
        <p:spPr>
          <a:xfrm>
            <a:off x="635000" y="1346200"/>
            <a:ext cx="10922000" cy="44069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D0608-1958-6936-37C8-0B0F2E70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Measures of Central Tendency: the Mean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C4FB3-6656-121C-4A91-2FBCF82E26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0"/>
                <a:ext cx="9977582" cy="51077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(arithmetic)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mean </a:t>
                </a:r>
                <a:r>
                  <a:rPr lang="en-US" sz="2400" dirty="0"/>
                  <a:t>is the average value of a set of observations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it measures the center of mass of a distribution (the balancing point)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/>
                  <a:t>The population mean is also called the </a:t>
                </a:r>
                <a:r>
                  <a:rPr lang="en-US" sz="2400" b="1">
                    <a:solidFill>
                      <a:srgbClr val="C00000"/>
                    </a:solidFill>
                  </a:rPr>
                  <a:t>expected value</a:t>
                </a:r>
                <a:r>
                  <a:rPr lang="en-US" sz="2400"/>
                  <a:t>, written E(X) or μ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/>
                  <a:t>the long-run average of the variable; the sample mean is our estimate of it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/>
                  <a:t>the </a:t>
                </a:r>
                <a:r>
                  <a:rPr lang="en-US" sz="2400" dirty="0"/>
                  <a:t>mean is usually not equal to any of the values observed in the sample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mean is highly influenced by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outliers </a:t>
                </a:r>
                <a:r>
                  <a:rPr lang="en-US" sz="2400" dirty="0"/>
                  <a:t> - observations that take on extreme values relative to the distribution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C4FB3-6656-121C-4A91-2FBCF82E26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0"/>
                <a:ext cx="9977582" cy="5107709"/>
              </a:xfrm>
              <a:blipFill>
                <a:blip r:embed="rId2"/>
                <a:stretch>
                  <a:fillRect l="-856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3C1E3-915E-DFCD-DA35-E26A55B1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0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939A5A2C-D627-C557-2636-A2EABAC4268F}"/>
              </a:ext>
            </a:extLst>
          </p:cNvPr>
          <p:cNvSpPr/>
          <p:nvPr/>
        </p:nvSpPr>
        <p:spPr>
          <a:xfrm>
            <a:off x="635000" y="1676400"/>
            <a:ext cx="10922000" cy="7112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68A1-D925-CD0E-C91F-BDCFF9B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Practice: Calculate The Mean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930D-CF63-11CB-F799-8B6F10374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3649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930D-CF63-11CB-F799-8B6F10374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36491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E4CE-329E-787F-6F4B-4FA86A07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5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0BB0F928-116D-81E8-2332-DEE26E78493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1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D8063161-C473-F00C-5B63-263462EC7427}"/>
              </a:ext>
            </a:extLst>
          </p:cNvPr>
          <p:cNvSpPr/>
          <p:nvPr/>
        </p:nvSpPr>
        <p:spPr>
          <a:xfrm>
            <a:off x="635000" y="1676400"/>
            <a:ext cx="10922000" cy="35687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F5637-759B-CDC6-A079-01615378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Alternative formulas for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6C35F-87BF-000B-FFF1-FA6B4C96E0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We can also express the mean in terms of the frequency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800" dirty="0"/>
                  <a:t> or the relative frequency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𝑅𝐹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Where the sum is over all distinct values of the variable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6C35F-87BF-000B-FFF1-FA6B4C96E0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884A8-DEBB-AF09-F355-C31CA06D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6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4964A124-FA69-D344-BAB7-7B08ACE4442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66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4281-A2B3-E169-D64B-55C4B2F0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Example: Computing the mean from a frequency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2C17F-8867-4F95-3EA4-C71E0B623A8C}"/>
                  </a:ext>
                </a:extLst>
              </p:cNvPr>
              <p:cNvSpPr txBox="1"/>
              <p:nvPr/>
            </p:nvSpPr>
            <p:spPr>
              <a:xfrm>
                <a:off x="932873" y="1985818"/>
                <a:ext cx="1079730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={1, 3, 5, 5, 6, 7, 7, 8}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2C17F-8867-4F95-3EA4-C71E0B623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73" y="1985818"/>
                <a:ext cx="10797309" cy="1477328"/>
              </a:xfrm>
              <a:prstGeom prst="rect">
                <a:avLst/>
              </a:prstGeom>
              <a:blipFill>
                <a:blip r:embed="rId2"/>
                <a:stretch>
                  <a:fillRect l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D149D-C46B-66BE-11B4-97A112E75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566213"/>
              </p:ext>
            </p:extLst>
          </p:nvPr>
        </p:nvGraphicFramePr>
        <p:xfrm>
          <a:off x="7389092" y="1421340"/>
          <a:ext cx="434109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030">
                  <a:extLst>
                    <a:ext uri="{9D8B030D-6E8A-4147-A177-3AD203B41FA5}">
                      <a16:colId xmlns:a16="http://schemas.microsoft.com/office/drawing/2014/main" val="2635967006"/>
                    </a:ext>
                  </a:extLst>
                </a:gridCol>
                <a:gridCol w="1447030">
                  <a:extLst>
                    <a:ext uri="{9D8B030D-6E8A-4147-A177-3AD203B41FA5}">
                      <a16:colId xmlns:a16="http://schemas.microsoft.com/office/drawing/2014/main" val="3005329175"/>
                    </a:ext>
                  </a:extLst>
                </a:gridCol>
                <a:gridCol w="1447030">
                  <a:extLst>
                    <a:ext uri="{9D8B030D-6E8A-4147-A177-3AD203B41FA5}">
                      <a16:colId xmlns:a16="http://schemas.microsoft.com/office/drawing/2014/main" val="1816929551"/>
                    </a:ext>
                  </a:extLst>
                </a:gridCol>
              </a:tblGrid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Rel. 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691844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206646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416178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562944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024317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9846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08147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7C2D55-A2CD-7F99-32CD-D478F966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E330F862-AE9C-EE58-E03B-B824433D306D}"/>
              </a:ext>
            </a:extLst>
          </p:cNvPr>
          <p:cNvSpPr/>
          <p:nvPr/>
        </p:nvSpPr>
        <p:spPr>
          <a:xfrm>
            <a:off x="635000" y="1676400"/>
            <a:ext cx="10922000" cy="44323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2243EE-CAAA-9631-C3E9-DBEC3605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Measures of Central Tendency: the Median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5A268-CA85-9E12-C415-E91D6F48B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8759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median</a:t>
                </a:r>
                <a:r>
                  <a:rPr lang="en-US" dirty="0"/>
                  <a:t> is the middle value of a set of observations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How to compute the median: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the median by first ordering the observations from smallest value to largest value and choose the number in the middle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odd the median is the middle number</a:t>
                </a:r>
              </a:p>
              <a:p>
                <a:pPr marL="457200" lvl="1" indent="0">
                  <a:buNone/>
                </a:pPr>
                <a:r>
                  <a:rPr lang="en-US" dirty="0"/>
                  <a:t> -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even the median is the sum of the two middle values divided by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5A268-CA85-9E12-C415-E91D6F48B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875982" cy="4351338"/>
              </a:xfrm>
              <a:blipFill>
                <a:blip r:embed="rId2"/>
                <a:stretch>
                  <a:fillRect l="-129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7B86B-CF4F-5004-F564-F3E9776D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8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49A69466-6FC3-D6E2-2672-5534F332484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9CC7A5F4-AA0B-5409-20AF-B081E05EC2AE}"/>
              </a:ext>
            </a:extLst>
          </p:cNvPr>
          <p:cNvSpPr/>
          <p:nvPr/>
        </p:nvSpPr>
        <p:spPr>
          <a:xfrm>
            <a:off x="635000" y="1676400"/>
            <a:ext cx="10922000" cy="12192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2D970-D5B1-13BB-C01E-5224E1F2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Practice: Calculate the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4A11B-CBAA-E4CB-9C3F-629D626DC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4A11B-CBAA-E4CB-9C3F-629D626DC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D15A0-7C29-649F-9A4C-AD1A8688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9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F46819D0-BC49-93EF-995D-6024DFEF6A6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AA1FB4F-B4C0-19FC-F8A6-80F1019CDA1B}"/>
              </a:ext>
            </a:extLst>
          </p:cNvPr>
          <p:cNvGrpSpPr/>
          <p:nvPr/>
        </p:nvGrpSpPr>
        <p:grpSpPr>
          <a:xfrm>
            <a:off x="281345" y="2185532"/>
            <a:ext cx="11223178" cy="3231099"/>
            <a:chOff x="170508" y="2213128"/>
            <a:chExt cx="11223178" cy="3231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D94D794-5780-EB94-1BF2-FE234895A4DE}"/>
                    </a:ext>
                  </a:extLst>
                </p:cNvPr>
                <p:cNvSpPr txBox="1"/>
                <p:nvPr/>
              </p:nvSpPr>
              <p:spPr>
                <a:xfrm>
                  <a:off x="2051669" y="5058295"/>
                  <a:ext cx="789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=9.2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D94D794-5780-EB94-1BF2-FE234895A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69" y="5058295"/>
                  <a:ext cx="78925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876" r="-697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B56406-5F22-DCCD-EA7F-C958F3D21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508" y="2213128"/>
              <a:ext cx="5170726" cy="249435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A625E-81C5-ECCB-6AEA-588CF86FB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604632">
              <a:off x="6222960" y="2269308"/>
              <a:ext cx="5170726" cy="2494353"/>
            </a:xfrm>
            <a:prstGeom prst="rect">
              <a:avLst/>
            </a:prstGeom>
          </p:spPr>
        </p:pic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2F214C2-1D86-F2C7-F495-1D8DF5707C70}"/>
                </a:ext>
              </a:extLst>
            </p:cNvPr>
            <p:cNvSpPr/>
            <p:nvPr/>
          </p:nvSpPr>
          <p:spPr>
            <a:xfrm>
              <a:off x="7678880" y="4258680"/>
              <a:ext cx="259773" cy="586392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216A7137-8C55-1EF5-CC3D-BFDC40D635C1}"/>
                </a:ext>
              </a:extLst>
            </p:cNvPr>
            <p:cNvSpPr/>
            <p:nvPr/>
          </p:nvSpPr>
          <p:spPr>
            <a:xfrm>
              <a:off x="2123207" y="4296496"/>
              <a:ext cx="259773" cy="586392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9FE77AA-7C50-0F7E-C479-3A2E60163D35}"/>
                    </a:ext>
                  </a:extLst>
                </p:cNvPr>
                <p:cNvSpPr txBox="1"/>
                <p:nvPr/>
              </p:nvSpPr>
              <p:spPr>
                <a:xfrm>
                  <a:off x="7414138" y="4925623"/>
                  <a:ext cx="2095895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𝑚𝑒𝑑𝑖𝑎𝑛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8+8</m:t>
                            </m:r>
                          </m:num>
                          <m:den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=8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9FE77AA-7C50-0F7E-C479-3A2E60163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138" y="4925623"/>
                  <a:ext cx="2095895" cy="5186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AB15456-BDE7-CB11-8743-884D2B7E62B6}"/>
              </a:ext>
            </a:extLst>
          </p:cNvPr>
          <p:cNvSpPr txBox="1"/>
          <p:nvPr/>
        </p:nvSpPr>
        <p:spPr>
          <a:xfrm>
            <a:off x="594017" y="5686108"/>
            <a:ext cx="360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mean is the center of gravity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A6C0A-C879-8A3D-A8EE-96D4E66E3A74}"/>
              </a:ext>
            </a:extLst>
          </p:cNvPr>
          <p:cNvSpPr txBox="1"/>
          <p:nvPr/>
        </p:nvSpPr>
        <p:spPr>
          <a:xfrm>
            <a:off x="6325923" y="5810799"/>
            <a:ext cx="3438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median is the middle value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C585F4-2355-392B-9E1E-5B47162BF9BA}"/>
              </a:ext>
            </a:extLst>
          </p:cNvPr>
          <p:cNvSpPr txBox="1"/>
          <p:nvPr/>
        </p:nvSpPr>
        <p:spPr>
          <a:xfrm>
            <a:off x="1320800" y="314036"/>
            <a:ext cx="80025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Data: 3  3  3  3  3  3  3  4  4  4  4  4  4  4  4  4  4  5  5  5  5  5  5  5  5  5 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5  5  5  5  5  5  5  5  5  6  6  6  6  6  6  6  6  6  6  7  7  7  7  7  7  7  7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7  8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8  8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8  8  8  9  9  9  9  9  9  9 10 10 10 10 10 10 10 11 11 11 11 11 12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12 12 12 12 12 12 12 13 13 13 14 14 14 14 14 14 15 15 15 16 16 16 16 17 17 17 18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18 20 20 20 20 20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E5A262-6BA4-80DC-E617-E503A246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6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00D816A4-B3F0-B160-DCEC-10AB25333721}"/>
              </a:ext>
            </a:extLst>
          </p:cNvPr>
          <p:cNvSpPr/>
          <p:nvPr/>
        </p:nvSpPr>
        <p:spPr>
          <a:xfrm>
            <a:off x="635000" y="1676400"/>
            <a:ext cx="10922000" cy="7112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4DE6C-08A1-E5FC-FBD2-2A6CFB14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Mean and median treat outliers differently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E07D2-A170-60BA-CCDC-92189FF4B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8, 32}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E07D2-A170-60BA-CCDC-92189FF4B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C1134-D6F8-B04D-3603-E49C4669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2ABA5085-7455-2642-D4BB-C6BC88E4633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4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B45CB9-38D1-C6A4-DC41-174772C7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02" y="0"/>
            <a:ext cx="10050996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A4DA7-DBD9-3674-EC49-E9E914B7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2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CB12-022F-4788-84E1-8A1F3000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The mode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30ED-E752-41BA-164E-704684B9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mode </a:t>
            </a:r>
            <a:r>
              <a:rPr lang="en-US" dirty="0"/>
              <a:t>is the value with the largest relative frequency (</a:t>
            </a:r>
            <a:r>
              <a:rPr lang="en-US" dirty="0" err="1"/>
              <a:t>i.e</a:t>
            </a:r>
            <a:r>
              <a:rPr lang="en-US" dirty="0"/>
              <a:t> the value that occurs most often)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Can be used with categorical data (mean and median cannot) </a:t>
            </a:r>
          </a:p>
          <a:p>
            <a:pPr marL="914400" lvl="2" indent="0">
              <a:buNone/>
            </a:pPr>
            <a:r>
              <a:rPr lang="en-US" dirty="0"/>
              <a:t>- </a:t>
            </a:r>
            <a:r>
              <a:rPr lang="en-US" dirty="0" err="1"/>
              <a:t>e.g</a:t>
            </a:r>
            <a:r>
              <a:rPr lang="en-US" dirty="0"/>
              <a:t> the most </a:t>
            </a:r>
            <a:r>
              <a:rPr lang="en-US"/>
              <a:t>frequent category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It may not be unique if two or more values have the same frequency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r>
              <a:rPr lang="en-US" b="1" u="sng" dirty="0">
                <a:solidFill>
                  <a:srgbClr val="C00000"/>
                </a:solidFill>
              </a:rPr>
              <a:t>Caution</a:t>
            </a:r>
            <a:r>
              <a:rPr lang="en-US" b="1" dirty="0"/>
              <a:t> </a:t>
            </a:r>
            <a:r>
              <a:rPr lang="en-US" dirty="0"/>
              <a:t>for quantitative data, the mode </a:t>
            </a:r>
            <a:r>
              <a:rPr lang="en-US" u="sng" dirty="0"/>
              <a:t>may not </a:t>
            </a:r>
            <a:r>
              <a:rPr lang="en-US" dirty="0"/>
              <a:t>anywhere near the center of the distribution.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BF4C3-8199-5A84-CD68-A8AED98D62D4}"/>
              </a:ext>
            </a:extLst>
          </p:cNvPr>
          <p:cNvSpPr txBox="1">
            <a:spLocks/>
          </p:cNvSpPr>
          <p:nvPr/>
        </p:nvSpPr>
        <p:spPr>
          <a:xfrm>
            <a:off x="8026400" y="1690688"/>
            <a:ext cx="38838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Ex.)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1,1,4,5,6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=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1,1,4,5,6,6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  1,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C46AD-94DD-AE71-3A19-101CF0E4AD10}"/>
              </a:ext>
            </a:extLst>
          </p:cNvPr>
          <p:cNvSpPr/>
          <p:nvPr/>
        </p:nvSpPr>
        <p:spPr>
          <a:xfrm>
            <a:off x="9097817" y="2253672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6B7EBB-3587-1875-97E0-69C04C310EFE}"/>
              </a:ext>
            </a:extLst>
          </p:cNvPr>
          <p:cNvSpPr/>
          <p:nvPr/>
        </p:nvSpPr>
        <p:spPr>
          <a:xfrm>
            <a:off x="9097817" y="4234874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EECC-247B-77E7-E610-6554F4673539}"/>
              </a:ext>
            </a:extLst>
          </p:cNvPr>
          <p:cNvSpPr/>
          <p:nvPr/>
        </p:nvSpPr>
        <p:spPr>
          <a:xfrm>
            <a:off x="10169234" y="4242018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9E75AB-A549-02EA-22FF-6A0B8294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39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A22F9-922D-909D-3C73-EA3AFAF0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Practice 2: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C8FCB-1C29-7C52-743C-620440339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0200" y="1727777"/>
                <a:ext cx="4565073" cy="1841211"/>
              </a:xfrm>
            </p:spPr>
            <p:txBody>
              <a:bodyPr>
                <a:normAutofit fontScale="25000" lnSpcReduction="20000"/>
              </a:bodyPr>
              <a:lstStyle/>
              <a:p>
                <a:pPr marL="0"/>
                <a:r>
                  <a:rPr lang="en-US" sz="9600" dirty="0"/>
                  <a:t>Roll a six-sided die </a:t>
                </a:r>
                <a14:m>
                  <m:oMath xmlns:m="http://schemas.openxmlformats.org/officeDocument/2006/math"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9600" dirty="0"/>
                  <a:t> times and record the number rolled each time</a:t>
                </a:r>
              </a:p>
              <a:p>
                <a:pPr marL="0"/>
                <a:endParaRPr lang="en-US" sz="9600" dirty="0"/>
              </a:p>
              <a:p>
                <a:pPr marL="0"/>
                <a:r>
                  <a:rPr lang="en-US" sz="9600" dirty="0"/>
                  <a:t>Data = 1,2,3,3,4,4,4,5,6,6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C8FCB-1C29-7C52-743C-620440339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200" y="1727777"/>
                <a:ext cx="4565073" cy="1841211"/>
              </a:xfrm>
              <a:blipFill>
                <a:blip r:embed="rId2"/>
                <a:stretch>
                  <a:fillRect l="-2003" t="-7616" r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142727-FE0E-B241-4F4A-6EE854E43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09" y="3568988"/>
            <a:ext cx="4212438" cy="314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700DEC-0BFD-362F-79B5-AB575314C21F}"/>
              </a:ext>
            </a:extLst>
          </p:cNvPr>
          <p:cNvSpPr txBox="1"/>
          <p:nvPr/>
        </p:nvSpPr>
        <p:spPr>
          <a:xfrm>
            <a:off x="6363855" y="1727200"/>
            <a:ext cx="3819059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using all 3 equations: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B8DB7E-A628-DBDD-A692-1EBB10B2F294}"/>
              </a:ext>
            </a:extLst>
          </p:cNvPr>
          <p:cNvSpPr/>
          <p:nvPr/>
        </p:nvSpPr>
        <p:spPr>
          <a:xfrm>
            <a:off x="5969000" y="3124200"/>
            <a:ext cx="5842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r>
              <a:rPr lang="en-US" sz="1200" b="1">
                <a:solidFill>
                  <a:srgbClr val="000000"/>
                </a:solidFill>
              </a:rPr>
              <a:t>Mean, three ways:</a:t>
            </a:r>
          </a:p>
          <a:p>
            <a:r>
              <a:rPr lang="en-US" sz="1200">
                <a:solidFill>
                  <a:srgbClr val="000000"/>
                </a:solidFill>
              </a:rPr>
              <a:t>  Σ x / n  =  38 / 10  </a:t>
            </a:r>
            <a:r>
              <a:rPr lang="en-US" sz="1200" b="1">
                <a:solidFill>
                  <a:srgbClr val="C00000"/>
                </a:solidFill>
              </a:rPr>
              <a:t>=  3.8</a:t>
            </a:r>
          </a:p>
          <a:p>
            <a:r>
              <a:rPr lang="en-US" sz="1200">
                <a:solidFill>
                  <a:srgbClr val="000000"/>
                </a:solidFill>
              </a:rPr>
              <a:t>  (1/n) Σ x· F(x)  =  (1· 1 + 2· 1 + 3· 2 + 4· 3 + 5· 1 + 6· 2) / 10  =  38 / 10  </a:t>
            </a:r>
            <a:r>
              <a:rPr lang="en-US" sz="1200" b="1">
                <a:solidFill>
                  <a:srgbClr val="C00000"/>
                </a:solidFill>
              </a:rPr>
              <a:t>=  3.8</a:t>
            </a:r>
          </a:p>
          <a:p>
            <a:r>
              <a:rPr lang="en-US" sz="1200">
                <a:solidFill>
                  <a:srgbClr val="000000"/>
                </a:solidFill>
              </a:rPr>
              <a:t>  Σ x· RF(x)  =  1(.1) + 2(.1) + 3(.2) + 4(.3) + 5(.1) + 6(.2)  </a:t>
            </a:r>
            <a:r>
              <a:rPr lang="en-US" sz="1200" b="1">
                <a:solidFill>
                  <a:srgbClr val="C00000"/>
                </a:solidFill>
              </a:rPr>
              <a:t>=  3.8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CA2118-A966-BB27-8331-0E54805E2F59}"/>
              </a:ext>
            </a:extLst>
          </p:cNvPr>
          <p:cNvSpPr/>
          <p:nvPr/>
        </p:nvSpPr>
        <p:spPr>
          <a:xfrm>
            <a:off x="5969000" y="4318000"/>
            <a:ext cx="5842000" cy="7874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r>
              <a:rPr lang="en-US" sz="1200" b="1">
                <a:solidFill>
                  <a:srgbClr val="000000"/>
                </a:solidFill>
              </a:rPr>
              <a:t>Median:</a:t>
            </a:r>
          </a:p>
          <a:p>
            <a:r>
              <a:rPr lang="en-US" sz="1200">
                <a:solidFill>
                  <a:srgbClr val="000000"/>
                </a:solidFill>
              </a:rPr>
              <a:t>  ordered  1 2 3 3 4 4 4 5 6 6</a:t>
            </a:r>
          </a:p>
          <a:p>
            <a:r>
              <a:rPr lang="en-US" sz="1200">
                <a:solidFill>
                  <a:srgbClr val="000000"/>
                </a:solidFill>
              </a:rPr>
              <a:t>  n is even, so median = (4 + 4) / 2 </a:t>
            </a:r>
            <a:r>
              <a:rPr lang="en-US" sz="1200" b="1">
                <a:solidFill>
                  <a:srgbClr val="C00000"/>
                </a:solidFill>
              </a:rPr>
              <a:t>= 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93389C-6502-BFBB-60C7-E80672F9A6EF}"/>
              </a:ext>
            </a:extLst>
          </p:cNvPr>
          <p:cNvSpPr/>
          <p:nvPr/>
        </p:nvSpPr>
        <p:spPr>
          <a:xfrm>
            <a:off x="5969000" y="5207000"/>
            <a:ext cx="5842000" cy="685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r>
              <a:rPr lang="en-US" sz="1200" b="1">
                <a:solidFill>
                  <a:srgbClr val="000000"/>
                </a:solidFill>
              </a:rPr>
              <a:t>Mode:</a:t>
            </a:r>
          </a:p>
          <a:p>
            <a:r>
              <a:rPr lang="en-US" sz="1200">
                <a:solidFill>
                  <a:srgbClr val="000000"/>
                </a:solidFill>
              </a:rPr>
              <a:t>  4 appears three times, more than any other value → mode </a:t>
            </a:r>
            <a:r>
              <a:rPr lang="en-US" sz="1200" b="1">
                <a:solidFill>
                  <a:srgbClr val="C00000"/>
                </a:solidFill>
              </a:rPr>
              <a:t>= 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FAB61-889A-B303-F401-6368885A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312522C8-F82C-F1B1-661D-A84147B7BF4A}"/>
              </a:ext>
            </a:extLst>
          </p:cNvPr>
          <p:cNvSpPr/>
          <p:nvPr/>
        </p:nvSpPr>
        <p:spPr>
          <a:xfrm>
            <a:off x="635000" y="1676400"/>
            <a:ext cx="10922000" cy="44069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E2D53-5E66-79ED-A761-B6AB23AD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Measures of Location: Quartiles and Percentiles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A1330-E97A-617B-C302-3E96576735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percentile </a:t>
                </a:r>
                <a:r>
                  <a:rPr lang="en-US" dirty="0"/>
                  <a:t>is a value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percent of the observations in a sample or population fall </a:t>
                </a:r>
                <a:r>
                  <a:rPr lang="en-US" u="sng" dirty="0"/>
                  <a:t>at or below </a:t>
                </a:r>
                <a:r>
                  <a:rPr lang="en-US" dirty="0"/>
                  <a:t>that value</a:t>
                </a:r>
              </a:p>
              <a:p>
                <a:endParaRPr lang="en-US" dirty="0"/>
              </a:p>
              <a:p>
                <a:r>
                  <a:rPr lang="en-US" dirty="0"/>
                  <a:t>Ex. The 50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is of any dataset is the median </a:t>
                </a:r>
              </a:p>
              <a:p>
                <a:endParaRPr lang="en-US" dirty="0"/>
              </a:p>
              <a:p>
                <a:r>
                  <a:rPr lang="en-US" dirty="0"/>
                  <a:t>Three useful percentiles of a distribution are the </a:t>
                </a:r>
                <a:r>
                  <a:rPr lang="en-US" b="1" dirty="0">
                    <a:solidFill>
                      <a:srgbClr val="C00000"/>
                    </a:solidFill>
                  </a:rPr>
                  <a:t>quartiles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first </a:t>
                </a:r>
                <a:r>
                  <a:rPr lang="en-US" b="1" dirty="0">
                    <a:solidFill>
                      <a:srgbClr val="C00000"/>
                    </a:solidFill>
                  </a:rPr>
                  <a:t>quartile Q1</a:t>
                </a:r>
                <a:r>
                  <a:rPr lang="en-US" dirty="0"/>
                  <a:t> is the 25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of the data.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second </a:t>
                </a:r>
                <a:r>
                  <a:rPr lang="en-US" b="1" dirty="0">
                    <a:solidFill>
                      <a:srgbClr val="C00000"/>
                    </a:solidFill>
                  </a:rPr>
                  <a:t>quartile Q2</a:t>
                </a:r>
                <a:r>
                  <a:rPr lang="en-US" dirty="0"/>
                  <a:t> is the 50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or median of the data.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third </a:t>
                </a:r>
                <a:r>
                  <a:rPr lang="en-US" b="1" dirty="0">
                    <a:solidFill>
                      <a:srgbClr val="C00000"/>
                    </a:solidFill>
                  </a:rPr>
                  <a:t>quartile Q3</a:t>
                </a:r>
                <a:r>
                  <a:rPr lang="en-US" dirty="0"/>
                  <a:t> is the 75</a:t>
                </a:r>
                <a:r>
                  <a:rPr lang="en-US" baseline="30000" dirty="0"/>
                  <a:t>th</a:t>
                </a:r>
                <a:r>
                  <a:rPr lang="en-US" dirty="0"/>
                  <a:t> percentile of the data.</a:t>
                </a:r>
                <a:r>
                  <a:rPr lang="en-US" b="1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b="1" dirty="0"/>
              </a:p>
              <a:p>
                <a:r>
                  <a:rPr lang="en-US" dirty="0"/>
                  <a:t>The quartiles split a distribution in four equal parts each containing 25% of the observations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A1330-E97A-617B-C302-3E9657673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36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9C34-90E0-B6D3-9341-EE353FF1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ED9EF298-909D-5D9D-52F8-8B793436934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84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D53-5E66-79ED-A761-B6AB23AD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795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3864"/>
                </a:solidFill>
              </a:rPr>
              <a:t>Measures of Position: Quartiles and Percentiles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FE47C-18E2-0DCE-12A0-928F930B5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1732917"/>
            <a:ext cx="10974332" cy="4534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FA9F0-7125-2ED8-956F-615EE6E8610C}"/>
              </a:ext>
            </a:extLst>
          </p:cNvPr>
          <p:cNvSpPr txBox="1"/>
          <p:nvPr/>
        </p:nvSpPr>
        <p:spPr>
          <a:xfrm>
            <a:off x="3867150" y="4486275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D8DD7-4F83-EF03-FCC3-5F401F96D765}"/>
              </a:ext>
            </a:extLst>
          </p:cNvPr>
          <p:cNvSpPr txBox="1"/>
          <p:nvPr/>
        </p:nvSpPr>
        <p:spPr>
          <a:xfrm>
            <a:off x="5191125" y="4486275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5BD45-E96F-BA6B-FF4F-BA5BCB352326}"/>
              </a:ext>
            </a:extLst>
          </p:cNvPr>
          <p:cNvSpPr txBox="1"/>
          <p:nvPr/>
        </p:nvSpPr>
        <p:spPr>
          <a:xfrm>
            <a:off x="6436075" y="4486275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39AF1-32EB-CF28-66BC-B3F83BAB9A0E}"/>
              </a:ext>
            </a:extLst>
          </p:cNvPr>
          <p:cNvSpPr txBox="1"/>
          <p:nvPr/>
        </p:nvSpPr>
        <p:spPr>
          <a:xfrm>
            <a:off x="7681025" y="4486275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A4B9C-0B38-BC45-00E4-EDED0FFBFB44}"/>
              </a:ext>
            </a:extLst>
          </p:cNvPr>
          <p:cNvSpPr txBox="1"/>
          <p:nvPr/>
        </p:nvSpPr>
        <p:spPr>
          <a:xfrm>
            <a:off x="4567380" y="141593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1B3ED-6831-A631-657F-5DD8040E33E4}"/>
              </a:ext>
            </a:extLst>
          </p:cNvPr>
          <p:cNvSpPr txBox="1"/>
          <p:nvPr/>
        </p:nvSpPr>
        <p:spPr>
          <a:xfrm>
            <a:off x="5782452" y="141593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F380B1-34E1-E77D-6F4D-B006308A41D2}"/>
              </a:ext>
            </a:extLst>
          </p:cNvPr>
          <p:cNvSpPr txBox="1"/>
          <p:nvPr/>
        </p:nvSpPr>
        <p:spPr>
          <a:xfrm>
            <a:off x="6924675" y="141593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BD2C6-0E7D-E81F-6787-780ACE6CD50C}"/>
              </a:ext>
            </a:extLst>
          </p:cNvPr>
          <p:cNvSpPr txBox="1"/>
          <p:nvPr/>
        </p:nvSpPr>
        <p:spPr>
          <a:xfrm>
            <a:off x="5643791" y="115990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4F246-5AC2-C460-5DB1-D0754A92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40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44A9729B-13C9-6E88-5FC7-D2B3D011B4A5}"/>
              </a:ext>
            </a:extLst>
          </p:cNvPr>
          <p:cNvSpPr/>
          <p:nvPr/>
        </p:nvSpPr>
        <p:spPr>
          <a:xfrm>
            <a:off x="635000" y="1676400"/>
            <a:ext cx="10922000" cy="3733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E2D53-5E66-79ED-A761-B6AB23AD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Computing the Quartiles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A1330-E97A-617B-C302-3E96576735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How to compute the quartiles: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Arrange the data in increasing order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Find the median and label as </a:t>
                </a:r>
                <a:r>
                  <a:rPr lang="en-US" b="1" dirty="0">
                    <a:solidFill>
                      <a:srgbClr val="C00000"/>
                    </a:solidFill>
                  </a:rPr>
                  <a:t>Q2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Consider the </a:t>
                </a:r>
                <a:r>
                  <a:rPr lang="en-US" u="sng" dirty="0"/>
                  <a:t>lower half </a:t>
                </a:r>
                <a:r>
                  <a:rPr lang="en-US" dirty="0"/>
                  <a:t>of the observations (excluding the median itself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an odd number).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Mark the median for the </a:t>
                </a:r>
                <a:r>
                  <a:rPr lang="en-US" u="sng" dirty="0"/>
                  <a:t>lower half</a:t>
                </a:r>
                <a:r>
                  <a:rPr lang="en-US" dirty="0"/>
                  <a:t> of the observations and label as </a:t>
                </a:r>
                <a:r>
                  <a:rPr lang="en-US" b="1" dirty="0">
                    <a:solidFill>
                      <a:srgbClr val="C00000"/>
                    </a:solidFill>
                  </a:rPr>
                  <a:t>Q1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Consider the </a:t>
                </a:r>
                <a:r>
                  <a:rPr lang="en-US" u="sng" dirty="0"/>
                  <a:t>upper half</a:t>
                </a:r>
                <a:r>
                  <a:rPr lang="en-US" b="1" u="sng" dirty="0"/>
                  <a:t> </a:t>
                </a:r>
                <a:r>
                  <a:rPr lang="en-US" dirty="0"/>
                  <a:t>of the observations (again excluding the median itself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odd)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Mark the median for the </a:t>
                </a:r>
                <a:r>
                  <a:rPr lang="en-US" u="sng" dirty="0"/>
                  <a:t>upper half</a:t>
                </a:r>
                <a:r>
                  <a:rPr lang="en-US" dirty="0"/>
                  <a:t> of the observations and label as </a:t>
                </a:r>
                <a:r>
                  <a:rPr lang="en-US" b="1" dirty="0">
                    <a:solidFill>
                      <a:srgbClr val="C00000"/>
                    </a:solidFill>
                  </a:rPr>
                  <a:t>Q3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A1330-E97A-617B-C302-3E9657673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B8A3C-62AA-1C35-C849-13F4C208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ADB5BFF9-1BCC-26C3-331E-415A99490D0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9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411704"/>
                <a:ext cx="10393219" cy="47951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Consider the following data which come from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 rolls of a six-sided die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lower half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middle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half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 =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1, 1, 1, 2, 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2, 2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2, 2, 2, 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2, 3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3, 3, 3, 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4, 5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5, 6, 6, 6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Q2 = median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2+3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=2.5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Q1 = median lower half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2+2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Q3 = median upper half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4+5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=4.5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11704"/>
                <a:ext cx="10393219" cy="4795132"/>
              </a:xfrm>
              <a:prstGeom prst="rect">
                <a:avLst/>
              </a:prstGeom>
              <a:blipFill>
                <a:blip r:embed="rId2"/>
                <a:stretch>
                  <a:fillRect l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1818"/>
            <a:ext cx="4783697" cy="1067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1F3864"/>
                </a:solidFill>
                <a:latin typeface="+mj-lt"/>
                <a:ea typeface="+mj-ea"/>
                <a:cs typeface="+mj-cs"/>
              </a:rPr>
              <a:t>Ex. </a:t>
            </a:r>
            <a:r>
              <a:rPr lang="en-US" sz="4000" dirty="0">
                <a:solidFill>
                  <a:srgbClr val="1F3864"/>
                </a:solidFill>
              </a:rPr>
              <a:t>Quartiles</a:t>
            </a:r>
            <a:endParaRPr lang="en-US" sz="4000" kern="1200" dirty="0">
              <a:solidFill>
                <a:srgbClr val="1F3864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83090-59E8-EFFB-3135-1672E48B6474}"/>
              </a:ext>
            </a:extLst>
          </p:cNvPr>
          <p:cNvSpPr/>
          <p:nvPr/>
        </p:nvSpPr>
        <p:spPr>
          <a:xfrm>
            <a:off x="1939636" y="3066473"/>
            <a:ext cx="3519055" cy="48029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39C5B-257E-372D-3412-85E2D621D863}"/>
              </a:ext>
            </a:extLst>
          </p:cNvPr>
          <p:cNvSpPr/>
          <p:nvPr/>
        </p:nvSpPr>
        <p:spPr>
          <a:xfrm>
            <a:off x="5458691" y="3066473"/>
            <a:ext cx="3519055" cy="480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C5D79-F5C2-F6DE-CEB4-6150C85D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03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EF69-32E0-75BE-12DF-06323FC3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Quartiles from the cumulative relative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EB1C-6CB9-BA32-AEB6-4F2CEDBBD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778000"/>
            <a:ext cx="5334000" cy="4191000"/>
          </a:xfrm>
        </p:spPr>
        <p:txBody>
          <a:bodyPr>
            <a:normAutofit/>
          </a:bodyPr>
          <a:lstStyle/>
          <a:p>
            <a:r>
              <a:rPr lang="en-US" sz="1500"/>
              <a:t>The crf column says what fraction of the data falls at or below each value</a:t>
            </a:r>
          </a:p>
          <a:p>
            <a:r>
              <a:rPr lang="en-US" sz="1500"/>
              <a:t>So the percentiles can be read straight off the table</a:t>
            </a:r>
          </a:p>
          <a:p>
            <a:pPr lvl="1"/>
            <a:r>
              <a:rPr lang="en-US" sz="1500"/>
              <a:t>the pth percentile is the first value whose crf reaches p/100</a:t>
            </a:r>
          </a:p>
          <a:p>
            <a:r>
              <a:rPr lang="en-US" sz="1500"/>
              <a:t>Q1: first crf at or above 0.25   gives x = 3</a:t>
            </a:r>
          </a:p>
          <a:p>
            <a:r>
              <a:rPr lang="en-US" sz="1500"/>
              <a:t>Q2: first crf at or above 0.50   gives x = 4</a:t>
            </a:r>
          </a:p>
          <a:p>
            <a:r>
              <a:rPr lang="en-US" sz="1500"/>
              <a:t>Q3: first crf at or above 0.75   gives x = 5</a:t>
            </a:r>
          </a:p>
          <a:p>
            <a:r>
              <a:rPr lang="en-US" sz="1500"/>
              <a:t>The same Q1, Q2 and Q3 the halving method gave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4F549-AAD8-5F9A-5ACE-6D53AA8606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05000"/>
            <a:ext cx="5511800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81BF8-8E96-4D07-03B3-A9FAD528F326}"/>
              </a:ext>
            </a:extLst>
          </p:cNvPr>
          <p:cNvSpPr txBox="1"/>
          <p:nvPr/>
        </p:nvSpPr>
        <p:spPr>
          <a:xfrm>
            <a:off x="6172200" y="5130800"/>
            <a:ext cx="5511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i="1"/>
              <a:t>One caution: when a crf lands exactly on 0.25, 0.50 or 0.75, the two methods can differ by one step. Keep using the halving method as the definition; read the table to check yourself.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F11F6-54C5-E223-975D-74844E3B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19</a:t>
            </a:fld>
            <a:endParaRPr lang="en-US"/>
          </a:p>
        </p:txBody>
      </p:sp>
      <p:sp>
        <p:nvSpPr>
          <p:cNvPr id="7" name="Title rule">
            <a:extLst>
              <a:ext uri="{FF2B5EF4-FFF2-40B4-BE49-F238E27FC236}">
                <a16:creationId xmlns:a16="http://schemas.microsoft.com/office/drawing/2014/main" id="{9A16F97E-3607-2F14-5FD3-965BB54FB2C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83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4A9B47AF-A64F-D46D-799F-562257440635}"/>
              </a:ext>
            </a:extLst>
          </p:cNvPr>
          <p:cNvSpPr/>
          <p:nvPr/>
        </p:nvSpPr>
        <p:spPr>
          <a:xfrm>
            <a:off x="635000" y="1676400"/>
            <a:ext cx="10922000" cy="32639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9C3C6-C810-835B-54A4-E5A4037C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Practice: Quartiles from Exam Scores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DE7D-C54C-9F70-498E-F05F62BAA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following 15 exam scores of students in a statistics course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61,61,65,65,66,68,69,73,74,75,76,78,79,90,94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Compute the 3 quartiles Q1, Q2, and Q3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19E6-64D1-F26C-FB1D-51B158B9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2EB0C8EA-315D-031B-189D-F018E26D8B7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5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1480</Words>
  <Application>Microsoft Office PowerPoint</Application>
  <PresentationFormat>Widescreen</PresentationFormat>
  <Paragraphs>185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Consolas</vt:lpstr>
      <vt:lpstr>Office Theme</vt:lpstr>
      <vt:lpstr>Lecture 5 Measures of Location and Position</vt:lpstr>
      <vt:lpstr>Review</vt:lpstr>
      <vt:lpstr>Review: ten video games</vt:lpstr>
      <vt:lpstr>Measures of Central Tendency: the Mean</vt:lpstr>
      <vt:lpstr>Practice: Calculate The Mean</vt:lpstr>
      <vt:lpstr>Alternative formulas for the mean</vt:lpstr>
      <vt:lpstr>Example: Computing the mean from a frequency table</vt:lpstr>
      <vt:lpstr>Measures of Central Tendency: the Median</vt:lpstr>
      <vt:lpstr>Practice: Calculate the Median</vt:lpstr>
      <vt:lpstr>PowerPoint Presentation</vt:lpstr>
      <vt:lpstr>Mean and median treat outliers differently</vt:lpstr>
      <vt:lpstr>PowerPoint Presentation</vt:lpstr>
      <vt:lpstr>The mode</vt:lpstr>
      <vt:lpstr>Practice 2:</vt:lpstr>
      <vt:lpstr>Measures of Location: Quartiles and Percentiles</vt:lpstr>
      <vt:lpstr>Measures of Position: Quartiles and Percentiles</vt:lpstr>
      <vt:lpstr>Computing the Quartiles</vt:lpstr>
      <vt:lpstr>Ex. Quartiles</vt:lpstr>
      <vt:lpstr>Quartiles from the cumulative relative frequency</vt:lpstr>
      <vt:lpstr>Practice: Quartiles from Exam 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342</cp:revision>
  <dcterms:created xsi:type="dcterms:W3CDTF">2023-08-05T23:57:41Z</dcterms:created>
  <dcterms:modified xsi:type="dcterms:W3CDTF">2026-09-09T16:51:20Z</dcterms:modified>
</cp:coreProperties>
</file>