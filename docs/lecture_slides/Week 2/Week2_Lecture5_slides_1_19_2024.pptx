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33" r:id="rId5"/>
    <p:sldId id="334" r:id="rId6"/>
    <p:sldId id="335" r:id="rId7"/>
    <p:sldId id="336" r:id="rId8"/>
    <p:sldId id="304" r:id="rId9"/>
    <p:sldId id="330" r:id="rId10"/>
    <p:sldId id="307" r:id="rId11"/>
    <p:sldId id="337" r:id="rId12"/>
    <p:sldId id="305" r:id="rId13"/>
    <p:sldId id="338" r:id="rId14"/>
    <p:sldId id="340" r:id="rId15"/>
    <p:sldId id="341" r:id="rId16"/>
    <p:sldId id="339" r:id="rId17"/>
    <p:sldId id="309" r:id="rId18"/>
    <p:sldId id="308" r:id="rId19"/>
    <p:sldId id="321" r:id="rId20"/>
    <p:sldId id="320" r:id="rId21"/>
    <p:sldId id="322" r:id="rId22"/>
    <p:sldId id="324" r:id="rId23"/>
    <p:sldId id="348" r:id="rId24"/>
    <p:sldId id="303" r:id="rId25"/>
    <p:sldId id="259" r:id="rId26"/>
    <p:sldId id="325" r:id="rId27"/>
    <p:sldId id="346" r:id="rId28"/>
    <p:sldId id="349" r:id="rId29"/>
    <p:sldId id="350" r:id="rId30"/>
    <p:sldId id="351" r:id="rId31"/>
    <p:sldId id="352" r:id="rId32"/>
    <p:sldId id="345" r:id="rId33"/>
    <p:sldId id="313" r:id="rId34"/>
    <p:sldId id="314" r:id="rId35"/>
    <p:sldId id="315" r:id="rId36"/>
    <p:sldId id="316" r:id="rId37"/>
    <p:sldId id="317" r:id="rId38"/>
    <p:sldId id="28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anshen.com/article/9350375543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/>
              <a:t>Lecture 5</a:t>
            </a:r>
            <a:br>
              <a:rPr lang="en-US"/>
            </a:br>
            <a:r>
              <a:rPr lang="en-US"/>
              <a:t>Measures of Location and Position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/>
              <a:t>Review</a:t>
            </a:r>
            <a:endParaRPr lang="en-US" dirty="0"/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1   </a:t>
            </a:r>
            <a:r>
              <a:rPr lang="en-US" b="1"/>
              <a:t>A distribution has two clear peaks. What does that usually tell us?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sample mixes two distinct sub-populations, picked out by some grouping variable.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2   </a:t>
            </a:r>
            <a:r>
              <a:rPr lang="en-US" b="1"/>
              <a:t>What makes a distribution skewed?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hard limit on the values – data pile up against the limit and trail away from it.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3   </a:t>
            </a:r>
            <a:r>
              <a:rPr lang="en-US" b="1"/>
              <a:t>Name the two very different things an outlier can be.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genuinely unusual observation, or a measurement or recording error.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4   </a:t>
            </a:r>
            <a:r>
              <a:rPr lang="en-US" b="1"/>
              <a:t>Which plot handles a large sample best, and which one keeps the actual data values?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histogram for large n. The stem and leaf plot keeps the original values.</a:t>
            </a:r>
            <a:endParaRPr lang="en-US" sz="1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EA695-3AC8-A481-E49D-28C2DE37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Review: ten video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7095C-11DB-7936-5FB4-845A466B7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244600"/>
            <a:ext cx="10795000" cy="48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x = Metacritic critic score, for a random sample of n = 10 best-selling video games.</a:t>
            </a:r>
          </a:p>
        </p:txBody>
      </p:sp>
      <p:sp>
        <p:nvSpPr>
          <p:cNvPr id="4" name="Values">
            <a:extLst>
              <a:ext uri="{FF2B5EF4-FFF2-40B4-BE49-F238E27FC236}">
                <a16:creationId xmlns:a16="http://schemas.microsoft.com/office/drawing/2014/main" id="{843B934A-AF59-02EF-8995-47A653C8EF1E}"/>
              </a:ext>
            </a:extLst>
          </p:cNvPr>
          <p:cNvSpPr txBox="1"/>
          <p:nvPr/>
        </p:nvSpPr>
        <p:spPr>
          <a:xfrm>
            <a:off x="762000" y="17526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A12CEC-6AE4-7530-386E-A62105F9D06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2235200"/>
            <a:ext cx="5969000" cy="3708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F605A8-66A2-41B0-4B9F-85FA855F95A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2235200"/>
            <a:ext cx="4826000" cy="2349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541DD7-04E3-2643-4511-B3A7406B9876}"/>
              </a:ext>
            </a:extLst>
          </p:cNvPr>
          <p:cNvSpPr txBox="1"/>
          <p:nvPr/>
        </p:nvSpPr>
        <p:spPr>
          <a:xfrm>
            <a:off x="6858000" y="4800600"/>
            <a:ext cx="4826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 i="1"/>
              <a:t>Four bins of width 10. Most of these games score in the 70s, with a few running up into the 90s.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195836-C2AF-8978-1148-2171E77D2E25}"/>
              </a:ext>
            </a:extLst>
          </p:cNvPr>
          <p:cNvSpPr txBox="1"/>
          <p:nvPr/>
        </p:nvSpPr>
        <p:spPr>
          <a:xfrm>
            <a:off x="508000" y="64516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>
                <a:solidFill>
                  <a:srgbClr val="666666"/>
                </a:solidFill>
              </a:rPr>
              <a:t>Data: VGChartz sales joined to Metacritic ratings, restricted to titles selling 5 million copies or more (127 games).</a:t>
            </a:r>
          </a:p>
        </p:txBody>
      </p:sp>
    </p:spTree>
    <p:extLst>
      <p:ext uri="{BB962C8B-B14F-4D97-AF65-F5344CB8AC3E}">
        <p14:creationId xmlns:p14="http://schemas.microsoft.com/office/powerpoint/2010/main" val="3538760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BD5D9-2535-EECF-DCF2-5C4D1AA7F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turn: the dot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D86D-59F2-0877-48AC-A1FA29DA7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88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Draw the dot plot. One dot per observation, stacked where a value repeats.</a:t>
            </a:r>
          </a:p>
          <a:p>
            <a:pPr marL="0" indent="0">
              <a:buNone/>
            </a:pPr>
            <a:r>
              <a:rPr lang="en-US" sz="1600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4AAA1B-CC9B-B135-0C5F-539FEB542E6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048000"/>
            <a:ext cx="1066800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901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475DD-C30A-CE5B-5EDC-FB6630F13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turn: the stem and leaf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5835C-7512-11EE-A3ED-D5A3584C0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88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Build the stem and leaf plot. Stems are the tens digit, leaves the ones.</a:t>
            </a:r>
          </a:p>
          <a:p>
            <a:pPr marL="0" indent="0">
              <a:buNone/>
            </a:pPr>
            <a:r>
              <a:rPr lang="en-US" sz="1600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sp>
        <p:nvSpPr>
          <p:cNvPr id="4" name="Stem and leaf">
            <a:extLst>
              <a:ext uri="{FF2B5EF4-FFF2-40B4-BE49-F238E27FC236}">
                <a16:creationId xmlns:a16="http://schemas.microsoft.com/office/drawing/2014/main" id="{989826F4-77DC-8262-AD82-17EC8B1B478C}"/>
              </a:ext>
            </a:extLst>
          </p:cNvPr>
          <p:cNvSpPr txBox="1"/>
          <p:nvPr/>
        </p:nvSpPr>
        <p:spPr>
          <a:xfrm>
            <a:off x="3810000" y="2667000"/>
            <a:ext cx="4826000" cy="255454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Stem | Leaf</a:t>
            </a:r>
          </a:p>
          <a:p>
            <a:r>
              <a:rPr lang="en-US" sz="2000">
                <a:latin typeface="Consolas" panose="020B0609020204030204" pitchFamily="49" charset="0"/>
              </a:rPr>
              <a:t>-----+------------</a:t>
            </a:r>
          </a:p>
          <a:p>
            <a:r>
              <a:rPr lang="en-US" sz="2000">
                <a:latin typeface="Consolas" panose="020B0609020204030204" pitchFamily="49" charset="0"/>
              </a:rPr>
              <a:t>   6 | 8</a:t>
            </a:r>
          </a:p>
          <a:p>
            <a:r>
              <a:rPr lang="en-US" sz="2000">
                <a:latin typeface="Consolas" panose="020B0609020204030204" pitchFamily="49" charset="0"/>
              </a:rPr>
              <a:t>   7 | 2  6  6  6</a:t>
            </a:r>
          </a:p>
          <a:p>
            <a:r>
              <a:rPr lang="en-US" sz="2000">
                <a:latin typeface="Consolas" panose="020B0609020204030204" pitchFamily="49" charset="0"/>
              </a:rPr>
              <a:t>   8 | 3  5  7</a:t>
            </a:r>
          </a:p>
          <a:p>
            <a:r>
              <a:rPr lang="en-US" sz="2000">
                <a:latin typeface="Consolas" panose="020B0609020204030204" pitchFamily="49" charset="0"/>
              </a:rPr>
              <a:t>   9 | 2  5</a:t>
            </a:r>
          </a:p>
          <a:p>
            <a:endParaRPr lang="en-US" sz="2000">
              <a:latin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</a:rPr>
              <a:t>Key:  6 | 8  =  68</a:t>
            </a:r>
          </a:p>
        </p:txBody>
      </p:sp>
    </p:spTree>
    <p:extLst>
      <p:ext uri="{BB962C8B-B14F-4D97-AF65-F5344CB8AC3E}">
        <p14:creationId xmlns:p14="http://schemas.microsoft.com/office/powerpoint/2010/main" val="6767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33810-2BA1-BBFF-C4AF-A6B03EABC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turn: the histogram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7BE89-9A11-492D-92EE-899492E00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20800"/>
            <a:ext cx="10795000" cy="88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Draw the histogram using the four bins from the frequency table.</a:t>
            </a:r>
          </a:p>
          <a:p>
            <a:pPr marL="0" indent="0">
              <a:buNone/>
            </a:pPr>
            <a:r>
              <a:rPr lang="en-US" sz="1600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214F-F2DD-3FBF-2BA2-0ACDBD8DD42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692400"/>
            <a:ext cx="9652000" cy="386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857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C9DB3-F6DF-A637-1E82-3A0AEC330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the three plots agree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51B011-D291-C98B-272F-10A4905F4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700"/>
              <a:t>All three show the same shape: a peak in the 70s with a tail running up into the 90s</a:t>
            </a:r>
          </a:p>
          <a:p>
            <a:pPr lvl="1"/>
            <a:r>
              <a:rPr lang="en-US" sz="1700"/>
              <a:t>That is skewed right, the shape we met on Wednesday</a:t>
            </a:r>
          </a:p>
          <a:p>
            <a:r>
              <a:rPr lang="en-US" sz="1700"/>
              <a:t>Three games tie at 76, so the plots have a clear tallest point</a:t>
            </a:r>
          </a:p>
          <a:p>
            <a:r>
              <a:rPr lang="en-US" sz="1700"/>
              <a:t>But how skewed? Where exactly is the center? The picture will not say</a:t>
            </a:r>
          </a:p>
          <a:p>
            <a:r>
              <a:rPr lang="en-US" sz="1700"/>
              <a:t>Eyeballing a plot gets us the shape. Numbers make it precise</a:t>
            </a:r>
          </a:p>
          <a:p>
            <a:pPr lvl="1"/>
            <a:r>
              <a:rPr lang="en-US" sz="1700"/>
              <a:t>Measures of location: where is the center?</a:t>
            </a:r>
          </a:p>
          <a:p>
            <a:pPr lvl="1"/>
            <a:r>
              <a:rPr lang="en-US" sz="1700"/>
              <a:t>Measures of position: where does one observation sit relative to the rest?</a:t>
            </a:r>
          </a:p>
        </p:txBody>
      </p:sp>
    </p:spTree>
    <p:extLst>
      <p:ext uri="{BB962C8B-B14F-4D97-AF65-F5344CB8AC3E}">
        <p14:creationId xmlns:p14="http://schemas.microsoft.com/office/powerpoint/2010/main" val="2260463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727"/>
            <a:ext cx="10515600" cy="1325563"/>
          </a:xfrm>
        </p:spPr>
        <p:txBody>
          <a:bodyPr/>
          <a:lstStyle/>
          <a:p>
            <a:r>
              <a:rPr lang="en-US" dirty="0"/>
              <a:t>Measures of Central Tendency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/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400" dirty="0"/>
                  <a:t>the mean is usually not equal to any of the values observed in the sample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/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8691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Mean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8261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Central Tendency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709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869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</p:spTree>
    <p:extLst>
      <p:ext uri="{BB962C8B-B14F-4D97-AF65-F5344CB8AC3E}">
        <p14:creationId xmlns:p14="http://schemas.microsoft.com/office/powerpoint/2010/main" val="165304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06810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92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2991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7068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mode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/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/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5021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3030426"/>
            <a:ext cx="53112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</p:spTree>
    <p:extLst>
      <p:ext uri="{BB962C8B-B14F-4D97-AF65-F5344CB8AC3E}">
        <p14:creationId xmlns:p14="http://schemas.microsoft.com/office/powerpoint/2010/main" val="2075252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Location: Quartiles and Percentiles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lang="en-US" b="1" dirty="0"/>
                  <a:t> percentile </a:t>
                </a:r>
                <a:r>
                  <a:rPr lang="en-US" dirty="0"/>
                  <a:t>is a value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percent of the observations in a sample or population fall </a:t>
                </a:r>
                <a:r>
                  <a:rPr lang="en-US" u="sng" dirty="0"/>
                  <a:t>at or below </a:t>
                </a:r>
                <a:r>
                  <a:rPr lang="en-US" dirty="0"/>
                  <a:t>that value</a:t>
                </a:r>
              </a:p>
              <a:p>
                <a:endParaRPr lang="en-US" dirty="0"/>
              </a:p>
              <a:p>
                <a:r>
                  <a:rPr lang="en-US" dirty="0"/>
                  <a:t>Ex.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is of any dataset is the median </a:t>
                </a:r>
              </a:p>
              <a:p>
                <a:endParaRPr lang="en-US" dirty="0"/>
              </a:p>
              <a:p>
                <a:r>
                  <a:rPr lang="en-US" dirty="0"/>
                  <a:t>Three useful percentiles of a distribution are the </a:t>
                </a:r>
                <a:r>
                  <a:rPr lang="en-US" b="1" dirty="0"/>
                  <a:t>quartiles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first </a:t>
                </a:r>
                <a:r>
                  <a:rPr lang="en-US" b="1" dirty="0"/>
                  <a:t>quartile Q1</a:t>
                </a:r>
                <a:r>
                  <a:rPr lang="en-US" dirty="0"/>
                  <a:t> is the 25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second </a:t>
                </a:r>
                <a:r>
                  <a:rPr lang="en-US" b="1" dirty="0"/>
                  <a:t>quartile Q2</a:t>
                </a:r>
                <a:r>
                  <a:rPr lang="en-US" dirty="0"/>
                  <a:t> is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or median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third </a:t>
                </a:r>
                <a:r>
                  <a:rPr lang="en-US" b="1" dirty="0"/>
                  <a:t>quartile Q3</a:t>
                </a:r>
                <a:r>
                  <a:rPr lang="en-US" dirty="0"/>
                  <a:t> is the 75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  <a:r>
                  <a:rPr lang="en-US" b="1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r>
                  <a:rPr lang="en-US" dirty="0"/>
                  <a:t>The quartiles split a distribution in four equal parts each containing 25% of the observations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36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31358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Measures of Position: Quartiles and Percentiles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5FE47C-18E2-0DCE-12A0-928F930B5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34" y="1732917"/>
            <a:ext cx="10974332" cy="45345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9FA9F0-7125-2ED8-956F-615EE6E8610C}"/>
              </a:ext>
            </a:extLst>
          </p:cNvPr>
          <p:cNvSpPr txBox="1"/>
          <p:nvPr/>
        </p:nvSpPr>
        <p:spPr>
          <a:xfrm>
            <a:off x="3867150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CD8DD7-4F83-EF03-FCC3-5F401F96D765}"/>
              </a:ext>
            </a:extLst>
          </p:cNvPr>
          <p:cNvSpPr txBox="1"/>
          <p:nvPr/>
        </p:nvSpPr>
        <p:spPr>
          <a:xfrm>
            <a:off x="51911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5BD45-E96F-BA6B-FF4F-BA5BCB352326}"/>
              </a:ext>
            </a:extLst>
          </p:cNvPr>
          <p:cNvSpPr txBox="1"/>
          <p:nvPr/>
        </p:nvSpPr>
        <p:spPr>
          <a:xfrm>
            <a:off x="643607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39AF1-32EB-CF28-66BC-B3F83BAB9A0E}"/>
              </a:ext>
            </a:extLst>
          </p:cNvPr>
          <p:cNvSpPr txBox="1"/>
          <p:nvPr/>
        </p:nvSpPr>
        <p:spPr>
          <a:xfrm>
            <a:off x="76810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A4B9C-0B38-BC45-00E4-EDED0FFBFB44}"/>
              </a:ext>
            </a:extLst>
          </p:cNvPr>
          <p:cNvSpPr txBox="1"/>
          <p:nvPr/>
        </p:nvSpPr>
        <p:spPr>
          <a:xfrm>
            <a:off x="4567380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21B3ED-6831-A631-657F-5DD8040E33E4}"/>
              </a:ext>
            </a:extLst>
          </p:cNvPr>
          <p:cNvSpPr txBox="1"/>
          <p:nvPr/>
        </p:nvSpPr>
        <p:spPr>
          <a:xfrm>
            <a:off x="5782452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F380B1-34E1-E77D-6F4D-B006308A41D2}"/>
              </a:ext>
            </a:extLst>
          </p:cNvPr>
          <p:cNvSpPr txBox="1"/>
          <p:nvPr/>
        </p:nvSpPr>
        <p:spPr>
          <a:xfrm>
            <a:off x="6924675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75%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2C6-0E7D-E81F-6787-780ACE6CD50C}"/>
              </a:ext>
            </a:extLst>
          </p:cNvPr>
          <p:cNvSpPr txBox="1"/>
          <p:nvPr/>
        </p:nvSpPr>
        <p:spPr>
          <a:xfrm>
            <a:off x="5643791" y="1159908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</p:txBody>
      </p:sp>
    </p:spTree>
    <p:extLst>
      <p:ext uri="{BB962C8B-B14F-4D97-AF65-F5344CB8AC3E}">
        <p14:creationId xmlns:p14="http://schemas.microsoft.com/office/powerpoint/2010/main" val="13393744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Position: Quartiles and Percentiles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the quartiles: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Arrange the data in increasing order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Find the median and label as </a:t>
                </a:r>
                <a:r>
                  <a:rPr lang="en-US" b="1" dirty="0"/>
                  <a:t>Q2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lower half </a:t>
                </a:r>
                <a:r>
                  <a:rPr lang="en-US" dirty="0"/>
                  <a:t>of the observations (excluding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an odd number).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lower half</a:t>
                </a:r>
                <a:r>
                  <a:rPr lang="en-US" dirty="0"/>
                  <a:t> of the observations and label as </a:t>
                </a:r>
                <a:r>
                  <a:rPr lang="en-US" b="1" dirty="0"/>
                  <a:t>Q1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upper half</a:t>
                </a:r>
                <a:r>
                  <a:rPr lang="en-US" b="1" u="sng" dirty="0"/>
                  <a:t> </a:t>
                </a:r>
                <a:r>
                  <a:rPr lang="en-US" dirty="0"/>
                  <a:t>of the observations (again 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upper half</a:t>
                </a:r>
                <a:r>
                  <a:rPr lang="en-US" dirty="0"/>
                  <a:t> of the observations and label as </a:t>
                </a:r>
                <a:r>
                  <a:rPr lang="en-US" b="1" dirty="0"/>
                  <a:t>Q3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5040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Q2 = median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2+3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/>
              <a:t>Quartiles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98732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9C3C6-C810-835B-54A4-E5A4037C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FDE7D-C54C-9F70-498E-F05F62BAA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15 exam scores of students in a statistics course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3 quartiles Q1, Q2, and Q3</a:t>
            </a:r>
          </a:p>
        </p:txBody>
      </p:sp>
    </p:spTree>
    <p:extLst>
      <p:ext uri="{BB962C8B-B14F-4D97-AF65-F5344CB8AC3E}">
        <p14:creationId xmlns:p14="http://schemas.microsoft.com/office/powerpoint/2010/main" val="40761743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269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</a:t>
            </a:r>
            <a:r>
              <a:rPr lang="en-US" b="1" dirty="0"/>
              <a:t>range</a:t>
            </a:r>
            <a:r>
              <a:rPr lang="en-US" dirty="0"/>
              <a:t> is a measure of the distance between the smallest and largest values in the data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The range can be computed with only two data points the minimum value and maximum value</a:t>
            </a:r>
          </a:p>
          <a:p>
            <a:endParaRPr lang="en-US" dirty="0"/>
          </a:p>
          <a:p>
            <a:r>
              <a:rPr lang="en-US" dirty="0"/>
              <a:t>If the range of a set of data is large, then usually this indicates greater dispersion of values</a:t>
            </a:r>
          </a:p>
          <a:p>
            <a:endParaRPr lang="en-US" dirty="0"/>
          </a:p>
          <a:p>
            <a:r>
              <a:rPr lang="en-US" dirty="0"/>
              <a:t>The range is </a:t>
            </a:r>
            <a:r>
              <a:rPr lang="en-US" u="sng" dirty="0"/>
              <a:t>severely</a:t>
            </a:r>
            <a:r>
              <a:rPr lang="en-US" dirty="0"/>
              <a:t> affected by the presence of outliers</a:t>
            </a:r>
          </a:p>
          <a:p>
            <a:endParaRPr lang="en-US" dirty="0"/>
          </a:p>
          <a:p>
            <a:r>
              <a:rPr lang="en-US" dirty="0"/>
              <a:t>We typically </a:t>
            </a:r>
            <a:r>
              <a:rPr lang="en-US" u="sng" dirty="0"/>
              <a:t>do not</a:t>
            </a:r>
            <a:r>
              <a:rPr lang="en-US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Spread: Range</a:t>
            </a:r>
          </a:p>
        </p:txBody>
      </p:sp>
    </p:spTree>
    <p:extLst>
      <p:ext uri="{BB962C8B-B14F-4D97-AF65-F5344CB8AC3E}">
        <p14:creationId xmlns:p14="http://schemas.microsoft.com/office/powerpoint/2010/main" val="33361691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Measures of Spread: Interquartile Range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interquartile range (IQR)</a:t>
                </a:r>
                <a:r>
                  <a:rPr lang="en-US" dirty="0"/>
                  <a:t> measures the spread of the middle 50% of the observations </a:t>
                </a:r>
              </a:p>
              <a:p>
                <a:endParaRPr lang="en-US" dirty="0"/>
              </a:p>
              <a:p>
                <a:r>
                  <a:rPr lang="en-US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2400" dirty="0"/>
                  <a:t>The more variability the larger the value of the </a:t>
                </a:r>
                <a:r>
                  <a:rPr lang="en-US" sz="2400" b="1" dirty="0"/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2400" b="1" dirty="0"/>
                  <a:t>IQR </a:t>
                </a:r>
                <a:r>
                  <a:rPr lang="en-US" sz="2400" dirty="0"/>
                  <a:t>is a good choice for distributions that are highly skewed!</a:t>
                </a:r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9556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IQR</a:t>
            </a:r>
          </a:p>
        </p:txBody>
      </p:sp>
    </p:spTree>
    <p:extLst>
      <p:ext uri="{BB962C8B-B14F-4D97-AF65-F5344CB8AC3E}">
        <p14:creationId xmlns:p14="http://schemas.microsoft.com/office/powerpoint/2010/main" val="236921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662199"/>
          </a:xfrm>
        </p:spPr>
        <p:txBody>
          <a:bodyPr>
            <a:normAutofit fontScale="92500"/>
          </a:bodyPr>
          <a:lstStyle/>
          <a:p>
            <a:r>
              <a:rPr lang="en-US" dirty="0"/>
              <a:t> Pros: </a:t>
            </a:r>
          </a:p>
          <a:p>
            <a:pPr lvl="1"/>
            <a:r>
              <a:rPr lang="en-US" dirty="0"/>
              <a:t>good for describing shape and location</a:t>
            </a:r>
          </a:p>
          <a:p>
            <a:pPr lvl="1"/>
            <a:r>
              <a:rPr lang="en-US" dirty="0"/>
              <a:t>Can be used to identify outliers</a:t>
            </a:r>
          </a:p>
          <a:p>
            <a:pPr lvl="1"/>
            <a:r>
              <a:rPr lang="en-US" dirty="0"/>
              <a:t>Length of whiskers indicates skew</a:t>
            </a:r>
          </a:p>
          <a:p>
            <a:pPr lvl="1"/>
            <a:r>
              <a:rPr lang="en-US" dirty="0"/>
              <a:t>Good for comparing two distributions or across categories</a:t>
            </a:r>
          </a:p>
          <a:p>
            <a:r>
              <a:rPr lang="en-US" dirty="0"/>
              <a:t>Cons: </a:t>
            </a:r>
          </a:p>
          <a:p>
            <a:pPr lvl="1"/>
            <a:r>
              <a:rPr lang="en-US" dirty="0"/>
              <a:t>does not show certain features like mounds, or gaps as well as a histogram</a:t>
            </a:r>
          </a:p>
        </p:txBody>
      </p:sp>
      <p:pic>
        <p:nvPicPr>
          <p:cNvPr id="5" name="Picture 4" descr="A diagram of a box plot&#10;&#10;Description automatically generated">
            <a:extLst>
              <a:ext uri="{FF2B5EF4-FFF2-40B4-BE49-F238E27FC236}">
                <a16:creationId xmlns:a16="http://schemas.microsoft.com/office/drawing/2014/main" id="{018FD8B2-9B43-319A-0198-F033315EA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51619" y="2368404"/>
            <a:ext cx="6657975" cy="366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319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6E2CDD-0BF2-1E07-E65C-54C10EEB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54" y="0"/>
            <a:ext cx="91490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7682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4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/>
              <a:t>Construct a Boxplot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8304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0221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/>
              <a:t>Construct a Boxplot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5 number summary and draw a boxplot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Compare the IQR with the range</a:t>
            </a:r>
          </a:p>
        </p:txBody>
      </p:sp>
    </p:spTree>
    <p:extLst>
      <p:ext uri="{BB962C8B-B14F-4D97-AF65-F5344CB8AC3E}">
        <p14:creationId xmlns:p14="http://schemas.microsoft.com/office/powerpoint/2010/main" val="4619624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Spread: Deviation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better measure of variability that uses </a:t>
                </a:r>
                <a:r>
                  <a:rPr lang="en-US" i="1" dirty="0"/>
                  <a:t>all</a:t>
                </a:r>
                <a:r>
                  <a:rPr lang="en-US" dirty="0"/>
                  <a:t> the data is based on </a:t>
                </a:r>
                <a:r>
                  <a:rPr lang="en-US" b="1" dirty="0"/>
                  <a:t>deviations</a:t>
                </a:r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deviations</a:t>
                </a:r>
                <a:r>
                  <a:rPr lang="en-US" dirty="0"/>
                  <a:t> are the </a:t>
                </a:r>
                <a:r>
                  <a:rPr lang="en-US" u="sng" dirty="0"/>
                  <a:t>distances</a:t>
                </a:r>
                <a:r>
                  <a:rPr lang="en-US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4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Every observation will have a deviation from the mean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  <a:blipFill>
                <a:blip r:embed="rId2"/>
                <a:stretch>
                  <a:fillRect l="-1069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75186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D4BAC8-DF07-082E-EBA7-3A6128B34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48882"/>
            <a:ext cx="10306050" cy="57439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256D99A-7249-27F8-2F8D-EA0FC4B870BA}"/>
              </a:ext>
            </a:extLst>
          </p:cNvPr>
          <p:cNvSpPr txBox="1"/>
          <p:nvPr/>
        </p:nvSpPr>
        <p:spPr>
          <a:xfrm>
            <a:off x="8899976" y="538404"/>
            <a:ext cx="26329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Rice </a:t>
            </a:r>
            <a:r>
              <a:rPr lang="en-US" sz="2000" b="1" dirty="0" err="1">
                <a:solidFill>
                  <a:srgbClr val="0070C0"/>
                </a:solidFill>
              </a:rPr>
              <a:t>Krispes</a:t>
            </a:r>
            <a:r>
              <a:rPr lang="en-US" sz="2000" b="1" dirty="0">
                <a:solidFill>
                  <a:srgbClr val="0070C0"/>
                </a:solidFill>
              </a:rPr>
              <a:t> = 340 (mg)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8554AD-23CC-6BD4-2F40-8A6ED06437AB}"/>
              </a:ext>
            </a:extLst>
          </p:cNvPr>
          <p:cNvSpPr txBox="1"/>
          <p:nvPr/>
        </p:nvSpPr>
        <p:spPr>
          <a:xfrm>
            <a:off x="4998805" y="443992"/>
            <a:ext cx="1984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Mean = 167 (mg)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A4E7E84C-0911-1392-D0D5-DA31D45F4D32}"/>
              </a:ext>
            </a:extLst>
          </p:cNvPr>
          <p:cNvSpPr/>
          <p:nvPr/>
        </p:nvSpPr>
        <p:spPr>
          <a:xfrm rot="16200000">
            <a:off x="8100087" y="738701"/>
            <a:ext cx="249796" cy="425796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572141-56E1-D65C-762A-8EB6762F1B7E}"/>
              </a:ext>
            </a:extLst>
          </p:cNvPr>
          <p:cNvCxnSpPr>
            <a:cxnSpLocks/>
          </p:cNvCxnSpPr>
          <p:nvPr/>
        </p:nvCxnSpPr>
        <p:spPr>
          <a:xfrm>
            <a:off x="10420350" y="844102"/>
            <a:ext cx="0" cy="4503175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/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340 −167=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𝟏𝟕𝟑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blipFill>
                <a:blip r:embed="rId3"/>
                <a:stretch>
                  <a:fillRect l="-2353" r="-264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A10761-3E76-A720-4A01-BCEED23A554E}"/>
              </a:ext>
            </a:extLst>
          </p:cNvPr>
          <p:cNvCxnSpPr>
            <a:cxnSpLocks/>
          </p:cNvCxnSpPr>
          <p:nvPr/>
        </p:nvCxnSpPr>
        <p:spPr>
          <a:xfrm>
            <a:off x="1816678" y="844102"/>
            <a:ext cx="0" cy="4503175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C28DDED-55BC-DD33-5745-B9634F33AA7B}"/>
              </a:ext>
            </a:extLst>
          </p:cNvPr>
          <p:cNvSpPr txBox="1"/>
          <p:nvPr/>
        </p:nvSpPr>
        <p:spPr>
          <a:xfrm>
            <a:off x="378598" y="338349"/>
            <a:ext cx="331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Frosted Mini Wheats = 0 (mg)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F14E752A-1AFD-2EE1-5241-D58BCCB24693}"/>
              </a:ext>
            </a:extLst>
          </p:cNvPr>
          <p:cNvSpPr/>
          <p:nvPr/>
        </p:nvSpPr>
        <p:spPr>
          <a:xfrm rot="16200000">
            <a:off x="3787077" y="-99858"/>
            <a:ext cx="239373" cy="416892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/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𝟏𝟔𝟕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blipFill>
                <a:blip r:embed="rId4"/>
                <a:stretch>
                  <a:fillRect l="-2769" r="-215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5170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Spread: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typically use either the </a:t>
                </a:r>
                <a:r>
                  <a:rPr lang="en-US" b="1" dirty="0"/>
                  <a:t>squared deviations</a:t>
                </a:r>
                <a:r>
                  <a:rPr lang="en-US" dirty="0"/>
                  <a:t> or their </a:t>
                </a:r>
                <a:r>
                  <a:rPr lang="en-US" b="1" dirty="0"/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Variance </a:t>
                </a:r>
                <a:r>
                  <a:rPr lang="en-US" dirty="0"/>
                  <a:t>of a distribution is the </a:t>
                </a:r>
                <a:r>
                  <a:rPr lang="en-US" u="sng" dirty="0"/>
                  <a:t>average</a:t>
                </a:r>
                <a:r>
                  <a:rPr lang="en-US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600" dirty="0"/>
              </a:p>
              <a:p>
                <a:r>
                  <a:rPr lang="en-US" sz="26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 smtClean="0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600" dirty="0"/>
                  <a:t> is called the sum of squares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39321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Measures of Spread: Standard Deviation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Since the variance uses the squared deviation, we usually take its square root called the </a:t>
                </a:r>
                <a:r>
                  <a:rPr lang="en-US" b="1" dirty="0"/>
                  <a:t>standard deviation</a:t>
                </a:r>
              </a:p>
              <a:p>
                <a:endParaRPr lang="en-US" b="1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  <a:p>
                <a:r>
                  <a:rPr lang="en-US" dirty="0"/>
                  <a:t>The standard deviation represents (roughly) the average distance of an observation from the mean </a:t>
                </a:r>
              </a:p>
              <a:p>
                <a:endParaRPr lang="en-US" dirty="0"/>
              </a:p>
              <a:p>
                <a:r>
                  <a:rPr lang="en-US" dirty="0"/>
                  <a:t>The greater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the greater the variability in the data is</a:t>
                </a:r>
              </a:p>
              <a:p>
                <a:endParaRPr lang="en-US" dirty="0"/>
              </a:p>
              <a:p>
                <a:r>
                  <a:rPr lang="en-US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812" t="-2840" b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97517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5537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EA75132-6122-451D-8580-53616DB7E95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199" y="537883"/>
                <a:ext cx="4783697" cy="1942810"/>
              </a:xfrm>
            </p:spPr>
            <p:txBody>
              <a:bodyPr vert="horz" lIns="91440" tIns="45720" rIns="91440" bIns="45720" rtlCol="0" anchor="b">
                <a:normAutofit/>
              </a:bodyPr>
              <a:lstStyle/>
              <a:p>
                <a:r>
                  <a:rPr lang="en-US" sz="4000" kern="1200" dirty="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rPr>
                  <a:t>Try it out: Computing </a:t>
                </a:r>
                <a14:m>
                  <m:oMath xmlns:m="http://schemas.openxmlformats.org/officeDocument/2006/math">
                    <m:r>
                      <a:rPr lang="en-US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  <a:cs typeface="+mj-cs"/>
                      </a:rPr>
                      <m:t>𝑠</m:t>
                    </m:r>
                  </m:oMath>
                </a14:m>
                <a:r>
                  <a:rPr lang="en-US" sz="4000" kern="1200" dirty="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  <a:cs typeface="+mj-cs"/>
                          </a:rPr>
                        </m:ctrlPr>
                      </m:sSupPr>
                      <m:e>
                        <m:r>
                          <a:rPr lang="en-US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  <a:cs typeface="+mj-cs"/>
                          </a:rPr>
                          <m:t>𝑠</m:t>
                        </m:r>
                      </m:e>
                      <m:sup>
                        <m:r>
                          <a:rPr lang="en-US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  <a:cs typeface="+mj-cs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4000" kern="1200" dirty="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rPr>
                  <a:t>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EA75132-6122-451D-8580-53616DB7E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199" y="537883"/>
                <a:ext cx="4783697" cy="1942810"/>
              </a:xfrm>
              <a:blipFill>
                <a:blip r:embed="rId2"/>
                <a:stretch>
                  <a:fillRect l="-4459" r="-892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Roll a six-sided die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=10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times and record the number rolled each time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1,2,3,3,4,4,4,5,6,6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sz="2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Mean = 3.8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  <a:blipFill>
                <a:blip r:embed="rId3"/>
                <a:stretch>
                  <a:fillRect l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Beer die - EUSwiki">
            <a:extLst>
              <a:ext uri="{FF2B5EF4-FFF2-40B4-BE49-F238E27FC236}">
                <a16:creationId xmlns:a16="http://schemas.microsoft.com/office/drawing/2014/main" id="{98F16938-2ED7-9FB6-1FC2-1BF322196D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6159" y="2927927"/>
            <a:ext cx="3077639" cy="3124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667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2103</Words>
  <Application>Microsoft Office PowerPoint</Application>
  <PresentationFormat>Widescreen</PresentationFormat>
  <Paragraphs>274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Lecture 5 Measures of Location and Position</vt:lpstr>
      <vt:lpstr>Review</vt:lpstr>
      <vt:lpstr>Review: ten video games</vt:lpstr>
      <vt:lpstr>Your turn: the dot plot</vt:lpstr>
      <vt:lpstr>Your turn: the stem and leaf plot</vt:lpstr>
      <vt:lpstr>Your turn: the histogram</vt:lpstr>
      <vt:lpstr>What the three plots agree on</vt:lpstr>
      <vt:lpstr>Measures of Central Tendency  </vt:lpstr>
      <vt:lpstr>Practice: Calculate The Mean </vt:lpstr>
      <vt:lpstr>Measures of Central Tendency </vt:lpstr>
      <vt:lpstr>Practice: Calculate the Median</vt:lpstr>
      <vt:lpstr>PowerPoint Presentation</vt:lpstr>
      <vt:lpstr>Mean and median treat outliers differently</vt:lpstr>
      <vt:lpstr>PowerPoint Presentation</vt:lpstr>
      <vt:lpstr>Alternative formulas for the mean</vt:lpstr>
      <vt:lpstr>Example: Computing the mean from a frequency table</vt:lpstr>
      <vt:lpstr>The mode</vt:lpstr>
      <vt:lpstr>Practice:</vt:lpstr>
      <vt:lpstr>Measures of Location: Quartiles and Percentiles</vt:lpstr>
      <vt:lpstr>Measures of Position: Quartiles and Percentiles</vt:lpstr>
      <vt:lpstr>Measures of Position: Quartiles and Percentiles</vt:lpstr>
      <vt:lpstr>Ex. Quartiles</vt:lpstr>
      <vt:lpstr>Practice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The Boxplot (Box and Whisker Plot): A five number summary</vt:lpstr>
      <vt:lpstr>PowerPoint Presentation</vt:lpstr>
      <vt:lpstr>Ex. Construct a Boxplot</vt:lpstr>
      <vt:lpstr>Practice</vt:lpstr>
      <vt:lpstr>Ex2. Construct a Boxplot</vt:lpstr>
      <vt:lpstr>Measures of Spread: Deviation </vt:lpstr>
      <vt:lpstr>PowerPoint Presentation</vt:lpstr>
      <vt:lpstr>Measures of Spread: Variance</vt:lpstr>
      <vt:lpstr>Measures of Spread: Standard Deviation</vt:lpstr>
      <vt:lpstr>Why divide by n-1 ?</vt:lpstr>
      <vt:lpstr>Try it out: Computing s and s^2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340</cp:revision>
  <dcterms:created xsi:type="dcterms:W3CDTF">2023-08-05T23:57:41Z</dcterms:created>
  <dcterms:modified xsi:type="dcterms:W3CDTF">2026-09-02T23:27:21Z</dcterms:modified>
</cp:coreProperties>
</file>