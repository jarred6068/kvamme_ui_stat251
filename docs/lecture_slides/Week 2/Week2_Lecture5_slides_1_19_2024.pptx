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31" r:id="rId3"/>
    <p:sldId id="332" r:id="rId4"/>
    <p:sldId id="336" r:id="rId5"/>
    <p:sldId id="304" r:id="rId6"/>
    <p:sldId id="330" r:id="rId7"/>
    <p:sldId id="307" r:id="rId8"/>
    <p:sldId id="337" r:id="rId9"/>
    <p:sldId id="305" r:id="rId10"/>
    <p:sldId id="338" r:id="rId11"/>
    <p:sldId id="340" r:id="rId12"/>
    <p:sldId id="341" r:id="rId13"/>
    <p:sldId id="339" r:id="rId14"/>
    <p:sldId id="309" r:id="rId15"/>
    <p:sldId id="308" r:id="rId16"/>
    <p:sldId id="321" r:id="rId17"/>
    <p:sldId id="320" r:id="rId18"/>
    <p:sldId id="322" r:id="rId19"/>
    <p:sldId id="324" r:id="rId20"/>
    <p:sldId id="348" r:id="rId21"/>
    <p:sldId id="303" r:id="rId22"/>
    <p:sldId id="259" r:id="rId23"/>
    <p:sldId id="325" r:id="rId24"/>
    <p:sldId id="346" r:id="rId25"/>
    <p:sldId id="349" r:id="rId26"/>
    <p:sldId id="350" r:id="rId27"/>
    <p:sldId id="351" r:id="rId28"/>
    <p:sldId id="352" r:id="rId29"/>
    <p:sldId id="345" r:id="rId30"/>
    <p:sldId id="313" r:id="rId31"/>
    <p:sldId id="314" r:id="rId32"/>
    <p:sldId id="315" r:id="rId33"/>
    <p:sldId id="316" r:id="rId34"/>
    <p:sldId id="317" r:id="rId35"/>
    <p:sldId id="283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821C1-92D8-0827-CE2B-80FEA840C2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4EA748-2C8E-5D78-5734-D9BCC16ECD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15553-DE39-3C41-4AFF-70F29A86E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2837C-8079-1B7F-0DCF-61C39ED30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95E205-162F-206E-F4C6-EB23D9DC1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8746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13490-30A7-12A6-2775-77578A346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7B95F-B119-D057-5670-8EC21A84E5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D001D-CEFB-FD30-FB40-0BEA5B52D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3377D-E7F3-D264-FB03-A4AF3E336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F48992-A907-9503-F005-BAA8A33CE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803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6B320-EDC1-EDD2-5F4C-2A675BD0C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8A940-1637-AC6F-0247-A5E578765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2A479-CAFF-245E-F61F-3D6F3E5C8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24E38-70F9-0CAE-F19E-6DDE60057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74C88-12BC-0657-008B-8419B1E10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099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02A09-336F-FDC8-F0C1-F84E09726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F6849-08AF-456F-8C3C-E6DE37B3B9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7E5562-6B4C-F11F-DF48-D254599EAA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A69C05-114E-11FE-5C76-D6F19175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71C5D0-A8D9-EEF2-15E4-CE74A390A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944C5-75A0-666E-C3DD-6839AB176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10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EC19E-080C-F794-EB45-FB4903CDD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85744A-FDBE-87AE-7AF1-3AC154DB2C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1970E4-B2B1-0370-3C26-0D1A5A0023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A4F036-B8A8-878F-A1CB-05DAE58015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8B7F82-EBC0-322A-130D-972F39800F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21A5BB-D71E-872F-6F0E-2279BE484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C56747-8CBE-BF00-C39A-F442E724C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2C14A-6287-B5B6-C760-7F506FD87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3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E9713-B0F2-9D1D-23FC-F5900F773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6FC7EC-16C8-C311-316C-6D99B4F99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FE4DA7-A4C5-460E-592C-CEF23DF38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3F89-7820-6BF8-A747-E433ED21A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44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EAD0FD-7A61-970C-10A9-76E2B39DA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F95651-C89A-3C9B-3D47-F7E5CAF6B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509228-92F1-54DE-D9B2-4AC018D50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303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3F474-02F7-A264-4B8D-717F5EB00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FA8C9F-750F-7D81-0E80-7FBCDEBEB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0A1C0B-C510-B118-D8FA-12722456A8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94604E-EC60-44AD-4B70-12B2B49AE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22C4B9-91B9-9E0E-9278-1C0433768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21E60F-F796-8B15-08E9-61BA30F0D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505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E564D-22A0-8A8D-C6FE-D62998433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713DEA-5246-B946-AFE4-3B305BCDB1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4208CC-31DD-00AF-BFC4-37F7B4BF3C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77E30D-B05F-B2CA-9A3C-E01E2B6B0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E08FCE-463A-D1B2-8A60-3B6744202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438537-A621-46D4-781D-4E36BF836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242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105C2-17EC-1173-1FC9-8A7FC1018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6BBB4A-325C-1F27-06A3-6F4F1A8F5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9A6F55-A1EF-6AEC-99F0-DBF50F5EB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A1FD1D-86F4-EDE3-1CCE-ADED2161B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E0593-ABE9-0E50-7A75-9252A5A1F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965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87FF77-0DAD-7CA9-B02D-208C020489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9298FA-F111-2C9C-551D-A1F30B239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F1B556-1ED0-55E4-9235-352E1A162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4A71E-8AC3-EA68-1DCB-99E68A465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B1CF60-74F8-B2C5-26C3-77536C36C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36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18B48B-0371-7ADD-E5C3-345B4D6CB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BB5A92-73C5-8CE0-7C84-BE7902E60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5212B-F67A-E417-B1FE-C389458DF2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882561-BD16-4A95-ACA1-5204E478F2F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9799A-D006-E28E-8EED-4BE2AFCB8D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69CB4-3B3A-FD13-F7E0-B4A0F34767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91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4" Type="http://schemas.openxmlformats.org/officeDocument/2006/relationships/image" Target="NUL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ianshen.com/article/9350375543/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NUL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F151A-3AFE-974F-DDC4-9B99389C3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4105419"/>
          </a:xfrm>
        </p:spPr>
        <p:txBody>
          <a:bodyPr>
            <a:normAutofit/>
          </a:bodyPr>
          <a:lstStyle/>
          <a:p>
            <a:r>
              <a:rPr lang="en-US"/>
              <a:t>Lecture 5</a:t>
            </a:r>
            <a:br>
              <a:rPr lang="en-US"/>
            </a:br>
            <a:r>
              <a:rPr lang="en-US"/>
              <a:t>Measures of Location and Position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71534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19130"/>
          </a:xfrm>
        </p:spPr>
        <p:txBody>
          <a:bodyPr>
            <a:normAutofit fontScale="90000"/>
          </a:bodyPr>
          <a:lstStyle/>
          <a:p>
            <a:r>
              <a:rPr lang="en-US"/>
              <a:t>Review</a:t>
            </a:r>
            <a:endParaRPr lang="en-US" dirty="0"/>
          </a:p>
        </p:txBody>
      </p:sp>
      <p:sp>
        <p:nvSpPr>
          <p:cNvPr id="3" name="Question 1"/>
          <p:cNvSpPr/>
          <p:nvPr/>
        </p:nvSpPr>
        <p:spPr>
          <a:xfrm>
            <a:off x="838200" y="107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4472C4"/>
                </a:solidFill>
              </a:rPr>
              <a:t>1   </a:t>
            </a:r>
            <a:r>
              <a:rPr lang="en-US" b="1"/>
              <a:t>A distribution has two clear peaks. What does that usually tell us?</a:t>
            </a:r>
            <a:endParaRPr lang="en-US" b="1" dirty="0"/>
          </a:p>
        </p:txBody>
      </p:sp>
      <p:sp>
        <p:nvSpPr>
          <p:cNvPr id="4" name="Answer 1"/>
          <p:cNvSpPr txBox="1"/>
          <p:nvPr/>
        </p:nvSpPr>
        <p:spPr>
          <a:xfrm>
            <a:off x="1066800" y="165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>
                <a:solidFill>
                  <a:srgbClr val="C00000"/>
                </a:solidFill>
              </a:rPr>
              <a:t>The sample mixes two distinct sub-populations, picked out by some grouping variable.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5" name="Question 2"/>
          <p:cNvSpPr/>
          <p:nvPr/>
        </p:nvSpPr>
        <p:spPr>
          <a:xfrm>
            <a:off x="838200" y="238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4472C4"/>
                </a:solidFill>
              </a:rPr>
              <a:t>2   </a:t>
            </a:r>
            <a:r>
              <a:rPr lang="en-US" b="1"/>
              <a:t>What makes a distribution skewed?</a:t>
            </a:r>
            <a:endParaRPr lang="en-US" b="1" dirty="0"/>
          </a:p>
        </p:txBody>
      </p:sp>
      <p:sp>
        <p:nvSpPr>
          <p:cNvPr id="6" name="Answer 2"/>
          <p:cNvSpPr txBox="1"/>
          <p:nvPr/>
        </p:nvSpPr>
        <p:spPr>
          <a:xfrm>
            <a:off x="1066800" y="296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A hard limit on the values – data pile up against the limit and trail away from it.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7" name="Question 3"/>
          <p:cNvSpPr/>
          <p:nvPr/>
        </p:nvSpPr>
        <p:spPr>
          <a:xfrm>
            <a:off x="838200" y="369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4472C4"/>
                </a:solidFill>
              </a:rPr>
              <a:t>3   </a:t>
            </a:r>
            <a:r>
              <a:rPr lang="en-US" b="1"/>
              <a:t>Name the two very different things an outlier can be.</a:t>
            </a:r>
            <a:endParaRPr lang="en-US" b="1" dirty="0"/>
          </a:p>
        </p:txBody>
      </p:sp>
      <p:sp>
        <p:nvSpPr>
          <p:cNvPr id="8" name="Answer 3"/>
          <p:cNvSpPr txBox="1"/>
          <p:nvPr/>
        </p:nvSpPr>
        <p:spPr>
          <a:xfrm>
            <a:off x="1066800" y="427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A genuinely unusual observation, or a measurement or recording error.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9" name="Question 4"/>
          <p:cNvSpPr/>
          <p:nvPr/>
        </p:nvSpPr>
        <p:spPr>
          <a:xfrm>
            <a:off x="838200" y="500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4472C4"/>
                </a:solidFill>
              </a:rPr>
              <a:t>4   </a:t>
            </a:r>
            <a:r>
              <a:rPr lang="en-US" b="1" dirty="0"/>
              <a:t>Which plot(s) are best for large sample sizes, and which one(s) keep the actual data values?</a:t>
            </a:r>
          </a:p>
        </p:txBody>
      </p:sp>
      <p:sp>
        <p:nvSpPr>
          <p:cNvPr id="10" name="Answer 4"/>
          <p:cNvSpPr txBox="1"/>
          <p:nvPr/>
        </p:nvSpPr>
        <p:spPr>
          <a:xfrm>
            <a:off x="1066800" y="558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C00000"/>
                </a:solidFill>
              </a:rPr>
              <a:t>The histogram for large n. The stem and leaf plot keeps the original values. Dot plot also – when applied to discrete data. </a:t>
            </a:r>
          </a:p>
        </p:txBody>
      </p:sp>
    </p:spTree>
    <p:extLst>
      <p:ext uri="{BB962C8B-B14F-4D97-AF65-F5344CB8AC3E}">
        <p14:creationId xmlns:p14="http://schemas.microsoft.com/office/powerpoint/2010/main" val="1517484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2EA695-3AC8-A481-E49D-28C2DE376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Review: ten video games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B7095C-11DB-7936-5FB4-845A466B7D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244600"/>
            <a:ext cx="10795000" cy="4826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/>
              <a:t>X = Metacritic critic score, for a random sample of n = 10 best-selling video games (circa 2000’s).</a:t>
            </a:r>
          </a:p>
        </p:txBody>
      </p:sp>
      <p:sp>
        <p:nvSpPr>
          <p:cNvPr id="4" name="Values">
            <a:extLst>
              <a:ext uri="{FF2B5EF4-FFF2-40B4-BE49-F238E27FC236}">
                <a16:creationId xmlns:a16="http://schemas.microsoft.com/office/drawing/2014/main" id="{843B934A-AF59-02EF-8995-47A653C8EF1E}"/>
              </a:ext>
            </a:extLst>
          </p:cNvPr>
          <p:cNvSpPr txBox="1"/>
          <p:nvPr/>
        </p:nvSpPr>
        <p:spPr>
          <a:xfrm>
            <a:off x="762000" y="1752600"/>
            <a:ext cx="10795000" cy="381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b="1">
                <a:latin typeface="Consolas" panose="020B0609020204030204" pitchFamily="49" charset="0"/>
              </a:rPr>
              <a:t>x = { 68,  72,  76,  76,  76,  83,  85,  87,  92,  95 }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0A12CEC-6AE4-7530-386E-A62105F9D069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2235200"/>
            <a:ext cx="5969000" cy="37084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3F605A8-66A2-41B0-4B9F-85FA855F95A2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0" y="2235200"/>
            <a:ext cx="4826000" cy="23495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E541DD7-04E3-2643-4511-B3A7406B9876}"/>
              </a:ext>
            </a:extLst>
          </p:cNvPr>
          <p:cNvSpPr txBox="1"/>
          <p:nvPr/>
        </p:nvSpPr>
        <p:spPr>
          <a:xfrm>
            <a:off x="6858000" y="4800600"/>
            <a:ext cx="4826000" cy="49244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300" i="1"/>
              <a:t>Four bins of width 10. Most of these games score in the 70s, with a few running up into the 90s.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195836-C2AF-8978-1148-2171E77D2E25}"/>
              </a:ext>
            </a:extLst>
          </p:cNvPr>
          <p:cNvSpPr txBox="1"/>
          <p:nvPr/>
        </p:nvSpPr>
        <p:spPr>
          <a:xfrm>
            <a:off x="508000" y="6451600"/>
            <a:ext cx="1117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i="1" dirty="0">
                <a:solidFill>
                  <a:srgbClr val="666666"/>
                </a:solidFill>
              </a:rPr>
              <a:t>Data: </a:t>
            </a:r>
            <a:r>
              <a:rPr lang="en-US" sz="1000" i="1" dirty="0" err="1">
                <a:solidFill>
                  <a:srgbClr val="666666"/>
                </a:solidFill>
              </a:rPr>
              <a:t>VGChartz</a:t>
            </a:r>
            <a:r>
              <a:rPr lang="en-US" sz="1000" i="1" dirty="0">
                <a:solidFill>
                  <a:srgbClr val="666666"/>
                </a:solidFill>
              </a:rPr>
              <a:t> sales joined to Metacritic ratings, restricted to titles selling 5 million copies or more (127 games).</a:t>
            </a:r>
          </a:p>
        </p:txBody>
      </p:sp>
    </p:spTree>
    <p:extLst>
      <p:ext uri="{BB962C8B-B14F-4D97-AF65-F5344CB8AC3E}">
        <p14:creationId xmlns:p14="http://schemas.microsoft.com/office/powerpoint/2010/main" val="35387602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C9DB3-F6DF-A637-1E82-3A0AEC330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the three plots agree 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51B011-D291-C98B-272F-10A4905F45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700"/>
              <a:t>All three show the same shape: a peak in the 70s with a tail running up into the 90s</a:t>
            </a:r>
          </a:p>
          <a:p>
            <a:pPr lvl="1"/>
            <a:r>
              <a:rPr lang="en-US" sz="1700"/>
              <a:t>That is skewed right, the shape we met on Wednesday</a:t>
            </a:r>
          </a:p>
          <a:p>
            <a:r>
              <a:rPr lang="en-US" sz="1700"/>
              <a:t>Three games tie at 76, so the plots have a clear tallest point</a:t>
            </a:r>
          </a:p>
          <a:p>
            <a:r>
              <a:rPr lang="en-US" sz="1700"/>
              <a:t>But how skewed? Where exactly is the center? The picture will not say</a:t>
            </a:r>
          </a:p>
          <a:p>
            <a:r>
              <a:rPr lang="en-US" sz="1700"/>
              <a:t>Eyeballing a plot gets us the shape. Numbers make it precise</a:t>
            </a:r>
          </a:p>
          <a:p>
            <a:pPr lvl="1"/>
            <a:r>
              <a:rPr lang="en-US" sz="1700"/>
              <a:t>Measures of location: where is the center?</a:t>
            </a:r>
          </a:p>
          <a:p>
            <a:pPr lvl="1"/>
            <a:r>
              <a:rPr lang="en-US" sz="1700"/>
              <a:t>Measures of position: where does one observation sit relative to the rest?</a:t>
            </a:r>
          </a:p>
        </p:txBody>
      </p:sp>
    </p:spTree>
    <p:extLst>
      <p:ext uri="{BB962C8B-B14F-4D97-AF65-F5344CB8AC3E}">
        <p14:creationId xmlns:p14="http://schemas.microsoft.com/office/powerpoint/2010/main" val="22604633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D0608-1958-6936-37C8-0B0F2E703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8300"/>
            <a:ext cx="10515600" cy="1320800"/>
          </a:xfrm>
        </p:spPr>
        <p:txBody>
          <a:bodyPr/>
          <a:lstStyle/>
          <a:p>
            <a:r>
              <a:rPr lang="en-US"/>
              <a:t>Measures of Central Tendency: the Mean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9C4FB3-6656-121C-4A91-2FBCF82E26C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96290"/>
                <a:ext cx="9977582" cy="5107709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The (arithmetic) </a:t>
                </a:r>
                <a:r>
                  <a:rPr lang="en-US" sz="2400" b="1" dirty="0"/>
                  <a:t>mean </a:t>
                </a:r>
                <a:r>
                  <a:rPr lang="en-US" sz="2400" dirty="0"/>
                  <a:t>is the average value of a set of observations </a:t>
                </a:r>
              </a:p>
              <a:p>
                <a:pPr marL="457200" lvl="1" indent="0">
                  <a:buNone/>
                </a:pPr>
                <a:r>
                  <a:rPr lang="en-US" sz="2000" dirty="0"/>
                  <a:t>it measures the center of mass of a distribution (the balancing point)</a:t>
                </a:r>
              </a:p>
              <a:p>
                <a:pPr marL="457200" lvl="1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+…+</m:t>
                        </m:r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 </m:t>
                    </m:r>
                    <m:nary>
                      <m:naryPr>
                        <m:chr m:val="∑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f>
                          <m:f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num>
                          <m:den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den>
                        </m:f>
                      </m:e>
                    </m:nary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sz="2400" dirty="0"/>
                  <a:t>the mean is usually not equal to any of the values observed in the sample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sz="2400" dirty="0"/>
                  <a:t>The mean is highly influenced by </a:t>
                </a:r>
                <a:r>
                  <a:rPr lang="en-US" sz="2400" b="1" dirty="0"/>
                  <a:t>outliers </a:t>
                </a:r>
                <a:r>
                  <a:rPr lang="en-US" sz="2400" dirty="0"/>
                  <a:t> - observations that take on extreme values relative to the distribution</a:t>
                </a:r>
                <a:endParaRPr lang="en-US" sz="2400" b="1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9C4FB3-6656-121C-4A91-2FBCF82E26C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96290"/>
                <a:ext cx="9977582" cy="5107709"/>
              </a:xfrm>
              <a:blipFill>
                <a:blip r:embed="rId2"/>
                <a:stretch>
                  <a:fillRect l="-856" t="-16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58691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ED68A1-D925-CD0E-C91F-BDCFF9B4B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Practice: Calculate The Mean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EC930D-CF63-11CB-F799-8B6F103744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636491" cy="4351338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={1, 3, 5, 5, 6, 7, 7, 8}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EC930D-CF63-11CB-F799-8B6F103744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636491" cy="4351338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282611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2243EE-CAAA-9631-C3E9-DBEC3605D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Measures of Central Tendency: the Median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35A268-CA85-9E12-C415-E91D6F48B52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9875982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The </a:t>
                </a:r>
                <a:r>
                  <a:rPr lang="en-US" b="1" dirty="0"/>
                  <a:t>median</a:t>
                </a:r>
                <a:r>
                  <a:rPr lang="en-US" dirty="0"/>
                  <a:t> is the middle value of a set of observations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How to compute the median: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Compute the median by first ordering the observations from smallest value to largest value and choose the number in the middle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If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 odd the median is the middle number</a:t>
                </a:r>
              </a:p>
              <a:p>
                <a:pPr marL="457200" lvl="1" indent="0">
                  <a:buNone/>
                </a:pPr>
                <a:r>
                  <a:rPr lang="en-US" dirty="0"/>
                  <a:t> -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 even the median is the sum of the two middle values divided by 2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35A268-CA85-9E12-C415-E91D6F48B52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9875982" cy="4351338"/>
              </a:xfrm>
              <a:blipFill>
                <a:blip r:embed="rId2"/>
                <a:stretch>
                  <a:fillRect l="-1296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27095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32D970-D5B1-13BB-C01E-5224E1F21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Practice: Calculate the Median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24A11B-CBAA-E4CB-9C3F-629D626DCA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={1, 3, 5, 5, 6, 7, 7, 8}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24A11B-CBAA-E4CB-9C3F-629D626DCA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28697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7AA1FB4F-B4C0-19FC-F8A6-80F1019CDA1B}"/>
              </a:ext>
            </a:extLst>
          </p:cNvPr>
          <p:cNvGrpSpPr/>
          <p:nvPr/>
        </p:nvGrpSpPr>
        <p:grpSpPr>
          <a:xfrm>
            <a:off x="281345" y="2185532"/>
            <a:ext cx="11223178" cy="3231099"/>
            <a:chOff x="170508" y="2213128"/>
            <a:chExt cx="11223178" cy="32310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0D94D794-5780-EB94-1BF2-FE234895A4DE}"/>
                    </a:ext>
                  </a:extLst>
                </p:cNvPr>
                <p:cNvSpPr txBox="1"/>
                <p:nvPr/>
              </p:nvSpPr>
              <p:spPr>
                <a:xfrm>
                  <a:off x="2051669" y="5058295"/>
                  <a:ext cx="78925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>
                        <m:acc>
                          <m:accPr>
                            <m:chr m:val="̅"/>
                            <m:ctrlPr>
                              <a:rPr kumimoji="0" lang="en-US" sz="1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accPr>
                          <m:e>
                            <m:r>
                              <a:rPr kumimoji="0" lang="en-US" sz="1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𝑥</m:t>
                            </m:r>
                          </m:e>
                        </m:acc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=9.2</m:t>
                        </m:r>
                      </m:oMath>
                    </m:oMathPara>
                  </a14:m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0D94D794-5780-EB94-1BF2-FE234895A4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51669" y="5058295"/>
                  <a:ext cx="789255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3876" r="-6977"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5EB56406-5F22-DCCD-EA7F-C958F3D211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0508" y="2213128"/>
              <a:ext cx="5170726" cy="2494353"/>
            </a:xfrm>
            <a:prstGeom prst="rect">
              <a:avLst/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E8AA625E-81C5-ECCB-6AEA-588CF86FBB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604632">
              <a:off x="6222960" y="2269308"/>
              <a:ext cx="5170726" cy="2494353"/>
            </a:xfrm>
            <a:prstGeom prst="rect">
              <a:avLst/>
            </a:prstGeom>
          </p:spPr>
        </p:pic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B2F214C2-1D86-F2C7-F495-1D8DF5707C70}"/>
                </a:ext>
              </a:extLst>
            </p:cNvPr>
            <p:cNvSpPr/>
            <p:nvPr/>
          </p:nvSpPr>
          <p:spPr>
            <a:xfrm>
              <a:off x="7678880" y="4258680"/>
              <a:ext cx="259773" cy="586392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" name="Isosceles Triangle 23">
              <a:extLst>
                <a:ext uri="{FF2B5EF4-FFF2-40B4-BE49-F238E27FC236}">
                  <a16:creationId xmlns:a16="http://schemas.microsoft.com/office/drawing/2014/main" id="{216A7137-8C55-1EF5-CC3D-BFDC40D635C1}"/>
                </a:ext>
              </a:extLst>
            </p:cNvPr>
            <p:cNvSpPr/>
            <p:nvPr/>
          </p:nvSpPr>
          <p:spPr>
            <a:xfrm>
              <a:off x="2123207" y="4296496"/>
              <a:ext cx="259773" cy="586392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9FE77AA-7C50-0F7E-C479-3A2E60163D35}"/>
                    </a:ext>
                  </a:extLst>
                </p:cNvPr>
                <p:cNvSpPr txBox="1"/>
                <p:nvPr/>
              </p:nvSpPr>
              <p:spPr>
                <a:xfrm>
                  <a:off x="7414138" y="4925623"/>
                  <a:ext cx="2095895" cy="51860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𝑚𝑒𝑑𝑖𝑎𝑛</m:t>
                        </m:r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=</m:t>
                        </m:r>
                        <m:f>
                          <m:fPr>
                            <m:ctrlPr>
                              <a:rPr kumimoji="0" lang="en-US" sz="1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FF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fPr>
                          <m:num>
                            <m:r>
                              <a:rPr kumimoji="0" lang="en-US" sz="1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FF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8+8</m:t>
                            </m:r>
                          </m:num>
                          <m:den>
                            <m:r>
                              <a:rPr kumimoji="0" lang="en-US" sz="18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2</m:t>
                            </m:r>
                          </m:den>
                        </m:f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=8</m:t>
                        </m:r>
                      </m:oMath>
                    </m:oMathPara>
                  </a14:m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9FE77AA-7C50-0F7E-C479-3A2E60163D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14138" y="4925623"/>
                  <a:ext cx="2095895" cy="51860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0AB15456-BDE7-CB11-8743-884D2B7E62B6}"/>
              </a:ext>
            </a:extLst>
          </p:cNvPr>
          <p:cNvSpPr txBox="1"/>
          <p:nvPr/>
        </p:nvSpPr>
        <p:spPr>
          <a:xfrm>
            <a:off x="594017" y="5686108"/>
            <a:ext cx="36052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 mean is the center of gravity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33A6C0A-C879-8A3D-A8EE-96D4E66E3A74}"/>
              </a:ext>
            </a:extLst>
          </p:cNvPr>
          <p:cNvSpPr txBox="1"/>
          <p:nvPr/>
        </p:nvSpPr>
        <p:spPr>
          <a:xfrm>
            <a:off x="6325923" y="5810799"/>
            <a:ext cx="34387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 median is the middle value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CC585F4-2355-392B-9E1E-5B47162BF9BA}"/>
              </a:ext>
            </a:extLst>
          </p:cNvPr>
          <p:cNvSpPr txBox="1"/>
          <p:nvPr/>
        </p:nvSpPr>
        <p:spPr>
          <a:xfrm>
            <a:off x="1320800" y="314036"/>
            <a:ext cx="8002512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Data: 3  3  3  3  3  3  3  4  4  4  4  4  4  4  4  4  4  5  5  5  5  5  5  5  5  5  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5  5  5  5  5  5  5  5  5  6  6  6  6  6  6  6  6  6  6  7  7  7  7  7  7  7  7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7  8 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8  8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8  8  8  9  9  9  9  9  9  9 10 10 10 10 10 10 10 11 11 11 11 11 12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12 12 12 12 12 12 12 13 13 13 14 14 14 14 14 14 15 15 15 16 16 16 16 17 17 17 18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18 20 20 20 20 20</a:t>
            </a:r>
          </a:p>
        </p:txBody>
      </p:sp>
    </p:spTree>
    <p:extLst>
      <p:ext uri="{BB962C8B-B14F-4D97-AF65-F5344CB8AC3E}">
        <p14:creationId xmlns:p14="http://schemas.microsoft.com/office/powerpoint/2010/main" val="1653046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84DE6C-08A1-E5FC-FBD2-2A6CFB149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Mean and median treat outliers differently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FE07D2-A170-60BA-CCDC-92189FF4B0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={1, 3, 5, 5, 6, 7, 7, 8, 32}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FE07D2-A170-60BA-CCDC-92189FF4B0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406810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3B45CB9-38D1-C6A4-DC41-174772C794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502" y="0"/>
            <a:ext cx="1005099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40925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F5637-759B-CDC6-A079-016153789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Alternative formulas for the mean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86C35F-87BF-000B-FFF1-FA6B4C96E0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sz="2800" dirty="0"/>
                  <a:t>We can also express the mean in terms of the frequency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sz="2800" dirty="0"/>
                  <a:t> or the relative frequency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𝑅𝐹</m:t>
                    </m:r>
                  </m:oMath>
                </a14:m>
                <a:endParaRPr lang="en-US" sz="2800" dirty="0"/>
              </a:p>
              <a:p>
                <a:endParaRPr lang="en-US" sz="2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  <m:sup/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     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or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     </m:t>
                      </m:r>
                      <m:acc>
                        <m:accPr>
                          <m:chr m:val="̅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  <m:sup/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𝑅𝐹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800" dirty="0"/>
              </a:p>
              <a:p>
                <a:pPr marL="0" indent="0">
                  <a:buNone/>
                </a:pPr>
                <a:r>
                  <a:rPr lang="en-US" sz="2800" dirty="0"/>
                  <a:t>Where the sum is over all distinct values of the variable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280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86C35F-87BF-000B-FFF1-FA6B4C96E0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729914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704281-A2B3-E169-D64B-55C4B2F0F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Computing the mean from a frequency table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CB2C17F-8867-4F95-3EA4-C71E0B623A8C}"/>
                  </a:ext>
                </a:extLst>
              </p:cNvPr>
              <p:cNvSpPr txBox="1"/>
              <p:nvPr/>
            </p:nvSpPr>
            <p:spPr>
              <a:xfrm>
                <a:off x="932873" y="1985818"/>
                <a:ext cx="10797309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={1, 3, 5, 5, 6, 7, 7, 8}</m:t>
                      </m:r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  <a:p>
                <a:endParaRPr lang="en-US" sz="240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CB2C17F-8867-4F95-3EA4-C71E0B623A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2873" y="1985818"/>
                <a:ext cx="10797309" cy="1477328"/>
              </a:xfrm>
              <a:prstGeom prst="rect">
                <a:avLst/>
              </a:prstGeom>
              <a:blipFill>
                <a:blip r:embed="rId2"/>
                <a:stretch>
                  <a:fillRect l="-1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BED149D-C46B-66BE-11B4-97A112E755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1566213"/>
              </p:ext>
            </p:extLst>
          </p:nvPr>
        </p:nvGraphicFramePr>
        <p:xfrm>
          <a:off x="7389092" y="1421340"/>
          <a:ext cx="434109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7030">
                  <a:extLst>
                    <a:ext uri="{9D8B030D-6E8A-4147-A177-3AD203B41FA5}">
                      <a16:colId xmlns:a16="http://schemas.microsoft.com/office/drawing/2014/main" val="2635967006"/>
                    </a:ext>
                  </a:extLst>
                </a:gridCol>
                <a:gridCol w="1447030">
                  <a:extLst>
                    <a:ext uri="{9D8B030D-6E8A-4147-A177-3AD203B41FA5}">
                      <a16:colId xmlns:a16="http://schemas.microsoft.com/office/drawing/2014/main" val="3005329175"/>
                    </a:ext>
                  </a:extLst>
                </a:gridCol>
                <a:gridCol w="1447030">
                  <a:extLst>
                    <a:ext uri="{9D8B030D-6E8A-4147-A177-3AD203B41FA5}">
                      <a16:colId xmlns:a16="http://schemas.microsoft.com/office/drawing/2014/main" val="1816929551"/>
                    </a:ext>
                  </a:extLst>
                </a:gridCol>
              </a:tblGrid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Freq.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Rel. Freq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9691844"/>
                  </a:ext>
                </a:extLst>
              </a:tr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206646"/>
                  </a:ext>
                </a:extLst>
              </a:tr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8416178"/>
                  </a:ext>
                </a:extLst>
              </a:tr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0.250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9562944"/>
                  </a:ext>
                </a:extLst>
              </a:tr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7024317"/>
                  </a:ext>
                </a:extLst>
              </a:tr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0.250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989846"/>
                  </a:ext>
                </a:extLst>
              </a:tr>
              <a:tr h="44085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0.125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70814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370682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BCB12-022F-4788-84E1-8A1F30003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mode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2930ED-E752-41BA-164E-704684B9D4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770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The </a:t>
            </a:r>
            <a:r>
              <a:rPr lang="en-US" b="1" dirty="0"/>
              <a:t>mode </a:t>
            </a:r>
            <a:r>
              <a:rPr lang="en-US" dirty="0"/>
              <a:t>is the value with the largest relative frequency (</a:t>
            </a:r>
            <a:r>
              <a:rPr lang="en-US" dirty="0" err="1"/>
              <a:t>i.e</a:t>
            </a:r>
            <a:r>
              <a:rPr lang="en-US" dirty="0"/>
              <a:t> the value that occurs most often)</a:t>
            </a:r>
          </a:p>
          <a:p>
            <a:pPr marL="0" indent="0">
              <a:buNone/>
            </a:pPr>
            <a:endParaRPr lang="en-US" dirty="0"/>
          </a:p>
          <a:p>
            <a:pPr lvl="1">
              <a:buFontTx/>
              <a:buChar char="-"/>
            </a:pPr>
            <a:r>
              <a:rPr lang="en-US" dirty="0"/>
              <a:t>Can be used with categorical data (mean and median cannot) </a:t>
            </a:r>
          </a:p>
          <a:p>
            <a:pPr marL="914400" lvl="2" indent="0">
              <a:buNone/>
            </a:pPr>
            <a:r>
              <a:rPr lang="en-US" dirty="0"/>
              <a:t>- </a:t>
            </a:r>
            <a:r>
              <a:rPr lang="en-US" dirty="0" err="1"/>
              <a:t>e.g</a:t>
            </a:r>
            <a:r>
              <a:rPr lang="en-US" dirty="0"/>
              <a:t> the most </a:t>
            </a:r>
            <a:r>
              <a:rPr lang="en-US"/>
              <a:t>frequent category</a:t>
            </a: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lvl="1">
              <a:buFontTx/>
              <a:buChar char="-"/>
            </a:pPr>
            <a:r>
              <a:rPr lang="en-US" dirty="0"/>
              <a:t>It may not be unique if two or more values have the same frequency</a:t>
            </a:r>
          </a:p>
          <a:p>
            <a:pPr lvl="1">
              <a:buFontTx/>
              <a:buChar char="-"/>
            </a:pPr>
            <a:endParaRPr lang="en-US" dirty="0"/>
          </a:p>
          <a:p>
            <a:pPr lvl="1">
              <a:buFontTx/>
              <a:buChar char="-"/>
            </a:pPr>
            <a:r>
              <a:rPr lang="en-US" b="1" u="sng" dirty="0"/>
              <a:t>Caution</a:t>
            </a:r>
            <a:r>
              <a:rPr lang="en-US" b="1" dirty="0"/>
              <a:t> </a:t>
            </a:r>
            <a:r>
              <a:rPr lang="en-US" dirty="0"/>
              <a:t>for quantitative data, the mode </a:t>
            </a:r>
            <a:r>
              <a:rPr lang="en-US" u="sng" dirty="0"/>
              <a:t>may not </a:t>
            </a:r>
            <a:r>
              <a:rPr lang="en-US" dirty="0"/>
              <a:t>anywhere near the center of the distribution.</a:t>
            </a:r>
          </a:p>
          <a:p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54BF4C3-8199-5A84-CD68-A8AED98D62D4}"/>
              </a:ext>
            </a:extLst>
          </p:cNvPr>
          <p:cNvSpPr txBox="1">
            <a:spLocks/>
          </p:cNvSpPr>
          <p:nvPr/>
        </p:nvSpPr>
        <p:spPr>
          <a:xfrm>
            <a:off x="8026400" y="1690688"/>
            <a:ext cx="388389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Ex.)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 = 1,1,4,5,6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 = 1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 = 1,1,4,5,6,6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   1, 6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FC46AD-94DD-AE71-3A19-101CF0E4AD10}"/>
              </a:ext>
            </a:extLst>
          </p:cNvPr>
          <p:cNvSpPr/>
          <p:nvPr/>
        </p:nvSpPr>
        <p:spPr>
          <a:xfrm>
            <a:off x="9097817" y="2253672"/>
            <a:ext cx="572655" cy="3694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6B7EBB-3587-1875-97E0-69C04C310EFE}"/>
              </a:ext>
            </a:extLst>
          </p:cNvPr>
          <p:cNvSpPr/>
          <p:nvPr/>
        </p:nvSpPr>
        <p:spPr>
          <a:xfrm>
            <a:off x="9097817" y="4234874"/>
            <a:ext cx="572655" cy="3694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559EECC-247B-77E7-E610-6554F4673539}"/>
              </a:ext>
            </a:extLst>
          </p:cNvPr>
          <p:cNvSpPr/>
          <p:nvPr/>
        </p:nvSpPr>
        <p:spPr>
          <a:xfrm>
            <a:off x="10169234" y="4242018"/>
            <a:ext cx="572655" cy="3694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50212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A22F9-922D-909D-3C73-EA3AFAF01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CC8FCB-1C29-7C52-743C-6204403397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30200" y="1727777"/>
                <a:ext cx="4565073" cy="1841211"/>
              </a:xfrm>
            </p:spPr>
            <p:txBody>
              <a:bodyPr>
                <a:normAutofit fontScale="25000" lnSpcReduction="20000"/>
              </a:bodyPr>
              <a:lstStyle/>
              <a:p>
                <a:pPr marL="0"/>
                <a:r>
                  <a:rPr lang="en-US" sz="9600" dirty="0"/>
                  <a:t>Roll a six-sided die </a:t>
                </a:r>
                <a14:m>
                  <m:oMath xmlns:m="http://schemas.openxmlformats.org/officeDocument/2006/math">
                    <m:r>
                      <a:rPr lang="en-US" sz="96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9600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en-US" sz="9600" dirty="0"/>
                  <a:t> times and record the number rolled each time</a:t>
                </a:r>
              </a:p>
              <a:p>
                <a:pPr marL="0"/>
                <a:endParaRPr lang="en-US" sz="9600" dirty="0"/>
              </a:p>
              <a:p>
                <a:pPr marL="0"/>
                <a:r>
                  <a:rPr lang="en-US" sz="9600" dirty="0"/>
                  <a:t>Data = 1,2,3,3,4,4,4,5,6,6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CC8FCB-1C29-7C52-743C-6204403397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30200" y="1727777"/>
                <a:ext cx="4565073" cy="1841211"/>
              </a:xfrm>
              <a:blipFill>
                <a:blip r:embed="rId2"/>
                <a:stretch>
                  <a:fillRect l="-2003" t="-7616" r="-20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D142727-FE0E-B241-4F4A-6EE854E438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309" y="3568988"/>
            <a:ext cx="4212438" cy="31479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6700DEC-0BFD-362F-79B5-AB575314C21F}"/>
              </a:ext>
            </a:extLst>
          </p:cNvPr>
          <p:cNvSpPr txBox="1"/>
          <p:nvPr/>
        </p:nvSpPr>
        <p:spPr>
          <a:xfrm>
            <a:off x="6363855" y="3030426"/>
            <a:ext cx="5311262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Compute the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mean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using all 3 equations: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Compute the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median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Compute the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 </a:t>
            </a:r>
          </a:p>
        </p:txBody>
      </p:sp>
    </p:spTree>
    <p:extLst>
      <p:ext uri="{BB962C8B-B14F-4D97-AF65-F5344CB8AC3E}">
        <p14:creationId xmlns:p14="http://schemas.microsoft.com/office/powerpoint/2010/main" val="20752525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E2D53-5E66-79ED-A761-B6AB23ADD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Measures of Location: Quartiles and Percentiles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DA1330-E97A-617B-C302-3E96576735C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𝒑</m:t>
                        </m:r>
                      </m:e>
                      <m:sup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𝒕𝒉</m:t>
                        </m:r>
                      </m:sup>
                    </m:sSup>
                  </m:oMath>
                </a14:m>
                <a:r>
                  <a:rPr lang="en-US" b="1" dirty="0"/>
                  <a:t> percentile </a:t>
                </a:r>
                <a:r>
                  <a:rPr lang="en-US" dirty="0"/>
                  <a:t>is a value 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percent of the observations in a sample or population fall </a:t>
                </a:r>
                <a:r>
                  <a:rPr lang="en-US" u="sng" dirty="0"/>
                  <a:t>at or below </a:t>
                </a:r>
                <a:r>
                  <a:rPr lang="en-US" dirty="0"/>
                  <a:t>that value</a:t>
                </a:r>
              </a:p>
              <a:p>
                <a:endParaRPr lang="en-US" dirty="0"/>
              </a:p>
              <a:p>
                <a:r>
                  <a:rPr lang="en-US" dirty="0"/>
                  <a:t>Ex. The 50</a:t>
                </a:r>
                <a:r>
                  <a:rPr lang="en-US" baseline="30000" dirty="0"/>
                  <a:t>th</a:t>
                </a:r>
                <a:r>
                  <a:rPr lang="en-US" dirty="0"/>
                  <a:t> percentile is of any dataset is the median </a:t>
                </a:r>
              </a:p>
              <a:p>
                <a:endParaRPr lang="en-US" dirty="0"/>
              </a:p>
              <a:p>
                <a:r>
                  <a:rPr lang="en-US" dirty="0"/>
                  <a:t>Three useful percentiles of a distribution are the </a:t>
                </a:r>
                <a:r>
                  <a:rPr lang="en-US" b="1" dirty="0"/>
                  <a:t>quartiles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The first </a:t>
                </a:r>
                <a:r>
                  <a:rPr lang="en-US" b="1" dirty="0"/>
                  <a:t>quartile Q1</a:t>
                </a:r>
                <a:r>
                  <a:rPr lang="en-US" dirty="0"/>
                  <a:t> is the 25</a:t>
                </a:r>
                <a:r>
                  <a:rPr lang="en-US" baseline="30000" dirty="0"/>
                  <a:t>th</a:t>
                </a:r>
                <a:r>
                  <a:rPr lang="en-US" dirty="0"/>
                  <a:t> percentile of the data.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The second </a:t>
                </a:r>
                <a:r>
                  <a:rPr lang="en-US" b="1" dirty="0"/>
                  <a:t>quartile Q2</a:t>
                </a:r>
                <a:r>
                  <a:rPr lang="en-US" dirty="0"/>
                  <a:t> is the 50</a:t>
                </a:r>
                <a:r>
                  <a:rPr lang="en-US" baseline="30000" dirty="0"/>
                  <a:t>th</a:t>
                </a:r>
                <a:r>
                  <a:rPr lang="en-US" dirty="0"/>
                  <a:t> percentile or median of the data.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The third </a:t>
                </a:r>
                <a:r>
                  <a:rPr lang="en-US" b="1" dirty="0"/>
                  <a:t>quartile Q3</a:t>
                </a:r>
                <a:r>
                  <a:rPr lang="en-US" dirty="0"/>
                  <a:t> is the 75</a:t>
                </a:r>
                <a:r>
                  <a:rPr lang="en-US" baseline="30000" dirty="0"/>
                  <a:t>th</a:t>
                </a:r>
                <a:r>
                  <a:rPr lang="en-US" dirty="0"/>
                  <a:t> percentile of the data.</a:t>
                </a:r>
                <a:r>
                  <a:rPr lang="en-US" b="1" dirty="0"/>
                  <a:t>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endParaRPr lang="en-US" b="1" dirty="0"/>
              </a:p>
              <a:p>
                <a:r>
                  <a:rPr lang="en-US" dirty="0"/>
                  <a:t>The quartiles split a distribution in four equal parts each containing 25% of the observations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DA1330-E97A-617B-C302-3E96576735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361" r="-4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31358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E2D53-5E66-79ED-A761-B6AB23ADD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079500"/>
          </a:xfrm>
        </p:spPr>
        <p:txBody>
          <a:bodyPr>
            <a:normAutofit/>
          </a:bodyPr>
          <a:lstStyle/>
          <a:p>
            <a:r>
              <a:rPr lang="en-US" sz="4000" dirty="0"/>
              <a:t>Measures of Position: Quartiles and Percentiles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75FE47C-18E2-0DCE-12A0-928F930B5B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834" y="1732917"/>
            <a:ext cx="10974332" cy="453453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99FA9F0-7125-2ED8-956F-615EE6E8610C}"/>
              </a:ext>
            </a:extLst>
          </p:cNvPr>
          <p:cNvSpPr txBox="1"/>
          <p:nvPr/>
        </p:nvSpPr>
        <p:spPr>
          <a:xfrm>
            <a:off x="3867150" y="4486275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25%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CD8DD7-4F83-EF03-FCC3-5F401F96D765}"/>
              </a:ext>
            </a:extLst>
          </p:cNvPr>
          <p:cNvSpPr txBox="1"/>
          <p:nvPr/>
        </p:nvSpPr>
        <p:spPr>
          <a:xfrm>
            <a:off x="5191125" y="4486275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25%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25BD45-E96F-BA6B-FF4F-BA5BCB352326}"/>
              </a:ext>
            </a:extLst>
          </p:cNvPr>
          <p:cNvSpPr txBox="1"/>
          <p:nvPr/>
        </p:nvSpPr>
        <p:spPr>
          <a:xfrm>
            <a:off x="6436075" y="4486275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25%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9039AF1-32EB-CF28-66BC-B3F83BAB9A0E}"/>
              </a:ext>
            </a:extLst>
          </p:cNvPr>
          <p:cNvSpPr txBox="1"/>
          <p:nvPr/>
        </p:nvSpPr>
        <p:spPr>
          <a:xfrm>
            <a:off x="7681025" y="4486275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25%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4A4B9C-0B38-BC45-00E4-EDED0FFBFB44}"/>
              </a:ext>
            </a:extLst>
          </p:cNvPr>
          <p:cNvSpPr txBox="1"/>
          <p:nvPr/>
        </p:nvSpPr>
        <p:spPr>
          <a:xfrm>
            <a:off x="4567380" y="1415930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25%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121B3ED-6831-A631-657F-5DD8040E33E4}"/>
              </a:ext>
            </a:extLst>
          </p:cNvPr>
          <p:cNvSpPr txBox="1"/>
          <p:nvPr/>
        </p:nvSpPr>
        <p:spPr>
          <a:xfrm>
            <a:off x="5782452" y="1415930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50%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4F380B1-34E1-E77D-6F4D-B006308A41D2}"/>
              </a:ext>
            </a:extLst>
          </p:cNvPr>
          <p:cNvSpPr txBox="1"/>
          <p:nvPr/>
        </p:nvSpPr>
        <p:spPr>
          <a:xfrm>
            <a:off x="6924675" y="1415930"/>
            <a:ext cx="6270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75%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5EBD2C6-0E7D-E81F-6787-780ACE6CD50C}"/>
              </a:ext>
            </a:extLst>
          </p:cNvPr>
          <p:cNvSpPr txBox="1"/>
          <p:nvPr/>
        </p:nvSpPr>
        <p:spPr>
          <a:xfrm>
            <a:off x="5643791" y="1159908"/>
            <a:ext cx="918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Median</a:t>
            </a:r>
          </a:p>
        </p:txBody>
      </p:sp>
    </p:spTree>
    <p:extLst>
      <p:ext uri="{BB962C8B-B14F-4D97-AF65-F5344CB8AC3E}">
        <p14:creationId xmlns:p14="http://schemas.microsoft.com/office/powerpoint/2010/main" val="13393744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E2D53-5E66-79ED-A761-B6AB23ADD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Computing the Quartiles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DA1330-E97A-617B-C302-3E96576735C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How to compute the quartiles: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Arrange the data in increasing order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Find the median and label as </a:t>
                </a:r>
                <a:r>
                  <a:rPr lang="en-US" b="1" dirty="0"/>
                  <a:t>Q2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Consider the </a:t>
                </a:r>
                <a:r>
                  <a:rPr lang="en-US" u="sng" dirty="0"/>
                  <a:t>lower half </a:t>
                </a:r>
                <a:r>
                  <a:rPr lang="en-US" dirty="0"/>
                  <a:t>of the observations (excluding the median itself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 an odd number).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Mark the median for the </a:t>
                </a:r>
                <a:r>
                  <a:rPr lang="en-US" u="sng" dirty="0"/>
                  <a:t>lower half</a:t>
                </a:r>
                <a:r>
                  <a:rPr lang="en-US" dirty="0"/>
                  <a:t> of the observations and label as </a:t>
                </a:r>
                <a:r>
                  <a:rPr lang="en-US" b="1" dirty="0"/>
                  <a:t>Q1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Consider the </a:t>
                </a:r>
                <a:r>
                  <a:rPr lang="en-US" u="sng" dirty="0"/>
                  <a:t>upper half</a:t>
                </a:r>
                <a:r>
                  <a:rPr lang="en-US" b="1" u="sng" dirty="0"/>
                  <a:t> </a:t>
                </a:r>
                <a:r>
                  <a:rPr lang="en-US" dirty="0"/>
                  <a:t>of the observations (again excluding the median itself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 odd)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Mark the median for the </a:t>
                </a:r>
                <a:r>
                  <a:rPr lang="en-US" u="sng" dirty="0"/>
                  <a:t>upper half</a:t>
                </a:r>
                <a:r>
                  <a:rPr lang="en-US" dirty="0"/>
                  <a:t> of the observations and label as </a:t>
                </a:r>
                <a:r>
                  <a:rPr lang="en-US" b="1" dirty="0"/>
                  <a:t>Q3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DA1330-E97A-617B-C302-3E96576735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50403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933D906-CF81-5AD4-2902-D9DD0E0EF8B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9" y="1411704"/>
                <a:ext cx="10393219" cy="479513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Consider the following data which come from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𝑛</m:t>
                    </m:r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</m:oMath>
                </a14:m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20 rolls of a six-sided die</a:t>
                </a: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               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lower half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B05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middle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upper half</a:t>
                </a: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Data = 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1, 1, 1, 2, </a:t>
                </a:r>
                <a:r>
                  <a:rPr kumimoji="0" 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2, 2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, 2, 2, 2, </a:t>
                </a:r>
                <a:r>
                  <a:rPr kumimoji="0" 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B05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2, 3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, 3, 3, 3, </a:t>
                </a:r>
                <a:r>
                  <a:rPr kumimoji="0" 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4, 5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,</a:t>
                </a:r>
                <a:r>
                  <a:rPr kumimoji="0" lang="en-US" sz="2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5, 6, 6, 6</a:t>
                </a: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B05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Q2 = median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f>
                      <m:f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B05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B05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2+3</m:t>
                        </m:r>
                      </m:num>
                      <m:den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B05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den>
                    </m:f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=2.5</m:t>
                    </m:r>
                  </m:oMath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Q1 = median lower half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f>
                      <m:f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2+2</m:t>
                        </m:r>
                      </m:num>
                      <m:den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den>
                    </m:f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=2</m:t>
                    </m:r>
                  </m:oMath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Q3 = median upper half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f>
                      <m:f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4+5</m:t>
                        </m:r>
                      </m:num>
                      <m:den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den>
                    </m:f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=4.5</m:t>
                    </m:r>
                  </m:oMath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22860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22860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933D906-CF81-5AD4-2902-D9DD0E0EF8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1411704"/>
                <a:ext cx="10393219" cy="4795132"/>
              </a:xfrm>
              <a:prstGeom prst="rect">
                <a:avLst/>
              </a:prstGeom>
              <a:blipFill>
                <a:blip r:embed="rId2"/>
                <a:stretch>
                  <a:fillRect l="-8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6EA75132-6122-451D-8580-53616DB7E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461818"/>
            <a:ext cx="4783697" cy="106752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Ex. </a:t>
            </a:r>
            <a:r>
              <a:rPr lang="en-US" sz="4000" dirty="0"/>
              <a:t>Quartiles</a:t>
            </a:r>
            <a:endParaRPr lang="en-US" sz="40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DA83090-59E8-EFFB-3135-1672E48B6474}"/>
              </a:ext>
            </a:extLst>
          </p:cNvPr>
          <p:cNvSpPr/>
          <p:nvPr/>
        </p:nvSpPr>
        <p:spPr>
          <a:xfrm>
            <a:off x="1939636" y="3066473"/>
            <a:ext cx="3519055" cy="480291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A39C5B-257E-372D-3412-85E2D621D863}"/>
              </a:ext>
            </a:extLst>
          </p:cNvPr>
          <p:cNvSpPr/>
          <p:nvPr/>
        </p:nvSpPr>
        <p:spPr>
          <a:xfrm>
            <a:off x="5458691" y="3066473"/>
            <a:ext cx="3519055" cy="48029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198732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9C3C6-C810-835B-54A4-E5A4037C1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Practice: Quartiles from Exam Scores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7FDE7D-C54C-9F70-498E-F05F62BAA5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Consider the following 15 exam scores of students in a statistics course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61,61,65,65,66,68,69,73,74,75,76,78,79,90,94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Compute the 3 quartiles Q1, Q2, and Q3</a:t>
            </a:r>
          </a:p>
        </p:txBody>
      </p:sp>
    </p:spTree>
    <p:extLst>
      <p:ext uri="{BB962C8B-B14F-4D97-AF65-F5344CB8AC3E}">
        <p14:creationId xmlns:p14="http://schemas.microsoft.com/office/powerpoint/2010/main" val="40761743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6764E-1650-762B-5308-1049092EA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Variability of A Distribution: Measures of Spread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F4481B-DAA2-3B91-063C-978376309A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8689" y="1771748"/>
            <a:ext cx="8783276" cy="4810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76269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2D83D08-E688-A516-345A-2BA8AFF855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3323" y="3687010"/>
            <a:ext cx="5685913" cy="317099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F83EFD-680B-07F4-94B1-411EFE5D3C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1834" y="1825625"/>
            <a:ext cx="5257800" cy="4667250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The </a:t>
            </a:r>
            <a:r>
              <a:rPr lang="en-US" b="1" dirty="0"/>
              <a:t>range</a:t>
            </a:r>
            <a:r>
              <a:rPr lang="en-US" dirty="0"/>
              <a:t> is a measure of the distance between the smallest and largest values in the data</a:t>
            </a:r>
          </a:p>
          <a:p>
            <a:endParaRPr lang="en-US" dirty="0"/>
          </a:p>
          <a:p>
            <a:pPr marL="457200" lvl="1" indent="0">
              <a:buNone/>
            </a:pPr>
            <a:r>
              <a:rPr lang="en-US" dirty="0"/>
              <a:t>The range can be computed with only two data points the minimum value and maximum value</a:t>
            </a:r>
          </a:p>
          <a:p>
            <a:endParaRPr lang="en-US" dirty="0"/>
          </a:p>
          <a:p>
            <a:r>
              <a:rPr lang="en-US" dirty="0"/>
              <a:t>If the range of a set of data is large, then usually this indicates greater dispersion of values</a:t>
            </a:r>
          </a:p>
          <a:p>
            <a:endParaRPr lang="en-US" dirty="0"/>
          </a:p>
          <a:p>
            <a:r>
              <a:rPr lang="en-US" dirty="0"/>
              <a:t>The range is </a:t>
            </a:r>
            <a:r>
              <a:rPr lang="en-US" u="sng" dirty="0"/>
              <a:t>severely</a:t>
            </a:r>
            <a:r>
              <a:rPr lang="en-US" dirty="0"/>
              <a:t> affected by the presence of outliers</a:t>
            </a:r>
          </a:p>
          <a:p>
            <a:endParaRPr lang="en-US" dirty="0"/>
          </a:p>
          <a:p>
            <a:r>
              <a:rPr lang="en-US" dirty="0"/>
              <a:t>We typically </a:t>
            </a:r>
            <a:r>
              <a:rPr lang="en-US" u="sng" dirty="0"/>
              <a:t>do not</a:t>
            </a:r>
            <a:r>
              <a:rPr lang="en-US" dirty="0"/>
              <a:t> use the range to measure variability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6C44C54-000D-E381-2205-131B79AD8F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24" y="942974"/>
            <a:ext cx="5466842" cy="313882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D084E88-7278-810D-D713-71E32243F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Measures of Spread: Range</a:t>
            </a:r>
          </a:p>
        </p:txBody>
      </p:sp>
    </p:spTree>
    <p:extLst>
      <p:ext uri="{BB962C8B-B14F-4D97-AF65-F5344CB8AC3E}">
        <p14:creationId xmlns:p14="http://schemas.microsoft.com/office/powerpoint/2010/main" val="33361691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D6BCC-CAB3-F735-AC9E-6A7940310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dirty="0"/>
              <a:t>Measures of Spread: Interquartile Range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8E8586-DD23-94D2-D323-FAF1EE2B0E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The </a:t>
                </a:r>
                <a:r>
                  <a:rPr lang="en-US" b="1" dirty="0"/>
                  <a:t>interquartile range (IQR)</a:t>
                </a:r>
                <a:r>
                  <a:rPr lang="en-US" dirty="0"/>
                  <a:t> measures the spread of the middle 50% of the observations </a:t>
                </a:r>
              </a:p>
              <a:p>
                <a:endParaRPr lang="en-US" dirty="0"/>
              </a:p>
              <a:p>
                <a:r>
                  <a:rPr lang="en-US" dirty="0"/>
                  <a:t>It is resistant to outliers</a:t>
                </a:r>
              </a:p>
              <a:p>
                <a:pPr marL="0" indent="0" algn="ctr">
                  <a:buNone/>
                </a:pPr>
                <a:endParaRPr lang="en-US" sz="2400" b="1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𝑰𝑸𝑹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𝑸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𝑸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sz="2400" b="1" dirty="0"/>
              </a:p>
              <a:p>
                <a:pPr marL="0" indent="0" algn="ctr">
                  <a:buNone/>
                </a:pPr>
                <a:endParaRPr lang="en-US" sz="2400" b="1" dirty="0"/>
              </a:p>
              <a:p>
                <a:r>
                  <a:rPr lang="en-US" sz="2400" dirty="0"/>
                  <a:t>The more variability the larger the value of the </a:t>
                </a:r>
                <a:r>
                  <a:rPr lang="en-US" sz="2400" b="1" dirty="0"/>
                  <a:t>IQR</a:t>
                </a:r>
                <a:r>
                  <a:rPr lang="en-US" sz="2400" dirty="0"/>
                  <a:t> </a:t>
                </a:r>
              </a:p>
              <a:p>
                <a:endParaRPr lang="en-US" sz="2400" dirty="0"/>
              </a:p>
              <a:p>
                <a:r>
                  <a:rPr lang="en-US" sz="2400" b="1" dirty="0"/>
                  <a:t>IQR </a:t>
                </a:r>
                <a:r>
                  <a:rPr lang="en-US" sz="2400" dirty="0"/>
                  <a:t>is a good choice for distributions that are highly skewed!</a:t>
                </a:r>
                <a:endParaRPr lang="en-US" sz="2400" b="1" dirty="0"/>
              </a:p>
              <a:p>
                <a:pPr marL="0" indent="0" algn="ctr">
                  <a:buNone/>
                </a:pPr>
                <a:endParaRPr lang="en-US" sz="2400" b="1" dirty="0"/>
              </a:p>
              <a:p>
                <a:endParaRPr lang="en-US" sz="2400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8E8586-DD23-94D2-D323-FAF1EE2B0E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081" r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95567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EA510B-84BA-0986-946A-7635FB2953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Practice: Finding quartiles and IQR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B3D4BA-5F56-129C-FF6C-FCDB24448C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Exam Scores 61,61,65,65,66,68,69,73,74,75,76,78,79,90,94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Compute the IQR</a:t>
            </a:r>
          </a:p>
        </p:txBody>
      </p:sp>
    </p:spTree>
    <p:extLst>
      <p:ext uri="{BB962C8B-B14F-4D97-AF65-F5344CB8AC3E}">
        <p14:creationId xmlns:p14="http://schemas.microsoft.com/office/powerpoint/2010/main" val="2369213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AA028-A7CA-27E1-ACC7-31804B9B38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8300"/>
            <a:ext cx="10515600" cy="1320800"/>
          </a:xfrm>
        </p:spPr>
        <p:txBody>
          <a:bodyPr>
            <a:normAutofit/>
          </a:bodyPr>
          <a:lstStyle/>
          <a:p>
            <a:r>
              <a:rPr lang="en-US" sz="3600" dirty="0"/>
              <a:t>The Boxplot (Box and Whisker Plot): A five number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D0CDBC-1066-FD3E-EAC4-1CD68D7800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4763"/>
            <a:ext cx="4448175" cy="4662199"/>
          </a:xfrm>
        </p:spPr>
        <p:txBody>
          <a:bodyPr>
            <a:normAutofit fontScale="92500"/>
          </a:bodyPr>
          <a:lstStyle/>
          <a:p>
            <a:r>
              <a:rPr lang="en-US" dirty="0"/>
              <a:t> Pros: </a:t>
            </a:r>
          </a:p>
          <a:p>
            <a:pPr lvl="1"/>
            <a:r>
              <a:rPr lang="en-US" dirty="0"/>
              <a:t>good for describing shape and location</a:t>
            </a:r>
          </a:p>
          <a:p>
            <a:pPr lvl="1"/>
            <a:r>
              <a:rPr lang="en-US" dirty="0"/>
              <a:t>Can be used to identify outliers</a:t>
            </a:r>
          </a:p>
          <a:p>
            <a:pPr lvl="1"/>
            <a:r>
              <a:rPr lang="en-US" dirty="0"/>
              <a:t>Length of whiskers indicates skew</a:t>
            </a:r>
          </a:p>
          <a:p>
            <a:pPr lvl="1"/>
            <a:r>
              <a:rPr lang="en-US" dirty="0"/>
              <a:t>Good for comparing two distributions or across categories</a:t>
            </a:r>
          </a:p>
          <a:p>
            <a:r>
              <a:rPr lang="en-US" dirty="0"/>
              <a:t>Cons: </a:t>
            </a:r>
          </a:p>
          <a:p>
            <a:pPr lvl="1"/>
            <a:r>
              <a:rPr lang="en-US" dirty="0"/>
              <a:t>does not show certain features like mounds, or gaps as well as a histogram</a:t>
            </a:r>
          </a:p>
        </p:txBody>
      </p:sp>
      <p:pic>
        <p:nvPicPr>
          <p:cNvPr id="5" name="Picture 4" descr="A diagram of a box plot&#10;&#10;Description automatically generated">
            <a:extLst>
              <a:ext uri="{FF2B5EF4-FFF2-40B4-BE49-F238E27FC236}">
                <a16:creationId xmlns:a16="http://schemas.microsoft.com/office/drawing/2014/main" id="{018FD8B2-9B43-319A-0198-F033315EAD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451619" y="2368404"/>
            <a:ext cx="6657975" cy="3667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62319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56E2CDD-0BF2-1E07-E65C-54C10EEB8C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1454" y="0"/>
            <a:ext cx="914909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77682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933D906-CF81-5AD4-2902-D9DD0E0EF8B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9" y="1411704"/>
                <a:ext cx="10393219" cy="479513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Consider the following data which come from 20 rolls of a six-sided die</a:t>
                </a: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               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lower half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B05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middle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upper half</a:t>
                </a: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Data = </a:t>
                </a:r>
                <a:r>
                  <a:rPr kumimoji="0" lang="en-US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1, 1, 1, 2, </a:t>
                </a:r>
                <a:r>
                  <a:rPr kumimoji="0" lang="en-US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2, 2</a:t>
                </a:r>
                <a:r>
                  <a:rPr kumimoji="0" lang="en-US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, 2, 2, 2, </a:t>
                </a:r>
                <a:r>
                  <a:rPr kumimoji="0" lang="en-US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B05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2, 3</a:t>
                </a:r>
                <a:r>
                  <a:rPr kumimoji="0" lang="en-US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, 3, 3, 3, </a:t>
                </a:r>
                <a:r>
                  <a:rPr kumimoji="0" lang="en-US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4, 5</a:t>
                </a:r>
                <a:r>
                  <a:rPr kumimoji="0" lang="en-US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,</a:t>
                </a:r>
                <a:r>
                  <a:rPr kumimoji="0" lang="en-US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5, 6, 6, 6</a:t>
                </a: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lang="en-US" dirty="0">
                  <a:solidFill>
                    <a:prstClr val="black"/>
                  </a:solidFill>
                  <a:latin typeface="Calibri" panose="020F0502020204030204"/>
                </a:endParaRPr>
              </a:p>
              <a:p>
                <a:pPr marL="0" marR="0" lvl="0" indent="0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r>
                  <a:rPr lang="en-US" sz="2400" dirty="0">
                    <a:solidFill>
                      <a:srgbClr val="00B050"/>
                    </a:solidFill>
                    <a:latin typeface="Calibri" panose="020F0502020204030204"/>
                  </a:rPr>
                  <a:t>Q2 = median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2+3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24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=2.5</m:t>
                    </m:r>
                  </m:oMath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Calibri" panose="020F0502020204030204"/>
                </a:endParaRPr>
              </a:p>
              <a:p>
                <a:pPr marL="0" marR="0" lvl="0" indent="0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Calibri" panose="020F0502020204030204"/>
                  </a:rPr>
                  <a:t>Q1 = median lower half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2+2</m:t>
                        </m:r>
                      </m:num>
                      <m:den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Calibri" panose="020F0502020204030204"/>
                </a:endParaRPr>
              </a:p>
              <a:p>
                <a:pPr marL="0" marR="0" lvl="0" indent="0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Q3 = median upper half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f>
                      <m:f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4+5</m:t>
                        </m:r>
                      </m:num>
                      <m:den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den>
                    </m:f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=4.5</m:t>
                    </m:r>
                  </m:oMath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22860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933D906-CF81-5AD4-2902-D9DD0E0EF8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1411704"/>
                <a:ext cx="10393219" cy="4795132"/>
              </a:xfrm>
              <a:prstGeom prst="rect">
                <a:avLst/>
              </a:prstGeom>
              <a:blipFill>
                <a:blip r:embed="rId2"/>
                <a:stretch>
                  <a:fillRect l="-8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6EA75132-6122-451D-8580-53616DB7E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461818"/>
            <a:ext cx="4783697" cy="1067529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Ex. </a:t>
            </a:r>
            <a:r>
              <a:rPr lang="en-US" sz="4000" dirty="0"/>
              <a:t>Construct a Boxplot</a:t>
            </a:r>
            <a:endParaRPr lang="en-US" sz="40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DA83090-59E8-EFFB-3135-1672E48B6474}"/>
              </a:ext>
            </a:extLst>
          </p:cNvPr>
          <p:cNvSpPr/>
          <p:nvPr/>
        </p:nvSpPr>
        <p:spPr>
          <a:xfrm>
            <a:off x="1939636" y="3066473"/>
            <a:ext cx="3519055" cy="480291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A39C5B-257E-372D-3412-85E2D621D863}"/>
              </a:ext>
            </a:extLst>
          </p:cNvPr>
          <p:cNvSpPr/>
          <p:nvPr/>
        </p:nvSpPr>
        <p:spPr>
          <a:xfrm>
            <a:off x="5458691" y="3066473"/>
            <a:ext cx="3519055" cy="48029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8304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DEDB4-D308-EF0A-43A7-3BA893E18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Practice: Construct a Boxplot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F843BF-7D1D-9153-A164-BE2AA5E36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Construct the boxplot for student exam scores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Exam Scores 61,61,65,65,66,68,69,73,74,75,76,78,79,90,94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20221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B69AC-9E45-9EA9-B899-B3797D5B7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Ex2. </a:t>
            </a:r>
            <a:r>
              <a:rPr lang="en-US" sz="4400" dirty="0"/>
              <a:t>Construct a Boxplot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49D6F1-D1E4-EA2F-1694-74768E613E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Consider the following 12 observations of a quantitative variable X</a:t>
            </a:r>
          </a:p>
          <a:p>
            <a:pPr marL="0" indent="0">
              <a:buNone/>
            </a:pPr>
            <a:r>
              <a:rPr lang="en-US" dirty="0"/>
              <a:t>X = { -5.7, -2.6, -1.5, -1.3, -0.4, 0.2, 1.5, 2.2, 2.3, 2.6, 2.9, 10.4 }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Compute the 5 number summary and draw a boxplot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Compare the IQR with the range</a:t>
            </a:r>
          </a:p>
        </p:txBody>
      </p:sp>
    </p:spTree>
    <p:extLst>
      <p:ext uri="{BB962C8B-B14F-4D97-AF65-F5344CB8AC3E}">
        <p14:creationId xmlns:p14="http://schemas.microsoft.com/office/powerpoint/2010/main" val="46196241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4CF04-6A9A-C024-DDD4-4EA11F99D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Measures of Spread: Deviation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F7291A-45D9-8440-5889-A0D10595CB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267950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A better measure of variability that uses </a:t>
                </a:r>
                <a:r>
                  <a:rPr lang="en-US" i="1" dirty="0"/>
                  <a:t>all</a:t>
                </a:r>
                <a:r>
                  <a:rPr lang="en-US" dirty="0"/>
                  <a:t> the data is based on </a:t>
                </a:r>
                <a:r>
                  <a:rPr lang="en-US" b="1" dirty="0"/>
                  <a:t>deviations</a:t>
                </a:r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deviations</a:t>
                </a:r>
                <a:r>
                  <a:rPr lang="en-US" dirty="0"/>
                  <a:t> are the </a:t>
                </a:r>
                <a:r>
                  <a:rPr lang="en-US" u="sng" dirty="0"/>
                  <a:t>distances</a:t>
                </a:r>
                <a:r>
                  <a:rPr lang="en-US" dirty="0"/>
                  <a:t> of each value from the mean of the data:</a:t>
                </a:r>
              </a:p>
              <a:p>
                <a:pPr marL="914400" lvl="2" indent="0">
                  <a:buNone/>
                </a:pPr>
                <a:r>
                  <a:rPr lang="en-US" sz="2400" b="0" dirty="0"/>
                  <a:t>Deviation of an observation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−</m:t>
                    </m:r>
                    <m:acc>
                      <m:accPr>
                        <m:chr m:val="̅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pPr marL="914400" lvl="2" indent="0">
                  <a:buNone/>
                </a:pPr>
                <a:endParaRPr lang="en-US" dirty="0"/>
              </a:p>
              <a:p>
                <a:r>
                  <a:rPr lang="en-US" dirty="0"/>
                  <a:t>Every observation will have a deviation from the mean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F7291A-45D9-8440-5889-A0D10595CB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267950" cy="4351338"/>
              </a:xfrm>
              <a:blipFill>
                <a:blip r:embed="rId2"/>
                <a:stretch>
                  <a:fillRect l="-1069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475186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AD4BAC8-DF07-082E-EBA7-3A6128B34D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748882"/>
            <a:ext cx="10306050" cy="574399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256D99A-7249-27F8-2F8D-EA0FC4B870BA}"/>
              </a:ext>
            </a:extLst>
          </p:cNvPr>
          <p:cNvSpPr txBox="1"/>
          <p:nvPr/>
        </p:nvSpPr>
        <p:spPr>
          <a:xfrm>
            <a:off x="8899976" y="538404"/>
            <a:ext cx="26329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70C0"/>
                </a:solidFill>
              </a:rPr>
              <a:t>Rice </a:t>
            </a:r>
            <a:r>
              <a:rPr lang="en-US" sz="2000" b="1" dirty="0" err="1">
                <a:solidFill>
                  <a:srgbClr val="0070C0"/>
                </a:solidFill>
              </a:rPr>
              <a:t>Krispes</a:t>
            </a:r>
            <a:r>
              <a:rPr lang="en-US" sz="2000" b="1" dirty="0">
                <a:solidFill>
                  <a:srgbClr val="0070C0"/>
                </a:solidFill>
              </a:rPr>
              <a:t> = 340 (mg)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58554AD-23CC-6BD4-2F40-8A6ED06437AB}"/>
              </a:ext>
            </a:extLst>
          </p:cNvPr>
          <p:cNvSpPr txBox="1"/>
          <p:nvPr/>
        </p:nvSpPr>
        <p:spPr>
          <a:xfrm>
            <a:off x="4998805" y="443992"/>
            <a:ext cx="19848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Mean = 167 (mg)</a:t>
            </a:r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A4E7E84C-0911-1392-D0D5-DA31D45F4D32}"/>
              </a:ext>
            </a:extLst>
          </p:cNvPr>
          <p:cNvSpPr/>
          <p:nvPr/>
        </p:nvSpPr>
        <p:spPr>
          <a:xfrm rot="16200000">
            <a:off x="8100087" y="738701"/>
            <a:ext cx="249796" cy="4257966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0572141-56E1-D65C-762A-8EB6762F1B7E}"/>
              </a:ext>
            </a:extLst>
          </p:cNvPr>
          <p:cNvCxnSpPr>
            <a:cxnSpLocks/>
          </p:cNvCxnSpPr>
          <p:nvPr/>
        </p:nvCxnSpPr>
        <p:spPr>
          <a:xfrm>
            <a:off x="10420350" y="844102"/>
            <a:ext cx="0" cy="4503175"/>
          </a:xfrm>
          <a:prstGeom prst="straightConnector1">
            <a:avLst/>
          </a:prstGeom>
          <a:ln w="762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9182893-F575-370F-93FD-AABD46DB5B34}"/>
                  </a:ext>
                </a:extLst>
              </p:cNvPr>
              <p:cNvSpPr txBox="1"/>
              <p:nvPr/>
            </p:nvSpPr>
            <p:spPr>
              <a:xfrm>
                <a:off x="7328629" y="2282563"/>
                <a:ext cx="207268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340 −167=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𝟏𝟕𝟑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9182893-F575-370F-93FD-AABD46DB5B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8629" y="2282563"/>
                <a:ext cx="2072682" cy="307777"/>
              </a:xfrm>
              <a:prstGeom prst="rect">
                <a:avLst/>
              </a:prstGeom>
              <a:blipFill>
                <a:blip r:embed="rId3"/>
                <a:stretch>
                  <a:fillRect l="-2353" r="-2647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7A10761-3E76-A720-4A01-BCEED23A554E}"/>
              </a:ext>
            </a:extLst>
          </p:cNvPr>
          <p:cNvCxnSpPr>
            <a:cxnSpLocks/>
          </p:cNvCxnSpPr>
          <p:nvPr/>
        </p:nvCxnSpPr>
        <p:spPr>
          <a:xfrm>
            <a:off x="1816678" y="844102"/>
            <a:ext cx="0" cy="4503175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7C28DDED-55BC-DD33-5745-B9634F33AA7B}"/>
              </a:ext>
            </a:extLst>
          </p:cNvPr>
          <p:cNvSpPr txBox="1"/>
          <p:nvPr/>
        </p:nvSpPr>
        <p:spPr>
          <a:xfrm>
            <a:off x="378598" y="338349"/>
            <a:ext cx="33198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B050"/>
                </a:solidFill>
              </a:rPr>
              <a:t>Frosted Mini Wheats = 0 (mg)</a:t>
            </a:r>
          </a:p>
        </p:txBody>
      </p:sp>
      <p:sp>
        <p:nvSpPr>
          <p:cNvPr id="23" name="Right Brace 22">
            <a:extLst>
              <a:ext uri="{FF2B5EF4-FFF2-40B4-BE49-F238E27FC236}">
                <a16:creationId xmlns:a16="http://schemas.microsoft.com/office/drawing/2014/main" id="{F14E752A-1AFD-2EE1-5241-D58BCCB24693}"/>
              </a:ext>
            </a:extLst>
          </p:cNvPr>
          <p:cNvSpPr/>
          <p:nvPr/>
        </p:nvSpPr>
        <p:spPr>
          <a:xfrm rot="16200000">
            <a:off x="3787077" y="-99858"/>
            <a:ext cx="239373" cy="4168922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4312EA1-A247-DCFB-9E28-98A481EE5EBD}"/>
                  </a:ext>
                </a:extLst>
              </p:cNvPr>
              <p:cNvSpPr txBox="1"/>
              <p:nvPr/>
            </p:nvSpPr>
            <p:spPr>
              <a:xfrm>
                <a:off x="3084520" y="1485666"/>
                <a:ext cx="197970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0 −167=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𝟏𝟔𝟕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4312EA1-A247-DCFB-9E28-98A481EE5E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4520" y="1485666"/>
                <a:ext cx="1979709" cy="307777"/>
              </a:xfrm>
              <a:prstGeom prst="rect">
                <a:avLst/>
              </a:prstGeom>
              <a:blipFill>
                <a:blip r:embed="rId4"/>
                <a:stretch>
                  <a:fillRect l="-2769" r="-2154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451700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1D9B-D3D0-4DD3-432B-B05376CC1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Measures of Spread: Variance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24D4B1-FB15-A405-14E1-A713E04E396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The sum of all deviations is zero. 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− </m:t>
                        </m:r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We typically use either the </a:t>
                </a:r>
                <a:r>
                  <a:rPr lang="en-US" b="1" dirty="0"/>
                  <a:t>squared deviations</a:t>
                </a:r>
                <a:r>
                  <a:rPr lang="en-US" dirty="0"/>
                  <a:t> or their </a:t>
                </a:r>
                <a:r>
                  <a:rPr lang="en-US" b="1" dirty="0"/>
                  <a:t>absolute value</a:t>
                </a:r>
              </a:p>
              <a:p>
                <a:pPr marL="914400" lvl="2" indent="0">
                  <a:buNone/>
                </a:pPr>
                <a:r>
                  <a:rPr lang="en-US" sz="2400" dirty="0"/>
                  <a:t>Squared deviation of an observation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 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− </m:t>
                            </m:r>
                            <m:acc>
                              <m:accPr>
                                <m:chr m:val="̅"/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</m:d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marL="914400" lvl="2" indent="0">
                  <a:buNone/>
                </a:pPr>
                <a:endParaRPr lang="en-US" dirty="0"/>
              </a:p>
              <a:p>
                <a:r>
                  <a:rPr lang="en-US" dirty="0"/>
                  <a:t>The </a:t>
                </a:r>
                <a:r>
                  <a:rPr lang="en-US" b="1" dirty="0"/>
                  <a:t>Variance </a:t>
                </a:r>
                <a:r>
                  <a:rPr lang="en-US" dirty="0"/>
                  <a:t>of a distribution is the </a:t>
                </a:r>
                <a:r>
                  <a:rPr lang="en-US" u="sng" dirty="0"/>
                  <a:t>average</a:t>
                </a:r>
                <a:r>
                  <a:rPr lang="en-US" dirty="0"/>
                  <a:t> squared deviation from the mean</a:t>
                </a:r>
              </a:p>
              <a:p>
                <a:pPr marL="1828800" lvl="4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p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̅"/>
                                      <m:ctrlP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sup>
                              <m: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600" dirty="0"/>
              </a:p>
              <a:p>
                <a:r>
                  <a:rPr lang="en-US" sz="2600" dirty="0"/>
                  <a:t>The sum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grow m:val="on"/>
                        <m:ctrlPr>
                          <a:rPr lang="en-US" sz="26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60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60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60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en-US" sz="26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60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6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60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60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60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26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60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US" sz="260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sz="2600" dirty="0"/>
                  <a:t> is called the sum of squares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24D4B1-FB15-A405-14E1-A713E04E39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5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139321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759E61-7A67-5D11-4320-1B5FFC9226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8300"/>
            <a:ext cx="10515600" cy="1320800"/>
          </a:xfrm>
        </p:spPr>
        <p:txBody>
          <a:bodyPr/>
          <a:lstStyle/>
          <a:p>
            <a:r>
              <a:rPr lang="en-US" dirty="0"/>
              <a:t>Measures of Spread: Standard Deviation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01D609-D493-78C3-4B57-D24A155F0A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8533"/>
                <a:ext cx="10515600" cy="4935393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Since the variance uses the squared deviation, we usually take its square root called the </a:t>
                </a:r>
                <a:r>
                  <a:rPr lang="en-US" b="1" dirty="0"/>
                  <a:t>standard deviation</a:t>
                </a:r>
              </a:p>
              <a:p>
                <a:endParaRPr lang="en-US" b="1" dirty="0"/>
              </a:p>
              <a:p>
                <a:pPr marL="914400" lvl="2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rad>
                    </m:oMath>
                  </m:oMathPara>
                </a14:m>
                <a:endParaRPr lang="en-US" sz="2400" dirty="0"/>
              </a:p>
              <a:p>
                <a:endParaRPr lang="en-US" dirty="0"/>
              </a:p>
              <a:p>
                <a:r>
                  <a:rPr lang="en-US" dirty="0"/>
                  <a:t>The standard deviation represents (roughly) the average distance of an observation from the mean </a:t>
                </a:r>
              </a:p>
              <a:p>
                <a:endParaRPr lang="en-US" dirty="0"/>
              </a:p>
              <a:p>
                <a:r>
                  <a:rPr lang="en-US" dirty="0"/>
                  <a:t>The greater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is the greater the variability in the data is</a:t>
                </a:r>
              </a:p>
              <a:p>
                <a:endParaRPr lang="en-US" dirty="0"/>
              </a:p>
              <a:p>
                <a:r>
                  <a:rPr lang="en-US" dirty="0"/>
                  <a:t>We denote the population parameter for the variance and standard deviation using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01D609-D493-78C3-4B57-D24A155F0A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8533"/>
                <a:ext cx="10515600" cy="4935393"/>
              </a:xfrm>
              <a:blipFill>
                <a:blip r:embed="rId2"/>
                <a:stretch>
                  <a:fillRect l="-812" t="-2840" b="-16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797517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DD5E1B0-DD07-8EDA-1858-2D2EA2B4B38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Why divide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?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DD5E1B0-DD07-8EDA-1858-2D2EA2B4B3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A4BF34-A2FA-6993-0CE4-3573B865FE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We divide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because we have only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−1 </m:t>
                    </m:r>
                  </m:oMath>
                </a14:m>
                <a:r>
                  <a:rPr lang="en-US" dirty="0"/>
                  <a:t>pieces of independent information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</a:p>
              <a:p>
                <a:endParaRPr lang="en-US" dirty="0"/>
              </a:p>
              <a:p>
                <a:r>
                  <a:rPr lang="en-US" dirty="0"/>
                  <a:t>Since the sum of the deviations must add to zero, then if we know the first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deviations we can always figure out the last one</a:t>
                </a:r>
              </a:p>
              <a:p>
                <a:endParaRPr lang="en-US" dirty="0"/>
              </a:p>
              <a:p>
                <a:r>
                  <a:rPr lang="en-US" dirty="0"/>
                  <a:t>Ex.) suppose we have two data points and deviation of the first data point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−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=−5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Then the deviation of the second data point </a:t>
                </a:r>
                <a:r>
                  <a:rPr lang="en-US" u="sng" dirty="0"/>
                  <a:t>has</a:t>
                </a:r>
                <a:r>
                  <a:rPr lang="en-US" dirty="0"/>
                  <a:t> to be 5 for the sum of deviations to be zero.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A4BF34-A2FA-6993-0CE4-3573B865FE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3081" r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35537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2587ECF-85E9-4393-9D87-8EB6F3F6C2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A75132-6122-451D-8580-53616DB7E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37883"/>
            <a:ext cx="4783697" cy="194281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Try it out: Computing 𝑠 and  𝑠 2</a:t>
            </a:r>
            <a:endParaRPr lang="en-US" sz="40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933D906-CF81-5AD4-2902-D9DD0E0EF8B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9" y="2686323"/>
                <a:ext cx="4783697" cy="343358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Roll a six-sided die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𝑛</m:t>
                    </m:r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=10</m:t>
                    </m:r>
                  </m:oMath>
                </a14:m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times and record the number rolled each time</a:t>
                </a: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Data = 1,2,3,3,4,4,4,5,6,6</a:t>
                </a: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lang="en-US" sz="2400" dirty="0">
                  <a:solidFill>
                    <a:prstClr val="black"/>
                  </a:solidFill>
                  <a:latin typeface="Calibri" panose="020F0502020204030204"/>
                </a:endParaRP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Mean = 3.8</a:t>
                </a: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22860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22860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22860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933D906-CF81-5AD4-2902-D9DD0E0EF8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2686323"/>
                <a:ext cx="4783697" cy="3433583"/>
              </a:xfrm>
              <a:prstGeom prst="rect">
                <a:avLst/>
              </a:prstGeom>
              <a:blipFill>
                <a:blip r:embed="rId3"/>
                <a:stretch>
                  <a:fillRect l="-19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2" descr="Beer die - EUSwiki">
            <a:extLst>
              <a:ext uri="{FF2B5EF4-FFF2-40B4-BE49-F238E27FC236}">
                <a16:creationId xmlns:a16="http://schemas.microsoft.com/office/drawing/2014/main" id="{98F16938-2ED7-9FB6-1FC2-1BF322196D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276159" y="2927927"/>
            <a:ext cx="3077639" cy="31245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756676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2181</TotalTime>
  <Words>1969</Words>
  <Application>Microsoft Office PowerPoint</Application>
  <PresentationFormat>Widescreen</PresentationFormat>
  <Paragraphs>257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1" baseType="lpstr">
      <vt:lpstr>Arial</vt:lpstr>
      <vt:lpstr>Calibri</vt:lpstr>
      <vt:lpstr>Calibri Light</vt:lpstr>
      <vt:lpstr>Cambria Math</vt:lpstr>
      <vt:lpstr>Consolas</vt:lpstr>
      <vt:lpstr>Office Theme</vt:lpstr>
      <vt:lpstr>Lecture 5 Measures of Location and Position</vt:lpstr>
      <vt:lpstr>Review</vt:lpstr>
      <vt:lpstr>Review: ten video games</vt:lpstr>
      <vt:lpstr>What the three plots agree on</vt:lpstr>
      <vt:lpstr>Measures of Central Tendency: the Mean</vt:lpstr>
      <vt:lpstr>Practice: Calculate The Mean</vt:lpstr>
      <vt:lpstr>Measures of Central Tendency: the Median</vt:lpstr>
      <vt:lpstr>Practice: Calculate the Median</vt:lpstr>
      <vt:lpstr>PowerPoint Presentation</vt:lpstr>
      <vt:lpstr>Mean and median treat outliers differently</vt:lpstr>
      <vt:lpstr>PowerPoint Presentation</vt:lpstr>
      <vt:lpstr>Alternative formulas for the mean</vt:lpstr>
      <vt:lpstr>Example: Computing the mean from a frequency table</vt:lpstr>
      <vt:lpstr>The mode</vt:lpstr>
      <vt:lpstr>Practice:</vt:lpstr>
      <vt:lpstr>Measures of Location: Quartiles and Percentiles</vt:lpstr>
      <vt:lpstr>Measures of Position: Quartiles and Percentiles</vt:lpstr>
      <vt:lpstr>Computing the Quartiles</vt:lpstr>
      <vt:lpstr>Ex. Quartiles</vt:lpstr>
      <vt:lpstr>Practice: Quartiles from Exam Scores</vt:lpstr>
      <vt:lpstr>Variability of A Distribution: Measures of Spread</vt:lpstr>
      <vt:lpstr>Measures of Spread: Range</vt:lpstr>
      <vt:lpstr>Measures of Spread: Interquartile Range</vt:lpstr>
      <vt:lpstr>Practice: Finding quartiles and IQR</vt:lpstr>
      <vt:lpstr>The Boxplot (Box and Whisker Plot): A five number summary</vt:lpstr>
      <vt:lpstr>PowerPoint Presentation</vt:lpstr>
      <vt:lpstr>Ex. Construct a Boxplot</vt:lpstr>
      <vt:lpstr>Practice: Construct a Boxplot</vt:lpstr>
      <vt:lpstr>Ex2. Construct a Boxplot</vt:lpstr>
      <vt:lpstr>Measures of Spread: Deviation</vt:lpstr>
      <vt:lpstr>PowerPoint Presentation</vt:lpstr>
      <vt:lpstr>Measures of Spread: Variance</vt:lpstr>
      <vt:lpstr>Measures of Spread: Standard Deviation</vt:lpstr>
      <vt:lpstr>Why divide by n-1 ?</vt:lpstr>
      <vt:lpstr>Try it out: Computing 𝑠 and  𝑠 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Jarred Kvamme</dc:creator>
  <cp:lastModifiedBy>Jarred Kvamme</cp:lastModifiedBy>
  <cp:revision>344</cp:revision>
  <dcterms:created xsi:type="dcterms:W3CDTF">2023-08-05T23:57:41Z</dcterms:created>
  <dcterms:modified xsi:type="dcterms:W3CDTF">2026-09-04T17:53:42Z</dcterms:modified>
</cp:coreProperties>
</file>