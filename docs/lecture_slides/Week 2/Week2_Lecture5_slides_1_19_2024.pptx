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04" r:id="rId5"/>
    <p:sldId id="330" r:id="rId6"/>
    <p:sldId id="338" r:id="rId7"/>
    <p:sldId id="339" r:id="rId8"/>
    <p:sldId id="307" r:id="rId9"/>
    <p:sldId id="336" r:id="rId10"/>
    <p:sldId id="305" r:id="rId11"/>
    <p:sldId id="337" r:id="rId12"/>
    <p:sldId id="340" r:id="rId13"/>
    <p:sldId id="309" r:id="rId14"/>
    <p:sldId id="308" r:id="rId15"/>
    <p:sldId id="321" r:id="rId16"/>
    <p:sldId id="320" r:id="rId17"/>
    <p:sldId id="322" r:id="rId18"/>
    <p:sldId id="324" r:id="rId19"/>
    <p:sldId id="348" r:id="rId20"/>
    <p:sldId id="303" r:id="rId21"/>
    <p:sldId id="259" r:id="rId22"/>
    <p:sldId id="325" r:id="rId23"/>
    <p:sldId id="346" r:id="rId24"/>
    <p:sldId id="349" r:id="rId25"/>
    <p:sldId id="341" r:id="rId26"/>
    <p:sldId id="350" r:id="rId27"/>
    <p:sldId id="351" r:id="rId28"/>
    <p:sldId id="345" r:id="rId29"/>
    <p:sldId id="313" r:id="rId30"/>
    <p:sldId id="314" r:id="rId31"/>
    <p:sldId id="315" r:id="rId32"/>
    <p:sldId id="316" r:id="rId33"/>
    <p:sldId id="317" r:id="rId34"/>
    <p:sldId id="28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5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Location and Position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Which plot(s) are best for large sample sizes, and which one(s) keep the actual data values?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histogram for large n. The stem and leaf plot keeps the original values. Dot plot also – when applied to discrete data.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E501316-DDC8-C3F8-4EC6-46B3A131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97BD2-3E69-09B1-CF9D-FE074A560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ACD31-D9C2-BE69-C43E-8A371C40BF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X = Metacritic critic score, for a random sample of n = 10 best-selling video games (circa 2000’s).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4076BA5B-CC15-D5FB-6171-EBCDD5292691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A763E1-14B6-123F-FB9B-F4459D5F3F0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7175DA-3644-5E12-91CA-A6798A080AD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1D597D-F53F-D750-9E4D-0DF5E1C5EE3A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4E3D7E-E59E-E845-F6BE-AE97DAF3FCD4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Data: VGChartz sales joined to Metacritic ratings, restricted to titles selling 5 million copies or more (127 games).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BA02EC-4E87-7B75-81B8-9E186E693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28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  <p:par>
                                <p:cTn id="11" presetID="34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60B693AA-B795-09D1-561A-F1DFA2E3A887}"/>
              </a:ext>
            </a:extLst>
          </p:cNvPr>
          <p:cNvSpPr/>
          <p:nvPr/>
        </p:nvSpPr>
        <p:spPr>
          <a:xfrm>
            <a:off x="635000" y="13462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/>
                  <a:t>The population mean is also called the </a:t>
                </a:r>
                <a:r>
                  <a:rPr lang="en-US" sz="2400" b="1">
                    <a:solidFill>
                      <a:srgbClr val="C00000"/>
                    </a:solidFill>
                  </a:rPr>
                  <a:t>expected value</a:t>
                </a:r>
                <a:r>
                  <a:rPr lang="en-US" sz="2400"/>
                  <a:t>, written E(X) or μ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/>
                  <a:t>the long-run average of the variable; the sample mean is our estimate of it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/>
                  <a:t>the </a:t>
                </a:r>
                <a:r>
                  <a:rPr lang="en-US" sz="2400" dirty="0"/>
                  <a:t>mean is usually not equal to any of the values observed in the sample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6F0C3-F795-ED02-0D89-50C2F39D2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822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B4E1F0C-58F0-D934-F99F-431133FC6551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Calculate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0B18D-494A-BFC6-1871-5CEF67E5B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5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D3BDC226-52F1-34F6-5C2F-0F20133D41E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29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78E8DCF-ACC6-0256-A398-2BA4EAD8207A}"/>
              </a:ext>
            </a:extLst>
          </p:cNvPr>
          <p:cNvSpPr/>
          <p:nvPr/>
        </p:nvSpPr>
        <p:spPr>
          <a:xfrm>
            <a:off x="635000" y="1676400"/>
            <a:ext cx="10922000" cy="35687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63B39-2CF4-9F0E-65F8-8946308E2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6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0A07C2C-EE41-9C47-B0C7-44CFD9AFA54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167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D51BDB-48DC-255C-974A-276B13306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85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11AC56F-EA5B-340A-A360-19C752E6E072}"/>
              </a:ext>
            </a:extLst>
          </p:cNvPr>
          <p:cNvSpPr/>
          <p:nvPr/>
        </p:nvSpPr>
        <p:spPr>
          <a:xfrm>
            <a:off x="635000" y="1676400"/>
            <a:ext cx="10922000" cy="44323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Median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3D05C-39E8-C803-B86A-BDFEEC258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8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4354336-7175-FDD0-7D51-94E004DA9D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861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85810FD-CE8C-D49A-A2CD-1C6F895F21C8}"/>
              </a:ext>
            </a:extLst>
          </p:cNvPr>
          <p:cNvSpPr/>
          <p:nvPr/>
        </p:nvSpPr>
        <p:spPr>
          <a:xfrm>
            <a:off x="635000" y="1676400"/>
            <a:ext cx="10922000" cy="121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09F1A-7437-061A-A4F8-AAD9164E9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9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F8E13CEA-2DC3-005E-76CA-650F5FFE1F6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7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122782-7D4F-0CC8-EFD1-F6ACBC48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765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7210D85-88ED-C93F-3769-77E99841AC8D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F3D0D-BC18-BDB0-3CCC-5708B0185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11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6D210A3-C845-1B3C-F43D-4DEA7387FF1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10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C702EB-D9FA-3EC0-6F36-A5777F16B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996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The mode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>
                <a:solidFill>
                  <a:srgbClr val="C00000"/>
                </a:solidFill>
              </a:rPr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45BB9B5-AB93-ECDE-E73E-F393ED3E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56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1727200"/>
            <a:ext cx="3819059" cy="14003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546ADF-01F7-0E71-707E-5406D1469A69}"/>
              </a:ext>
            </a:extLst>
          </p:cNvPr>
          <p:cNvSpPr/>
          <p:nvPr/>
        </p:nvSpPr>
        <p:spPr>
          <a:xfrm>
            <a:off x="5969000" y="3124200"/>
            <a:ext cx="5842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Mean, three ways:</a:t>
            </a:r>
          </a:p>
          <a:p>
            <a:r>
              <a:rPr lang="en-US" sz="1200">
                <a:solidFill>
                  <a:srgbClr val="000000"/>
                </a:solidFill>
              </a:rPr>
              <a:t>  Σ x / n  =  38 / 10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  <a:p>
            <a:r>
              <a:rPr lang="en-US" sz="1200">
                <a:solidFill>
                  <a:srgbClr val="000000"/>
                </a:solidFill>
              </a:rPr>
              <a:t>  (1/n) Σ x· F(x)  =  (1· 1 + 2· 1 + 3· 2 + 4· 3 + 5· 1 + 6· 2) / 10  =  38 / 10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  <a:p>
            <a:r>
              <a:rPr lang="en-US" sz="1200">
                <a:solidFill>
                  <a:srgbClr val="000000"/>
                </a:solidFill>
              </a:rPr>
              <a:t>  Σ x· RF(x)  =  1(.1) + 2(.1) + 3(.2) + 4(.3) + 5(.1) + 6(.2)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815928-7CFA-DF09-CA97-C0E1C809997B}"/>
              </a:ext>
            </a:extLst>
          </p:cNvPr>
          <p:cNvSpPr/>
          <p:nvPr/>
        </p:nvSpPr>
        <p:spPr>
          <a:xfrm>
            <a:off x="5969000" y="4318000"/>
            <a:ext cx="5842000" cy="787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Median:</a:t>
            </a:r>
          </a:p>
          <a:p>
            <a:r>
              <a:rPr lang="en-US" sz="1200">
                <a:solidFill>
                  <a:srgbClr val="000000"/>
                </a:solidFill>
              </a:rPr>
              <a:t>  ordered  1 2 3 3 4 4 4 5 6 6</a:t>
            </a:r>
          </a:p>
          <a:p>
            <a:r>
              <a:rPr lang="en-US" sz="1200">
                <a:solidFill>
                  <a:srgbClr val="000000"/>
                </a:solidFill>
              </a:rPr>
              <a:t>  n is even, so median = (4 + 4) / 2 </a:t>
            </a:r>
            <a:r>
              <a:rPr lang="en-US" sz="1200" b="1">
                <a:solidFill>
                  <a:srgbClr val="C00000"/>
                </a:solidFill>
              </a:rPr>
              <a:t>= 4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80D6D6-B247-FA77-3261-C48E045D928F}"/>
              </a:ext>
            </a:extLst>
          </p:cNvPr>
          <p:cNvSpPr/>
          <p:nvPr/>
        </p:nvSpPr>
        <p:spPr>
          <a:xfrm>
            <a:off x="5969000" y="5207000"/>
            <a:ext cx="5842000" cy="685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Mode:</a:t>
            </a:r>
          </a:p>
          <a:p>
            <a:r>
              <a:rPr lang="en-US" sz="1200">
                <a:solidFill>
                  <a:srgbClr val="000000"/>
                </a:solidFill>
              </a:rPr>
              <a:t>  4 appears three times, more than any other value → mode </a:t>
            </a:r>
            <a:r>
              <a:rPr lang="en-US" sz="1200" b="1">
                <a:solidFill>
                  <a:srgbClr val="C00000"/>
                </a:solidFill>
              </a:rPr>
              <a:t>=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8BBFC0-967C-6B69-0AAD-0B17C6D04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000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6F4D945F-8F81-A95F-3508-B8EFF7877FFB}"/>
              </a:ext>
            </a:extLst>
          </p:cNvPr>
          <p:cNvSpPr/>
          <p:nvPr/>
        </p:nvSpPr>
        <p:spPr>
          <a:xfrm>
            <a:off x="635000" y="16764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Location: Quartiles and Percentiles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0ECAA3-E93A-3D18-874C-B151D88A2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15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5DB3FE6-2408-CD98-4899-B108AB01C19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87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9500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1F3864"/>
                </a:solidFill>
              </a:rPr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FF40A-6FCE-6C5F-98F1-8FA729ABC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3B6E6B2B-5E08-F821-6300-CFB9707ED027}"/>
              </a:ext>
            </a:extLst>
          </p:cNvPr>
          <p:cNvSpPr/>
          <p:nvPr/>
        </p:nvSpPr>
        <p:spPr>
          <a:xfrm>
            <a:off x="635000" y="1676400"/>
            <a:ext cx="10922000" cy="3733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Computing the Quartiles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Q3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24CD5-EE78-FCBA-7520-EFD37A81F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17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88691142-76AF-83ED-4371-268C761ED81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658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Quartiles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13168D-4729-8373-5046-00678BC92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4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9DE8458D-EF86-6DE3-388E-4314D18D3770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Quartiles from Exam Scores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AF408-2725-6604-C6F0-A9875FC4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19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E5267E6-92FB-5EAC-4854-9C10F0FA53D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8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242620-7E47-0E40-4234-EBA519D37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93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69772-F593-1AB5-BE8D-F2B3CAE3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692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97C9600F-4BA8-C9BF-F926-12F7AC5521DD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5AFB9-F9A3-7D77-47C3-3A158CB4D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22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D4A4C70D-0C64-041D-849E-55844D1ADFC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609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08938E1-E997-0A4D-8D04-99C4AF1E15D9}"/>
              </a:ext>
            </a:extLst>
          </p:cNvPr>
          <p:cNvSpPr/>
          <p:nvPr/>
        </p:nvSpPr>
        <p:spPr>
          <a:xfrm>
            <a:off x="635000" y="1676400"/>
            <a:ext cx="10922000" cy="1739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30587-F8C2-FA53-1B54-7B3564BC6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C557E61-2104-4B3A-5989-E870066DE59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5671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8F117-BE47-82C8-D249-5A7F6005A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4450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4F78-4DAB-E100-21EF-E2514CD6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472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89A57-46EC-A13A-E843-1340E7C3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283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61E28556-D128-8A1C-D52F-3BCD1FD0A554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E6F10-008B-1435-637D-8823EBFE6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27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D680C8AB-7AA9-CB8F-2E52-A254941DBB0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935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89913AC6-9059-5C75-9701-15C71A9836B8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4E9B3-3B9A-0E81-F2E4-AD75DCC1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28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CA78F2D-47EC-C8DB-EE1D-184FB5573C7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261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B9D4374-5CD4-5E54-84E3-2CD1B73BF2C2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AEA17-F58C-0106-82CE-E04CE8DA1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29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BF2D9A2-5586-794E-ADF7-E7FE1CCF699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96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0B1D7F-9CE8-CDCC-6AA9-06552BFB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699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EA18A98-9255-6B2F-DC5C-B3D4AF3C2EBF}"/>
              </a:ext>
            </a:extLst>
          </p:cNvPr>
          <p:cNvSpPr/>
          <p:nvPr/>
        </p:nvSpPr>
        <p:spPr>
          <a:xfrm>
            <a:off x="635000" y="1676400"/>
            <a:ext cx="10922000" cy="4368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32755-E65C-4F91-865D-E91E24B1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31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88F3408-E2E2-4C60-2B11-A9ABE9134AF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836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765AC099-F3A9-FDAE-94E1-CAFDCD032907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98D2E-2A6B-6F70-02DF-32251992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3799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16455F31-DABA-78F8-239F-A2CA0E170524}"/>
              </a:ext>
            </a:extLst>
          </p:cNvPr>
          <p:cNvSpPr/>
          <p:nvPr/>
        </p:nvSpPr>
        <p:spPr>
          <a:xfrm>
            <a:off x="635000" y="1676400"/>
            <a:ext cx="10922000" cy="4229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4AD742-39B0-0A87-4DA3-A3684590E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33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5FA94503-5511-3114-0AFF-03C01E5D3B8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233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𝑠 and  𝑠 2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DF3FBF-842A-4DA6-A393-3BF83671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584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2084</Words>
  <Application>Microsoft Office PowerPoint</Application>
  <PresentationFormat>Widescreen</PresentationFormat>
  <Paragraphs>293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Consolas</vt:lpstr>
      <vt:lpstr>Office Theme</vt:lpstr>
      <vt:lpstr>Lecture 5 Measures of Location and Position</vt:lpstr>
      <vt:lpstr>Review</vt:lpstr>
      <vt:lpstr>Review: ten video games</vt:lpstr>
      <vt:lpstr>Measures of Central Tendency: the Mean</vt:lpstr>
      <vt:lpstr>Practice: Calculate The Mean</vt:lpstr>
      <vt:lpstr>Alternative formulas for the mean</vt:lpstr>
      <vt:lpstr>Example: Computing the mean from a frequency table</vt:lpstr>
      <vt:lpstr>Measures of Central Tendency: the Median</vt:lpstr>
      <vt:lpstr>Practice: Calculate the Median</vt:lpstr>
      <vt:lpstr>PowerPoint Presentation</vt:lpstr>
      <vt:lpstr>Mean and median treat outliers differently</vt:lpstr>
      <vt:lpstr>PowerPoint Presentation</vt:lpstr>
      <vt:lpstr>The mode</vt:lpstr>
      <vt:lpstr>Practice:</vt:lpstr>
      <vt:lpstr>Measures of Location: Quartiles and Percentiles</vt:lpstr>
      <vt:lpstr>Measures of Position: Quartiles and Percentiles</vt:lpstr>
      <vt:lpstr>Computing the Quartiles</vt:lpstr>
      <vt:lpstr>Ex. Quartiles</vt:lpstr>
      <vt:lpstr>Practice: Quartiles from Exam Scores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Practice: Construct a Boxplot</vt:lpstr>
      <vt:lpstr>Ex2. Construct a Boxplot</vt:lpstr>
      <vt:lpstr>Measures of Spread: Deviation</vt:lpstr>
      <vt:lpstr>PowerPoint Presentation</vt:lpstr>
      <vt:lpstr>Measures of Spread: Variance</vt:lpstr>
      <vt:lpstr>Measures of Spread: Standard Deviation</vt:lpstr>
      <vt:lpstr>Why divide by n-1 ?</vt:lpstr>
      <vt:lpstr>Try it out: Computing 𝑠 and  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341</cp:revision>
  <dcterms:created xsi:type="dcterms:W3CDTF">2023-08-05T23:57:41Z</dcterms:created>
  <dcterms:modified xsi:type="dcterms:W3CDTF">2026-09-04T18:57:34Z</dcterms:modified>
</cp:coreProperties>
</file>