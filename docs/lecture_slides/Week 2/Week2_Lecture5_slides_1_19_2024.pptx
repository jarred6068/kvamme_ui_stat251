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32" r:id="rId4"/>
    <p:sldId id="336" r:id="rId5"/>
    <p:sldId id="304" r:id="rId6"/>
    <p:sldId id="330" r:id="rId7"/>
    <p:sldId id="307" r:id="rId8"/>
    <p:sldId id="337" r:id="rId9"/>
    <p:sldId id="305" r:id="rId10"/>
    <p:sldId id="338" r:id="rId11"/>
    <p:sldId id="340" r:id="rId12"/>
    <p:sldId id="341" r:id="rId13"/>
    <p:sldId id="339" r:id="rId14"/>
    <p:sldId id="309" r:id="rId15"/>
    <p:sldId id="308" r:id="rId16"/>
    <p:sldId id="321" r:id="rId17"/>
    <p:sldId id="320" r:id="rId18"/>
    <p:sldId id="322" r:id="rId19"/>
    <p:sldId id="324" r:id="rId20"/>
    <p:sldId id="348" r:id="rId21"/>
    <p:sldId id="303" r:id="rId22"/>
    <p:sldId id="259" r:id="rId23"/>
    <p:sldId id="325" r:id="rId24"/>
    <p:sldId id="346" r:id="rId25"/>
    <p:sldId id="349" r:id="rId26"/>
    <p:sldId id="350" r:id="rId27"/>
    <p:sldId id="351" r:id="rId28"/>
    <p:sldId id="352" r:id="rId29"/>
    <p:sldId id="345" r:id="rId30"/>
    <p:sldId id="313" r:id="rId31"/>
    <p:sldId id="314" r:id="rId32"/>
    <p:sldId id="315" r:id="rId33"/>
    <p:sldId id="316" r:id="rId34"/>
    <p:sldId id="317" r:id="rId35"/>
    <p:sldId id="28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anshen.com/article/9350375543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5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Measures of Location and Position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13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A distribution has two clear peaks. What does that usually tell us?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The sample mixes two distinct sub-populations, picked out by some grouping variable.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makes a distribution skewed?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hard limit on the values – data pile up against the limit and trail away from it.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Name the two very different things an outlier can be.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genuinely unusual observation, or a measurement or recording error.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4   </a:t>
            </a:r>
            <a:r>
              <a:rPr lang="en-US" b="1" dirty="0"/>
              <a:t>Which plot(s) are best for large sample sizes, and which one(s) keep the actual data values?</a:t>
            </a:r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The histogram for large n. The stem and leaf plot keeps the original values. Dot plot also – when applied to discrete data.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ADB06977-D5AF-C441-0AE4-2679EC5A1BCE}"/>
              </a:ext>
            </a:extLst>
          </p:cNvPr>
          <p:cNvSpPr txBox="1"/>
          <p:nvPr/>
        </p:nvSpPr>
        <p:spPr>
          <a:xfrm>
            <a:off x="11789211" y="6477000"/>
            <a:ext cx="250389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EA695-3AC8-A481-E49D-28C2DE376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Review: ten video games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7095C-11DB-7936-5FB4-845A466B7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244600"/>
            <a:ext cx="10795000" cy="482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X = Metacritic critic score, for a random sample of n = 10 best-selling video games (circa 2000’s).</a:t>
            </a:r>
          </a:p>
        </p:txBody>
      </p:sp>
      <p:sp>
        <p:nvSpPr>
          <p:cNvPr id="4" name="Values">
            <a:extLst>
              <a:ext uri="{FF2B5EF4-FFF2-40B4-BE49-F238E27FC236}">
                <a16:creationId xmlns:a16="http://schemas.microsoft.com/office/drawing/2014/main" id="{843B934A-AF59-02EF-8995-47A653C8EF1E}"/>
              </a:ext>
            </a:extLst>
          </p:cNvPr>
          <p:cNvSpPr txBox="1"/>
          <p:nvPr/>
        </p:nvSpPr>
        <p:spPr>
          <a:xfrm>
            <a:off x="762000" y="17526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>
                <a:latin typeface="Consolas" panose="020B0609020204030204" pitchFamily="49" charset="0"/>
              </a:rPr>
              <a:t>x = { 68,  72,  76,  76,  76,  83,  85,  87,  92,  95 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A12CEC-6AE4-7530-386E-A62105F9D06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2235200"/>
            <a:ext cx="5969000" cy="3708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F605A8-66A2-41B0-4B9F-85FA855F95A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2235200"/>
            <a:ext cx="4826000" cy="2349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541DD7-04E3-2643-4511-B3A7406B9876}"/>
              </a:ext>
            </a:extLst>
          </p:cNvPr>
          <p:cNvSpPr txBox="1"/>
          <p:nvPr/>
        </p:nvSpPr>
        <p:spPr>
          <a:xfrm>
            <a:off x="6858000" y="4800600"/>
            <a:ext cx="4826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 i="1"/>
              <a:t>Four bins of width 10. Most of these games score in the 70s, with a few running up into the 90s.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195836-C2AF-8978-1148-2171E77D2E25}"/>
              </a:ext>
            </a:extLst>
          </p:cNvPr>
          <p:cNvSpPr txBox="1"/>
          <p:nvPr/>
        </p:nvSpPr>
        <p:spPr>
          <a:xfrm>
            <a:off x="508000" y="64516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i="1" dirty="0">
                <a:solidFill>
                  <a:srgbClr val="666666"/>
                </a:solidFill>
              </a:rPr>
              <a:t>Data: </a:t>
            </a:r>
            <a:r>
              <a:rPr lang="en-US" sz="1000" i="1" dirty="0" err="1">
                <a:solidFill>
                  <a:srgbClr val="666666"/>
                </a:solidFill>
              </a:rPr>
              <a:t>VGChartz</a:t>
            </a:r>
            <a:r>
              <a:rPr lang="en-US" sz="1000" i="1" dirty="0">
                <a:solidFill>
                  <a:srgbClr val="666666"/>
                </a:solidFill>
              </a:rPr>
              <a:t> sales joined to Metacritic ratings, restricted to titles selling 5 million copies or more (127 games).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E23C9B1-8514-83A7-B360-E40965FBF597}"/>
              </a:ext>
            </a:extLst>
          </p:cNvPr>
          <p:cNvSpPr txBox="1"/>
          <p:nvPr/>
        </p:nvSpPr>
        <p:spPr>
          <a:xfrm>
            <a:off x="11789211" y="6477000"/>
            <a:ext cx="250389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38760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82B21D3-8A17-AE06-2004-FF24D89726EA}"/>
              </a:ext>
            </a:extLst>
          </p:cNvPr>
          <p:cNvSpPr/>
          <p:nvPr/>
        </p:nvSpPr>
        <p:spPr>
          <a:xfrm>
            <a:off x="635000" y="1676400"/>
            <a:ext cx="10922000" cy="2540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1C9DB3-F6DF-A637-1E82-3A0AEC330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What the three plots agree 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51B011-D291-C98B-272F-10A4905F4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700"/>
              <a:t>All three show the same shape: a peak in the 70s with a tail running up into the 90s</a:t>
            </a:r>
          </a:p>
          <a:p>
            <a:pPr lvl="1"/>
            <a:r>
              <a:rPr lang="en-US" sz="1700"/>
              <a:t>That is skewed right, the shape we met on Wednesday</a:t>
            </a:r>
          </a:p>
          <a:p>
            <a:r>
              <a:rPr lang="en-US" sz="1700"/>
              <a:t>Three games tie at 76, so the plots have a clear tallest point</a:t>
            </a:r>
          </a:p>
          <a:p>
            <a:r>
              <a:rPr lang="en-US" sz="1700"/>
              <a:t>But how skewed? Where exactly is the center? The picture will not say</a:t>
            </a:r>
          </a:p>
          <a:p>
            <a:r>
              <a:rPr lang="en-US" sz="1700"/>
              <a:t>Eyeballing a plot gets us the shape. Numbers make it precise</a:t>
            </a:r>
          </a:p>
          <a:p>
            <a:pPr lvl="1"/>
            <a:r>
              <a:rPr lang="en-US" sz="1700"/>
              <a:t>Measures of location: where is the center?</a:t>
            </a:r>
          </a:p>
          <a:p>
            <a:pPr lvl="1"/>
            <a:r>
              <a:rPr lang="en-US" sz="1700"/>
              <a:t>Measures of position: where does one observation sit relative to the rest?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42E20DCC-AAAF-7E4C-B811-BF192B607943}"/>
              </a:ext>
            </a:extLst>
          </p:cNvPr>
          <p:cNvSpPr txBox="1"/>
          <p:nvPr/>
        </p:nvSpPr>
        <p:spPr>
          <a:xfrm>
            <a:off x="11789211" y="6477000"/>
            <a:ext cx="250389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4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BAF7B54-8883-C29F-0151-9A8E52D2E1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463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 card">
            <a:extLst>
              <a:ext uri="{FF2B5EF4-FFF2-40B4-BE49-F238E27FC236}">
                <a16:creationId xmlns:a16="http://schemas.microsoft.com/office/drawing/2014/main" id="{0AD5B6EA-D120-3ADF-A9DD-BFE96DC3D41C}"/>
              </a:ext>
            </a:extLst>
          </p:cNvPr>
          <p:cNvSpPr/>
          <p:nvPr/>
        </p:nvSpPr>
        <p:spPr>
          <a:xfrm>
            <a:off x="635000" y="1346200"/>
            <a:ext cx="10922000" cy="36195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D0608-1958-6936-37C8-0B0F2E703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Central Tendency: the Mean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The (arithmetic)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mean </a:t>
                </a:r>
                <a:r>
                  <a:rPr lang="en-US" sz="2400" dirty="0"/>
                  <a:t>is the average value of a set of observations 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it measures the center of mass of a distribution (the balancing point)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mean is usually not equal to any of the values observed in the sample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mean is highly influenced by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outliers </a:t>
                </a:r>
                <a:r>
                  <a:rPr lang="en-US" sz="2400" dirty="0"/>
                  <a:t> - observations that take on extreme values relative to the distribution</a:t>
                </a:r>
                <a:endParaRPr lang="en-US" sz="2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  <a:blipFill>
                <a:blip r:embed="rId2"/>
                <a:stretch>
                  <a:fillRect l="-856" t="-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17E0C985-12F3-48AE-441F-943E9A6657A3}"/>
              </a:ext>
            </a:extLst>
          </p:cNvPr>
          <p:cNvSpPr txBox="1"/>
          <p:nvPr/>
        </p:nvSpPr>
        <p:spPr>
          <a:xfrm>
            <a:off x="11789211" y="6477000"/>
            <a:ext cx="250389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55869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5C94FCB2-F4CB-9919-ECAA-514B3D121410}"/>
              </a:ext>
            </a:extLst>
          </p:cNvPr>
          <p:cNvSpPr/>
          <p:nvPr/>
        </p:nvSpPr>
        <p:spPr>
          <a:xfrm>
            <a:off x="635000" y="1676400"/>
            <a:ext cx="10922000" cy="711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68A1-D925-CD0E-C91F-BDCFF9B4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Calculate The Mean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5A68570A-C852-6E76-DE23-0FDED702F2E7}"/>
              </a:ext>
            </a:extLst>
          </p:cNvPr>
          <p:cNvSpPr txBox="1"/>
          <p:nvPr/>
        </p:nvSpPr>
        <p:spPr>
          <a:xfrm>
            <a:off x="11789211" y="6477000"/>
            <a:ext cx="250389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6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A423A2C-039C-F861-9B4E-CB61370CE99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261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C05D080-6164-F1E9-3AEA-C9666BCBE748}"/>
              </a:ext>
            </a:extLst>
          </p:cNvPr>
          <p:cNvSpPr/>
          <p:nvPr/>
        </p:nvSpPr>
        <p:spPr>
          <a:xfrm>
            <a:off x="635000" y="1676400"/>
            <a:ext cx="10922000" cy="44323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2243EE-CAAA-9631-C3E9-DBEC3605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Central Tendency: the Median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median</a:t>
                </a:r>
                <a:r>
                  <a:rPr lang="en-US" dirty="0"/>
                  <a:t> is the middle value of a set of observations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How to compute the median: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median by first ordering the observations from smallest value to largest value and choose the number in the middle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 the median is the middle number</a:t>
                </a:r>
              </a:p>
              <a:p>
                <a:pPr marL="457200" lvl="1" indent="0">
                  <a:buNone/>
                </a:pPr>
                <a:r>
                  <a:rPr lang="en-US" dirty="0"/>
                  <a:t> -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even the median is the sum of the two middle values divided by 2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  <a:blipFill>
                <a:blip r:embed="rId2"/>
                <a:stretch>
                  <a:fillRect l="-1296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320E5D8C-D953-129E-4366-E3E77E7E9814}"/>
              </a:ext>
            </a:extLst>
          </p:cNvPr>
          <p:cNvSpPr txBox="1"/>
          <p:nvPr/>
        </p:nvSpPr>
        <p:spPr>
          <a:xfrm>
            <a:off x="11789211" y="6477000"/>
            <a:ext cx="250389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7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B37FE770-0FA2-564A-6CFC-6255068EFCB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709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7FC159BE-A334-7155-F914-910EA569873B}"/>
              </a:ext>
            </a:extLst>
          </p:cNvPr>
          <p:cNvSpPr/>
          <p:nvPr/>
        </p:nvSpPr>
        <p:spPr>
          <a:xfrm>
            <a:off x="635000" y="1676400"/>
            <a:ext cx="10922000" cy="1219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32D970-D5B1-13BB-C01E-5224E1F2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 Calculate the Median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6DE908F3-DD81-AA14-24A9-07EADEBE2DF6}"/>
              </a:ext>
            </a:extLst>
          </p:cNvPr>
          <p:cNvSpPr txBox="1"/>
          <p:nvPr/>
        </p:nvSpPr>
        <p:spPr>
          <a:xfrm>
            <a:off x="11789211" y="6477000"/>
            <a:ext cx="250389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8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45724276-28DD-B612-D968-43514A3D20B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869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AA1FB4F-B4C0-19FC-F8A6-80F1019CDA1B}"/>
              </a:ext>
            </a:extLst>
          </p:cNvPr>
          <p:cNvGrpSpPr/>
          <p:nvPr/>
        </p:nvGrpSpPr>
        <p:grpSpPr>
          <a:xfrm>
            <a:off x="281345" y="2185532"/>
            <a:ext cx="11223178" cy="3231099"/>
            <a:chOff x="170508" y="2213128"/>
            <a:chExt cx="11223178" cy="3231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/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</m:acc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=9.2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876" r="-697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EB56406-5F22-DCCD-EA7F-C958F3D21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508" y="2213128"/>
              <a:ext cx="5170726" cy="249435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A625E-81C5-ECCB-6AEA-588CF86FB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04632">
              <a:off x="6222960" y="2269308"/>
              <a:ext cx="5170726" cy="2494353"/>
            </a:xfrm>
            <a:prstGeom prst="rect">
              <a:avLst/>
            </a:prstGeom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B2F214C2-1D86-F2C7-F495-1D8DF5707C70}"/>
                </a:ext>
              </a:extLst>
            </p:cNvPr>
            <p:cNvSpPr/>
            <p:nvPr/>
          </p:nvSpPr>
          <p:spPr>
            <a:xfrm>
              <a:off x="7678880" y="4258680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216A7137-8C55-1EF5-CC3D-BFDC40D635C1}"/>
                </a:ext>
              </a:extLst>
            </p:cNvPr>
            <p:cNvSpPr/>
            <p:nvPr/>
          </p:nvSpPr>
          <p:spPr>
            <a:xfrm>
              <a:off x="2123207" y="4296496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/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𝑚𝑒𝑑𝑖𝑎𝑛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f>
                          <m:fPr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8+8</m:t>
                            </m:r>
                          </m:num>
                          <m:den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den>
                        </m:f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=8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AB15456-BDE7-CB11-8743-884D2B7E62B6}"/>
              </a:ext>
            </a:extLst>
          </p:cNvPr>
          <p:cNvSpPr txBox="1"/>
          <p:nvPr/>
        </p:nvSpPr>
        <p:spPr>
          <a:xfrm>
            <a:off x="594017" y="5686108"/>
            <a:ext cx="360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mean is the center of gravity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A6C0A-C879-8A3D-A8EE-96D4E66E3A74}"/>
              </a:ext>
            </a:extLst>
          </p:cNvPr>
          <p:cNvSpPr txBox="1"/>
          <p:nvPr/>
        </p:nvSpPr>
        <p:spPr>
          <a:xfrm>
            <a:off x="6325923" y="5810799"/>
            <a:ext cx="3438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median is the middle value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C585F4-2355-392B-9E1E-5B47162BF9BA}"/>
              </a:ext>
            </a:extLst>
          </p:cNvPr>
          <p:cNvSpPr txBox="1"/>
          <p:nvPr/>
        </p:nvSpPr>
        <p:spPr>
          <a:xfrm>
            <a:off x="1320800" y="314036"/>
            <a:ext cx="80025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Data: 3  3  3  3  3  3  3  4  4  4  4  4  4  4  4  4  4  5  5  5  5  5  5  5  5  5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5  5  5  5  5  5  5  5  5  6  6  6  6  6  6  6  6  6  6  7  7  7  7  7  7  7  7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7  8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8  8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8  8  8  9  9  9  9  9  9  9 10 10 10 10 10 10 10 11 11 11 11 11 12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12 12 12 12 12 12 12 13 13 13 14 14 14 14 14 14 15 15 15 16 16 16 16 17 17 17 18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18 20 20 20 20 20</a:t>
            </a:r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254DFF7C-278E-D7FC-E1DF-D0D68AEC8E9E}"/>
              </a:ext>
            </a:extLst>
          </p:cNvPr>
          <p:cNvSpPr txBox="1"/>
          <p:nvPr/>
        </p:nvSpPr>
        <p:spPr>
          <a:xfrm>
            <a:off x="11789211" y="6477000"/>
            <a:ext cx="250389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5304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EA41BED6-3730-9ED7-AB86-789C45DD3A32}"/>
              </a:ext>
            </a:extLst>
          </p:cNvPr>
          <p:cNvSpPr/>
          <p:nvPr/>
        </p:nvSpPr>
        <p:spPr>
          <a:xfrm>
            <a:off x="635000" y="1676400"/>
            <a:ext cx="10922000" cy="711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84DE6C-08A1-E5FC-FBD2-2A6CFB14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Mean and median treat outliers differently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8, 32}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A4986B61-1E35-88EA-9E49-EE508A359783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10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597A61AE-23D2-053C-1636-4C88BF5E0D4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6810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45CB9-38D1-C6A4-DC41-174772C79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02" y="0"/>
            <a:ext cx="10050996" cy="6858000"/>
          </a:xfrm>
          <a:prstGeom prst="rect">
            <a:avLst/>
          </a:prstGeom>
        </p:spPr>
      </p:pic>
      <p:sp>
        <p:nvSpPr>
          <p:cNvPr id="2" name="Slide number">
            <a:extLst>
              <a:ext uri="{FF2B5EF4-FFF2-40B4-BE49-F238E27FC236}">
                <a16:creationId xmlns:a16="http://schemas.microsoft.com/office/drawing/2014/main" id="{D2F1A861-60A5-0F97-EB26-4E038CFFC5D3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34092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67764CF5-673D-B4D9-A1D6-C5DA04FD5E23}"/>
              </a:ext>
            </a:extLst>
          </p:cNvPr>
          <p:cNvSpPr/>
          <p:nvPr/>
        </p:nvSpPr>
        <p:spPr>
          <a:xfrm>
            <a:off x="635000" y="1676400"/>
            <a:ext cx="10922000" cy="35687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7F5637-759B-CDC6-A079-01615378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Alternative formulas for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We can also express the mean in terms of the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800" dirty="0"/>
                  <a:t> or the relative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𝑅𝐹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or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Where the sum is over all distinct values of the variable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81083513-72E2-BC23-E589-D8CC1441D960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12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0AF00A67-D92B-7391-ADED-86AED46870B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991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04281-A2B3-E169-D64B-55C4B2F0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Example: Computing the mean from a frequency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/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={1, 3, 5, 5, 6, 7, 7, 8}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blipFill>
                <a:blip r:embed="rId2"/>
                <a:stretch>
                  <a:fillRect l="-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BED149D-C46B-66BE-11B4-97A112E75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66213"/>
              </p:ext>
            </p:extLst>
          </p:nvPr>
        </p:nvGraphicFramePr>
        <p:xfrm>
          <a:off x="7389092" y="1421340"/>
          <a:ext cx="43410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030">
                  <a:extLst>
                    <a:ext uri="{9D8B030D-6E8A-4147-A177-3AD203B41FA5}">
                      <a16:colId xmlns:a16="http://schemas.microsoft.com/office/drawing/2014/main" val="2635967006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3005329175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1816929551"/>
                    </a:ext>
                  </a:extLst>
                </a:gridCol>
              </a:tblGrid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Freq.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Rel. Freq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96918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066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416178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629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024317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898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081470"/>
                  </a:ext>
                </a:extLst>
              </a:tr>
            </a:tbl>
          </a:graphicData>
        </a:graphic>
      </p:graphicFrame>
      <p:sp>
        <p:nvSpPr>
          <p:cNvPr id="3" name="Slide number">
            <a:extLst>
              <a:ext uri="{FF2B5EF4-FFF2-40B4-BE49-F238E27FC236}">
                <a16:creationId xmlns:a16="http://schemas.microsoft.com/office/drawing/2014/main" id="{94F07727-A98D-8A04-1C7F-D7489392107A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37068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BCB12-022F-4788-84E1-8A1F30003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The mode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930ED-E752-41BA-164E-704684B9D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mode </a:t>
            </a:r>
            <a:r>
              <a:rPr lang="en-US" dirty="0"/>
              <a:t>is the value with the largest relative frequency (</a:t>
            </a:r>
            <a:r>
              <a:rPr lang="en-US" dirty="0" err="1"/>
              <a:t>i.e</a:t>
            </a:r>
            <a:r>
              <a:rPr lang="en-US" dirty="0"/>
              <a:t> the value that occurs most often)</a:t>
            </a:r>
          </a:p>
          <a:p>
            <a:pPr marL="0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Can be used with categorical data (mean and median cannot) </a:t>
            </a:r>
          </a:p>
          <a:p>
            <a:pPr marL="914400" lvl="2" indent="0">
              <a:buNone/>
            </a:pPr>
            <a:r>
              <a:rPr lang="en-US" dirty="0"/>
              <a:t>- </a:t>
            </a:r>
            <a:r>
              <a:rPr lang="en-US" dirty="0" err="1"/>
              <a:t>e.g</a:t>
            </a:r>
            <a:r>
              <a:rPr lang="en-US" dirty="0"/>
              <a:t> the most </a:t>
            </a:r>
            <a:r>
              <a:rPr lang="en-US"/>
              <a:t>frequent category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It may not be unique if two or more values have the same frequency</a:t>
            </a:r>
          </a:p>
          <a:p>
            <a:pPr lvl="1">
              <a:buFontTx/>
              <a:buChar char="-"/>
            </a:pPr>
            <a:endParaRPr lang="en-US" dirty="0"/>
          </a:p>
          <a:p>
            <a:pPr lvl="1">
              <a:buFontTx/>
              <a:buChar char="-"/>
            </a:pPr>
            <a:r>
              <a:rPr lang="en-US" b="1" u="sng" dirty="0">
                <a:solidFill>
                  <a:srgbClr val="C00000"/>
                </a:solidFill>
              </a:rPr>
              <a:t>Caution</a:t>
            </a:r>
            <a:r>
              <a:rPr lang="en-US" b="1" dirty="0"/>
              <a:t> </a:t>
            </a:r>
            <a:r>
              <a:rPr lang="en-US" dirty="0"/>
              <a:t>for quantitative data, the mode </a:t>
            </a:r>
            <a:r>
              <a:rPr lang="en-US" u="sng" dirty="0"/>
              <a:t>may not </a:t>
            </a:r>
            <a:r>
              <a:rPr lang="en-US" dirty="0"/>
              <a:t>anywhere near the center of the distribution.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54BF4C3-8199-5A84-CD68-A8AED98D62D4}"/>
              </a:ext>
            </a:extLst>
          </p:cNvPr>
          <p:cNvSpPr txBox="1">
            <a:spLocks/>
          </p:cNvSpPr>
          <p:nvPr/>
        </p:nvSpPr>
        <p:spPr>
          <a:xfrm>
            <a:off x="8026400" y="1690688"/>
            <a:ext cx="38838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=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  1, 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FC46AD-94DD-AE71-3A19-101CF0E4AD10}"/>
              </a:ext>
            </a:extLst>
          </p:cNvPr>
          <p:cNvSpPr/>
          <p:nvPr/>
        </p:nvSpPr>
        <p:spPr>
          <a:xfrm>
            <a:off x="9097817" y="2253672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B7EBB-3587-1875-97E0-69C04C310EFE}"/>
              </a:ext>
            </a:extLst>
          </p:cNvPr>
          <p:cNvSpPr/>
          <p:nvPr/>
        </p:nvSpPr>
        <p:spPr>
          <a:xfrm>
            <a:off x="9097817" y="4234874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9EECC-247B-77E7-E610-6554F4673539}"/>
              </a:ext>
            </a:extLst>
          </p:cNvPr>
          <p:cNvSpPr/>
          <p:nvPr/>
        </p:nvSpPr>
        <p:spPr>
          <a:xfrm>
            <a:off x="10169234" y="4242018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51E2228-E737-82A2-C013-DA659621EFB1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465021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A22F9-922D-909D-3C73-EA3AFAF0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</p:spPr>
            <p:txBody>
              <a:bodyPr>
                <a:normAutofit fontScale="25000" lnSpcReduction="20000"/>
              </a:bodyPr>
              <a:lstStyle/>
              <a:p>
                <a:pPr marL="0"/>
                <a:r>
                  <a:rPr lang="en-US" sz="9600" dirty="0"/>
                  <a:t>Roll a six-sided die </a:t>
                </a:r>
                <a14:m>
                  <m:oMath xmlns:m="http://schemas.openxmlformats.org/officeDocument/2006/math"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9600" dirty="0"/>
                  <a:t> times and record the number rolled each time</a:t>
                </a:r>
              </a:p>
              <a:p>
                <a:pPr marL="0"/>
                <a:endParaRPr lang="en-US" sz="9600" dirty="0"/>
              </a:p>
              <a:p>
                <a:pPr marL="0"/>
                <a:r>
                  <a:rPr lang="en-US" sz="9600" dirty="0"/>
                  <a:t>Data = 1,2,3,3,4,4,4,5,6,6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  <a:blipFill>
                <a:blip r:embed="rId2"/>
                <a:stretch>
                  <a:fillRect l="-2003" t="-7616" r="-2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142727-FE0E-B241-4F4A-6EE854E43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09" y="3568988"/>
            <a:ext cx="4212438" cy="3147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00DEC-0BFD-362F-79B5-AB575314C21F}"/>
              </a:ext>
            </a:extLst>
          </p:cNvPr>
          <p:cNvSpPr txBox="1"/>
          <p:nvPr/>
        </p:nvSpPr>
        <p:spPr>
          <a:xfrm>
            <a:off x="6363855" y="3030426"/>
            <a:ext cx="53112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using all 3 equations: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186FE1F-50CA-EFE0-B18A-75CB7CE1AF47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075252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BFDC15B0-F248-059B-2E64-BAD285BCB86B}"/>
              </a:ext>
            </a:extLst>
          </p:cNvPr>
          <p:cNvSpPr/>
          <p:nvPr/>
        </p:nvSpPr>
        <p:spPr>
          <a:xfrm>
            <a:off x="635000" y="1676400"/>
            <a:ext cx="10922000" cy="4406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Location: Quartiles and Percentiles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percentile </a:t>
                </a:r>
                <a:r>
                  <a:rPr lang="en-US" dirty="0"/>
                  <a:t>is a value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percent of the observations in a sample or population fall </a:t>
                </a:r>
                <a:r>
                  <a:rPr lang="en-US" u="sng" dirty="0"/>
                  <a:t>at or below </a:t>
                </a:r>
                <a:r>
                  <a:rPr lang="en-US" dirty="0"/>
                  <a:t>that value</a:t>
                </a:r>
              </a:p>
              <a:p>
                <a:endParaRPr lang="en-US" dirty="0"/>
              </a:p>
              <a:p>
                <a:r>
                  <a:rPr lang="en-US" dirty="0"/>
                  <a:t>Ex.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is of any dataset is the median </a:t>
                </a:r>
              </a:p>
              <a:p>
                <a:endParaRPr lang="en-US" dirty="0"/>
              </a:p>
              <a:p>
                <a:r>
                  <a:rPr lang="en-US" dirty="0"/>
                  <a:t>Three useful percentiles of a distribution are the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first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Q1</a:t>
                </a:r>
                <a:r>
                  <a:rPr lang="en-US" dirty="0"/>
                  <a:t> is the 25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second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Q2</a:t>
                </a:r>
                <a:r>
                  <a:rPr lang="en-US" dirty="0"/>
                  <a:t> is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or median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third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Q3</a:t>
                </a:r>
                <a:r>
                  <a:rPr lang="en-US" dirty="0"/>
                  <a:t> is the 75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  <a:r>
                  <a:rPr lang="en-US" b="1" dirty="0"/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r>
                  <a:rPr lang="en-US" dirty="0"/>
                  <a:t>The quartiles split a distribution in four equal parts each containing 25% of the observations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361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8BC77056-A577-6FD3-8D6C-98BF965C42E1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16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99ADE643-B8DE-21EE-2CB0-00E87D4D3FB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5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79500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1F3864"/>
                </a:solidFill>
              </a:rPr>
              <a:t>Measures of Position: Quartiles and Percentiles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5FE47C-18E2-0DCE-12A0-928F930B5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34" y="1732917"/>
            <a:ext cx="10974332" cy="45345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9FA9F0-7125-2ED8-956F-615EE6E8610C}"/>
              </a:ext>
            </a:extLst>
          </p:cNvPr>
          <p:cNvSpPr txBox="1"/>
          <p:nvPr/>
        </p:nvSpPr>
        <p:spPr>
          <a:xfrm>
            <a:off x="3867150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CD8DD7-4F83-EF03-FCC3-5F401F96D765}"/>
              </a:ext>
            </a:extLst>
          </p:cNvPr>
          <p:cNvSpPr txBox="1"/>
          <p:nvPr/>
        </p:nvSpPr>
        <p:spPr>
          <a:xfrm>
            <a:off x="51911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25BD45-E96F-BA6B-FF4F-BA5BCB352326}"/>
              </a:ext>
            </a:extLst>
          </p:cNvPr>
          <p:cNvSpPr txBox="1"/>
          <p:nvPr/>
        </p:nvSpPr>
        <p:spPr>
          <a:xfrm>
            <a:off x="643607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039AF1-32EB-CF28-66BC-B3F83BAB9A0E}"/>
              </a:ext>
            </a:extLst>
          </p:cNvPr>
          <p:cNvSpPr txBox="1"/>
          <p:nvPr/>
        </p:nvSpPr>
        <p:spPr>
          <a:xfrm>
            <a:off x="76810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A4B9C-0B38-BC45-00E4-EDED0FFBFB44}"/>
              </a:ext>
            </a:extLst>
          </p:cNvPr>
          <p:cNvSpPr txBox="1"/>
          <p:nvPr/>
        </p:nvSpPr>
        <p:spPr>
          <a:xfrm>
            <a:off x="4567380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21B3ED-6831-A631-657F-5DD8040E33E4}"/>
              </a:ext>
            </a:extLst>
          </p:cNvPr>
          <p:cNvSpPr txBox="1"/>
          <p:nvPr/>
        </p:nvSpPr>
        <p:spPr>
          <a:xfrm>
            <a:off x="5782452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50%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F380B1-34E1-E77D-6F4D-B006308A41D2}"/>
              </a:ext>
            </a:extLst>
          </p:cNvPr>
          <p:cNvSpPr txBox="1"/>
          <p:nvPr/>
        </p:nvSpPr>
        <p:spPr>
          <a:xfrm>
            <a:off x="6924675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75%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D2C6-0E7D-E81F-6787-780ACE6CD50C}"/>
              </a:ext>
            </a:extLst>
          </p:cNvPr>
          <p:cNvSpPr txBox="1"/>
          <p:nvPr/>
        </p:nvSpPr>
        <p:spPr>
          <a:xfrm>
            <a:off x="5643791" y="1159908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06B09A87-2DEB-3E20-2696-1CF5A92BEE26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3393744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71ABEA1F-4E8C-BA6B-A550-FEB9A48B8922}"/>
              </a:ext>
            </a:extLst>
          </p:cNvPr>
          <p:cNvSpPr/>
          <p:nvPr/>
        </p:nvSpPr>
        <p:spPr>
          <a:xfrm>
            <a:off x="635000" y="1676400"/>
            <a:ext cx="10922000" cy="3733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Computing the Quartiles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the quartiles: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Arrange the data in increasing order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Find the median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Q2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lower half </a:t>
                </a:r>
                <a:r>
                  <a:rPr lang="en-US" dirty="0"/>
                  <a:t>of the observations (excluding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an odd number).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lower half</a:t>
                </a:r>
                <a:r>
                  <a:rPr lang="en-US" dirty="0"/>
                  <a:t> of the observations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Q1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upper half</a:t>
                </a:r>
                <a:r>
                  <a:rPr lang="en-US" b="1" u="sng" dirty="0"/>
                  <a:t> </a:t>
                </a:r>
                <a:r>
                  <a:rPr lang="en-US" dirty="0"/>
                  <a:t>of the observations (again 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upper half</a:t>
                </a:r>
                <a:r>
                  <a:rPr lang="en-US" dirty="0"/>
                  <a:t> of the observations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Q3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526604F2-791A-0126-62A8-E73EB39ECABB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18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ACC5E83D-BF76-1F6C-5444-AAF5B79079E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0403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Q2 = median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2+3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>
                <a:solidFill>
                  <a:srgbClr val="1F3864"/>
                </a:solidFill>
              </a:rPr>
              <a:t>Quartiles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0C086A4-A934-6519-25AC-E05BFF5804C8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19873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935A494-1C08-FCA2-A357-21200E99E193}"/>
              </a:ext>
            </a:extLst>
          </p:cNvPr>
          <p:cNvSpPr/>
          <p:nvPr/>
        </p:nvSpPr>
        <p:spPr>
          <a:xfrm>
            <a:off x="635000" y="1676400"/>
            <a:ext cx="10922000" cy="3263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89C3C6-C810-835B-54A4-E5A4037C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Quartiles from Exam Scores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FDE7D-C54C-9F70-498E-F05F62BAA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15 exam scores of students in a statistics course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3 quartiles Q1, Q2, and Q3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08B8C9F6-95B8-3302-3E20-66BE68720CAB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20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D0E04E23-DA0F-C42C-1DFA-4ACEDB7D453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1743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6764E-1650-762B-5308-1049092E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Variability of A Distribution: Measures of Spread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F4481B-DAA2-3B91-063C-97837630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689" y="1771748"/>
            <a:ext cx="8783276" cy="4810796"/>
          </a:xfrm>
          <a:prstGeom prst="rect">
            <a:avLst/>
          </a:prstGeom>
        </p:spPr>
      </p:pic>
      <p:sp>
        <p:nvSpPr>
          <p:cNvPr id="3" name="Slide number">
            <a:extLst>
              <a:ext uri="{FF2B5EF4-FFF2-40B4-BE49-F238E27FC236}">
                <a16:creationId xmlns:a16="http://schemas.microsoft.com/office/drawing/2014/main" id="{74C6E1AC-A647-59A1-43D2-66F0FE0B5AB5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176269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D83D08-E688-A516-345A-2BA8AFF85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23" y="3687010"/>
            <a:ext cx="5685913" cy="3170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3EFD-680B-07F4-94B1-411EFE5D3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834" y="1825625"/>
            <a:ext cx="5257800" cy="46672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range</a:t>
            </a:r>
            <a:r>
              <a:rPr lang="en-US" dirty="0"/>
              <a:t> is a measure of the distance between the smallest and largest values in the data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/>
              <a:t>The range can be computed with only two data points the minimum value and maximum value</a:t>
            </a:r>
          </a:p>
          <a:p>
            <a:endParaRPr lang="en-US" dirty="0"/>
          </a:p>
          <a:p>
            <a:r>
              <a:rPr lang="en-US" dirty="0"/>
              <a:t>If the range of a set of data is large, then usually this indicates greater dispersion of values</a:t>
            </a:r>
          </a:p>
          <a:p>
            <a:endParaRPr lang="en-US" dirty="0"/>
          </a:p>
          <a:p>
            <a:r>
              <a:rPr lang="en-US" dirty="0"/>
              <a:t>The range is </a:t>
            </a:r>
            <a:r>
              <a:rPr lang="en-US" u="sng" dirty="0"/>
              <a:t>severely</a:t>
            </a:r>
            <a:r>
              <a:rPr lang="en-US" dirty="0"/>
              <a:t> affected by the presence of outliers</a:t>
            </a:r>
          </a:p>
          <a:p>
            <a:endParaRPr lang="en-US" dirty="0"/>
          </a:p>
          <a:p>
            <a:r>
              <a:rPr lang="en-US" dirty="0"/>
              <a:t>We typically </a:t>
            </a:r>
            <a:r>
              <a:rPr lang="en-US" u="sng" dirty="0"/>
              <a:t>do not</a:t>
            </a:r>
            <a:r>
              <a:rPr lang="en-US" dirty="0"/>
              <a:t> use the range to measure variability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C44C54-000D-E381-2205-131B79AD8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24" y="942974"/>
            <a:ext cx="5466842" cy="313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084E88-7278-810D-D713-71E32243F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Range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A76F1BA-B50B-9DA6-D1A9-B8016A432F67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33616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EBDF4BC2-B488-2708-F9FE-81DA208D9DF3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6D6BCC-CAB3-F735-AC9E-6A794031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solidFill>
                  <a:srgbClr val="1F3864"/>
                </a:solidFill>
              </a:rPr>
              <a:t>Measures of Spread: Interquartile Range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interquartile range (IQR)</a:t>
                </a:r>
                <a:r>
                  <a:rPr lang="en-US" dirty="0"/>
                  <a:t> measures the spread of the middle 50% of the observations </a:t>
                </a:r>
              </a:p>
              <a:p>
                <a:endParaRPr lang="en-US" dirty="0"/>
              </a:p>
              <a:p>
                <a:r>
                  <a:rPr lang="en-US" dirty="0"/>
                  <a:t>It is resistant to outliers</a:t>
                </a:r>
              </a:p>
              <a:p>
                <a:pPr marL="0" indent="0" algn="ctr">
                  <a:buNone/>
                </a:pP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𝑰𝑸𝑹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r>
                  <a:rPr lang="en-US" sz="2400" dirty="0"/>
                  <a:t>The more variability the larger the value of the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IQR</a:t>
                </a:r>
                <a:r>
                  <a:rPr lang="en-US" sz="2400" dirty="0"/>
                  <a:t> </a:t>
                </a:r>
              </a:p>
              <a:p>
                <a:endParaRPr lang="en-US" sz="2400" dirty="0"/>
              </a:p>
              <a:p>
                <a:r>
                  <a:rPr lang="en-US" sz="2400" b="1" dirty="0">
                    <a:solidFill>
                      <a:srgbClr val="C00000"/>
                    </a:solidFill>
                  </a:rPr>
                  <a:t>IQR </a:t>
                </a:r>
                <a:r>
                  <a:rPr lang="en-US" sz="2400" dirty="0"/>
                  <a:t>is a good choice for distributions that are highly skewed!</a:t>
                </a:r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endParaRPr lang="en-US" sz="2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437AA998-75E3-6B35-9D01-D980D7508E0E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23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40A52C12-63FB-46E7-3B70-6BB936DF0FA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5567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18488ADD-7491-CBBF-E2B2-A0EF2956441B}"/>
              </a:ext>
            </a:extLst>
          </p:cNvPr>
          <p:cNvSpPr/>
          <p:nvPr/>
        </p:nvSpPr>
        <p:spPr>
          <a:xfrm>
            <a:off x="635000" y="1676400"/>
            <a:ext cx="10922000" cy="1739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A510B-84BA-0986-946A-7635FB29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 Finding quartiles and IQR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3D4BA-5F56-129C-FF6C-FCDB24448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IQR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C2177357-AB95-55CF-DCC0-97A5F8267DE9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24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4C5B1C5B-C835-B511-E765-C1270FA1C59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13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A028-A7CA-27E1-ACC7-31804B9B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1F3864"/>
                </a:solidFill>
              </a:rPr>
              <a:t>The Boxplot (Box and Whisker Plot): A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0CDBC-1066-FD3E-EAC4-1CD68D780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63"/>
            <a:ext cx="4448175" cy="4662199"/>
          </a:xfrm>
        </p:spPr>
        <p:txBody>
          <a:bodyPr>
            <a:normAutofit fontScale="92500"/>
          </a:bodyPr>
          <a:lstStyle/>
          <a:p>
            <a:r>
              <a:rPr lang="en-US" dirty="0"/>
              <a:t> Pros: </a:t>
            </a:r>
          </a:p>
          <a:p>
            <a:pPr lvl="1"/>
            <a:r>
              <a:rPr lang="en-US" dirty="0"/>
              <a:t>good for describing shape and location</a:t>
            </a:r>
          </a:p>
          <a:p>
            <a:pPr lvl="1"/>
            <a:r>
              <a:rPr lang="en-US" dirty="0"/>
              <a:t>Can be used to identify outliers</a:t>
            </a:r>
          </a:p>
          <a:p>
            <a:pPr lvl="1"/>
            <a:r>
              <a:rPr lang="en-US" dirty="0"/>
              <a:t>Length of whiskers indicates skew</a:t>
            </a:r>
          </a:p>
          <a:p>
            <a:pPr lvl="1"/>
            <a:r>
              <a:rPr lang="en-US" dirty="0"/>
              <a:t>Good for comparing two distributions or across categories</a:t>
            </a:r>
          </a:p>
          <a:p>
            <a:r>
              <a:rPr lang="en-US" dirty="0"/>
              <a:t>Cons: </a:t>
            </a:r>
          </a:p>
          <a:p>
            <a:pPr lvl="1"/>
            <a:r>
              <a:rPr lang="en-US" dirty="0"/>
              <a:t>does not show certain features like mounds, or gaps as well as a histogram</a:t>
            </a:r>
          </a:p>
        </p:txBody>
      </p:sp>
      <p:pic>
        <p:nvPicPr>
          <p:cNvPr id="5" name="Picture 4" descr="A diagram of a box plot&#10;&#10;Description automatically generated">
            <a:extLst>
              <a:ext uri="{FF2B5EF4-FFF2-40B4-BE49-F238E27FC236}">
                <a16:creationId xmlns:a16="http://schemas.microsoft.com/office/drawing/2014/main" id="{018FD8B2-9B43-319A-0198-F033315EA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451619" y="2368404"/>
            <a:ext cx="6657975" cy="3667125"/>
          </a:xfrm>
          <a:prstGeom prst="rect">
            <a:avLst/>
          </a:prstGeom>
        </p:spPr>
      </p:pic>
      <p:sp>
        <p:nvSpPr>
          <p:cNvPr id="4" name="Slide number">
            <a:extLst>
              <a:ext uri="{FF2B5EF4-FFF2-40B4-BE49-F238E27FC236}">
                <a16:creationId xmlns:a16="http://schemas.microsoft.com/office/drawing/2014/main" id="{FFDE0401-F197-C4BD-2921-8907B3C9998A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386231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56E2CDD-0BF2-1E07-E65C-54C10EEB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54" y="0"/>
            <a:ext cx="9149091" cy="6858000"/>
          </a:xfrm>
          <a:prstGeom prst="rect">
            <a:avLst/>
          </a:prstGeom>
        </p:spPr>
      </p:pic>
      <p:sp>
        <p:nvSpPr>
          <p:cNvPr id="2" name="Slide number">
            <a:extLst>
              <a:ext uri="{FF2B5EF4-FFF2-40B4-BE49-F238E27FC236}">
                <a16:creationId xmlns:a16="http://schemas.microsoft.com/office/drawing/2014/main" id="{0D1E790F-83B1-95DD-74B5-57F98A712858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677682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en-US" sz="2400" dirty="0">
                    <a:solidFill>
                      <a:srgbClr val="00B050"/>
                    </a:solidFill>
                    <a:latin typeface="Calibri" panose="020F0502020204030204"/>
                  </a:rPr>
                  <a:t>Q2 = median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2+3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0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>
                <a:solidFill>
                  <a:srgbClr val="1F3864"/>
                </a:solidFill>
              </a:rPr>
              <a:t>Construct a Boxplot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1AFD10-4976-0326-2226-4DC773162001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2058304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444BFDE-9A10-99BC-F1E7-5EED67EFC337}"/>
              </a:ext>
            </a:extLst>
          </p:cNvPr>
          <p:cNvSpPr/>
          <p:nvPr/>
        </p:nvSpPr>
        <p:spPr>
          <a:xfrm>
            <a:off x="635000" y="1676400"/>
            <a:ext cx="10922000" cy="2247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CDEDB4-D308-EF0A-43A7-3BA893E1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843BF-7D1D-9153-A164-BE2AA5E3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Construct the boxplot for student exam scores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F7ABBA2-A147-23F1-94D6-36B2E02605C0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28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BD3E631D-BE03-DE2C-9485-81E80D527BC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0221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B5373BF0-14E3-0C8F-5CE8-377A28DD7039}"/>
              </a:ext>
            </a:extLst>
          </p:cNvPr>
          <p:cNvSpPr/>
          <p:nvPr/>
        </p:nvSpPr>
        <p:spPr>
          <a:xfrm>
            <a:off x="635000" y="1676400"/>
            <a:ext cx="10922000" cy="3263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6B69AC-9E45-9EA9-B899-B3797D5B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Ex2. </a:t>
            </a:r>
            <a:r>
              <a:rPr lang="en-US" sz="4400" dirty="0">
                <a:solidFill>
                  <a:srgbClr val="1F3864"/>
                </a:solidFill>
              </a:rPr>
              <a:t>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9D6F1-D1E4-EA2F-1694-74768E613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12 observations of a quantitative variable X</a:t>
            </a:r>
          </a:p>
          <a:p>
            <a:pPr marL="0" indent="0">
              <a:buNone/>
            </a:pPr>
            <a:r>
              <a:rPr lang="en-US" dirty="0"/>
              <a:t>X = { -5.7, -2.6, -1.5, -1.3, -0.4, 0.2, 1.5, 2.2, 2.3, 2.6, 2.9, 10.4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5 number summary and draw a boxplot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Compare the IQR with the range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CD9FE94F-8C6D-61A0-5A58-CC806BF1EAE9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29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A56509F8-2582-ADAA-5966-6F55A540488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9624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6441F0C-5663-C97A-1315-64251549A2F4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74CF04-6A9A-C024-DDD4-4EA11F99D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Spread: Deviation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better measure of variability that uses </a:t>
                </a:r>
                <a:r>
                  <a:rPr lang="en-US" i="1" dirty="0"/>
                  <a:t>all</a:t>
                </a:r>
                <a:r>
                  <a:rPr lang="en-US" dirty="0"/>
                  <a:t> the data is based on </a:t>
                </a:r>
                <a:r>
                  <a:rPr lang="en-US" b="1" dirty="0">
                    <a:solidFill>
                      <a:srgbClr val="C00000"/>
                    </a:solidFill>
                  </a:rPr>
                  <a:t>deviations</a:t>
                </a:r>
                <a:endParaRPr lang="en-US" dirty="0">
                  <a:solidFill>
                    <a:srgbClr val="C00000"/>
                  </a:solidFill>
                </a:endParaRPr>
              </a:p>
              <a:p>
                <a:endParaRPr lang="en-US" dirty="0"/>
              </a:p>
              <a:p>
                <a:r>
                  <a:rPr lang="en-US" b="1" dirty="0">
                    <a:solidFill>
                      <a:srgbClr val="C00000"/>
                    </a:solidFill>
                  </a:rPr>
                  <a:t>deviations</a:t>
                </a:r>
                <a:r>
                  <a:rPr lang="en-US" dirty="0"/>
                  <a:t> are the </a:t>
                </a:r>
                <a:r>
                  <a:rPr lang="en-US" u="sng" dirty="0"/>
                  <a:t>distances</a:t>
                </a:r>
                <a:r>
                  <a:rPr lang="en-US" dirty="0"/>
                  <a:t> of each value from the mean of the data:</a:t>
                </a:r>
              </a:p>
              <a:p>
                <a:pPr marL="914400" lvl="2" indent="0">
                  <a:buNone/>
                </a:pPr>
                <a:r>
                  <a:rPr lang="en-US" sz="2400" b="0" dirty="0"/>
                  <a:t>Deviation of an observation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Every observation will have a deviation from the mean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  <a:blipFill>
                <a:blip r:embed="rId2"/>
                <a:stretch>
                  <a:fillRect l="-1069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48459415-56DA-C5A0-0A0D-D9C94591E830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30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F62DD0DD-6CDE-AD93-910D-D0C308E4FF6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186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D4BAC8-DF07-082E-EBA7-3A6128B34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748882"/>
            <a:ext cx="10306050" cy="57439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256D99A-7249-27F8-2F8D-EA0FC4B870BA}"/>
              </a:ext>
            </a:extLst>
          </p:cNvPr>
          <p:cNvSpPr txBox="1"/>
          <p:nvPr/>
        </p:nvSpPr>
        <p:spPr>
          <a:xfrm>
            <a:off x="8899976" y="538404"/>
            <a:ext cx="26329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Rice </a:t>
            </a:r>
            <a:r>
              <a:rPr lang="en-US" sz="2000" b="1" dirty="0" err="1">
                <a:solidFill>
                  <a:srgbClr val="0070C0"/>
                </a:solidFill>
              </a:rPr>
              <a:t>Krispes</a:t>
            </a:r>
            <a:r>
              <a:rPr lang="en-US" sz="2000" b="1" dirty="0">
                <a:solidFill>
                  <a:srgbClr val="0070C0"/>
                </a:solidFill>
              </a:rPr>
              <a:t> = 340 (mg)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8554AD-23CC-6BD4-2F40-8A6ED06437AB}"/>
              </a:ext>
            </a:extLst>
          </p:cNvPr>
          <p:cNvSpPr txBox="1"/>
          <p:nvPr/>
        </p:nvSpPr>
        <p:spPr>
          <a:xfrm>
            <a:off x="4998805" y="443992"/>
            <a:ext cx="1984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Mean = 167 (mg)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A4E7E84C-0911-1392-D0D5-DA31D45F4D32}"/>
              </a:ext>
            </a:extLst>
          </p:cNvPr>
          <p:cNvSpPr/>
          <p:nvPr/>
        </p:nvSpPr>
        <p:spPr>
          <a:xfrm rot="16200000">
            <a:off x="8100087" y="738701"/>
            <a:ext cx="249796" cy="4257966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572141-56E1-D65C-762A-8EB6762F1B7E}"/>
              </a:ext>
            </a:extLst>
          </p:cNvPr>
          <p:cNvCxnSpPr>
            <a:cxnSpLocks/>
          </p:cNvCxnSpPr>
          <p:nvPr/>
        </p:nvCxnSpPr>
        <p:spPr>
          <a:xfrm>
            <a:off x="10420350" y="844102"/>
            <a:ext cx="0" cy="4503175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/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340 −167=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𝟏𝟕𝟑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blipFill>
                <a:blip r:embed="rId3"/>
                <a:stretch>
                  <a:fillRect l="-2353" r="-264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A10761-3E76-A720-4A01-BCEED23A554E}"/>
              </a:ext>
            </a:extLst>
          </p:cNvPr>
          <p:cNvCxnSpPr>
            <a:cxnSpLocks/>
          </p:cNvCxnSpPr>
          <p:nvPr/>
        </p:nvCxnSpPr>
        <p:spPr>
          <a:xfrm>
            <a:off x="1816678" y="844102"/>
            <a:ext cx="0" cy="4503175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C28DDED-55BC-DD33-5745-B9634F33AA7B}"/>
              </a:ext>
            </a:extLst>
          </p:cNvPr>
          <p:cNvSpPr txBox="1"/>
          <p:nvPr/>
        </p:nvSpPr>
        <p:spPr>
          <a:xfrm>
            <a:off x="378598" y="338349"/>
            <a:ext cx="3319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Frosted Mini Wheats = 0 (mg)</a:t>
            </a:r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F14E752A-1AFD-2EE1-5241-D58BCCB24693}"/>
              </a:ext>
            </a:extLst>
          </p:cNvPr>
          <p:cNvSpPr/>
          <p:nvPr/>
        </p:nvSpPr>
        <p:spPr>
          <a:xfrm rot="16200000">
            <a:off x="3787077" y="-99858"/>
            <a:ext cx="239373" cy="416892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/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𝟏𝟔𝟕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blipFill>
                <a:blip r:embed="rId4"/>
                <a:stretch>
                  <a:fillRect l="-2769" r="-215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">
            <a:extLst>
              <a:ext uri="{FF2B5EF4-FFF2-40B4-BE49-F238E27FC236}">
                <a16:creationId xmlns:a16="http://schemas.microsoft.com/office/drawing/2014/main" id="{B9EA5AA7-13ED-1755-C52C-28ADD124044E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7451700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600EDA2-4870-D849-328B-26FC00312278}"/>
              </a:ext>
            </a:extLst>
          </p:cNvPr>
          <p:cNvSpPr/>
          <p:nvPr/>
        </p:nvSpPr>
        <p:spPr>
          <a:xfrm>
            <a:off x="635000" y="1676400"/>
            <a:ext cx="10922000" cy="4368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1D9B-D3D0-4DD3-432B-B05376CC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sum of all deviations is zero.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typically use either the </a:t>
                </a:r>
                <a:r>
                  <a:rPr lang="en-US" b="1" dirty="0">
                    <a:solidFill>
                      <a:srgbClr val="C00000"/>
                    </a:solidFill>
                  </a:rPr>
                  <a:t>squared deviations</a:t>
                </a:r>
                <a:r>
                  <a:rPr lang="en-US" dirty="0"/>
                  <a:t> or their </a:t>
                </a:r>
                <a:r>
                  <a:rPr lang="en-US" b="1" dirty="0">
                    <a:solidFill>
                      <a:srgbClr val="C00000"/>
                    </a:solidFill>
                  </a:rPr>
                  <a:t>absolute value</a:t>
                </a:r>
              </a:p>
              <a:p>
                <a:pPr marL="914400" lvl="2" indent="0">
                  <a:buNone/>
                </a:pPr>
                <a:r>
                  <a:rPr lang="en-US" sz="2400" dirty="0"/>
                  <a:t>Squared deviation of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acc>
                              <m:accPr>
                                <m:chr m:val="̅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Variance </a:t>
                </a:r>
                <a:r>
                  <a:rPr lang="en-US" dirty="0"/>
                  <a:t>of a distribution is the </a:t>
                </a:r>
                <a:r>
                  <a:rPr lang="en-US" u="sng" dirty="0"/>
                  <a:t>average</a:t>
                </a:r>
                <a:r>
                  <a:rPr lang="en-US" dirty="0"/>
                  <a:t> squared deviation from the mean</a:t>
                </a:r>
              </a:p>
              <a:p>
                <a:pPr marL="1828800" lvl="4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600" dirty="0"/>
              </a:p>
              <a:p>
                <a:r>
                  <a:rPr lang="en-US" sz="2600" dirty="0"/>
                  <a:t>The sum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2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600" dirty="0"/>
                  <a:t> is called the sum of squares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00CB238D-419A-B497-5008-44959F96C5A3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32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634162C4-DF46-14FE-BC00-82B9FF16B1D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9321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 card">
            <a:extLst>
              <a:ext uri="{FF2B5EF4-FFF2-40B4-BE49-F238E27FC236}">
                <a16:creationId xmlns:a16="http://schemas.microsoft.com/office/drawing/2014/main" id="{0B840953-89A8-DB92-995F-75AD32DCED89}"/>
              </a:ext>
            </a:extLst>
          </p:cNvPr>
          <p:cNvSpPr/>
          <p:nvPr/>
        </p:nvSpPr>
        <p:spPr>
          <a:xfrm>
            <a:off x="635000" y="1397000"/>
            <a:ext cx="10922000" cy="5029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59E61-7A67-5D11-4320-1B5FFC92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Since the variance uses the squared deviation, we usually take its square root called the </a:t>
                </a:r>
                <a:r>
                  <a:rPr lang="en-US" b="1" dirty="0">
                    <a:solidFill>
                      <a:srgbClr val="C00000"/>
                    </a:solidFill>
                  </a:rPr>
                  <a:t>standard deviation</a:t>
                </a:r>
              </a:p>
              <a:p>
                <a:endParaRPr lang="en-US" b="1" dirty="0">
                  <a:solidFill>
                    <a:srgbClr val="C00000"/>
                  </a:solidFill>
                </a:endParaRP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sz="2400" dirty="0"/>
              </a:p>
              <a:p>
                <a:endParaRPr lang="en-US" dirty="0"/>
              </a:p>
              <a:p>
                <a:r>
                  <a:rPr lang="en-US" dirty="0"/>
                  <a:t>The standard deviation represents (roughly) the average distance of an observation from the mean </a:t>
                </a:r>
              </a:p>
              <a:p>
                <a:endParaRPr lang="en-US" dirty="0"/>
              </a:p>
              <a:p>
                <a:r>
                  <a:rPr lang="en-US" dirty="0"/>
                  <a:t>The greater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is the greater the variability in the data is</a:t>
                </a:r>
              </a:p>
              <a:p>
                <a:endParaRPr lang="en-US" dirty="0"/>
              </a:p>
              <a:p>
                <a:r>
                  <a:rPr lang="en-US" dirty="0"/>
                  <a:t>We denote the population parameter for the variance and standard deviation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  <a:blipFill>
                <a:blip r:embed="rId2"/>
                <a:stretch>
                  <a:fillRect l="-812" t="-2840" b="-1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841D5395-47BC-27F6-60DC-2244753117BE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797517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F5C654FF-C1B2-3D28-217E-9923A2DCDE9F}"/>
              </a:ext>
            </a:extLst>
          </p:cNvPr>
          <p:cNvSpPr/>
          <p:nvPr/>
        </p:nvSpPr>
        <p:spPr>
          <a:xfrm>
            <a:off x="635000" y="1676400"/>
            <a:ext cx="10922000" cy="42291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1F3864"/>
                    </a:solidFill>
                  </a:rPr>
                  <a:t>Why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solidFill>
                      <a:srgbClr val="1F3864"/>
                    </a:solidFill>
                  </a:rPr>
                  <a:t> ?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because we have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pieces of independent information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Since the sum of the deviations must add to zero, then if we know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deviations we can always figure out the last one</a:t>
                </a:r>
              </a:p>
              <a:p>
                <a:endParaRPr lang="en-US" dirty="0"/>
              </a:p>
              <a:p>
                <a:r>
                  <a:rPr lang="en-US" dirty="0"/>
                  <a:t>Ex.) suppose we have two data points and deviation of the first data point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=−5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Then the deviation of the second data point </a:t>
                </a:r>
                <a:r>
                  <a:rPr lang="en-US" u="sng" dirty="0"/>
                  <a:t>has</a:t>
                </a:r>
                <a:r>
                  <a:rPr lang="en-US" dirty="0"/>
                  <a:t> to be 5 for the sum of deviations to be zero.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1A9C7E72-AD16-DF59-248A-180BFB9E6F32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34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E9673873-2725-1205-38FE-C01569CCA26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537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587ECF-85E9-4393-9D87-8EB6F3F6C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37883"/>
            <a:ext cx="4783697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Try it out: Computing 𝑠 and  𝑠 2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Roll a six-sided die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=10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times and record the number rolled each time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1,2,3,3,4,4,4,5,6,6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sz="2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Mean = 3.8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  <a:blipFill>
                <a:blip r:embed="rId3"/>
                <a:stretch>
                  <a:fillRect l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Beer die - EUSwiki">
            <a:extLst>
              <a:ext uri="{FF2B5EF4-FFF2-40B4-BE49-F238E27FC236}">
                <a16:creationId xmlns:a16="http://schemas.microsoft.com/office/drawing/2014/main" id="{98F16938-2ED7-9FB6-1FC2-1BF322196D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6159" y="2927927"/>
            <a:ext cx="3077639" cy="3124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">
            <a:extLst>
              <a:ext uri="{FF2B5EF4-FFF2-40B4-BE49-F238E27FC236}">
                <a16:creationId xmlns:a16="http://schemas.microsoft.com/office/drawing/2014/main" id="{CDB1AEFA-49B6-098B-1F32-8EC0CC1D3363}"/>
              </a:ext>
            </a:extLst>
          </p:cNvPr>
          <p:cNvSpPr txBox="1"/>
          <p:nvPr/>
        </p:nvSpPr>
        <p:spPr>
          <a:xfrm>
            <a:off x="11723488" y="6477000"/>
            <a:ext cx="316112" cy="246221"/>
          </a:xfrm>
          <a:prstGeom prst="rect">
            <a:avLst/>
          </a:prstGeom>
          <a:solidFill>
            <a:srgbClr val="FFFFFF"/>
          </a:solidFill>
        </p:spPr>
        <p:txBody>
          <a:bodyPr vert="horz" wrap="none" rtlCol="0">
            <a:spAutoFit/>
          </a:bodyPr>
          <a:lstStyle/>
          <a:p>
            <a:pPr algn="r"/>
            <a:r>
              <a:rPr lang="en-US" sz="1000">
                <a:solidFill>
                  <a:srgbClr val="808080"/>
                </a:solidFill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3275667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2181</TotalTime>
  <Words>2003</Words>
  <Application>Microsoft Office PowerPoint</Application>
  <PresentationFormat>Widescreen</PresentationFormat>
  <Paragraphs>291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Consolas</vt:lpstr>
      <vt:lpstr>Office Theme</vt:lpstr>
      <vt:lpstr>Lecture 5 Measures of Location and Position</vt:lpstr>
      <vt:lpstr>Review</vt:lpstr>
      <vt:lpstr>Review: ten video games</vt:lpstr>
      <vt:lpstr>What the three plots agree on</vt:lpstr>
      <vt:lpstr>Measures of Central Tendency: the Mean</vt:lpstr>
      <vt:lpstr>Practice: Calculate The Mean</vt:lpstr>
      <vt:lpstr>Measures of Central Tendency: the Median</vt:lpstr>
      <vt:lpstr>Practice: Calculate the Median</vt:lpstr>
      <vt:lpstr>PowerPoint Presentation</vt:lpstr>
      <vt:lpstr>Mean and median treat outliers differently</vt:lpstr>
      <vt:lpstr>PowerPoint Presentation</vt:lpstr>
      <vt:lpstr>Alternative formulas for the mean</vt:lpstr>
      <vt:lpstr>Example: Computing the mean from a frequency table</vt:lpstr>
      <vt:lpstr>The mode</vt:lpstr>
      <vt:lpstr>Practice:</vt:lpstr>
      <vt:lpstr>Measures of Location: Quartiles and Percentiles</vt:lpstr>
      <vt:lpstr>Measures of Position: Quartiles and Percentiles</vt:lpstr>
      <vt:lpstr>Computing the Quartiles</vt:lpstr>
      <vt:lpstr>Ex. Quartiles</vt:lpstr>
      <vt:lpstr>Practice: Quartiles from Exam Scores</vt:lpstr>
      <vt:lpstr>Variability of A Distribution: Measures of Spread</vt:lpstr>
      <vt:lpstr>Measures of Spread: Range</vt:lpstr>
      <vt:lpstr>Measures of Spread: Interquartile Range</vt:lpstr>
      <vt:lpstr>Practice: Finding quartiles and IQR</vt:lpstr>
      <vt:lpstr>The Boxplot (Box and Whisker Plot): A five number summary</vt:lpstr>
      <vt:lpstr>PowerPoint Presentation</vt:lpstr>
      <vt:lpstr>Ex. Construct a Boxplot</vt:lpstr>
      <vt:lpstr>Practice: Construct a Boxplot</vt:lpstr>
      <vt:lpstr>Ex2. Construct a Boxplot</vt:lpstr>
      <vt:lpstr>Measures of Spread: Deviation</vt:lpstr>
      <vt:lpstr>PowerPoint Presentation</vt:lpstr>
      <vt:lpstr>Measures of Spread: Variance</vt:lpstr>
      <vt:lpstr>Measures of Spread: Standard Deviation</vt:lpstr>
      <vt:lpstr>Why divide by n-1 ?</vt:lpstr>
      <vt:lpstr>Try it out: Computing 𝑠 and  𝑠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345</cp:revision>
  <dcterms:created xsi:type="dcterms:W3CDTF">2023-08-05T23:57:41Z</dcterms:created>
  <dcterms:modified xsi:type="dcterms:W3CDTF">2026-09-04T18:16:19Z</dcterms:modified>
</cp:coreProperties>
</file>