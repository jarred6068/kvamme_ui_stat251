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331" r:id="rId4"/>
    <p:sldId id="340" r:id="rId5"/>
    <p:sldId id="341" r:id="rId6"/>
    <p:sldId id="347" r:id="rId7"/>
    <p:sldId id="348" r:id="rId8"/>
    <p:sldId id="349" r:id="rId9"/>
    <p:sldId id="350" r:id="rId10"/>
    <p:sldId id="342" r:id="rId11"/>
    <p:sldId id="346" r:id="rId12"/>
    <p:sldId id="343" r:id="rId13"/>
    <p:sldId id="344" r:id="rId14"/>
    <p:sldId id="286" r:id="rId15"/>
    <p:sldId id="345" r:id="rId16"/>
    <p:sldId id="273" r:id="rId17"/>
    <p:sldId id="288" r:id="rId18"/>
    <p:sldId id="330"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6" d="100"/>
          <a:sy n="76" d="100"/>
        </p:scale>
        <p:origin x="6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FE0BEC64-4DB8-4E1E-9141-FE658705EB6D}" type="doc">
      <dgm:prSet loTypeId="urn:microsoft.com/office/officeart/2018/2/layout/IconVerticalSolidList" loCatId="icon" qsTypeId="urn:microsoft.com/office/officeart/2005/8/quickstyle/simple1#1" qsCatId="simple" csTypeId="urn:microsoft.com/office/officeart/2018/5/colors/Iconchunking_neutralicontext_colorful1" csCatId="colorful" phldr="1"/>
      <dgm:spPr/>
      <dgm:t>
        <a:bodyPr/>
        <a:lstStyle/>
        <a:p>
          <a:endParaRPr lang="en-US"/>
        </a:p>
      </dgm:t>
    </dgm:pt>
    <dgm:pt modelId="{CA502C5D-40F4-49F3-BC7B-0085D91E03CA}">
      <dgm:prSet/>
      <dgm:spPr/>
      <dgm:t>
        <a:bodyPr/>
        <a:lstStyle/>
        <a:p>
          <a:r>
            <a:rPr lang="en-US" b="1" dirty="0">
              <a:solidFill>
                <a:schemeClr val="tx1"/>
              </a:solidFill>
            </a:rPr>
            <a:t>Pie Charts </a:t>
          </a:r>
          <a:r>
            <a:rPr lang="en-US" dirty="0">
              <a:solidFill>
                <a:schemeClr val="tx1"/>
              </a:solidFill>
            </a:rPr>
            <a:t> - a circle divided into ‘slices’ corresponding to each category. The size of a slice shows the proportion of observations in a category</a:t>
          </a:r>
        </a:p>
      </dgm:t>
    </dgm:pt>
    <dgm:pt modelId="{CB438F69-D025-4B5A-858E-FCAD70A4AB3E}" type="parTrans" cxnId="{9DACF44E-2C51-4166-A4FE-84636AC2B785}">
      <dgm:prSet/>
      <dgm:spPr/>
      <dgm:t>
        <a:bodyPr/>
        <a:lstStyle/>
        <a:p>
          <a:endParaRPr lang="en-US"/>
        </a:p>
      </dgm:t>
    </dgm:pt>
    <dgm:pt modelId="{13576EAA-9730-4FD3-860B-F9AA5157B07F}" type="sibTrans" cxnId="{9DACF44E-2C51-4166-A4FE-84636AC2B785}">
      <dgm:prSet/>
      <dgm:spPr/>
      <dgm:t>
        <a:bodyPr/>
        <a:lstStyle/>
        <a:p>
          <a:endParaRPr lang="en-US"/>
        </a:p>
      </dgm:t>
    </dgm:pt>
    <dgm:pt modelId="{AA7A37FA-7E41-44E4-84F3-0EA7E91D9E1F}">
      <dgm:prSet/>
      <dgm:spPr/>
      <dgm:t>
        <a:bodyPr/>
        <a:lstStyle/>
        <a:p>
          <a:r>
            <a:rPr lang="en-US" b="1" dirty="0">
              <a:solidFill>
                <a:schemeClr val="tx1"/>
              </a:solidFill>
            </a:rPr>
            <a:t>Bar graph</a:t>
          </a:r>
          <a:r>
            <a:rPr lang="en-US" dirty="0">
              <a:solidFill>
                <a:schemeClr val="tx1"/>
              </a:solidFill>
            </a:rPr>
            <a:t> –  displays a vertical bar for each category. The height of the bar shows the percentages of observations in the category</a:t>
          </a:r>
        </a:p>
      </dgm:t>
    </dgm:pt>
    <dgm:pt modelId="{2DC48EBE-F9E6-4A2A-A841-1B1C3F1E5BFC}" type="parTrans" cxnId="{5F526CA6-8F1C-4CC7-94E6-DF978DDAB504}">
      <dgm:prSet/>
      <dgm:spPr/>
      <dgm:t>
        <a:bodyPr/>
        <a:lstStyle/>
        <a:p>
          <a:endParaRPr lang="en-US"/>
        </a:p>
      </dgm:t>
    </dgm:pt>
    <dgm:pt modelId="{73A33601-3261-4294-8CEE-4FD511498DFD}" type="sibTrans" cxnId="{5F526CA6-8F1C-4CC7-94E6-DF978DDAB504}">
      <dgm:prSet/>
      <dgm:spPr/>
      <dgm:t>
        <a:bodyPr/>
        <a:lstStyle/>
        <a:p>
          <a:endParaRPr lang="en-US"/>
        </a:p>
      </dgm:t>
    </dgm:pt>
    <dgm:pt modelId="{FAB20843-291C-4BE3-9A5B-2040125B8D60}">
      <dgm:prSet/>
      <dgm:spPr/>
      <dgm:t>
        <a:bodyPr/>
        <a:lstStyle/>
        <a:p>
          <a:r>
            <a:rPr lang="en-US" b="1" dirty="0">
              <a:solidFill>
                <a:schemeClr val="tx1"/>
              </a:solidFill>
            </a:rPr>
            <a:t>Pareto Chart </a:t>
          </a:r>
          <a:r>
            <a:rPr lang="en-US" dirty="0">
              <a:solidFill>
                <a:schemeClr val="tx1"/>
              </a:solidFill>
            </a:rPr>
            <a:t> - a bar chart with the categories ordered by decreasing frequency</a:t>
          </a:r>
        </a:p>
      </dgm:t>
    </dgm:pt>
    <dgm:pt modelId="{BD864967-7A38-48FA-9C44-777878D0203F}" type="parTrans" cxnId="{6CA842EC-6902-459B-A68A-C2F15A91F72B}">
      <dgm:prSet/>
      <dgm:spPr/>
      <dgm:t>
        <a:bodyPr/>
        <a:lstStyle/>
        <a:p>
          <a:endParaRPr lang="en-US"/>
        </a:p>
      </dgm:t>
    </dgm:pt>
    <dgm:pt modelId="{01A881F3-C6D7-4C18-B0BE-D1684BC42102}" type="sibTrans" cxnId="{6CA842EC-6902-459B-A68A-C2F15A91F72B}">
      <dgm:prSet/>
      <dgm:spPr/>
      <dgm:t>
        <a:bodyPr/>
        <a:lstStyle/>
        <a:p>
          <a:endParaRPr lang="en-US"/>
        </a:p>
      </dgm:t>
    </dgm:pt>
    <dgm:pt modelId="{E3DC32B4-DA0B-4A1F-BB20-D6197D7CBE59}" type="pres">
      <dgm:prSet presAssocID="{FE0BEC64-4DB8-4E1E-9141-FE658705EB6D}" presName="root" presStyleCnt="0">
        <dgm:presLayoutVars>
          <dgm:dir/>
          <dgm:resizeHandles val="exact"/>
        </dgm:presLayoutVars>
      </dgm:prSet>
      <dgm:spPr/>
    </dgm:pt>
    <dgm:pt modelId="{2A076E44-F78B-4009-A025-7726AC7DA28A}" type="pres">
      <dgm:prSet presAssocID="{CA502C5D-40F4-49F3-BC7B-0085D91E03CA}" presName="compNode" presStyleCnt="0"/>
      <dgm:spPr/>
    </dgm:pt>
    <dgm:pt modelId="{EB923C56-EBB1-423B-8CB3-643288F0F4A3}" type="pres">
      <dgm:prSet presAssocID="{CA502C5D-40F4-49F3-BC7B-0085D91E03CA}" presName="bgRect" presStyleLbl="bgShp" presStyleIdx="0" presStyleCnt="3"/>
      <dgm:spPr/>
    </dgm:pt>
    <dgm:pt modelId="{4D241B2D-0D74-4A77-BEB5-43230D1500B9}" type="pres">
      <dgm:prSet presAssocID="{CA502C5D-40F4-49F3-BC7B-0085D91E03C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ie chart"/>
        </a:ext>
      </dgm:extLst>
    </dgm:pt>
    <dgm:pt modelId="{F1517DDA-2ED6-4F13-945C-69A9CD2E1FDD}" type="pres">
      <dgm:prSet presAssocID="{CA502C5D-40F4-49F3-BC7B-0085D91E03CA}" presName="spaceRect" presStyleCnt="0"/>
      <dgm:spPr/>
    </dgm:pt>
    <dgm:pt modelId="{E77E8EFE-0E2D-47C7-BC5F-D4B9FDFCFBF5}" type="pres">
      <dgm:prSet presAssocID="{CA502C5D-40F4-49F3-BC7B-0085D91E03CA}" presName="parTx" presStyleLbl="revTx" presStyleIdx="0" presStyleCnt="3">
        <dgm:presLayoutVars>
          <dgm:chMax val="0"/>
          <dgm:chPref val="0"/>
        </dgm:presLayoutVars>
      </dgm:prSet>
      <dgm:spPr/>
    </dgm:pt>
    <dgm:pt modelId="{37C6688A-B330-40F2-A07C-222658632DA1}" type="pres">
      <dgm:prSet presAssocID="{13576EAA-9730-4FD3-860B-F9AA5157B07F}" presName="sibTrans" presStyleCnt="0"/>
      <dgm:spPr/>
    </dgm:pt>
    <dgm:pt modelId="{D54D3B23-C69D-40EF-99DF-8C83AB82572B}" type="pres">
      <dgm:prSet presAssocID="{AA7A37FA-7E41-44E4-84F3-0EA7E91D9E1F}" presName="compNode" presStyleCnt="0"/>
      <dgm:spPr/>
    </dgm:pt>
    <dgm:pt modelId="{0AE7E51E-5C5E-44E5-BE45-998FD5309657}" type="pres">
      <dgm:prSet presAssocID="{AA7A37FA-7E41-44E4-84F3-0EA7E91D9E1F}" presName="bgRect" presStyleLbl="bgShp" presStyleIdx="1" presStyleCnt="3"/>
      <dgm:spPr/>
    </dgm:pt>
    <dgm:pt modelId="{275C9952-BC92-4110-956A-B1D23303B722}" type="pres">
      <dgm:prSet presAssocID="{AA7A37FA-7E41-44E4-84F3-0EA7E91D9E1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Bar Chart"/>
        </a:ext>
      </dgm:extLst>
    </dgm:pt>
    <dgm:pt modelId="{E6C21582-C418-42CE-997A-5212FBED965D}" type="pres">
      <dgm:prSet presAssocID="{AA7A37FA-7E41-44E4-84F3-0EA7E91D9E1F}" presName="spaceRect" presStyleCnt="0"/>
      <dgm:spPr/>
    </dgm:pt>
    <dgm:pt modelId="{E0A50C8B-B00D-4D59-8ED5-C2DA5DC31292}" type="pres">
      <dgm:prSet presAssocID="{AA7A37FA-7E41-44E4-84F3-0EA7E91D9E1F}" presName="parTx" presStyleLbl="revTx" presStyleIdx="1" presStyleCnt="3">
        <dgm:presLayoutVars>
          <dgm:chMax val="0"/>
          <dgm:chPref val="0"/>
        </dgm:presLayoutVars>
      </dgm:prSet>
      <dgm:spPr/>
    </dgm:pt>
    <dgm:pt modelId="{F9A699F8-5B71-4678-8BCA-CCC28468844C}" type="pres">
      <dgm:prSet presAssocID="{73A33601-3261-4294-8CEE-4FD511498DFD}" presName="sibTrans" presStyleCnt="0"/>
      <dgm:spPr/>
    </dgm:pt>
    <dgm:pt modelId="{5D444092-0A30-46D1-BB5C-078C2950982D}" type="pres">
      <dgm:prSet presAssocID="{FAB20843-291C-4BE3-9A5B-2040125B8D60}" presName="compNode" presStyleCnt="0"/>
      <dgm:spPr/>
    </dgm:pt>
    <dgm:pt modelId="{35439630-125D-4B6E-BEF2-8356DF4AE984}" type="pres">
      <dgm:prSet presAssocID="{FAB20843-291C-4BE3-9A5B-2040125B8D60}" presName="bgRect" presStyleLbl="bgShp" presStyleIdx="2" presStyleCnt="3"/>
      <dgm:spPr/>
    </dgm:pt>
    <dgm:pt modelId="{6548AFB6-224F-4C8C-883E-0CF32424BCA0}" type="pres">
      <dgm:prSet presAssocID="{FAB20843-291C-4BE3-9A5B-2040125B8D6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chart"/>
        </a:ext>
      </dgm:extLst>
    </dgm:pt>
    <dgm:pt modelId="{A5EBE4BA-89CD-49C3-82D2-44D39B95BB40}" type="pres">
      <dgm:prSet presAssocID="{FAB20843-291C-4BE3-9A5B-2040125B8D60}" presName="spaceRect" presStyleCnt="0"/>
      <dgm:spPr/>
    </dgm:pt>
    <dgm:pt modelId="{9B709BBB-0EE4-44F0-BF0D-4A09AFADDEE6}" type="pres">
      <dgm:prSet presAssocID="{FAB20843-291C-4BE3-9A5B-2040125B8D60}" presName="parTx" presStyleLbl="revTx" presStyleIdx="2" presStyleCnt="3">
        <dgm:presLayoutVars>
          <dgm:chMax val="0"/>
          <dgm:chPref val="0"/>
        </dgm:presLayoutVars>
      </dgm:prSet>
      <dgm:spPr/>
    </dgm:pt>
  </dgm:ptLst>
  <dgm:cxnLst>
    <dgm:cxn modelId="{830B3E5D-BBF8-4EFD-94AE-77FEC573F21B}" type="presOf" srcId="{CA502C5D-40F4-49F3-BC7B-0085D91E03CA}" destId="{E77E8EFE-0E2D-47C7-BC5F-D4B9FDFCFBF5}" srcOrd="0" destOrd="0" presId="urn:microsoft.com/office/officeart/2018/2/layout/IconVerticalSolidList"/>
    <dgm:cxn modelId="{9DACF44E-2C51-4166-A4FE-84636AC2B785}" srcId="{FE0BEC64-4DB8-4E1E-9141-FE658705EB6D}" destId="{CA502C5D-40F4-49F3-BC7B-0085D91E03CA}" srcOrd="0" destOrd="0" parTransId="{CB438F69-D025-4B5A-858E-FCAD70A4AB3E}" sibTransId="{13576EAA-9730-4FD3-860B-F9AA5157B07F}"/>
    <dgm:cxn modelId="{A1BB374F-6C52-4CB5-9C67-DD08AC5B12AC}" type="presOf" srcId="{FE0BEC64-4DB8-4E1E-9141-FE658705EB6D}" destId="{E3DC32B4-DA0B-4A1F-BB20-D6197D7CBE59}" srcOrd="0" destOrd="0" presId="urn:microsoft.com/office/officeart/2018/2/layout/IconVerticalSolidList"/>
    <dgm:cxn modelId="{5F526CA6-8F1C-4CC7-94E6-DF978DDAB504}" srcId="{FE0BEC64-4DB8-4E1E-9141-FE658705EB6D}" destId="{AA7A37FA-7E41-44E4-84F3-0EA7E91D9E1F}" srcOrd="1" destOrd="0" parTransId="{2DC48EBE-F9E6-4A2A-A841-1B1C3F1E5BFC}" sibTransId="{73A33601-3261-4294-8CEE-4FD511498DFD}"/>
    <dgm:cxn modelId="{4212E5E7-A0A5-4EC6-8690-0F99FC2AA5F3}" type="presOf" srcId="{FAB20843-291C-4BE3-9A5B-2040125B8D60}" destId="{9B709BBB-0EE4-44F0-BF0D-4A09AFADDEE6}" srcOrd="0" destOrd="0" presId="urn:microsoft.com/office/officeart/2018/2/layout/IconVerticalSolidList"/>
    <dgm:cxn modelId="{6CA842EC-6902-459B-A68A-C2F15A91F72B}" srcId="{FE0BEC64-4DB8-4E1E-9141-FE658705EB6D}" destId="{FAB20843-291C-4BE3-9A5B-2040125B8D60}" srcOrd="2" destOrd="0" parTransId="{BD864967-7A38-48FA-9C44-777878D0203F}" sibTransId="{01A881F3-C6D7-4C18-B0BE-D1684BC42102}"/>
    <dgm:cxn modelId="{93EA99FF-B121-4D7B-95BD-CEFFD3139A42}" type="presOf" srcId="{AA7A37FA-7E41-44E4-84F3-0EA7E91D9E1F}" destId="{E0A50C8B-B00D-4D59-8ED5-C2DA5DC31292}" srcOrd="0" destOrd="0" presId="urn:microsoft.com/office/officeart/2018/2/layout/IconVerticalSolidList"/>
    <dgm:cxn modelId="{99A2EDF6-4A05-4E11-A71E-26EEE38682C9}" type="presParOf" srcId="{E3DC32B4-DA0B-4A1F-BB20-D6197D7CBE59}" destId="{2A076E44-F78B-4009-A025-7726AC7DA28A}" srcOrd="0" destOrd="0" presId="urn:microsoft.com/office/officeart/2018/2/layout/IconVerticalSolidList"/>
    <dgm:cxn modelId="{FFB951CB-8DA0-4B69-8F01-14772F2BCE91}" type="presParOf" srcId="{2A076E44-F78B-4009-A025-7726AC7DA28A}" destId="{EB923C56-EBB1-423B-8CB3-643288F0F4A3}" srcOrd="0" destOrd="0" presId="urn:microsoft.com/office/officeart/2018/2/layout/IconVerticalSolidList"/>
    <dgm:cxn modelId="{D24A4BDF-F47A-4CD3-BDB0-0D1D5B07270F}" type="presParOf" srcId="{2A076E44-F78B-4009-A025-7726AC7DA28A}" destId="{4D241B2D-0D74-4A77-BEB5-43230D1500B9}" srcOrd="1" destOrd="0" presId="urn:microsoft.com/office/officeart/2018/2/layout/IconVerticalSolidList"/>
    <dgm:cxn modelId="{3E043E56-E563-41A2-A017-C1E85698E092}" type="presParOf" srcId="{2A076E44-F78B-4009-A025-7726AC7DA28A}" destId="{F1517DDA-2ED6-4F13-945C-69A9CD2E1FDD}" srcOrd="2" destOrd="0" presId="urn:microsoft.com/office/officeart/2018/2/layout/IconVerticalSolidList"/>
    <dgm:cxn modelId="{7904831E-3BD7-45DF-89B1-0746F23274E3}" type="presParOf" srcId="{2A076E44-F78B-4009-A025-7726AC7DA28A}" destId="{E77E8EFE-0E2D-47C7-BC5F-D4B9FDFCFBF5}" srcOrd="3" destOrd="0" presId="urn:microsoft.com/office/officeart/2018/2/layout/IconVerticalSolidList"/>
    <dgm:cxn modelId="{7CC18E2C-F8C6-4E9E-88D8-C7DFFDC6CB89}" type="presParOf" srcId="{E3DC32B4-DA0B-4A1F-BB20-D6197D7CBE59}" destId="{37C6688A-B330-40F2-A07C-222658632DA1}" srcOrd="1" destOrd="0" presId="urn:microsoft.com/office/officeart/2018/2/layout/IconVerticalSolidList"/>
    <dgm:cxn modelId="{570D7736-59A2-484A-BCFC-0A122F53B643}" type="presParOf" srcId="{E3DC32B4-DA0B-4A1F-BB20-D6197D7CBE59}" destId="{D54D3B23-C69D-40EF-99DF-8C83AB82572B}" srcOrd="2" destOrd="0" presId="urn:microsoft.com/office/officeart/2018/2/layout/IconVerticalSolidList"/>
    <dgm:cxn modelId="{C9EEF233-CD42-4789-940C-3ED49640C9E8}" type="presParOf" srcId="{D54D3B23-C69D-40EF-99DF-8C83AB82572B}" destId="{0AE7E51E-5C5E-44E5-BE45-998FD5309657}" srcOrd="0" destOrd="0" presId="urn:microsoft.com/office/officeart/2018/2/layout/IconVerticalSolidList"/>
    <dgm:cxn modelId="{AE7E5D0D-99D5-49D5-ACB9-68C831A854F2}" type="presParOf" srcId="{D54D3B23-C69D-40EF-99DF-8C83AB82572B}" destId="{275C9952-BC92-4110-956A-B1D23303B722}" srcOrd="1" destOrd="0" presId="urn:microsoft.com/office/officeart/2018/2/layout/IconVerticalSolidList"/>
    <dgm:cxn modelId="{B10A5F5B-60C9-4FBE-92FA-9C948B8EBDEB}" type="presParOf" srcId="{D54D3B23-C69D-40EF-99DF-8C83AB82572B}" destId="{E6C21582-C418-42CE-997A-5212FBED965D}" srcOrd="2" destOrd="0" presId="urn:microsoft.com/office/officeart/2018/2/layout/IconVerticalSolidList"/>
    <dgm:cxn modelId="{9DE90B52-4D4E-481E-8482-467E7358B763}" type="presParOf" srcId="{D54D3B23-C69D-40EF-99DF-8C83AB82572B}" destId="{E0A50C8B-B00D-4D59-8ED5-C2DA5DC31292}" srcOrd="3" destOrd="0" presId="urn:microsoft.com/office/officeart/2018/2/layout/IconVerticalSolidList"/>
    <dgm:cxn modelId="{CF444EC1-4676-45E6-B23B-0F3B97848A4E}" type="presParOf" srcId="{E3DC32B4-DA0B-4A1F-BB20-D6197D7CBE59}" destId="{F9A699F8-5B71-4678-8BCA-CCC28468844C}" srcOrd="3" destOrd="0" presId="urn:microsoft.com/office/officeart/2018/2/layout/IconVerticalSolidList"/>
    <dgm:cxn modelId="{6862A95A-BE55-41EE-AE83-85B3E9341E51}" type="presParOf" srcId="{E3DC32B4-DA0B-4A1F-BB20-D6197D7CBE59}" destId="{5D444092-0A30-46D1-BB5C-078C2950982D}" srcOrd="4" destOrd="0" presId="urn:microsoft.com/office/officeart/2018/2/layout/IconVerticalSolidList"/>
    <dgm:cxn modelId="{37FB6B29-AF39-473D-B72D-FA2FE56AA8D5}" type="presParOf" srcId="{5D444092-0A30-46D1-BB5C-078C2950982D}" destId="{35439630-125D-4B6E-BEF2-8356DF4AE984}" srcOrd="0" destOrd="0" presId="urn:microsoft.com/office/officeart/2018/2/layout/IconVerticalSolidList"/>
    <dgm:cxn modelId="{D7694081-7D7A-4882-AC4E-9247EEBFDB67}" type="presParOf" srcId="{5D444092-0A30-46D1-BB5C-078C2950982D}" destId="{6548AFB6-224F-4C8C-883E-0CF32424BCA0}" srcOrd="1" destOrd="0" presId="urn:microsoft.com/office/officeart/2018/2/layout/IconVerticalSolidList"/>
    <dgm:cxn modelId="{694988BA-0DAA-409C-A980-DBBBCE2EA6FA}" type="presParOf" srcId="{5D444092-0A30-46D1-BB5C-078C2950982D}" destId="{A5EBE4BA-89CD-49C3-82D2-44D39B95BB40}" srcOrd="2" destOrd="0" presId="urn:microsoft.com/office/officeart/2018/2/layout/IconVerticalSolidList"/>
    <dgm:cxn modelId="{5D2ED4D8-00A2-4D70-8AE5-19ED9C8B2C6B}" type="presParOf" srcId="{5D444092-0A30-46D1-BB5C-078C2950982D}" destId="{9B709BBB-0EE4-44F0-BF0D-4A09AFADDEE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23C56-EBB1-423B-8CB3-643288F0F4A3}">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241B2D-0D74-4A77-BEB5-43230D1500B9}">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7E8EFE-0E2D-47C7-BC5F-D4B9FDFCFBF5}">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1"/>
              </a:solidFill>
            </a:rPr>
            <a:t>Pie Charts </a:t>
          </a:r>
          <a:r>
            <a:rPr lang="en-US" sz="2300" kern="1200" dirty="0">
              <a:solidFill>
                <a:schemeClr val="tx1"/>
              </a:solidFill>
            </a:rPr>
            <a:t> - a circle divided into ‘slices’ corresponding to each category. The size of a slice shows the proportion of observations in a category</a:t>
          </a:r>
        </a:p>
      </dsp:txBody>
      <dsp:txXfrm>
        <a:off x="1437631" y="531"/>
        <a:ext cx="9077968" cy="1244702"/>
      </dsp:txXfrm>
    </dsp:sp>
    <dsp:sp modelId="{0AE7E51E-5C5E-44E5-BE45-998FD5309657}">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5C9952-BC92-4110-956A-B1D23303B722}">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A50C8B-B00D-4D59-8ED5-C2DA5DC31292}">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1"/>
              </a:solidFill>
            </a:rPr>
            <a:t>Bar graph</a:t>
          </a:r>
          <a:r>
            <a:rPr lang="en-US" sz="2300" kern="1200" dirty="0">
              <a:solidFill>
                <a:schemeClr val="tx1"/>
              </a:solidFill>
            </a:rPr>
            <a:t> –  displays a vertical bar for each category. The height of the bar shows the percentages of observations in the category</a:t>
          </a:r>
        </a:p>
      </dsp:txBody>
      <dsp:txXfrm>
        <a:off x="1437631" y="1556410"/>
        <a:ext cx="9077968" cy="1244702"/>
      </dsp:txXfrm>
    </dsp:sp>
    <dsp:sp modelId="{35439630-125D-4B6E-BEF2-8356DF4AE984}">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48AFB6-224F-4C8C-883E-0CF32424BCA0}">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709BBB-0EE4-44F0-BF0D-4A09AFADDEE6}">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1"/>
              </a:solidFill>
            </a:rPr>
            <a:t>Pareto Chart </a:t>
          </a:r>
          <a:r>
            <a:rPr lang="en-US" sz="2300" kern="1200" dirty="0">
              <a:solidFill>
                <a:schemeClr val="tx1"/>
              </a:solidFill>
            </a:rPr>
            <a:t> - a bar chart with the categories ordered by decreasing frequency</a:t>
          </a:r>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21C1-92D8-0827-CE2B-80FEA840C2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4EA748-2C8E-5D78-5734-D9BCC16EC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A15553-DE39-3C41-4AFF-70F29A86EAC2}"/>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5" name="Footer Placeholder 4">
            <a:extLst>
              <a:ext uri="{FF2B5EF4-FFF2-40B4-BE49-F238E27FC236}">
                <a16:creationId xmlns:a16="http://schemas.microsoft.com/office/drawing/2014/main" id="{1872837C-8079-1B7F-0DCF-61C39ED30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95E205-162F-206E-F4C6-EB23D9DC159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42587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13490-30A7-12A6-2775-77578A346E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37B95F-B119-D057-5670-8EC21A84E5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D001D-CEFB-FD30-FB40-0BEA5B52DC2E}"/>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5" name="Footer Placeholder 4">
            <a:extLst>
              <a:ext uri="{FF2B5EF4-FFF2-40B4-BE49-F238E27FC236}">
                <a16:creationId xmlns:a16="http://schemas.microsoft.com/office/drawing/2014/main" id="{BBD3377D-E7F3-D264-FB03-A4AF3E3364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F48992-A907-9503-F005-BAA8A33CEA5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66080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6B320-EDC1-EDD2-5F4C-2A675BD0CA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58A940-1637-AC6F-0247-A5E578765F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B2A479-CAFF-245E-F61F-3D6F3E5C8839}"/>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5" name="Footer Placeholder 4">
            <a:extLst>
              <a:ext uri="{FF2B5EF4-FFF2-40B4-BE49-F238E27FC236}">
                <a16:creationId xmlns:a16="http://schemas.microsoft.com/office/drawing/2014/main" id="{F0324E38-70F9-0CAE-F19E-6DDE60057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E74C88-12BC-0657-008B-8419B1E10F3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89109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02A09-336F-FDC8-F0C1-F84E09726A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5F6849-08AF-456F-8C3C-E6DE37B3B9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7E5562-6B4C-F11F-DF48-D254599EAA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69C05-114E-11FE-5C76-D6F191757A56}"/>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6" name="Footer Placeholder 5">
            <a:extLst>
              <a:ext uri="{FF2B5EF4-FFF2-40B4-BE49-F238E27FC236}">
                <a16:creationId xmlns:a16="http://schemas.microsoft.com/office/drawing/2014/main" id="{4E71C5D0-A8D9-EEF2-15E4-CE74A390A8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9944C5-75A0-666E-C3DD-6839AB176F09}"/>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3951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EC19E-080C-F794-EB45-FB4903CDDA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85744A-FDBE-87AE-7AF1-3AC154DB2C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1970E4-B2B1-0370-3C26-0D1A5A0023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A4F036-B8A8-878F-A1CB-05DAE58015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8B7F82-EBC0-322A-130D-972F39800F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21A5BB-D71E-872F-6F0E-2279BE484D87}"/>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8" name="Footer Placeholder 7">
            <a:extLst>
              <a:ext uri="{FF2B5EF4-FFF2-40B4-BE49-F238E27FC236}">
                <a16:creationId xmlns:a16="http://schemas.microsoft.com/office/drawing/2014/main" id="{86C56747-8CBE-BF00-C39A-F442E724C4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2C14A-6287-B5B6-C760-7F506FD876DE}"/>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840436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9713-B0F2-9D1D-23FC-F5900F773F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6FC7EC-16C8-C311-316C-6D99B4F99531}"/>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4" name="Footer Placeholder 3">
            <a:extLst>
              <a:ext uri="{FF2B5EF4-FFF2-40B4-BE49-F238E27FC236}">
                <a16:creationId xmlns:a16="http://schemas.microsoft.com/office/drawing/2014/main" id="{D4FE4DA7-A4C5-460E-592C-CEF23DF381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6F3F89-7820-6BF8-A747-E433ED21AA91}"/>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1324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EAD0FD-7A61-970C-10A9-76E2B39DAF02}"/>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3" name="Footer Placeholder 2">
            <a:extLst>
              <a:ext uri="{FF2B5EF4-FFF2-40B4-BE49-F238E27FC236}">
                <a16:creationId xmlns:a16="http://schemas.microsoft.com/office/drawing/2014/main" id="{D9F95651-C89A-3C9B-3D47-F7E5CAF6B2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09228-92F1-54DE-D9B2-4AC018D50B88}"/>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3030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3F474-02F7-A264-4B8D-717F5EB00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FA8C9F-750F-7D81-0E80-7FBCDEBEB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0A1C0B-C510-B118-D8FA-12722456A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4604E-EC60-44AD-4B70-12B2B49AEB6B}"/>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6" name="Footer Placeholder 5">
            <a:extLst>
              <a:ext uri="{FF2B5EF4-FFF2-40B4-BE49-F238E27FC236}">
                <a16:creationId xmlns:a16="http://schemas.microsoft.com/office/drawing/2014/main" id="{2922C4B9-91B9-9E0E-9278-1C0433768A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21E60F-F796-8B15-08E9-61BA30F0DFA0}"/>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9350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E564D-22A0-8A8D-C6FE-D62998433E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713DEA-5246-B946-AFE4-3B305BCDB1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4208CC-31DD-00AF-BFC4-37F7B4BF3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77E30D-B05F-B2CA-9A3C-E01E2B6B0DFE}"/>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6" name="Footer Placeholder 5">
            <a:extLst>
              <a:ext uri="{FF2B5EF4-FFF2-40B4-BE49-F238E27FC236}">
                <a16:creationId xmlns:a16="http://schemas.microsoft.com/office/drawing/2014/main" id="{99E08FCE-463A-D1B2-8A60-3B67442025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438537-A621-46D4-781D-4E36BF83620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193242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05C2-17EC-1173-1FC9-8A7FC1018F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6BBB4A-325C-1F27-06A3-6F4F1A8F5C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A6F55-A1EF-6AEC-99F0-DBF50F5EBFC3}"/>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5" name="Footer Placeholder 4">
            <a:extLst>
              <a:ext uri="{FF2B5EF4-FFF2-40B4-BE49-F238E27FC236}">
                <a16:creationId xmlns:a16="http://schemas.microsoft.com/office/drawing/2014/main" id="{EDA1FD1D-86F4-EDE3-1CCE-ADED2161B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E0593-ABE9-0E50-7A75-9252A5A1F036}"/>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2533965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87FF77-0DAD-7CA9-B02D-208C02048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9298FA-F111-2C9C-551D-A1F30B2394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F1B556-1ED0-55E4-9235-352E1A162B44}"/>
              </a:ext>
            </a:extLst>
          </p:cNvPr>
          <p:cNvSpPr>
            <a:spLocks noGrp="1"/>
          </p:cNvSpPr>
          <p:nvPr>
            <p:ph type="dt" sz="half" idx="10"/>
          </p:nvPr>
        </p:nvSpPr>
        <p:spPr/>
        <p:txBody>
          <a:bodyPr/>
          <a:lstStyle/>
          <a:p>
            <a:fld id="{06882561-BD16-4A95-ACA1-5204E478F2FE}" type="datetimeFigureOut">
              <a:rPr lang="en-US" smtClean="0"/>
              <a:t>9/2/2026</a:t>
            </a:fld>
            <a:endParaRPr lang="en-US"/>
          </a:p>
        </p:txBody>
      </p:sp>
      <p:sp>
        <p:nvSpPr>
          <p:cNvPr id="5" name="Footer Placeholder 4">
            <a:extLst>
              <a:ext uri="{FF2B5EF4-FFF2-40B4-BE49-F238E27FC236}">
                <a16:creationId xmlns:a16="http://schemas.microsoft.com/office/drawing/2014/main" id="{5C44A71E-8AC3-EA68-1DCB-99E68A4657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1CF60-74F8-B2C5-26C3-77536C36C671}"/>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33336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8B48B-0371-7ADD-E5C3-345B4D6CB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BB5A92-73C5-8CE0-7C84-BE7902E60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5212B-F67A-E417-B1FE-C389458DF2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82561-BD16-4A95-ACA1-5204E478F2FE}" type="datetimeFigureOut">
              <a:rPr lang="en-US" smtClean="0"/>
              <a:t>9/2/2026</a:t>
            </a:fld>
            <a:endParaRPr lang="en-US"/>
          </a:p>
        </p:txBody>
      </p:sp>
      <p:sp>
        <p:nvSpPr>
          <p:cNvPr id="5" name="Footer Placeholder 4">
            <a:extLst>
              <a:ext uri="{FF2B5EF4-FFF2-40B4-BE49-F238E27FC236}">
                <a16:creationId xmlns:a16="http://schemas.microsoft.com/office/drawing/2014/main" id="{7DC9799A-D006-E28E-8EED-4BE2AFCB8D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069CB4-3B3A-FD13-F7E0-B4A0F34767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A81DD-F10A-4B1C-963A-0ABBB4865886}" type="slidenum">
              <a:rPr lang="en-US" smtClean="0"/>
              <a:t>‹#›</a:t>
            </a:fld>
            <a:endParaRPr lang="en-US"/>
          </a:p>
        </p:txBody>
      </p:sp>
    </p:spTree>
    <p:extLst>
      <p:ext uri="{BB962C8B-B14F-4D97-AF65-F5344CB8AC3E}">
        <p14:creationId xmlns:p14="http://schemas.microsoft.com/office/powerpoint/2010/main" val="3145091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flickr.com/photos/yellowstonenps/13931227900/" TargetMode="External"/><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151A-3AFE-974F-DDC4-9B99389C348D}"/>
              </a:ext>
            </a:extLst>
          </p:cNvPr>
          <p:cNvSpPr>
            <a:spLocks noGrp="1"/>
          </p:cNvSpPr>
          <p:nvPr>
            <p:ph type="ctrTitle"/>
          </p:nvPr>
        </p:nvSpPr>
        <p:spPr>
          <a:xfrm>
            <a:off x="1524000" y="1122362"/>
            <a:ext cx="9144000" cy="4105419"/>
          </a:xfrm>
        </p:spPr>
        <p:txBody>
          <a:bodyPr>
            <a:normAutofit/>
          </a:bodyPr>
          <a:lstStyle/>
          <a:p>
            <a:r>
              <a:rPr lang="en-US" dirty="0"/>
              <a:t>Lecture 3</a:t>
            </a:r>
            <a:br>
              <a:rPr lang="en-US" dirty="0"/>
            </a:br>
            <a:r>
              <a:rPr lang="en-US" dirty="0"/>
              <a:t>Describing and Visualizing Distributions </a:t>
            </a:r>
            <a:br>
              <a:rPr lang="en-US" dirty="0"/>
            </a:br>
            <a:endParaRPr lang="en-US" dirty="0"/>
          </a:p>
        </p:txBody>
      </p:sp>
    </p:spTree>
    <p:extLst>
      <p:ext uri="{BB962C8B-B14F-4D97-AF65-F5344CB8AC3E}">
        <p14:creationId xmlns:p14="http://schemas.microsoft.com/office/powerpoint/2010/main" val="2537153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000"/>
            <a:ext cx="10515600" cy="605578"/>
          </a:xfrm>
        </p:spPr>
        <p:txBody>
          <a:bodyPr>
            <a:normAutofit fontScale="90000"/>
          </a:bodyPr>
          <a:lstStyle/>
          <a:p>
            <a:r>
              <a:rPr lang="en-US" dirty="0"/>
              <a:t>Review</a:t>
            </a:r>
          </a:p>
        </p:txBody>
      </p:sp>
      <p:sp>
        <p:nvSpPr>
          <p:cNvPr id="3" name="Question 1"/>
          <p:cNvSpPr/>
          <p:nvPr/>
        </p:nvSpPr>
        <p:spPr>
          <a:xfrm>
            <a:off x="838200" y="1007630"/>
            <a:ext cx="10515600" cy="98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1   </a:t>
            </a:r>
            <a:r>
              <a:rPr lang="en-US" b="1" dirty="0"/>
              <a:t>What is a statistic?</a:t>
            </a:r>
          </a:p>
        </p:txBody>
      </p:sp>
      <p:sp>
        <p:nvSpPr>
          <p:cNvPr id="4" name="Answer 1"/>
          <p:cNvSpPr txBox="1"/>
          <p:nvPr/>
        </p:nvSpPr>
        <p:spPr>
          <a:xfrm>
            <a:off x="1066800" y="1567630"/>
            <a:ext cx="10058400" cy="328560"/>
          </a:xfrm>
          <a:prstGeom prst="rect">
            <a:avLst/>
          </a:prstGeom>
          <a:noFill/>
        </p:spPr>
        <p:txBody>
          <a:bodyPr wrap="square" lIns="0" tIns="0" rIns="0" bIns="0">
            <a:normAutofit/>
          </a:bodyPr>
          <a:lstStyle/>
          <a:p>
            <a:pPr marL="0" indent="0">
              <a:buNone/>
            </a:pPr>
            <a:r>
              <a:rPr lang="en-US" sz="1600" dirty="0">
                <a:solidFill>
                  <a:srgbClr val="C00000"/>
                </a:solidFill>
              </a:rPr>
              <a:t>A numerical characteristic of a sample – a number computed from the observations we actually collected.</a:t>
            </a:r>
          </a:p>
        </p:txBody>
      </p:sp>
      <p:sp>
        <p:nvSpPr>
          <p:cNvPr id="5" name="Question 2"/>
          <p:cNvSpPr/>
          <p:nvPr/>
        </p:nvSpPr>
        <p:spPr>
          <a:xfrm>
            <a:off x="838200" y="2067630"/>
            <a:ext cx="10515600" cy="98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2   </a:t>
            </a:r>
            <a:r>
              <a:rPr lang="en-US" b="1" dirty="0"/>
              <a:t>What is a parameter?</a:t>
            </a:r>
          </a:p>
        </p:txBody>
      </p:sp>
      <p:sp>
        <p:nvSpPr>
          <p:cNvPr id="6" name="Answer 2"/>
          <p:cNvSpPr txBox="1"/>
          <p:nvPr/>
        </p:nvSpPr>
        <p:spPr>
          <a:xfrm>
            <a:off x="1066800" y="2627630"/>
            <a:ext cx="10058400" cy="328560"/>
          </a:xfrm>
          <a:prstGeom prst="rect">
            <a:avLst/>
          </a:prstGeom>
          <a:noFill/>
        </p:spPr>
        <p:txBody>
          <a:bodyPr wrap="square" lIns="0" tIns="0" rIns="0" bIns="0">
            <a:normAutofit/>
          </a:bodyPr>
          <a:lstStyle/>
          <a:p>
            <a:pPr marL="0" indent="0">
              <a:buNone/>
            </a:pPr>
            <a:r>
              <a:rPr lang="en-US" sz="1600" dirty="0">
                <a:solidFill>
                  <a:srgbClr val="C00000"/>
                </a:solidFill>
              </a:rPr>
              <a:t>The same kind of number for a population, computed from every observation – and usually unknown.</a:t>
            </a:r>
          </a:p>
        </p:txBody>
      </p:sp>
      <p:sp>
        <p:nvSpPr>
          <p:cNvPr id="7" name="Question 3"/>
          <p:cNvSpPr/>
          <p:nvPr/>
        </p:nvSpPr>
        <p:spPr>
          <a:xfrm>
            <a:off x="838200" y="3127630"/>
            <a:ext cx="10515600" cy="98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3   </a:t>
            </a:r>
            <a:r>
              <a:rPr lang="en-US" b="1" dirty="0"/>
              <a:t>What do we use data for?</a:t>
            </a:r>
          </a:p>
        </p:txBody>
      </p:sp>
      <p:sp>
        <p:nvSpPr>
          <p:cNvPr id="8" name="Answer 3"/>
          <p:cNvSpPr txBox="1"/>
          <p:nvPr/>
        </p:nvSpPr>
        <p:spPr>
          <a:xfrm>
            <a:off x="1066800" y="3687630"/>
            <a:ext cx="10058400" cy="328560"/>
          </a:xfrm>
          <a:prstGeom prst="rect">
            <a:avLst/>
          </a:prstGeom>
          <a:noFill/>
        </p:spPr>
        <p:txBody>
          <a:bodyPr wrap="square" lIns="0" tIns="0" rIns="0" bIns="0">
            <a:normAutofit/>
          </a:bodyPr>
          <a:lstStyle/>
          <a:p>
            <a:pPr marL="0" indent="0">
              <a:buNone/>
            </a:pPr>
            <a:r>
              <a:rPr lang="en-US" sz="1600" dirty="0">
                <a:solidFill>
                  <a:srgbClr val="C00000"/>
                </a:solidFill>
              </a:rPr>
              <a:t>To answer questions about a population.</a:t>
            </a:r>
          </a:p>
        </p:txBody>
      </p:sp>
      <p:sp>
        <p:nvSpPr>
          <p:cNvPr id="9" name="Question 4"/>
          <p:cNvSpPr/>
          <p:nvPr/>
        </p:nvSpPr>
        <p:spPr>
          <a:xfrm>
            <a:off x="838200" y="4187630"/>
            <a:ext cx="10515600" cy="98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4   </a:t>
            </a:r>
            <a:r>
              <a:rPr lang="en-US" b="1" dirty="0"/>
              <a:t>What is a population?</a:t>
            </a:r>
          </a:p>
        </p:txBody>
      </p:sp>
      <p:sp>
        <p:nvSpPr>
          <p:cNvPr id="10" name="Answer 4"/>
          <p:cNvSpPr txBox="1"/>
          <p:nvPr/>
        </p:nvSpPr>
        <p:spPr>
          <a:xfrm>
            <a:off x="1066800" y="4747630"/>
            <a:ext cx="10058400" cy="328560"/>
          </a:xfrm>
          <a:prstGeom prst="rect">
            <a:avLst/>
          </a:prstGeom>
          <a:noFill/>
        </p:spPr>
        <p:txBody>
          <a:bodyPr wrap="square" lIns="0" tIns="0" rIns="0" bIns="0">
            <a:normAutofit/>
          </a:bodyPr>
          <a:lstStyle/>
          <a:p>
            <a:pPr marL="0" indent="0">
              <a:buNone/>
            </a:pPr>
            <a:r>
              <a:rPr lang="en-US" sz="1600" dirty="0">
                <a:solidFill>
                  <a:srgbClr val="C00000"/>
                </a:solidFill>
              </a:rPr>
              <a:t>The set of all observations of interest – observed and unobserved.</a:t>
            </a:r>
          </a:p>
        </p:txBody>
      </p:sp>
      <p:sp>
        <p:nvSpPr>
          <p:cNvPr id="11" name="Question 5"/>
          <p:cNvSpPr/>
          <p:nvPr/>
        </p:nvSpPr>
        <p:spPr>
          <a:xfrm>
            <a:off x="838200" y="5247630"/>
            <a:ext cx="10515600" cy="98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5   </a:t>
            </a:r>
            <a:r>
              <a:rPr lang="en-US" b="1" dirty="0"/>
              <a:t>What is a sample?</a:t>
            </a:r>
          </a:p>
        </p:txBody>
      </p:sp>
      <p:sp>
        <p:nvSpPr>
          <p:cNvPr id="12" name="Answer 5"/>
          <p:cNvSpPr txBox="1"/>
          <p:nvPr/>
        </p:nvSpPr>
        <p:spPr>
          <a:xfrm>
            <a:off x="1066800" y="5807630"/>
            <a:ext cx="10058400" cy="328560"/>
          </a:xfrm>
          <a:prstGeom prst="rect">
            <a:avLst/>
          </a:prstGeom>
          <a:noFill/>
        </p:spPr>
        <p:txBody>
          <a:bodyPr wrap="square" lIns="0" tIns="0" rIns="0" bIns="0">
            <a:normAutofit/>
          </a:bodyPr>
          <a:lstStyle/>
          <a:p>
            <a:pPr marL="0" indent="0">
              <a:buNone/>
            </a:pPr>
            <a:r>
              <a:rPr lang="en-US" sz="1600" dirty="0">
                <a:solidFill>
                  <a:srgbClr val="C00000"/>
                </a:solidFill>
              </a:rPr>
              <a:t>The subset of the population that we actually observe.</a:t>
            </a:r>
          </a:p>
        </p:txBody>
      </p:sp>
    </p:spTree>
    <p:extLst>
      <p:ext uri="{BB962C8B-B14F-4D97-AF65-F5344CB8AC3E}">
        <p14:creationId xmlns:p14="http://schemas.microsoft.com/office/powerpoint/2010/main" val="151748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9130"/>
          </a:xfrm>
        </p:spPr>
        <p:txBody>
          <a:bodyPr>
            <a:normAutofit fontScale="90000"/>
          </a:bodyPr>
          <a:lstStyle/>
          <a:p>
            <a:r>
              <a:rPr lang="en-US" dirty="0"/>
              <a:t>Review</a:t>
            </a:r>
          </a:p>
        </p:txBody>
      </p:sp>
      <p:sp>
        <p:nvSpPr>
          <p:cNvPr id="3" name="Question 1"/>
          <p:cNvSpPr/>
          <p:nvPr/>
        </p:nvSpPr>
        <p:spPr>
          <a:xfrm>
            <a:off x="838200" y="1075688"/>
            <a:ext cx="10515600" cy="123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1   </a:t>
            </a:r>
            <a:r>
              <a:rPr lang="en-US" b="1" dirty="0"/>
              <a:t>What do we call the way we collect the data?</a:t>
            </a:r>
          </a:p>
        </p:txBody>
      </p:sp>
      <p:sp>
        <p:nvSpPr>
          <p:cNvPr id="4" name="Answer 1"/>
          <p:cNvSpPr txBox="1"/>
          <p:nvPr/>
        </p:nvSpPr>
        <p:spPr>
          <a:xfrm>
            <a:off x="1066800" y="1655688"/>
            <a:ext cx="10058400" cy="558560"/>
          </a:xfrm>
          <a:prstGeom prst="rect">
            <a:avLst/>
          </a:prstGeom>
          <a:noFill/>
        </p:spPr>
        <p:txBody>
          <a:bodyPr wrap="square" lIns="0" tIns="0" rIns="0" bIns="0">
            <a:normAutofit/>
          </a:bodyPr>
          <a:lstStyle/>
          <a:p>
            <a:pPr marL="0" indent="0">
              <a:buNone/>
            </a:pPr>
            <a:r>
              <a:rPr lang="en-US" dirty="0">
                <a:solidFill>
                  <a:srgbClr val="C00000"/>
                </a:solidFill>
              </a:rPr>
              <a:t>The sampling design.</a:t>
            </a:r>
          </a:p>
        </p:txBody>
      </p:sp>
      <p:sp>
        <p:nvSpPr>
          <p:cNvPr id="5" name="Question 2"/>
          <p:cNvSpPr/>
          <p:nvPr/>
        </p:nvSpPr>
        <p:spPr>
          <a:xfrm>
            <a:off x="838200" y="2385688"/>
            <a:ext cx="10515600" cy="123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2   </a:t>
            </a:r>
            <a:r>
              <a:rPr lang="en-US" b="1" dirty="0"/>
              <a:t>What are the three arms of statistics?</a:t>
            </a:r>
          </a:p>
        </p:txBody>
      </p:sp>
      <p:sp>
        <p:nvSpPr>
          <p:cNvPr id="6" name="Answer 2"/>
          <p:cNvSpPr txBox="1"/>
          <p:nvPr/>
        </p:nvSpPr>
        <p:spPr>
          <a:xfrm>
            <a:off x="1066800" y="2965688"/>
            <a:ext cx="10058400" cy="558560"/>
          </a:xfrm>
          <a:prstGeom prst="rect">
            <a:avLst/>
          </a:prstGeom>
          <a:noFill/>
        </p:spPr>
        <p:txBody>
          <a:bodyPr wrap="square" lIns="0" tIns="0" rIns="0" bIns="0">
            <a:normAutofit/>
          </a:bodyPr>
          <a:lstStyle/>
          <a:p>
            <a:pPr marL="0" indent="0">
              <a:buNone/>
            </a:pPr>
            <a:r>
              <a:rPr lang="en-US" sz="1600" dirty="0">
                <a:solidFill>
                  <a:srgbClr val="C00000"/>
                </a:solidFill>
              </a:rPr>
              <a:t>Design, description and inference.</a:t>
            </a:r>
          </a:p>
        </p:txBody>
      </p:sp>
      <p:sp>
        <p:nvSpPr>
          <p:cNvPr id="7" name="Question 3"/>
          <p:cNvSpPr/>
          <p:nvPr/>
        </p:nvSpPr>
        <p:spPr>
          <a:xfrm>
            <a:off x="838200" y="3695688"/>
            <a:ext cx="10515600" cy="123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3   </a:t>
            </a:r>
            <a:r>
              <a:rPr lang="en-US" b="1" dirty="0"/>
              <a:t>Which one comes first, and why?</a:t>
            </a:r>
          </a:p>
        </p:txBody>
      </p:sp>
      <p:sp>
        <p:nvSpPr>
          <p:cNvPr id="8" name="Answer 3"/>
          <p:cNvSpPr txBox="1"/>
          <p:nvPr/>
        </p:nvSpPr>
        <p:spPr>
          <a:xfrm>
            <a:off x="1066800" y="4275688"/>
            <a:ext cx="10058400" cy="558560"/>
          </a:xfrm>
          <a:prstGeom prst="rect">
            <a:avLst/>
          </a:prstGeom>
          <a:noFill/>
        </p:spPr>
        <p:txBody>
          <a:bodyPr wrap="square" lIns="0" tIns="0" rIns="0" bIns="0">
            <a:normAutofit/>
          </a:bodyPr>
          <a:lstStyle/>
          <a:p>
            <a:pPr marL="0" indent="0">
              <a:buNone/>
            </a:pPr>
            <a:r>
              <a:rPr lang="en-US" sz="1600" dirty="0">
                <a:solidFill>
                  <a:srgbClr val="C00000"/>
                </a:solidFill>
              </a:rPr>
              <a:t>Design – how we plan to collect the data, settled before any data exists. No amount of description or inference repairs a bad design.</a:t>
            </a:r>
          </a:p>
        </p:txBody>
      </p:sp>
      <p:sp>
        <p:nvSpPr>
          <p:cNvPr id="9" name="Question 4"/>
          <p:cNvSpPr/>
          <p:nvPr/>
        </p:nvSpPr>
        <p:spPr>
          <a:xfrm>
            <a:off x="838200" y="5005688"/>
            <a:ext cx="10515600" cy="1230000"/>
          </a:xfrm>
          <a:prstGeom prst="roundRect">
            <a:avLst>
              <a:gd name="adj" fmla="val 4000"/>
            </a:avLst>
          </a:prstGeom>
          <a:solidFill>
            <a:srgbClr val="F2F6FC"/>
          </a:solidFill>
          <a:ln w="19050">
            <a:solidFill>
              <a:schemeClr val="accent1"/>
            </a:solidFill>
          </a:ln>
        </p:spPr>
        <p:txBody>
          <a:bodyPr lIns="228600" tIns="182880" rIns="228600" bIns="91440" anchor="t">
            <a:normAutofit/>
          </a:bodyPr>
          <a:lstStyle/>
          <a:p>
            <a:pPr marL="0" indent="0">
              <a:buNone/>
            </a:pPr>
            <a:r>
              <a:rPr lang="en-US" b="1" dirty="0">
                <a:solidFill>
                  <a:srgbClr val="4472C4"/>
                </a:solidFill>
              </a:rPr>
              <a:t>4   </a:t>
            </a:r>
            <a:r>
              <a:rPr lang="en-US" b="1" dirty="0"/>
              <a:t>What is an estimate?</a:t>
            </a:r>
          </a:p>
        </p:txBody>
      </p:sp>
      <p:sp>
        <p:nvSpPr>
          <p:cNvPr id="10" name="Answer 4"/>
          <p:cNvSpPr txBox="1"/>
          <p:nvPr/>
        </p:nvSpPr>
        <p:spPr>
          <a:xfrm>
            <a:off x="1066800" y="5585688"/>
            <a:ext cx="10058400" cy="558560"/>
          </a:xfrm>
          <a:prstGeom prst="rect">
            <a:avLst/>
          </a:prstGeom>
          <a:noFill/>
        </p:spPr>
        <p:txBody>
          <a:bodyPr wrap="square" lIns="0" tIns="0" rIns="0" bIns="0">
            <a:normAutofit/>
          </a:bodyPr>
          <a:lstStyle/>
          <a:p>
            <a:pPr marL="0" indent="0">
              <a:buNone/>
            </a:pPr>
            <a:r>
              <a:rPr lang="en-US" sz="1600" dirty="0">
                <a:solidFill>
                  <a:srgbClr val="C00000"/>
                </a:solidFill>
              </a:rPr>
              <a:t>A statistic computed from a sample, used to approximate an unknown population parameter</a:t>
            </a:r>
          </a:p>
        </p:txBody>
      </p:sp>
    </p:spTree>
    <p:extLst>
      <p:ext uri="{BB962C8B-B14F-4D97-AF65-F5344CB8AC3E}">
        <p14:creationId xmlns:p14="http://schemas.microsoft.com/office/powerpoint/2010/main" val="151748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0" name="Title 1"/>
          <p:cNvSpPr>
            <a:spLocks noGrp="1"/>
          </p:cNvSpPr>
          <p:nvPr>
            <p:ph type="title"/>
          </p:nvPr>
        </p:nvSpPr>
        <p:spPr>
          <a:xfrm>
            <a:off x="-8000000" y="0"/>
            <a:ext cx="6000000" cy="800000"/>
          </a:xfrm>
        </p:spPr>
        <p:txBody>
          <a:bodyPr>
            <a:normAutofit/>
          </a:bodyPr>
          <a:lstStyle/>
          <a:p>
            <a:r>
              <a:rPr lang="en-US" sz="1800" dirty="0"/>
              <a:t>Where we stopped on Friday: the teen cell-phone survey</a:t>
            </a:r>
          </a:p>
        </p:txBody>
      </p:sp>
      <p:pic>
        <p:nvPicPr>
          <p:cNvPr id="9" name="Picture 8" descr="Bar chart of 743 U.S. teenagers answering whether checking their phone makes them lose focus in class. Never 0.39, Rarely 0.29, Sometimes 0.24, Often 0.08 - most teens say they rarely or never lose focus.">
            <a:extLst>
              <a:ext uri="{FF2B5EF4-FFF2-40B4-BE49-F238E27FC236}">
                <a16:creationId xmlns:a16="http://schemas.microsoft.com/office/drawing/2014/main" id="{61327843-2234-FD4B-8B1B-E62A4EDD2B5A}"/>
              </a:ext>
            </a:extLst>
          </p:cNvPr>
          <p:cNvPicPr>
            <a:picLocks noChangeAspect="1"/>
          </p:cNvPicPr>
          <p:nvPr/>
        </p:nvPicPr>
        <p:blipFill>
          <a:blip r:embed="rId2"/>
          <a:stretch>
            <a:fillRect/>
          </a:stretch>
        </p:blipFill>
        <p:spPr>
          <a:xfrm>
            <a:off x="1938487" y="643466"/>
            <a:ext cx="8315026" cy="5571067"/>
          </a:xfrm>
          <a:prstGeom prst="rect">
            <a:avLst/>
          </a:prstGeom>
        </p:spPr>
      </p:pic>
    </p:spTree>
    <p:extLst>
      <p:ext uri="{BB962C8B-B14F-4D97-AF65-F5344CB8AC3E}">
        <p14:creationId xmlns:p14="http://schemas.microsoft.com/office/powerpoint/2010/main" val="3231681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0C838-419D-A320-939B-B830BDB03E4B}"/>
              </a:ext>
            </a:extLst>
          </p:cNvPr>
          <p:cNvSpPr>
            <a:spLocks noGrp="1"/>
          </p:cNvSpPr>
          <p:nvPr>
            <p:ph type="title"/>
          </p:nvPr>
        </p:nvSpPr>
        <p:spPr>
          <a:xfrm>
            <a:off x="0" y="3513932"/>
            <a:ext cx="3143250" cy="2601119"/>
          </a:xfrm>
        </p:spPr>
        <p:txBody>
          <a:bodyPr anchor="t">
            <a:normAutofit/>
          </a:bodyPr>
          <a:lstStyle/>
          <a:p>
            <a:pPr algn="ctr"/>
            <a:r>
              <a:rPr lang="en-US" sz="3200" dirty="0"/>
              <a:t>Features of Distributions</a:t>
            </a:r>
          </a:p>
        </p:txBody>
      </p:sp>
      <p:pic>
        <p:nvPicPr>
          <p:cNvPr id="7" name="Graphic 6" descr="Bar chart">
            <a:extLst>
              <a:ext uri="{FF2B5EF4-FFF2-40B4-BE49-F238E27FC236}">
                <a16:creationId xmlns:a16="http://schemas.microsoft.com/office/drawing/2014/main" id="{A24949B9-7196-14B2-6760-43F0BB29FD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85926" y="2429668"/>
            <a:ext cx="914400" cy="914400"/>
          </a:xfrm>
          <a:prstGeom prst="rect">
            <a:avLst/>
          </a:prstGeom>
        </p:spPr>
      </p:pic>
      <p:sp>
        <p:nvSpPr>
          <p:cNvPr id="3" name="Content Placeholder 2">
            <a:extLst>
              <a:ext uri="{FF2B5EF4-FFF2-40B4-BE49-F238E27FC236}">
                <a16:creationId xmlns:a16="http://schemas.microsoft.com/office/drawing/2014/main" id="{1BE77A37-4E8C-D029-B59B-07E4F0EE31A8}"/>
              </a:ext>
            </a:extLst>
          </p:cNvPr>
          <p:cNvSpPr>
            <a:spLocks noGrp="1"/>
          </p:cNvSpPr>
          <p:nvPr>
            <p:ph idx="1"/>
          </p:nvPr>
        </p:nvSpPr>
        <p:spPr>
          <a:xfrm>
            <a:off x="3048000" y="730249"/>
            <a:ext cx="8305799" cy="5803901"/>
          </a:xfrm>
        </p:spPr>
        <p:txBody>
          <a:bodyPr anchor="ctr">
            <a:normAutofit lnSpcReduction="10000"/>
          </a:bodyPr>
          <a:lstStyle/>
          <a:p>
            <a:r>
              <a:rPr lang="en-US" sz="2000" dirty="0"/>
              <a:t>A </a:t>
            </a:r>
            <a:r>
              <a:rPr lang="en-US" sz="2000" b="1" dirty="0"/>
              <a:t>distribution</a:t>
            </a:r>
            <a:r>
              <a:rPr lang="en-US" sz="2000" dirty="0"/>
              <a:t> of a variable gives (a) the values that occur and (b) how often each value occurs</a:t>
            </a:r>
          </a:p>
          <a:p>
            <a:pPr marL="0" indent="0">
              <a:buNone/>
            </a:pPr>
            <a:endParaRPr lang="en-US" sz="2000" dirty="0"/>
          </a:p>
          <a:p>
            <a:pPr marL="0" indent="0">
              <a:buNone/>
            </a:pPr>
            <a:r>
              <a:rPr lang="en-US" sz="2000" b="1" u="sng" dirty="0"/>
              <a:t>Features of A Distribution</a:t>
            </a:r>
          </a:p>
          <a:p>
            <a:pPr marL="0" indent="0">
              <a:buNone/>
            </a:pPr>
            <a:r>
              <a:rPr lang="en-US" sz="2000" b="1" dirty="0"/>
              <a:t>Categorical Variables:</a:t>
            </a:r>
          </a:p>
          <a:p>
            <a:r>
              <a:rPr lang="en-US" sz="2000" b="1" dirty="0"/>
              <a:t>Modal category </a:t>
            </a:r>
            <a:r>
              <a:rPr lang="en-US" sz="2000" dirty="0"/>
              <a:t>– the category with the highest frequency</a:t>
            </a:r>
          </a:p>
          <a:p>
            <a:pPr marL="0" indent="0">
              <a:buNone/>
            </a:pPr>
            <a:endParaRPr lang="en-US" sz="2000" b="1" dirty="0"/>
          </a:p>
          <a:p>
            <a:pPr marL="0" indent="0">
              <a:buNone/>
            </a:pPr>
            <a:r>
              <a:rPr lang="en-US" sz="2000" b="1" dirty="0"/>
              <a:t>Quantitative Variables:</a:t>
            </a:r>
          </a:p>
          <a:p>
            <a:r>
              <a:rPr lang="en-US" sz="2000" b="1" dirty="0"/>
              <a:t>Shape</a:t>
            </a:r>
            <a:r>
              <a:rPr lang="en-US" sz="2000" dirty="0"/>
              <a:t> – do observations cluster into certain areas, are values spread out or more densely packed together?</a:t>
            </a:r>
          </a:p>
          <a:p>
            <a:endParaRPr lang="en-US" sz="2000" b="1" dirty="0"/>
          </a:p>
          <a:p>
            <a:r>
              <a:rPr lang="en-US" sz="2000" b="1" dirty="0"/>
              <a:t>Center</a:t>
            </a:r>
            <a:r>
              <a:rPr lang="en-US" sz="2000" dirty="0"/>
              <a:t> – where is the middle point on the distribution, where does a typical value fall?</a:t>
            </a:r>
            <a:endParaRPr lang="en-US" sz="2000" b="1" dirty="0"/>
          </a:p>
          <a:p>
            <a:endParaRPr lang="en-US" sz="2000" b="1" dirty="0"/>
          </a:p>
          <a:p>
            <a:r>
              <a:rPr lang="en-US" sz="2000" b="1" dirty="0"/>
              <a:t>Variability</a:t>
            </a:r>
            <a:r>
              <a:rPr lang="en-US" sz="2000" dirty="0"/>
              <a:t> – how tightly to observations cluster around the center of the distribution </a:t>
            </a:r>
          </a:p>
        </p:txBody>
      </p:sp>
    </p:spTree>
    <p:extLst>
      <p:ext uri="{BB962C8B-B14F-4D97-AF65-F5344CB8AC3E}">
        <p14:creationId xmlns:p14="http://schemas.microsoft.com/office/powerpoint/2010/main" val="10966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to Look For: the Modal Category</a:t>
            </a:r>
          </a:p>
        </p:txBody>
      </p:sp>
      <p:sp>
        <p:nvSpPr>
          <p:cNvPr id="3" name="Definition"/>
          <p:cNvSpPr txBox="1"/>
          <p:nvPr/>
        </p:nvSpPr>
        <p:spPr>
          <a:xfrm>
            <a:off x="838200" y="1480000"/>
            <a:ext cx="10515600" cy="700000"/>
          </a:xfrm>
          <a:prstGeom prst="rect">
            <a:avLst/>
          </a:prstGeom>
          <a:noFill/>
        </p:spPr>
        <p:txBody>
          <a:bodyPr wrap="square" lIns="0" tIns="0" rIns="0" bIns="0">
            <a:normAutofit/>
          </a:bodyPr>
          <a:lstStyle/>
          <a:p>
            <a:pPr marL="0" indent="0">
              <a:buNone/>
            </a:pPr>
            <a:r>
              <a:rPr lang="en-US" sz="1800" dirty="0"/>
              <a:t>Modal category – the category with the highest frequency. It is the feature we describe for a qualitative variable.</a:t>
            </a:r>
          </a:p>
        </p:txBody>
      </p:sp>
      <p:pic>
        <p:nvPicPr>
          <p:cNvPr id="4" name="Figure" descr="Bar chart of the same teen survey with the tallest bar, Never at 289, picked out in red as the modal category. Rarely 216, Sometimes 178, Often 60."/>
          <p:cNvPicPr>
            <a:picLocks noChangeAspect="1"/>
          </p:cNvPicPr>
          <p:nvPr/>
        </p:nvPicPr>
        <p:blipFill>
          <a:blip r:embed="rId2"/>
          <a:stretch>
            <a:fillRect/>
          </a:stretch>
        </p:blipFill>
        <p:spPr>
          <a:xfrm>
            <a:off x="1524000" y="1980000"/>
            <a:ext cx="9144000" cy="3840000"/>
          </a:xfrm>
          <a:prstGeom prst="rect">
            <a:avLst/>
          </a:prstGeom>
        </p:spPr>
      </p:pic>
      <p:sp>
        <p:nvSpPr>
          <p:cNvPr id="5" name="Takeaway"/>
          <p:cNvSpPr txBox="1"/>
          <p:nvPr/>
        </p:nvSpPr>
        <p:spPr>
          <a:xfrm>
            <a:off x="838200" y="6000000"/>
            <a:ext cx="10515600" cy="900000"/>
          </a:xfrm>
          <a:prstGeom prst="rect">
            <a:avLst/>
          </a:prstGeom>
          <a:noFill/>
        </p:spPr>
        <p:txBody>
          <a:bodyPr wrap="square" lIns="0" tIns="0" rIns="0" bIns="0">
            <a:normAutofit/>
          </a:bodyPr>
          <a:lstStyle/>
          <a:p>
            <a:pPr marL="0" indent="0">
              <a:buNone/>
            </a:pPr>
            <a:r>
              <a:rPr lang="en-US" sz="1600" b="1" dirty="0">
                <a:solidFill>
                  <a:srgbClr val="C00000"/>
                </a:solidFill>
              </a:rPr>
              <a:t>Never is the modal category. There are no numbers to average here, so the modal category is the whole summary – which is why shape, center and variability are reserved for quantitative variables.</a:t>
            </a:r>
          </a:p>
        </p:txBody>
      </p:sp>
    </p:spTree>
    <p:extLst>
      <p:ext uri="{BB962C8B-B14F-4D97-AF65-F5344CB8AC3E}">
        <p14:creationId xmlns:p14="http://schemas.microsoft.com/office/powerpoint/2010/main" val="151748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to Look For: Shape</a:t>
            </a:r>
          </a:p>
        </p:txBody>
      </p:sp>
      <p:sp>
        <p:nvSpPr>
          <p:cNvPr id="3" name="Definition"/>
          <p:cNvSpPr txBox="1"/>
          <p:nvPr/>
        </p:nvSpPr>
        <p:spPr>
          <a:xfrm>
            <a:off x="838200" y="1480000"/>
            <a:ext cx="10515600" cy="700000"/>
          </a:xfrm>
          <a:prstGeom prst="rect">
            <a:avLst/>
          </a:prstGeom>
          <a:noFill/>
        </p:spPr>
        <p:txBody>
          <a:bodyPr wrap="square" lIns="0" tIns="0" rIns="0" bIns="0">
            <a:normAutofit/>
          </a:bodyPr>
          <a:lstStyle/>
          <a:p>
            <a:pPr marL="0" indent="0">
              <a:buNone/>
            </a:pPr>
            <a:r>
              <a:rPr lang="en-US" sz="1800" dirty="0"/>
              <a:t>Shape – do observations cluster into certain areas? Are the values spread out evenly, or piled up on one side?</a:t>
            </a:r>
          </a:p>
        </p:txBody>
      </p:sp>
      <p:pic>
        <p:nvPicPr>
          <p:cNvPr id="4" name="Figure" descr="Four histograms showing different shapes: values piling up in the middle and thinning evenly on both sides; piling up on the left with a long trail to the right; piling up on the right with a long trail to the left; and piling up in two separate places with a gap between them."/>
          <p:cNvPicPr>
            <a:picLocks noChangeAspect="1"/>
          </p:cNvPicPr>
          <p:nvPr/>
        </p:nvPicPr>
        <p:blipFill>
          <a:blip r:embed="rId2"/>
          <a:stretch>
            <a:fillRect/>
          </a:stretch>
        </p:blipFill>
        <p:spPr>
          <a:xfrm>
            <a:off x="1167500" y="1960000"/>
            <a:ext cx="9857000" cy="4200000"/>
          </a:xfrm>
          <a:prstGeom prst="rect">
            <a:avLst/>
          </a:prstGeom>
        </p:spPr>
      </p:pic>
    </p:spTree>
    <p:extLst>
      <p:ext uri="{BB962C8B-B14F-4D97-AF65-F5344CB8AC3E}">
        <p14:creationId xmlns:p14="http://schemas.microsoft.com/office/powerpoint/2010/main" val="1517484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to Look For: Center</a:t>
            </a:r>
          </a:p>
        </p:txBody>
      </p:sp>
      <p:sp>
        <p:nvSpPr>
          <p:cNvPr id="3" name="Definition"/>
          <p:cNvSpPr txBox="1"/>
          <p:nvPr/>
        </p:nvSpPr>
        <p:spPr>
          <a:xfrm>
            <a:off x="838200" y="1480000"/>
            <a:ext cx="10515600" cy="700000"/>
          </a:xfrm>
          <a:prstGeom prst="rect">
            <a:avLst/>
          </a:prstGeom>
          <a:noFill/>
        </p:spPr>
        <p:txBody>
          <a:bodyPr wrap="square" lIns="0" tIns="0" rIns="0" bIns="0">
            <a:normAutofit/>
          </a:bodyPr>
          <a:lstStyle/>
          <a:p>
            <a:pPr marL="0" indent="0">
              <a:buNone/>
            </a:pPr>
            <a:r>
              <a:rPr lang="en-US" sz="1800" dirty="0"/>
              <a:t>Center – where is the middle of the distribution? Where does a typical value fall?</a:t>
            </a:r>
          </a:p>
        </p:txBody>
      </p:sp>
      <p:pic>
        <p:nvPicPr>
          <p:cNvPr id="4" name="Figure" descr="Two histograms with the mean drawn as a solid red line and the tallest bar marked by a dashed grey line. On the evenly piled distribution the mean sits under the peak; where the values trail off to the right the mean is pulled away from the peak, toward the tail."/>
          <p:cNvPicPr>
            <a:picLocks noChangeAspect="1"/>
          </p:cNvPicPr>
          <p:nvPr/>
        </p:nvPicPr>
        <p:blipFill>
          <a:blip r:embed="rId2"/>
          <a:stretch>
            <a:fillRect/>
          </a:stretch>
        </p:blipFill>
        <p:spPr>
          <a:xfrm>
            <a:off x="838200" y="2050000"/>
            <a:ext cx="10515600" cy="3566000"/>
          </a:xfrm>
          <a:prstGeom prst="rect">
            <a:avLst/>
          </a:prstGeom>
        </p:spPr>
      </p:pic>
      <p:sp>
        <p:nvSpPr>
          <p:cNvPr id="5" name="Takeaway"/>
          <p:cNvSpPr txBox="1"/>
          <p:nvPr/>
        </p:nvSpPr>
        <p:spPr>
          <a:xfrm>
            <a:off x="838200" y="5796000"/>
            <a:ext cx="10515600" cy="900000"/>
          </a:xfrm>
          <a:prstGeom prst="rect">
            <a:avLst/>
          </a:prstGeom>
          <a:noFill/>
        </p:spPr>
        <p:txBody>
          <a:bodyPr wrap="square" lIns="0" tIns="0" rIns="0" bIns="0">
            <a:normAutofit/>
          </a:bodyPr>
          <a:lstStyle/>
          <a:p>
            <a:pPr marL="0" indent="0">
              <a:buNone/>
            </a:pPr>
            <a:r>
              <a:rPr lang="en-US" sz="1600" b="1" dirty="0">
                <a:solidFill>
                  <a:srgbClr val="C00000"/>
                </a:solidFill>
              </a:rPr>
              <a:t>When the values pile up evenly the mean sits under the peak. When they trail off to one side the tail drags the mean away from where most of the data actually are. the mean alone can mislead. </a:t>
            </a:r>
          </a:p>
        </p:txBody>
      </p:sp>
    </p:spTree>
    <p:extLst>
      <p:ext uri="{BB962C8B-B14F-4D97-AF65-F5344CB8AC3E}">
        <p14:creationId xmlns:p14="http://schemas.microsoft.com/office/powerpoint/2010/main" val="151748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to Look For: Variability</a:t>
            </a:r>
          </a:p>
        </p:txBody>
      </p:sp>
      <p:sp>
        <p:nvSpPr>
          <p:cNvPr id="3" name="Definition"/>
          <p:cNvSpPr txBox="1"/>
          <p:nvPr/>
        </p:nvSpPr>
        <p:spPr>
          <a:xfrm>
            <a:off x="838200" y="1480000"/>
            <a:ext cx="10515600" cy="700000"/>
          </a:xfrm>
          <a:prstGeom prst="rect">
            <a:avLst/>
          </a:prstGeom>
          <a:noFill/>
        </p:spPr>
        <p:txBody>
          <a:bodyPr wrap="square" lIns="0" tIns="0" rIns="0" bIns="0">
            <a:normAutofit/>
          </a:bodyPr>
          <a:lstStyle/>
          <a:p>
            <a:pPr marL="0" indent="0">
              <a:buNone/>
            </a:pPr>
            <a:r>
              <a:rPr lang="en-US" sz="1800" dirty="0"/>
              <a:t>Variability – how tightly do observations cluster around the center of the distribution?</a:t>
            </a:r>
          </a:p>
        </p:txBody>
      </p:sp>
      <p:pic>
        <p:nvPicPr>
          <p:cNvPr id="4" name="Figure" descr="Two histograms on identical axes with the same center near 50. The first is narrow, with values packed close to the center; the second is far wider, spreading from about 10 to 90."/>
          <p:cNvPicPr>
            <a:picLocks noChangeAspect="1"/>
          </p:cNvPicPr>
          <p:nvPr/>
        </p:nvPicPr>
        <p:blipFill>
          <a:blip r:embed="rId2"/>
          <a:stretch>
            <a:fillRect/>
          </a:stretch>
        </p:blipFill>
        <p:spPr>
          <a:xfrm>
            <a:off x="838200" y="2050000"/>
            <a:ext cx="10515600" cy="3566000"/>
          </a:xfrm>
          <a:prstGeom prst="rect">
            <a:avLst/>
          </a:prstGeom>
        </p:spPr>
      </p:pic>
      <p:sp>
        <p:nvSpPr>
          <p:cNvPr id="5" name="Takeaway"/>
          <p:cNvSpPr txBox="1"/>
          <p:nvPr/>
        </p:nvSpPr>
        <p:spPr>
          <a:xfrm>
            <a:off x="838200" y="5796000"/>
            <a:ext cx="10515600" cy="900000"/>
          </a:xfrm>
          <a:prstGeom prst="rect">
            <a:avLst/>
          </a:prstGeom>
          <a:noFill/>
        </p:spPr>
        <p:txBody>
          <a:bodyPr wrap="square" lIns="0" tIns="0" rIns="0" bIns="0">
            <a:normAutofit/>
          </a:bodyPr>
          <a:lstStyle/>
          <a:p>
            <a:pPr marL="0" indent="0">
              <a:buNone/>
            </a:pPr>
            <a:r>
              <a:rPr lang="en-US" sz="1600" b="1" dirty="0">
                <a:solidFill>
                  <a:srgbClr val="C00000"/>
                </a:solidFill>
              </a:rPr>
              <a:t>Both distributions have the same center, and the axes are identical. Everything that differs between these two pictures is variability: </a:t>
            </a:r>
            <a:r>
              <a:rPr lang="en-US" sz="1600" b="1" dirty="0" err="1">
                <a:solidFill>
                  <a:srgbClr val="C00000"/>
                </a:solidFill>
              </a:rPr>
              <a:t>e.g</a:t>
            </a:r>
            <a:r>
              <a:rPr lang="en-US" sz="1600" b="1" dirty="0">
                <a:solidFill>
                  <a:srgbClr val="C00000"/>
                </a:solidFill>
              </a:rPr>
              <a:t> how much the data spread out.</a:t>
            </a:r>
          </a:p>
        </p:txBody>
      </p:sp>
    </p:spTree>
    <p:extLst>
      <p:ext uri="{BB962C8B-B14F-4D97-AF65-F5344CB8AC3E}">
        <p14:creationId xmlns:p14="http://schemas.microsoft.com/office/powerpoint/2010/main" val="151748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E7931-7E6D-2752-3470-1130A2671C60}"/>
              </a:ext>
            </a:extLst>
          </p:cNvPr>
          <p:cNvSpPr>
            <a:spLocks noGrp="1"/>
          </p:cNvSpPr>
          <p:nvPr>
            <p:ph type="title"/>
          </p:nvPr>
        </p:nvSpPr>
        <p:spPr/>
        <p:txBody>
          <a:bodyPr/>
          <a:lstStyle/>
          <a:p>
            <a:r>
              <a:rPr lang="en-US" dirty="0"/>
              <a:t>Displaying Distributions: Frequency Tables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2BC55B-314A-1FBB-D20E-C5A204950191}"/>
                  </a:ext>
                </a:extLst>
              </p:cNvPr>
              <p:cNvSpPr>
                <a:spLocks noGrp="1"/>
              </p:cNvSpPr>
              <p:nvPr>
                <p:ph idx="1"/>
              </p:nvPr>
            </p:nvSpPr>
            <p:spPr>
              <a:xfrm>
                <a:off x="838200" y="1825625"/>
                <a:ext cx="4686300" cy="4351338"/>
              </a:xfrm>
            </p:spPr>
            <p:txBody>
              <a:bodyPr>
                <a:normAutofit fontScale="70000" lnSpcReduction="20000"/>
              </a:bodyPr>
              <a:lstStyle/>
              <a:p>
                <a:r>
                  <a:rPr lang="en-US" b="1" dirty="0"/>
                  <a:t>Frequency table – </a:t>
                </a:r>
                <a:r>
                  <a:rPr lang="en-US" dirty="0"/>
                  <a:t>a table listing the distinct values of variable together with the number of observations of each value</a:t>
                </a:r>
              </a:p>
              <a:p>
                <a:endParaRPr lang="en-US" b="1" dirty="0"/>
              </a:p>
              <a:p>
                <a:r>
                  <a:rPr lang="en-US" b="1" dirty="0"/>
                  <a:t>Frequency</a:t>
                </a:r>
                <a:r>
                  <a:rPr lang="en-US" dirty="0"/>
                  <a:t> – the number of times a value occurs</a:t>
                </a:r>
              </a:p>
              <a:p>
                <a:endParaRPr lang="en-US" dirty="0"/>
              </a:p>
              <a:p>
                <a:r>
                  <a:rPr lang="en-US" b="1" dirty="0"/>
                  <a:t>Relative Frequency</a:t>
                </a:r>
                <a:r>
                  <a:rPr lang="en-US" dirty="0"/>
                  <a:t> – the proportion of observations that assume a given value</a:t>
                </a:r>
              </a:p>
              <a:p>
                <a:pPr marL="0" indent="0">
                  <a:buNone/>
                </a:pPr>
                <a:r>
                  <a:rPr lang="en-US" dirty="0"/>
                  <a:t>	</a:t>
                </a:r>
                <a14:m>
                  <m:oMath xmlns:m="http://schemas.openxmlformats.org/officeDocument/2006/math">
                    <m:r>
                      <m:rPr>
                        <m:sty m:val="p"/>
                      </m:rPr>
                      <a:rPr lang="en-US" sz="3400" b="0" i="0" smtClean="0">
                        <a:latin typeface="Cambria Math" panose="02040503050406030204" pitchFamily="18" charset="0"/>
                      </a:rPr>
                      <m:t>RF</m:t>
                    </m:r>
                    <m:r>
                      <a:rPr lang="en-US" sz="3400" b="0" i="0" smtClean="0">
                        <a:latin typeface="Cambria Math" panose="02040503050406030204" pitchFamily="18" charset="0"/>
                      </a:rPr>
                      <m:t>= </m:t>
                    </m:r>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𝑓</m:t>
                        </m:r>
                      </m:num>
                      <m:den>
                        <m:r>
                          <a:rPr lang="en-US" sz="3400" b="0" i="1" smtClean="0">
                            <a:latin typeface="Cambria Math" panose="02040503050406030204" pitchFamily="18" charset="0"/>
                          </a:rPr>
                          <m:t>𝑛</m:t>
                        </m:r>
                      </m:den>
                    </m:f>
                    <m:r>
                      <a:rPr lang="en-US" sz="3400" b="0" i="1" smtClean="0">
                        <a:latin typeface="Cambria Math" panose="02040503050406030204" pitchFamily="18" charset="0"/>
                      </a:rPr>
                      <m:t>,</m:t>
                    </m:r>
                  </m:oMath>
                </a14:m>
                <a:endParaRPr lang="en-US" dirty="0"/>
              </a:p>
              <a:p>
                <a:r>
                  <a:rPr lang="en-US" b="1" dirty="0"/>
                  <a:t>Cumulative Relative Frequency </a:t>
                </a:r>
                <a:r>
                  <a:rPr lang="en-US" dirty="0"/>
                  <a:t>- the proportion of observations </a:t>
                </a:r>
                <a:r>
                  <a:rPr lang="en-US" u="sng" dirty="0"/>
                  <a:t>equal to or less than</a:t>
                </a:r>
                <a:r>
                  <a:rPr lang="en-US" dirty="0"/>
                  <a:t> a given value (more on this later)</a:t>
                </a:r>
              </a:p>
            </p:txBody>
          </p:sp>
        </mc:Choice>
        <mc:Fallback xmlns="">
          <p:sp>
            <p:nvSpPr>
              <p:cNvPr id="3" name="Content Placeholder 2">
                <a:extLst>
                  <a:ext uri="{FF2B5EF4-FFF2-40B4-BE49-F238E27FC236}">
                    <a16:creationId xmlns:a16="http://schemas.microsoft.com/office/drawing/2014/main" id="{F62BC55B-314A-1FBB-D20E-C5A204950191}"/>
                  </a:ext>
                </a:extLst>
              </p:cNvPr>
              <p:cNvSpPr>
                <a:spLocks noGrp="1" noRot="1" noChangeAspect="1" noMove="1" noResize="1" noEditPoints="1" noAdjustHandles="1" noChangeArrowheads="1" noChangeShapeType="1" noTextEdit="1"/>
              </p:cNvSpPr>
              <p:nvPr>
                <p:ph idx="1"/>
              </p:nvPr>
            </p:nvSpPr>
            <p:spPr>
              <a:xfrm>
                <a:off x="838200" y="1825625"/>
                <a:ext cx="4686300" cy="4351338"/>
              </a:xfrm>
              <a:blipFill>
                <a:blip r:embed="rId2"/>
                <a:stretch>
                  <a:fillRect l="-1172" t="-2521" r="-208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16CEE11-2CF1-DEAD-BC8D-9BB706DE1AB6}"/>
              </a:ext>
            </a:extLst>
          </p:cNvPr>
          <p:cNvSpPr txBox="1"/>
          <p:nvPr/>
        </p:nvSpPr>
        <p:spPr>
          <a:xfrm>
            <a:off x="6873497" y="1506022"/>
            <a:ext cx="4392100" cy="369332"/>
          </a:xfrm>
          <a:prstGeom prst="rect">
            <a:avLst/>
          </a:prstGeom>
          <a:noFill/>
        </p:spPr>
        <p:txBody>
          <a:bodyPr wrap="none" rtlCol="0">
            <a:spAutoFit/>
          </a:bodyPr>
          <a:lstStyle/>
          <a:p>
            <a:r>
              <a:rPr lang="en-US" dirty="0"/>
              <a:t>Ex. Are teens distracted by their cell phones?</a:t>
            </a:r>
          </a:p>
        </p:txBody>
      </p:sp>
      <p:pic>
        <p:nvPicPr>
          <p:cNvPr id="30" name="Table stage 1" descr="Frequency table of the teen survey showing the Response and Frequency columns only: Never 289, Rarely 216, Sometimes 178, Often 60, total 743.">
            <a:extLst>
              <a:ext uri="{FF2B5EF4-FFF2-40B4-BE49-F238E27FC236}">
                <a16:creationId xmlns:a16="http://schemas.microsoft.com/office/drawing/2014/main" id="{A726F141-28A4-5B62-1A80-B214989D15D2}"/>
              </a:ext>
            </a:extLst>
          </p:cNvPr>
          <p:cNvPicPr>
            <a:picLocks noChangeAspect="1"/>
          </p:cNvPicPr>
          <p:nvPr/>
        </p:nvPicPr>
        <p:blipFill>
          <a:blip r:embed="rId3"/>
          <a:stretch>
            <a:fillRect/>
          </a:stretch>
        </p:blipFill>
        <p:spPr>
          <a:xfrm>
            <a:off x="5661891" y="1887427"/>
            <a:ext cx="6358151" cy="2636307"/>
          </a:xfrm>
          <a:prstGeom prst="rect">
            <a:avLst/>
          </a:prstGeom>
        </p:spPr>
      </p:pic>
      <p:pic>
        <p:nvPicPr>
          <p:cNvPr id="31" name="Table stage 2" descr="The same frequency table with a Relative Frequency column added: 0.39, 0.29, 0.24, 0.08, totalling 1.00.">
            <a:extLst>
              <a:ext uri="{FF2B5EF4-FFF2-40B4-BE49-F238E27FC236}">
                <a16:creationId xmlns:a16="http://schemas.microsoft.com/office/drawing/2014/main" id="{A726F141-28A4-5B62-1A80-B214989D15D2}"/>
              </a:ext>
            </a:extLst>
          </p:cNvPr>
          <p:cNvPicPr>
            <a:picLocks noChangeAspect="1"/>
          </p:cNvPicPr>
          <p:nvPr/>
        </p:nvPicPr>
        <p:blipFill>
          <a:blip r:embed="rId4"/>
          <a:stretch>
            <a:fillRect/>
          </a:stretch>
        </p:blipFill>
        <p:spPr>
          <a:xfrm>
            <a:off x="5661891" y="1887427"/>
            <a:ext cx="6358151" cy="2636307"/>
          </a:xfrm>
          <a:prstGeom prst="rect">
            <a:avLst/>
          </a:prstGeom>
        </p:spPr>
      </p:pic>
      <p:pic>
        <p:nvPicPr>
          <p:cNvPr id="9" name="Picture 8" descr="The completed frequency table with a Cumulative Relative Frequency column added: 0.39, 0.68, 0.92, 1.00.">
            <a:extLst>
              <a:ext uri="{FF2B5EF4-FFF2-40B4-BE49-F238E27FC236}">
                <a16:creationId xmlns:a16="http://schemas.microsoft.com/office/drawing/2014/main" id="{A726F141-28A4-5B62-1A80-B214989D15D2}"/>
              </a:ext>
            </a:extLst>
          </p:cNvPr>
          <p:cNvPicPr>
            <a:picLocks noChangeAspect="1"/>
          </p:cNvPicPr>
          <p:nvPr/>
        </p:nvPicPr>
        <p:blipFill>
          <a:blip r:embed="rId5"/>
          <a:stretch>
            <a:fillRect/>
          </a:stretch>
        </p:blipFill>
        <p:spPr>
          <a:xfrm>
            <a:off x="5661891" y="1887427"/>
            <a:ext cx="6358151" cy="2636307"/>
          </a:xfrm>
          <a:prstGeom prst="rect">
            <a:avLst/>
          </a:prstGeom>
        </p:spPr>
      </p:pic>
    </p:spTree>
    <p:extLst>
      <p:ext uri="{BB962C8B-B14F-4D97-AF65-F5344CB8AC3E}">
        <p14:creationId xmlns:p14="http://schemas.microsoft.com/office/powerpoint/2010/main" val="3307213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Mendel’s Pea Plants</a:t>
            </a:r>
          </a:p>
        </p:txBody>
      </p:sp>
      <p:sp>
        <p:nvSpPr>
          <p:cNvPr id="3" name="Caption"/>
          <p:cNvSpPr txBox="1"/>
          <p:nvPr/>
        </p:nvSpPr>
        <p:spPr>
          <a:xfrm>
            <a:off x="838200" y="1560000"/>
            <a:ext cx="10515600" cy="700000"/>
          </a:xfrm>
          <a:prstGeom prst="rect">
            <a:avLst/>
          </a:prstGeom>
          <a:noFill/>
        </p:spPr>
        <p:txBody>
          <a:bodyPr wrap="square" lIns="0" tIns="0" rIns="0" bIns="0">
            <a:normAutofit/>
          </a:bodyPr>
          <a:lstStyle/>
          <a:p>
            <a:pPr marL="0" indent="0">
              <a:buNone/>
            </a:pPr>
            <a:r>
              <a:rPr lang="en-US" sz="1700" dirty="0"/>
              <a:t>In one of Gregor Mendel’s classic studies he bred 8,023 pea plants and recorded the color of the peas – the seeds – that each plant produced.</a:t>
            </a:r>
          </a:p>
        </p:txBody>
      </p:sp>
      <p:pic>
        <p:nvPicPr>
          <p:cNvPr id="4" name="Mendel table" descr="Frequency table of Mendel's pea colours: yellow 6022 with relative frequency 0.751, green 2001 with relative frequency 0.249, out of 8,023 plants - close to three yellow for every one green."/>
          <p:cNvPicPr>
            <a:picLocks noChangeAspect="1"/>
          </p:cNvPicPr>
          <p:nvPr/>
        </p:nvPicPr>
        <p:blipFill>
          <a:blip r:embed="rId2"/>
          <a:stretch>
            <a:fillRect/>
          </a:stretch>
        </p:blipFill>
        <p:spPr>
          <a:xfrm>
            <a:off x="838200" y="2750000"/>
            <a:ext cx="5486400" cy="1859664"/>
          </a:xfrm>
          <a:prstGeom prst="rect">
            <a:avLst/>
          </a:prstGeom>
        </p:spPr>
      </p:pic>
      <p:sp>
        <p:nvSpPr>
          <p:cNvPr id="5" name="Genetics"/>
          <p:cNvSpPr/>
          <p:nvPr/>
        </p:nvSpPr>
        <p:spPr>
          <a:xfrm>
            <a:off x="6650000" y="2420000"/>
            <a:ext cx="4703800" cy="2550000"/>
          </a:xfrm>
          <a:prstGeom prst="roundRect">
            <a:avLst>
              <a:gd name="adj" fmla="val 4000"/>
            </a:avLst>
          </a:prstGeom>
          <a:solidFill>
            <a:srgbClr val="F2F6FC"/>
          </a:solidFill>
          <a:ln w="19050">
            <a:solidFill>
              <a:schemeClr val="accent1"/>
            </a:solidFill>
          </a:ln>
        </p:spPr>
        <p:txBody>
          <a:bodyPr lIns="205740" tIns="160020" rIns="205740" bIns="114300">
            <a:normAutofit/>
          </a:bodyPr>
          <a:lstStyle/>
          <a:p>
            <a:pPr marL="0" indent="0">
              <a:buNone/>
            </a:pPr>
            <a:r>
              <a:rPr lang="en-US" sz="1600" b="1" dirty="0"/>
              <a:t>Pea color is set by a single gene.</a:t>
            </a:r>
          </a:p>
          <a:p>
            <a:pPr marL="0" indent="0">
              <a:spcBef>
                <a:spcPts val="400"/>
              </a:spcBef>
              <a:buNone/>
            </a:pPr>
            <a:r>
              <a:rPr lang="en-US" sz="1600" dirty="0"/>
              <a:t>Yellow (Y) is </a:t>
            </a:r>
            <a:r>
              <a:rPr lang="en-US" sz="1600" b="1" dirty="0">
                <a:solidFill>
                  <a:srgbClr val="4472C4"/>
                </a:solidFill>
              </a:rPr>
              <a:t>dominant</a:t>
            </a:r>
            <a:r>
              <a:rPr lang="en-US" sz="1600" dirty="0"/>
              <a:t>; green (y) is </a:t>
            </a:r>
            <a:r>
              <a:rPr lang="en-US" sz="1600" b="1" dirty="0">
                <a:solidFill>
                  <a:srgbClr val="4472C4"/>
                </a:solidFill>
              </a:rPr>
              <a:t>recessive</a:t>
            </a:r>
            <a:r>
              <a:rPr lang="en-US" sz="1600" dirty="0"/>
              <a:t>. A plant is green only if it inherits y from both parents.</a:t>
            </a:r>
          </a:p>
          <a:p>
            <a:pPr marL="0" indent="0">
              <a:spcBef>
                <a:spcPts val="400"/>
              </a:spcBef>
              <a:buNone/>
            </a:pPr>
            <a:r>
              <a:rPr lang="en-US" sz="1600" dirty="0"/>
              <a:t>Cross two Yy plants and the offspring are YY, Yy, yY, yy in equal proportion – and only yy shows green. So the theory predicts 3 yellow to every 1 green.</a:t>
            </a:r>
          </a:p>
        </p:txBody>
      </p:sp>
      <p:sp>
        <p:nvSpPr>
          <p:cNvPr id="6" name="Payoff"/>
          <p:cNvSpPr txBox="1"/>
          <p:nvPr/>
        </p:nvSpPr>
        <p:spPr>
          <a:xfrm>
            <a:off x="838200" y="5450000"/>
            <a:ext cx="10515600" cy="900000"/>
          </a:xfrm>
          <a:prstGeom prst="rect">
            <a:avLst/>
          </a:prstGeom>
          <a:noFill/>
        </p:spPr>
        <p:txBody>
          <a:bodyPr wrap="square" lIns="0" tIns="0" rIns="0" bIns="0">
            <a:normAutofit/>
          </a:bodyPr>
          <a:lstStyle/>
          <a:p>
            <a:pPr marL="0" indent="0">
              <a:buNone/>
            </a:pPr>
            <a:r>
              <a:rPr lang="en-US" sz="1700" b="1" dirty="0">
                <a:solidFill>
                  <a:srgbClr val="C00000"/>
                </a:solidFill>
              </a:rPr>
              <a:t>Mendel counted 0.751 and 0.249 – almost exactly 3/4 and 1/4. A frequency table is doing real scientific work here.</a:t>
            </a:r>
          </a:p>
        </p:txBody>
      </p:sp>
    </p:spTree>
    <p:extLst>
      <p:ext uri="{BB962C8B-B14F-4D97-AF65-F5344CB8AC3E}">
        <p14:creationId xmlns:p14="http://schemas.microsoft.com/office/powerpoint/2010/main" val="151748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Try it out: A Frequency Table by Hand</a:t>
            </a:r>
          </a:p>
        </p:txBody>
      </p:sp>
      <p:sp>
        <p:nvSpPr>
          <p:cNvPr id="3" name="Prompt"/>
          <p:cNvSpPr txBox="1"/>
          <p:nvPr/>
        </p:nvSpPr>
        <p:spPr>
          <a:xfrm>
            <a:off x="838200" y="1600200"/>
            <a:ext cx="5250000" cy="4700000"/>
          </a:xfrm>
          <a:prstGeom prst="rect">
            <a:avLst/>
          </a:prstGeom>
          <a:noFill/>
        </p:spPr>
        <p:txBody>
          <a:bodyPr wrap="square">
            <a:normAutofit/>
          </a:bodyPr>
          <a:lstStyle/>
          <a:p>
            <a:pPr marL="0" indent="0">
              <a:buNone/>
            </a:pPr>
            <a:r>
              <a:rPr lang="en-US" sz="1600" dirty="0"/>
              <a:t>We put Pew's question to 20 students in this room: are you losing focus in class by checking your phone?</a:t>
            </a:r>
          </a:p>
          <a:p>
            <a:pPr marL="0" indent="0">
              <a:spcBef>
                <a:spcPts val="300"/>
              </a:spcBef>
              <a:buNone/>
            </a:pPr>
            <a:r>
              <a:rPr lang="en-US" sz="1500" dirty="0">
                <a:latin typeface="Consolas" panose="020B0609020204030204"/>
              </a:rPr>
              <a:t>Sometimes  Never  Rarely  Never  Often</a:t>
            </a:r>
          </a:p>
          <a:p>
            <a:pPr marL="0" indent="0">
              <a:buNone/>
            </a:pPr>
            <a:r>
              <a:rPr lang="en-US" sz="1500" dirty="0">
                <a:latin typeface="Consolas" panose="020B0609020204030204"/>
              </a:rPr>
              <a:t>Rarely  Never  Sometimes  Rarely  Never</a:t>
            </a:r>
          </a:p>
          <a:p>
            <a:pPr marL="0" indent="0">
              <a:buNone/>
            </a:pPr>
            <a:r>
              <a:rPr lang="en-US" sz="1500" dirty="0">
                <a:latin typeface="Consolas" panose="020B0609020204030204"/>
              </a:rPr>
              <a:t>Sometimes  Rarely  Never  Often  Sometimes</a:t>
            </a:r>
          </a:p>
          <a:p>
            <a:pPr marL="0" indent="0">
              <a:buNone/>
            </a:pPr>
            <a:r>
              <a:rPr lang="en-US" sz="1500" dirty="0">
                <a:latin typeface="Consolas" panose="020B0609020204030204"/>
              </a:rPr>
              <a:t>Rarely  Never  Rarely  Sometimes  Never</a:t>
            </a:r>
          </a:p>
          <a:p>
            <a:pPr marL="0" indent="0">
              <a:spcBef>
                <a:spcPts val="700"/>
              </a:spcBef>
              <a:buNone/>
            </a:pPr>
            <a:r>
              <a:rPr lang="en-US" sz="1600" b="1" dirty="0"/>
              <a:t>Build the frequency table: frequency, relative frequency and cumulative relative frequency. Which is the modal category?</a:t>
            </a:r>
          </a:p>
        </p:txBody>
      </p:sp>
      <p:graphicFrame>
        <p:nvGraphicFramePr>
          <p:cNvPr id="4" name="Answer table" descr="Frequency table for the twenty class responses: Never 7 (0.35, 0.35), Rarely 6 (0.30, 0.65), Sometimes 5 (0.25, 0.90), Often 2 (0.10, 1.00), total 20."/>
          <p:cNvGraphicFramePr>
            <a:graphicFrameLocks noGrp="1"/>
          </p:cNvGraphicFramePr>
          <p:nvPr/>
        </p:nvGraphicFramePr>
        <p:xfrm>
          <a:off x="6400800" y="1750000"/>
          <a:ext cx="5100000" cy="222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1150000">
                  <a:extLst>
                    <a:ext uri="{9D8B030D-6E8A-4147-A177-3AD203B41FA5}">
                      <a16:colId xmlns:a16="http://schemas.microsoft.com/office/drawing/2014/main" val="20002"/>
                    </a:ext>
                  </a:extLst>
                </a:gridCol>
                <a:gridCol w="1150000">
                  <a:extLst>
                    <a:ext uri="{9D8B030D-6E8A-4147-A177-3AD203B41FA5}">
                      <a16:colId xmlns:a16="http://schemas.microsoft.com/office/drawing/2014/main" val="20003"/>
                    </a:ext>
                  </a:extLst>
                </a:gridCol>
              </a:tblGrid>
              <a:tr h="370000">
                <a:tc>
                  <a:txBody>
                    <a:bodyPr/>
                    <a:lstStyle/>
                    <a:p>
                      <a:pPr algn="l"/>
                      <a:r>
                        <a:rPr lang="en-US" sz="1400" dirty="0"/>
                        <a:t>Response</a:t>
                      </a:r>
                    </a:p>
                  </a:txBody>
                  <a:tcPr marL="68580" marR="68580" marT="0" marB="0" anchor="ctr"/>
                </a:tc>
                <a:tc>
                  <a:txBody>
                    <a:bodyPr/>
                    <a:lstStyle/>
                    <a:p>
                      <a:pPr algn="ctr"/>
                      <a:r>
                        <a:rPr lang="en-US" sz="1400" dirty="0"/>
                        <a:t>f</a:t>
                      </a:r>
                    </a:p>
                  </a:txBody>
                  <a:tcPr marL="68580" marR="68580" marT="0" marB="0" anchor="ctr"/>
                </a:tc>
                <a:tc>
                  <a:txBody>
                    <a:bodyPr/>
                    <a:lstStyle/>
                    <a:p>
                      <a:pPr algn="ctr"/>
                      <a:r>
                        <a:rPr lang="en-US" sz="1400" dirty="0"/>
                        <a:t>Rel. freq.</a:t>
                      </a:r>
                    </a:p>
                  </a:txBody>
                  <a:tcPr marL="68580" marR="68580" marT="0" marB="0" anchor="ctr"/>
                </a:tc>
                <a:tc>
                  <a:txBody>
                    <a:bodyPr/>
                    <a:lstStyle/>
                    <a:p>
                      <a:pPr algn="ctr"/>
                      <a:r>
                        <a:rPr lang="en-US" sz="1400" dirty="0"/>
                        <a:t>Cum. rel. freq.</a:t>
                      </a:r>
                    </a:p>
                  </a:txBody>
                  <a:tcPr marL="68580" marR="68580" marT="0" marB="0" anchor="ctr"/>
                </a:tc>
                <a:extLst>
                  <a:ext uri="{0D108BD9-81ED-4DB2-BD59-A6C34878D82A}">
                    <a16:rowId xmlns:a16="http://schemas.microsoft.com/office/drawing/2014/main" val="10000"/>
                  </a:ext>
                </a:extLst>
              </a:tr>
              <a:tr h="370000">
                <a:tc>
                  <a:txBody>
                    <a:bodyPr/>
                    <a:lstStyle/>
                    <a:p>
                      <a:pPr algn="l"/>
                      <a:r>
                        <a:rPr lang="en-US" sz="1400" dirty="0"/>
                        <a:t>Never</a:t>
                      </a:r>
                    </a:p>
                  </a:txBody>
                  <a:tcPr marL="68580" marR="68580" marT="0" marB="0" anchor="ctr"/>
                </a:tc>
                <a:tc>
                  <a:txBody>
                    <a:bodyPr/>
                    <a:lstStyle/>
                    <a:p>
                      <a:pPr algn="ctr"/>
                      <a:r>
                        <a:rPr lang="en-US" sz="1400" dirty="0"/>
                        <a:t>7</a:t>
                      </a:r>
                    </a:p>
                  </a:txBody>
                  <a:tcPr marL="68580" marR="68580" marT="0" marB="0" anchor="ctr"/>
                </a:tc>
                <a:tc>
                  <a:txBody>
                    <a:bodyPr/>
                    <a:lstStyle/>
                    <a:p>
                      <a:pPr algn="ctr"/>
                      <a:r>
                        <a:rPr lang="en-US" sz="1400" dirty="0"/>
                        <a:t>0.35</a:t>
                      </a:r>
                    </a:p>
                  </a:txBody>
                  <a:tcPr marL="68580" marR="68580" marT="0" marB="0" anchor="ctr"/>
                </a:tc>
                <a:tc>
                  <a:txBody>
                    <a:bodyPr/>
                    <a:lstStyle/>
                    <a:p>
                      <a:pPr algn="ctr"/>
                      <a:r>
                        <a:rPr lang="en-US" sz="1400" dirty="0"/>
                        <a:t>0.35</a:t>
                      </a:r>
                    </a:p>
                  </a:txBody>
                  <a:tcPr marL="68580" marR="68580" marT="0" marB="0" anchor="ctr"/>
                </a:tc>
                <a:extLst>
                  <a:ext uri="{0D108BD9-81ED-4DB2-BD59-A6C34878D82A}">
                    <a16:rowId xmlns:a16="http://schemas.microsoft.com/office/drawing/2014/main" val="10001"/>
                  </a:ext>
                </a:extLst>
              </a:tr>
              <a:tr h="370000">
                <a:tc>
                  <a:txBody>
                    <a:bodyPr/>
                    <a:lstStyle/>
                    <a:p>
                      <a:pPr algn="l"/>
                      <a:r>
                        <a:rPr lang="en-US" sz="1400" dirty="0"/>
                        <a:t>Rarely</a:t>
                      </a:r>
                    </a:p>
                  </a:txBody>
                  <a:tcPr marL="68580" marR="68580" marT="0" marB="0" anchor="ctr"/>
                </a:tc>
                <a:tc>
                  <a:txBody>
                    <a:bodyPr/>
                    <a:lstStyle/>
                    <a:p>
                      <a:pPr algn="ctr"/>
                      <a:r>
                        <a:rPr lang="en-US" sz="1400" dirty="0"/>
                        <a:t>6</a:t>
                      </a:r>
                    </a:p>
                  </a:txBody>
                  <a:tcPr marL="68580" marR="68580" marT="0" marB="0" anchor="ctr"/>
                </a:tc>
                <a:tc>
                  <a:txBody>
                    <a:bodyPr/>
                    <a:lstStyle/>
                    <a:p>
                      <a:pPr algn="ctr"/>
                      <a:r>
                        <a:rPr lang="en-US" sz="1400" dirty="0"/>
                        <a:t>0.30</a:t>
                      </a:r>
                    </a:p>
                  </a:txBody>
                  <a:tcPr marL="68580" marR="68580" marT="0" marB="0" anchor="ctr"/>
                </a:tc>
                <a:tc>
                  <a:txBody>
                    <a:bodyPr/>
                    <a:lstStyle/>
                    <a:p>
                      <a:pPr algn="ctr"/>
                      <a:r>
                        <a:rPr lang="en-US" sz="1400" dirty="0"/>
                        <a:t>0.65</a:t>
                      </a:r>
                    </a:p>
                  </a:txBody>
                  <a:tcPr marL="68580" marR="68580" marT="0" marB="0" anchor="ctr"/>
                </a:tc>
                <a:extLst>
                  <a:ext uri="{0D108BD9-81ED-4DB2-BD59-A6C34878D82A}">
                    <a16:rowId xmlns:a16="http://schemas.microsoft.com/office/drawing/2014/main" val="10002"/>
                  </a:ext>
                </a:extLst>
              </a:tr>
              <a:tr h="370000">
                <a:tc>
                  <a:txBody>
                    <a:bodyPr/>
                    <a:lstStyle/>
                    <a:p>
                      <a:pPr algn="l"/>
                      <a:r>
                        <a:rPr lang="en-US" sz="1400" dirty="0"/>
                        <a:t>Sometimes</a:t>
                      </a:r>
                    </a:p>
                  </a:txBody>
                  <a:tcPr marL="68580" marR="68580" marT="0" marB="0" anchor="ctr"/>
                </a:tc>
                <a:tc>
                  <a:txBody>
                    <a:bodyPr/>
                    <a:lstStyle/>
                    <a:p>
                      <a:pPr algn="ctr"/>
                      <a:r>
                        <a:rPr lang="en-US" sz="1400" dirty="0"/>
                        <a:t>5</a:t>
                      </a:r>
                    </a:p>
                  </a:txBody>
                  <a:tcPr marL="68580" marR="68580" marT="0" marB="0" anchor="ctr"/>
                </a:tc>
                <a:tc>
                  <a:txBody>
                    <a:bodyPr/>
                    <a:lstStyle/>
                    <a:p>
                      <a:pPr algn="ctr"/>
                      <a:r>
                        <a:rPr lang="en-US" sz="1400" dirty="0"/>
                        <a:t>0.25</a:t>
                      </a:r>
                    </a:p>
                  </a:txBody>
                  <a:tcPr marL="68580" marR="68580" marT="0" marB="0" anchor="ctr"/>
                </a:tc>
                <a:tc>
                  <a:txBody>
                    <a:bodyPr/>
                    <a:lstStyle/>
                    <a:p>
                      <a:pPr algn="ctr"/>
                      <a:r>
                        <a:rPr lang="en-US" sz="1400" dirty="0"/>
                        <a:t>0.90</a:t>
                      </a:r>
                    </a:p>
                  </a:txBody>
                  <a:tcPr marL="68580" marR="68580" marT="0" marB="0" anchor="ctr"/>
                </a:tc>
                <a:extLst>
                  <a:ext uri="{0D108BD9-81ED-4DB2-BD59-A6C34878D82A}">
                    <a16:rowId xmlns:a16="http://schemas.microsoft.com/office/drawing/2014/main" val="10003"/>
                  </a:ext>
                </a:extLst>
              </a:tr>
              <a:tr h="370000">
                <a:tc>
                  <a:txBody>
                    <a:bodyPr/>
                    <a:lstStyle/>
                    <a:p>
                      <a:pPr algn="l"/>
                      <a:r>
                        <a:rPr lang="en-US" sz="1400" dirty="0"/>
                        <a:t>Often</a:t>
                      </a:r>
                    </a:p>
                  </a:txBody>
                  <a:tcPr marL="68580" marR="68580" marT="0" marB="0" anchor="ctr"/>
                </a:tc>
                <a:tc>
                  <a:txBody>
                    <a:bodyPr/>
                    <a:lstStyle/>
                    <a:p>
                      <a:pPr algn="ctr"/>
                      <a:r>
                        <a:rPr lang="en-US" sz="1400" dirty="0"/>
                        <a:t>2</a:t>
                      </a:r>
                    </a:p>
                  </a:txBody>
                  <a:tcPr marL="68580" marR="68580" marT="0" marB="0" anchor="ctr"/>
                </a:tc>
                <a:tc>
                  <a:txBody>
                    <a:bodyPr/>
                    <a:lstStyle/>
                    <a:p>
                      <a:pPr algn="ctr"/>
                      <a:r>
                        <a:rPr lang="en-US" sz="1400" dirty="0"/>
                        <a:t>0.10</a:t>
                      </a:r>
                    </a:p>
                  </a:txBody>
                  <a:tcPr marL="68580" marR="68580" marT="0" marB="0" anchor="ctr"/>
                </a:tc>
                <a:tc>
                  <a:txBody>
                    <a:bodyPr/>
                    <a:lstStyle/>
                    <a:p>
                      <a:pPr algn="ctr"/>
                      <a:r>
                        <a:rPr lang="en-US" sz="1400" dirty="0"/>
                        <a:t>1.00</a:t>
                      </a:r>
                    </a:p>
                  </a:txBody>
                  <a:tcPr marL="68580" marR="68580" marT="0" marB="0" anchor="ctr"/>
                </a:tc>
                <a:extLst>
                  <a:ext uri="{0D108BD9-81ED-4DB2-BD59-A6C34878D82A}">
                    <a16:rowId xmlns:a16="http://schemas.microsoft.com/office/drawing/2014/main" val="10004"/>
                  </a:ext>
                </a:extLst>
              </a:tr>
              <a:tr h="370000">
                <a:tc>
                  <a:txBody>
                    <a:bodyPr/>
                    <a:lstStyle/>
                    <a:p>
                      <a:pPr algn="l"/>
                      <a:r>
                        <a:rPr lang="en-US" sz="1400" dirty="0"/>
                        <a:t>Total</a:t>
                      </a:r>
                    </a:p>
                  </a:txBody>
                  <a:tcPr marL="68580" marR="68580" marT="0" marB="0" anchor="ctr"/>
                </a:tc>
                <a:tc>
                  <a:txBody>
                    <a:bodyPr/>
                    <a:lstStyle/>
                    <a:p>
                      <a:pPr algn="ctr"/>
                      <a:r>
                        <a:rPr lang="en-US" sz="1400" dirty="0"/>
                        <a:t>20</a:t>
                      </a:r>
                    </a:p>
                  </a:txBody>
                  <a:tcPr marL="68580" marR="68580" marT="0" marB="0" anchor="ctr"/>
                </a:tc>
                <a:tc>
                  <a:txBody>
                    <a:bodyPr/>
                    <a:lstStyle/>
                    <a:p>
                      <a:pPr algn="ctr"/>
                      <a:r>
                        <a:rPr lang="en-US" sz="1400" dirty="0"/>
                        <a:t>1.00</a:t>
                      </a:r>
                    </a:p>
                  </a:txBody>
                  <a:tcPr marL="68580" marR="68580" marT="0" marB="0" anchor="ctr"/>
                </a:tc>
                <a:tc>
                  <a:txBody>
                    <a:bodyPr/>
                    <a:lstStyle/>
                    <a:p>
                      <a:pPr algn="ctr"/>
                      <a:endParaRPr/>
                    </a:p>
                  </a:txBody>
                  <a:tcPr marL="68580" marR="68580" marT="0" marB="0" anchor="ctr"/>
                </a:tc>
                <a:extLst>
                  <a:ext uri="{0D108BD9-81ED-4DB2-BD59-A6C34878D82A}">
                    <a16:rowId xmlns:a16="http://schemas.microsoft.com/office/drawing/2014/main" val="10005"/>
                  </a:ext>
                </a:extLst>
              </a:tr>
            </a:tbl>
          </a:graphicData>
        </a:graphic>
      </p:graphicFrame>
      <p:sp>
        <p:nvSpPr>
          <p:cNvPr id="5" name="Takeaway"/>
          <p:cNvSpPr txBox="1"/>
          <p:nvPr/>
        </p:nvSpPr>
        <p:spPr>
          <a:xfrm>
            <a:off x="6400800" y="4230000"/>
            <a:ext cx="5100000" cy="1400000"/>
          </a:xfrm>
          <a:prstGeom prst="rect">
            <a:avLst/>
          </a:prstGeom>
          <a:noFill/>
        </p:spPr>
        <p:txBody>
          <a:bodyPr wrap="square">
            <a:normAutofit/>
          </a:bodyPr>
          <a:lstStyle/>
          <a:p>
            <a:pPr marL="0" indent="0">
              <a:buNone/>
            </a:pPr>
            <a:r>
              <a:rPr lang="en-US" sz="1500" b="1" dirty="0">
                <a:solidFill>
                  <a:srgbClr val="C00000"/>
                </a:solidFill>
              </a:rPr>
              <a:t>Modal category: Never. Pew's 743 teens gave 0.39, 0.29, 0.24, 0.08 – 20 students landed within a few points of them.</a:t>
            </a:r>
          </a:p>
        </p:txBody>
      </p:sp>
    </p:spTree>
    <p:extLst>
      <p:ext uri="{BB962C8B-B14F-4D97-AF65-F5344CB8AC3E}">
        <p14:creationId xmlns:p14="http://schemas.microsoft.com/office/powerpoint/2010/main" val="151748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Try it out: A Discrete Variable</a:t>
            </a:r>
          </a:p>
        </p:txBody>
      </p:sp>
      <p:sp>
        <p:nvSpPr>
          <p:cNvPr id="3" name="Prompt"/>
          <p:cNvSpPr txBox="1"/>
          <p:nvPr/>
        </p:nvSpPr>
        <p:spPr>
          <a:xfrm>
            <a:off x="838200" y="1600200"/>
            <a:ext cx="5250000" cy="4700000"/>
          </a:xfrm>
          <a:prstGeom prst="rect">
            <a:avLst/>
          </a:prstGeom>
          <a:noFill/>
        </p:spPr>
        <p:txBody>
          <a:bodyPr wrap="square" lIns="0" tIns="0" rIns="0" bIns="0">
            <a:normAutofit/>
          </a:bodyPr>
          <a:lstStyle/>
          <a:p>
            <a:pPr marL="0" indent="0">
              <a:buNone/>
            </a:pPr>
            <a:r>
              <a:rPr lang="en-US" sz="1600" dirty="0"/>
              <a:t>Ten students report how many siblings they have. Writing the responses as a set:</a:t>
            </a:r>
          </a:p>
          <a:p>
            <a:pPr marL="0" indent="0">
              <a:spcBef>
                <a:spcPts val="300"/>
              </a:spcBef>
              <a:buNone/>
            </a:pPr>
            <a:r>
              <a:rPr lang="en-US" sz="1500" dirty="0">
                <a:latin typeface="Consolas" panose="020B0609020204030204"/>
              </a:rPr>
              <a:t>R = {0, 1, 1, 2, 0,</a:t>
            </a:r>
          </a:p>
          <a:p>
            <a:pPr marL="0" indent="0">
              <a:buNone/>
            </a:pPr>
            <a:r>
              <a:rPr lang="en-US" sz="1500" dirty="0">
                <a:latin typeface="Consolas" panose="020B0609020204030204"/>
              </a:rPr>
              <a:t>        3, 1, 2, 1, 4}</a:t>
            </a:r>
          </a:p>
          <a:p>
            <a:pPr marL="0" indent="0">
              <a:spcBef>
                <a:spcPts val="700"/>
              </a:spcBef>
              <a:buNone/>
            </a:pPr>
            <a:r>
              <a:rPr lang="en-US" sz="1600" b="1" dirty="0"/>
              <a:t>Build the frequency table. Which value comes up most often? Where do the values pile up, and how do they trail off?</a:t>
            </a:r>
          </a:p>
        </p:txBody>
      </p:sp>
      <p:graphicFrame>
        <p:nvGraphicFramePr>
          <p:cNvPr id="4" name="Answer table" descr="Frequency table of the ten sibling counts: 0 occurs twice, 1 four times, 2 twice, 3 once and 4 once, with relative frequencies 0.20, 0.40, 0.20, 0.10 and 0.10."/>
          <p:cNvGraphicFramePr>
            <a:graphicFrameLocks noGrp="1"/>
          </p:cNvGraphicFramePr>
          <p:nvPr/>
        </p:nvGraphicFramePr>
        <p:xfrm>
          <a:off x="6400800" y="1750000"/>
          <a:ext cx="4300000" cy="238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0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40000">
                <a:tc>
                  <a:txBody>
                    <a:bodyPr/>
                    <a:lstStyle/>
                    <a:p>
                      <a:pPr algn="l"/>
                      <a:r>
                        <a:rPr lang="en-US" sz="1400" dirty="0"/>
                        <a:t>R</a:t>
                      </a:r>
                    </a:p>
                  </a:txBody>
                  <a:tcPr marL="68580" marR="68580" marT="0" marB="0" anchor="ctr"/>
                </a:tc>
                <a:tc>
                  <a:txBody>
                    <a:bodyPr/>
                    <a:lstStyle/>
                    <a:p>
                      <a:pPr algn="ctr"/>
                      <a:r>
                        <a:rPr lang="en-US" sz="1400" dirty="0"/>
                        <a:t>f</a:t>
                      </a:r>
                    </a:p>
                  </a:txBody>
                  <a:tcPr marL="68580" marR="68580" marT="0" marB="0" anchor="ctr"/>
                </a:tc>
                <a:tc>
                  <a:txBody>
                    <a:bodyPr/>
                    <a:lstStyle/>
                    <a:p>
                      <a:pPr algn="ctr"/>
                      <a:r>
                        <a:rPr lang="en-US" sz="1400" dirty="0"/>
                        <a:t>Rel. freq.</a:t>
                      </a:r>
                    </a:p>
                  </a:txBody>
                  <a:tcPr marL="68580" marR="68580" marT="0" marB="0" anchor="ctr"/>
                </a:tc>
                <a:extLst>
                  <a:ext uri="{0D108BD9-81ED-4DB2-BD59-A6C34878D82A}">
                    <a16:rowId xmlns:a16="http://schemas.microsoft.com/office/drawing/2014/main" val="10000"/>
                  </a:ext>
                </a:extLst>
              </a:tr>
              <a:tr h="340000">
                <a:tc>
                  <a:txBody>
                    <a:bodyPr/>
                    <a:lstStyle/>
                    <a:p>
                      <a:pPr algn="l"/>
                      <a:r>
                        <a:rPr lang="en-US" sz="1400" dirty="0"/>
                        <a:t>0</a:t>
                      </a:r>
                    </a:p>
                  </a:txBody>
                  <a:tcPr marL="68580" marR="68580" marT="0" marB="0" anchor="ctr"/>
                </a:tc>
                <a:tc>
                  <a:txBody>
                    <a:bodyPr/>
                    <a:lstStyle/>
                    <a:p>
                      <a:pPr algn="ctr"/>
                      <a:r>
                        <a:rPr lang="en-US" sz="1400" dirty="0"/>
                        <a:t>2</a:t>
                      </a:r>
                    </a:p>
                  </a:txBody>
                  <a:tcPr marL="68580" marR="68580" marT="0" marB="0" anchor="ctr"/>
                </a:tc>
                <a:tc>
                  <a:txBody>
                    <a:bodyPr/>
                    <a:lstStyle/>
                    <a:p>
                      <a:pPr algn="ctr"/>
                      <a:r>
                        <a:rPr lang="en-US" sz="1400" dirty="0"/>
                        <a:t>0.20</a:t>
                      </a:r>
                    </a:p>
                  </a:txBody>
                  <a:tcPr marL="68580" marR="68580" marT="0" marB="0" anchor="ctr"/>
                </a:tc>
                <a:extLst>
                  <a:ext uri="{0D108BD9-81ED-4DB2-BD59-A6C34878D82A}">
                    <a16:rowId xmlns:a16="http://schemas.microsoft.com/office/drawing/2014/main" val="10001"/>
                  </a:ext>
                </a:extLst>
              </a:tr>
              <a:tr h="340000">
                <a:tc>
                  <a:txBody>
                    <a:bodyPr/>
                    <a:lstStyle/>
                    <a:p>
                      <a:pPr algn="l"/>
                      <a:r>
                        <a:rPr lang="en-US" sz="1400" dirty="0"/>
                        <a:t>1</a:t>
                      </a:r>
                    </a:p>
                  </a:txBody>
                  <a:tcPr marL="68580" marR="68580" marT="0" marB="0" anchor="ctr"/>
                </a:tc>
                <a:tc>
                  <a:txBody>
                    <a:bodyPr/>
                    <a:lstStyle/>
                    <a:p>
                      <a:pPr algn="ctr"/>
                      <a:r>
                        <a:rPr lang="en-US" sz="1400" dirty="0"/>
                        <a:t>4</a:t>
                      </a:r>
                    </a:p>
                  </a:txBody>
                  <a:tcPr marL="68580" marR="68580" marT="0" marB="0" anchor="ctr"/>
                </a:tc>
                <a:tc>
                  <a:txBody>
                    <a:bodyPr/>
                    <a:lstStyle/>
                    <a:p>
                      <a:pPr algn="ctr"/>
                      <a:r>
                        <a:rPr lang="en-US" sz="1400" dirty="0"/>
                        <a:t>0.40</a:t>
                      </a:r>
                    </a:p>
                  </a:txBody>
                  <a:tcPr marL="68580" marR="68580" marT="0" marB="0" anchor="ctr"/>
                </a:tc>
                <a:extLst>
                  <a:ext uri="{0D108BD9-81ED-4DB2-BD59-A6C34878D82A}">
                    <a16:rowId xmlns:a16="http://schemas.microsoft.com/office/drawing/2014/main" val="10002"/>
                  </a:ext>
                </a:extLst>
              </a:tr>
              <a:tr h="340000">
                <a:tc>
                  <a:txBody>
                    <a:bodyPr/>
                    <a:lstStyle/>
                    <a:p>
                      <a:pPr algn="l"/>
                      <a:r>
                        <a:rPr lang="en-US" sz="1400" dirty="0"/>
                        <a:t>2</a:t>
                      </a:r>
                    </a:p>
                  </a:txBody>
                  <a:tcPr marL="68580" marR="68580" marT="0" marB="0" anchor="ctr"/>
                </a:tc>
                <a:tc>
                  <a:txBody>
                    <a:bodyPr/>
                    <a:lstStyle/>
                    <a:p>
                      <a:pPr algn="ctr"/>
                      <a:r>
                        <a:rPr lang="en-US" sz="1400" dirty="0"/>
                        <a:t>2</a:t>
                      </a:r>
                    </a:p>
                  </a:txBody>
                  <a:tcPr marL="68580" marR="68580" marT="0" marB="0" anchor="ctr"/>
                </a:tc>
                <a:tc>
                  <a:txBody>
                    <a:bodyPr/>
                    <a:lstStyle/>
                    <a:p>
                      <a:pPr algn="ctr"/>
                      <a:r>
                        <a:rPr lang="en-US" sz="1400" dirty="0"/>
                        <a:t>0.20</a:t>
                      </a:r>
                    </a:p>
                  </a:txBody>
                  <a:tcPr marL="68580" marR="68580" marT="0" marB="0" anchor="ctr"/>
                </a:tc>
                <a:extLst>
                  <a:ext uri="{0D108BD9-81ED-4DB2-BD59-A6C34878D82A}">
                    <a16:rowId xmlns:a16="http://schemas.microsoft.com/office/drawing/2014/main" val="10003"/>
                  </a:ext>
                </a:extLst>
              </a:tr>
              <a:tr h="340000">
                <a:tc>
                  <a:txBody>
                    <a:bodyPr/>
                    <a:lstStyle/>
                    <a:p>
                      <a:pPr algn="l"/>
                      <a:r>
                        <a:rPr lang="en-US" sz="1400" dirty="0"/>
                        <a:t>3</a:t>
                      </a:r>
                    </a:p>
                  </a:txBody>
                  <a:tcPr marL="68580" marR="68580" marT="0" marB="0" anchor="ctr"/>
                </a:tc>
                <a:tc>
                  <a:txBody>
                    <a:bodyPr/>
                    <a:lstStyle/>
                    <a:p>
                      <a:pPr algn="ctr"/>
                      <a:r>
                        <a:rPr lang="en-US" sz="1400" dirty="0"/>
                        <a:t>1</a:t>
                      </a:r>
                    </a:p>
                  </a:txBody>
                  <a:tcPr marL="68580" marR="68580" marT="0" marB="0" anchor="ctr"/>
                </a:tc>
                <a:tc>
                  <a:txBody>
                    <a:bodyPr/>
                    <a:lstStyle/>
                    <a:p>
                      <a:pPr algn="ctr"/>
                      <a:r>
                        <a:rPr lang="en-US" sz="1400" dirty="0"/>
                        <a:t>0.10</a:t>
                      </a:r>
                    </a:p>
                  </a:txBody>
                  <a:tcPr marL="68580" marR="68580" marT="0" marB="0" anchor="ctr"/>
                </a:tc>
                <a:extLst>
                  <a:ext uri="{0D108BD9-81ED-4DB2-BD59-A6C34878D82A}">
                    <a16:rowId xmlns:a16="http://schemas.microsoft.com/office/drawing/2014/main" val="10004"/>
                  </a:ext>
                </a:extLst>
              </a:tr>
              <a:tr h="340000">
                <a:tc>
                  <a:txBody>
                    <a:bodyPr/>
                    <a:lstStyle/>
                    <a:p>
                      <a:pPr algn="l"/>
                      <a:r>
                        <a:rPr lang="en-US" sz="1400" dirty="0"/>
                        <a:t>4</a:t>
                      </a:r>
                    </a:p>
                  </a:txBody>
                  <a:tcPr marL="68580" marR="68580" marT="0" marB="0" anchor="ctr"/>
                </a:tc>
                <a:tc>
                  <a:txBody>
                    <a:bodyPr/>
                    <a:lstStyle/>
                    <a:p>
                      <a:pPr algn="ctr"/>
                      <a:r>
                        <a:rPr lang="en-US" sz="1400" dirty="0"/>
                        <a:t>1</a:t>
                      </a:r>
                    </a:p>
                  </a:txBody>
                  <a:tcPr marL="68580" marR="68580" marT="0" marB="0" anchor="ctr"/>
                </a:tc>
                <a:tc>
                  <a:txBody>
                    <a:bodyPr/>
                    <a:lstStyle/>
                    <a:p>
                      <a:pPr algn="ctr"/>
                      <a:r>
                        <a:rPr lang="en-US" sz="1400" dirty="0"/>
                        <a:t>0.10</a:t>
                      </a:r>
                    </a:p>
                  </a:txBody>
                  <a:tcPr marL="68580" marR="68580" marT="0" marB="0" anchor="ctr"/>
                </a:tc>
                <a:extLst>
                  <a:ext uri="{0D108BD9-81ED-4DB2-BD59-A6C34878D82A}">
                    <a16:rowId xmlns:a16="http://schemas.microsoft.com/office/drawing/2014/main" val="10005"/>
                  </a:ext>
                </a:extLst>
              </a:tr>
              <a:tr h="340000">
                <a:tc>
                  <a:txBody>
                    <a:bodyPr/>
                    <a:lstStyle/>
                    <a:p>
                      <a:pPr algn="l"/>
                      <a:r>
                        <a:rPr lang="en-US" sz="1400" dirty="0"/>
                        <a:t>Total</a:t>
                      </a:r>
                    </a:p>
                  </a:txBody>
                  <a:tcPr marL="68580" marR="68580" marT="0" marB="0" anchor="ctr"/>
                </a:tc>
                <a:tc>
                  <a:txBody>
                    <a:bodyPr/>
                    <a:lstStyle/>
                    <a:p>
                      <a:pPr algn="ctr"/>
                      <a:r>
                        <a:rPr lang="en-US" sz="1400" dirty="0"/>
                        <a:t>10</a:t>
                      </a:r>
                    </a:p>
                  </a:txBody>
                  <a:tcPr marL="68580" marR="68580" marT="0" marB="0" anchor="ctr"/>
                </a:tc>
                <a:tc>
                  <a:txBody>
                    <a:bodyPr/>
                    <a:lstStyle/>
                    <a:p>
                      <a:pPr algn="ctr"/>
                      <a:r>
                        <a:rPr lang="en-US" sz="1400" dirty="0"/>
                        <a:t>1.00</a:t>
                      </a:r>
                    </a:p>
                  </a:txBody>
                  <a:tcPr marL="68580" marR="68580" marT="0" marB="0" anchor="ctr"/>
                </a:tc>
                <a:extLst>
                  <a:ext uri="{0D108BD9-81ED-4DB2-BD59-A6C34878D82A}">
                    <a16:rowId xmlns:a16="http://schemas.microsoft.com/office/drawing/2014/main" val="10006"/>
                  </a:ext>
                </a:extLst>
              </a:tr>
            </a:tbl>
          </a:graphicData>
        </a:graphic>
      </p:graphicFrame>
      <p:sp>
        <p:nvSpPr>
          <p:cNvPr id="5" name="Takeaway"/>
          <p:cNvSpPr txBox="1"/>
          <p:nvPr/>
        </p:nvSpPr>
        <p:spPr>
          <a:xfrm>
            <a:off x="6400800" y="4390000"/>
            <a:ext cx="4300000" cy="1300000"/>
          </a:xfrm>
          <a:prstGeom prst="rect">
            <a:avLst/>
          </a:prstGeom>
          <a:noFill/>
        </p:spPr>
        <p:txBody>
          <a:bodyPr wrap="square" lIns="0" tIns="0" rIns="0" bIns="0">
            <a:normAutofit/>
          </a:bodyPr>
          <a:lstStyle/>
          <a:p>
            <a:pPr marL="0" indent="0">
              <a:buNone/>
            </a:pPr>
            <a:r>
              <a:rPr lang="en-US" sz="1500" b="1" dirty="0">
                <a:solidFill>
                  <a:srgbClr val="C00000"/>
                </a:solidFill>
              </a:rPr>
              <a:t>The most common value is 1, but the mean is 1.5: the few large values pull the mean above where the bulk of the data sit – the same effect you saw on the center slide.</a:t>
            </a:r>
          </a:p>
        </p:txBody>
      </p:sp>
    </p:spTree>
    <p:extLst>
      <p:ext uri="{BB962C8B-B14F-4D97-AF65-F5344CB8AC3E}">
        <p14:creationId xmlns:p14="http://schemas.microsoft.com/office/powerpoint/2010/main" val="151748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194FF-DF74-EF86-DF92-8D34A4EA85C3}"/>
              </a:ext>
            </a:extLst>
          </p:cNvPr>
          <p:cNvSpPr>
            <a:spLocks noGrp="1"/>
          </p:cNvSpPr>
          <p:nvPr>
            <p:ph type="title"/>
          </p:nvPr>
        </p:nvSpPr>
        <p:spPr/>
        <p:txBody>
          <a:bodyPr/>
          <a:lstStyle/>
          <a:p>
            <a:r>
              <a:rPr lang="en-US" dirty="0"/>
              <a:t>Frequency Tables for Continuous Variables</a:t>
            </a:r>
          </a:p>
        </p:txBody>
      </p:sp>
      <p:sp>
        <p:nvSpPr>
          <p:cNvPr id="3" name="Content Placeholder 2">
            <a:extLst>
              <a:ext uri="{FF2B5EF4-FFF2-40B4-BE49-F238E27FC236}">
                <a16:creationId xmlns:a16="http://schemas.microsoft.com/office/drawing/2014/main" id="{B8E94895-622E-4F90-9B01-BC714AD08FD2}"/>
              </a:ext>
            </a:extLst>
          </p:cNvPr>
          <p:cNvSpPr>
            <a:spLocks noGrp="1"/>
          </p:cNvSpPr>
          <p:nvPr>
            <p:ph idx="1"/>
          </p:nvPr>
        </p:nvSpPr>
        <p:spPr>
          <a:xfrm>
            <a:off x="838200" y="1825625"/>
            <a:ext cx="10236200" cy="4351338"/>
          </a:xfrm>
        </p:spPr>
        <p:txBody>
          <a:bodyPr/>
          <a:lstStyle/>
          <a:p>
            <a:r>
              <a:rPr lang="en-US" dirty="0"/>
              <a:t>The number of possible values is usually very large </a:t>
            </a:r>
          </a:p>
          <a:p>
            <a:r>
              <a:rPr lang="en-US" dirty="0"/>
              <a:t>Convert continuous values into discrete groups (sometimes called bins):</a:t>
            </a:r>
          </a:p>
          <a:p>
            <a:endParaRPr lang="en-US" dirty="0"/>
          </a:p>
          <a:p>
            <a:pPr marL="0" indent="0">
              <a:buNone/>
            </a:pPr>
            <a:r>
              <a:rPr lang="en-US" b="1" dirty="0"/>
              <a:t>Steps: </a:t>
            </a:r>
          </a:p>
          <a:p>
            <a:pPr marL="514350" indent="-514350">
              <a:buFont typeface="+mj-lt"/>
              <a:buAutoNum type="arabicPeriod"/>
            </a:pPr>
            <a:r>
              <a:rPr lang="en-US" dirty="0"/>
              <a:t>Divide the range of the variable into a set of non-overlapping intervals</a:t>
            </a:r>
          </a:p>
          <a:p>
            <a:pPr marL="514350" indent="-514350">
              <a:buFont typeface="+mj-lt"/>
              <a:buAutoNum type="arabicPeriod"/>
            </a:pPr>
            <a:r>
              <a:rPr lang="en-US" dirty="0"/>
              <a:t>Count the number of values that fall into each interval</a:t>
            </a:r>
          </a:p>
        </p:txBody>
      </p:sp>
    </p:spTree>
    <p:extLst>
      <p:ext uri="{BB962C8B-B14F-4D97-AF65-F5344CB8AC3E}">
        <p14:creationId xmlns:p14="http://schemas.microsoft.com/office/powerpoint/2010/main" val="967060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Try it out: Binning a Continuous Variable</a:t>
            </a:r>
          </a:p>
        </p:txBody>
      </p:sp>
      <p:sp>
        <p:nvSpPr>
          <p:cNvPr id="3" name="Prompt"/>
          <p:cNvSpPr txBox="1"/>
          <p:nvPr/>
        </p:nvSpPr>
        <p:spPr>
          <a:xfrm>
            <a:off x="838200" y="1600200"/>
            <a:ext cx="5250000" cy="4700000"/>
          </a:xfrm>
          <a:prstGeom prst="rect">
            <a:avLst/>
          </a:prstGeom>
          <a:noFill/>
        </p:spPr>
        <p:txBody>
          <a:bodyPr wrap="square" lIns="0" tIns="0" rIns="0" bIns="0">
            <a:normAutofit/>
          </a:bodyPr>
          <a:lstStyle/>
          <a:p>
            <a:pPr marL="0" indent="0">
              <a:buNone/>
            </a:pPr>
            <a:r>
              <a:rPr lang="en-US" sz="1600" dirty="0"/>
              <a:t>Fifteen observations of a continuous variable, written as a set:</a:t>
            </a:r>
          </a:p>
          <a:p>
            <a:pPr marL="0" indent="0">
              <a:spcBef>
                <a:spcPts val="300"/>
              </a:spcBef>
              <a:buNone/>
            </a:pPr>
            <a:r>
              <a:rPr lang="en-US" sz="1500" dirty="0">
                <a:latin typeface="Consolas" panose="020B0609020204030204"/>
              </a:rPr>
              <a:t>X = {1.23, 1.38, 1.76, 2.60, 2.65,</a:t>
            </a:r>
          </a:p>
          <a:p>
            <a:pPr marL="0" indent="0">
              <a:buNone/>
            </a:pPr>
            <a:r>
              <a:rPr lang="en-US" sz="1500" dirty="0">
                <a:latin typeface="Consolas" panose="020B0609020204030204"/>
              </a:rPr>
              <a:t>        2.79, 2.89, 3.12, 3.15, 3.18,</a:t>
            </a:r>
          </a:p>
          <a:p>
            <a:pPr marL="0" indent="0">
              <a:buNone/>
            </a:pPr>
            <a:r>
              <a:rPr lang="en-US" sz="1500" dirty="0">
                <a:latin typeface="Consolas" panose="020B0609020204030204"/>
              </a:rPr>
              <a:t>        3.65, 3.77, 3.87, 4.12, 4.41}</a:t>
            </a:r>
          </a:p>
          <a:p>
            <a:pPr marL="0" indent="0">
              <a:spcBef>
                <a:spcPts val="700"/>
              </a:spcBef>
              <a:buNone/>
            </a:pPr>
            <a:r>
              <a:rPr lang="en-US" sz="1600" b="1" dirty="0"/>
              <a:t>No two values are alike, so listing them gives 15 values of frequency 1 and tells us nothing. Group them into whole-number bins.</a:t>
            </a:r>
          </a:p>
        </p:txBody>
      </p:sp>
      <p:graphicFrame>
        <p:nvGraphicFramePr>
          <p:cNvPr id="4" name="Answer table" descr="Frequency table using whole-number bins: 1 to 2 contains 3 values, 2 to 3 contains 4, 3 to 4 contains 6 and 4 to 5 contains 2, out of 15."/>
          <p:cNvGraphicFramePr>
            <a:graphicFrameLocks noGrp="1"/>
          </p:cNvGraphicFramePr>
          <p:nvPr/>
        </p:nvGraphicFramePr>
        <p:xfrm>
          <a:off x="6400800" y="1620000"/>
          <a:ext cx="4100000" cy="192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tblGrid>
              <a:tr h="320000">
                <a:tc>
                  <a:txBody>
                    <a:bodyPr/>
                    <a:lstStyle/>
                    <a:p>
                      <a:pPr algn="l"/>
                      <a:r>
                        <a:rPr lang="en-US" sz="1400" dirty="0"/>
                        <a:t>Bin</a:t>
                      </a:r>
                    </a:p>
                  </a:txBody>
                  <a:tcPr marL="68580" marR="68580" marT="0" marB="0" anchor="ctr"/>
                </a:tc>
                <a:tc>
                  <a:txBody>
                    <a:bodyPr/>
                    <a:lstStyle/>
                    <a:p>
                      <a:pPr algn="ctr"/>
                      <a:r>
                        <a:rPr lang="en-US" sz="1400" dirty="0"/>
                        <a:t>f</a:t>
                      </a:r>
                    </a:p>
                  </a:txBody>
                  <a:tcPr marL="68580" marR="68580" marT="0" marB="0" anchor="ctr"/>
                </a:tc>
                <a:tc>
                  <a:txBody>
                    <a:bodyPr/>
                    <a:lstStyle/>
                    <a:p>
                      <a:pPr algn="ctr"/>
                      <a:r>
                        <a:rPr lang="en-US" sz="1400" dirty="0"/>
                        <a:t>Rel. freq.</a:t>
                      </a:r>
                    </a:p>
                  </a:txBody>
                  <a:tcPr marL="68580" marR="68580" marT="0" marB="0" anchor="ctr"/>
                </a:tc>
                <a:extLst>
                  <a:ext uri="{0D108BD9-81ED-4DB2-BD59-A6C34878D82A}">
                    <a16:rowId xmlns:a16="http://schemas.microsoft.com/office/drawing/2014/main" val="10000"/>
                  </a:ext>
                </a:extLst>
              </a:tr>
              <a:tr h="320000">
                <a:tc>
                  <a:txBody>
                    <a:bodyPr/>
                    <a:lstStyle/>
                    <a:p>
                      <a:pPr algn="l"/>
                      <a:r>
                        <a:rPr lang="en-US" sz="1400" dirty="0"/>
                        <a:t>1 ≤ X &lt; 2</a:t>
                      </a:r>
                    </a:p>
                  </a:txBody>
                  <a:tcPr marL="68580" marR="68580" marT="0" marB="0" anchor="ctr"/>
                </a:tc>
                <a:tc>
                  <a:txBody>
                    <a:bodyPr/>
                    <a:lstStyle/>
                    <a:p>
                      <a:pPr algn="ctr"/>
                      <a:r>
                        <a:rPr lang="en-US" sz="1400" dirty="0"/>
                        <a:t>3</a:t>
                      </a:r>
                    </a:p>
                  </a:txBody>
                  <a:tcPr marL="68580" marR="68580" marT="0" marB="0" anchor="ctr"/>
                </a:tc>
                <a:tc>
                  <a:txBody>
                    <a:bodyPr/>
                    <a:lstStyle/>
                    <a:p>
                      <a:pPr algn="ctr"/>
                      <a:r>
                        <a:rPr lang="en-US" sz="1400" dirty="0"/>
                        <a:t>0.20</a:t>
                      </a:r>
                    </a:p>
                  </a:txBody>
                  <a:tcPr marL="68580" marR="68580" marT="0" marB="0" anchor="ctr"/>
                </a:tc>
                <a:extLst>
                  <a:ext uri="{0D108BD9-81ED-4DB2-BD59-A6C34878D82A}">
                    <a16:rowId xmlns:a16="http://schemas.microsoft.com/office/drawing/2014/main" val="10001"/>
                  </a:ext>
                </a:extLst>
              </a:tr>
              <a:tr h="320000">
                <a:tc>
                  <a:txBody>
                    <a:bodyPr/>
                    <a:lstStyle/>
                    <a:p>
                      <a:pPr algn="l"/>
                      <a:r>
                        <a:rPr lang="en-US" sz="1400" dirty="0"/>
                        <a:t>2 ≤ X &lt; 3</a:t>
                      </a:r>
                    </a:p>
                  </a:txBody>
                  <a:tcPr marL="68580" marR="68580" marT="0" marB="0" anchor="ctr"/>
                </a:tc>
                <a:tc>
                  <a:txBody>
                    <a:bodyPr/>
                    <a:lstStyle/>
                    <a:p>
                      <a:pPr algn="ctr"/>
                      <a:r>
                        <a:rPr lang="en-US" sz="1400" dirty="0"/>
                        <a:t>4</a:t>
                      </a:r>
                    </a:p>
                  </a:txBody>
                  <a:tcPr marL="68580" marR="68580" marT="0" marB="0" anchor="ctr"/>
                </a:tc>
                <a:tc>
                  <a:txBody>
                    <a:bodyPr/>
                    <a:lstStyle/>
                    <a:p>
                      <a:pPr algn="ctr"/>
                      <a:r>
                        <a:rPr lang="en-US" sz="1400" dirty="0"/>
                        <a:t>0.27</a:t>
                      </a:r>
                    </a:p>
                  </a:txBody>
                  <a:tcPr marL="68580" marR="68580" marT="0" marB="0" anchor="ctr"/>
                </a:tc>
                <a:extLst>
                  <a:ext uri="{0D108BD9-81ED-4DB2-BD59-A6C34878D82A}">
                    <a16:rowId xmlns:a16="http://schemas.microsoft.com/office/drawing/2014/main" val="10002"/>
                  </a:ext>
                </a:extLst>
              </a:tr>
              <a:tr h="320000">
                <a:tc>
                  <a:txBody>
                    <a:bodyPr/>
                    <a:lstStyle/>
                    <a:p>
                      <a:pPr algn="l"/>
                      <a:r>
                        <a:rPr lang="en-US" sz="1400" dirty="0"/>
                        <a:t>3 ≤ X &lt; 4</a:t>
                      </a:r>
                    </a:p>
                  </a:txBody>
                  <a:tcPr marL="68580" marR="68580" marT="0" marB="0" anchor="ctr"/>
                </a:tc>
                <a:tc>
                  <a:txBody>
                    <a:bodyPr/>
                    <a:lstStyle/>
                    <a:p>
                      <a:pPr algn="ctr"/>
                      <a:r>
                        <a:rPr lang="en-US" sz="1400" dirty="0"/>
                        <a:t>6</a:t>
                      </a:r>
                    </a:p>
                  </a:txBody>
                  <a:tcPr marL="68580" marR="68580" marT="0" marB="0" anchor="ctr"/>
                </a:tc>
                <a:tc>
                  <a:txBody>
                    <a:bodyPr/>
                    <a:lstStyle/>
                    <a:p>
                      <a:pPr algn="ctr"/>
                      <a:r>
                        <a:rPr lang="en-US" sz="1400" dirty="0"/>
                        <a:t>0.40</a:t>
                      </a:r>
                    </a:p>
                  </a:txBody>
                  <a:tcPr marL="68580" marR="68580" marT="0" marB="0" anchor="ctr"/>
                </a:tc>
                <a:extLst>
                  <a:ext uri="{0D108BD9-81ED-4DB2-BD59-A6C34878D82A}">
                    <a16:rowId xmlns:a16="http://schemas.microsoft.com/office/drawing/2014/main" val="10003"/>
                  </a:ext>
                </a:extLst>
              </a:tr>
              <a:tr h="320000">
                <a:tc>
                  <a:txBody>
                    <a:bodyPr/>
                    <a:lstStyle/>
                    <a:p>
                      <a:pPr algn="l"/>
                      <a:r>
                        <a:rPr lang="en-US" sz="1400" dirty="0"/>
                        <a:t>4 ≤ X &lt; 5</a:t>
                      </a:r>
                    </a:p>
                  </a:txBody>
                  <a:tcPr marL="68580" marR="68580" marT="0" marB="0" anchor="ctr"/>
                </a:tc>
                <a:tc>
                  <a:txBody>
                    <a:bodyPr/>
                    <a:lstStyle/>
                    <a:p>
                      <a:pPr algn="ctr"/>
                      <a:r>
                        <a:rPr lang="en-US" sz="1400" dirty="0"/>
                        <a:t>2</a:t>
                      </a:r>
                    </a:p>
                  </a:txBody>
                  <a:tcPr marL="68580" marR="68580" marT="0" marB="0" anchor="ctr"/>
                </a:tc>
                <a:tc>
                  <a:txBody>
                    <a:bodyPr/>
                    <a:lstStyle/>
                    <a:p>
                      <a:pPr algn="ctr"/>
                      <a:r>
                        <a:rPr lang="en-US" sz="1400" dirty="0"/>
                        <a:t>0.13</a:t>
                      </a:r>
                    </a:p>
                  </a:txBody>
                  <a:tcPr marL="68580" marR="68580" marT="0" marB="0" anchor="ctr"/>
                </a:tc>
                <a:extLst>
                  <a:ext uri="{0D108BD9-81ED-4DB2-BD59-A6C34878D82A}">
                    <a16:rowId xmlns:a16="http://schemas.microsoft.com/office/drawing/2014/main" val="10004"/>
                  </a:ext>
                </a:extLst>
              </a:tr>
              <a:tr h="320000">
                <a:tc>
                  <a:txBody>
                    <a:bodyPr/>
                    <a:lstStyle/>
                    <a:p>
                      <a:pPr algn="l"/>
                      <a:r>
                        <a:rPr lang="en-US" sz="1400" dirty="0"/>
                        <a:t>Total</a:t>
                      </a:r>
                    </a:p>
                  </a:txBody>
                  <a:tcPr marL="68580" marR="68580" marT="0" marB="0" anchor="ctr"/>
                </a:tc>
                <a:tc>
                  <a:txBody>
                    <a:bodyPr/>
                    <a:lstStyle/>
                    <a:p>
                      <a:pPr algn="ctr"/>
                      <a:r>
                        <a:rPr lang="en-US" sz="1400" dirty="0"/>
                        <a:t>15</a:t>
                      </a:r>
                    </a:p>
                  </a:txBody>
                  <a:tcPr marL="68580" marR="68580" marT="0" marB="0" anchor="ctr"/>
                </a:tc>
                <a:tc>
                  <a:txBody>
                    <a:bodyPr/>
                    <a:lstStyle/>
                    <a:p>
                      <a:pPr algn="ctr"/>
                      <a:r>
                        <a:rPr lang="en-US" sz="1400" dirty="0"/>
                        <a:t>1.00</a:t>
                      </a:r>
                    </a:p>
                  </a:txBody>
                  <a:tcPr marL="68580" marR="68580" marT="0" marB="0" anchor="ctr"/>
                </a:tc>
                <a:extLst>
                  <a:ext uri="{0D108BD9-81ED-4DB2-BD59-A6C34878D82A}">
                    <a16:rowId xmlns:a16="http://schemas.microsoft.com/office/drawing/2014/main" val="10005"/>
                  </a:ext>
                </a:extLst>
              </a:tr>
            </a:tbl>
          </a:graphicData>
        </a:graphic>
      </p:graphicFrame>
      <p:graphicFrame>
        <p:nvGraphicFramePr>
          <p:cNvPr id="6" name="Second binning" descr="The same fifteen values in bins of width 0.5, giving counts of 2, 1, 0, 4, 3, 3 and 2 - the 2.0 to 2.5 bin is empty."/>
          <p:cNvGraphicFramePr>
            <a:graphicFrameLocks noGrp="1"/>
          </p:cNvGraphicFramePr>
          <p:nvPr/>
        </p:nvGraphicFramePr>
        <p:xfrm>
          <a:off x="6400800" y="3800000"/>
          <a:ext cx="4100000" cy="256000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tblGrid>
              <a:tr h="320000">
                <a:tc>
                  <a:txBody>
                    <a:bodyPr/>
                    <a:lstStyle/>
                    <a:p>
                      <a:pPr algn="l"/>
                      <a:r>
                        <a:rPr lang="en-US" sz="1400" dirty="0"/>
                        <a:t>Narrower bins</a:t>
                      </a:r>
                    </a:p>
                  </a:txBody>
                  <a:tcPr marL="68580" marR="68580" marT="0" marB="0" anchor="ctr"/>
                </a:tc>
                <a:tc>
                  <a:txBody>
                    <a:bodyPr/>
                    <a:lstStyle/>
                    <a:p>
                      <a:pPr algn="ctr"/>
                      <a:r>
                        <a:rPr lang="en-US" sz="1400" dirty="0"/>
                        <a:t>f</a:t>
                      </a:r>
                    </a:p>
                  </a:txBody>
                  <a:tcPr marL="68580" marR="68580" marT="0" marB="0" anchor="ctr"/>
                </a:tc>
                <a:tc>
                  <a:txBody>
                    <a:bodyPr/>
                    <a:lstStyle/>
                    <a:p>
                      <a:pPr algn="ctr"/>
                      <a:r>
                        <a:rPr lang="en-US" sz="1400" dirty="0"/>
                        <a:t>Rel. freq.</a:t>
                      </a:r>
                    </a:p>
                  </a:txBody>
                  <a:tcPr marL="68580" marR="68580" marT="0" marB="0" anchor="ctr"/>
                </a:tc>
                <a:extLst>
                  <a:ext uri="{0D108BD9-81ED-4DB2-BD59-A6C34878D82A}">
                    <a16:rowId xmlns:a16="http://schemas.microsoft.com/office/drawing/2014/main" val="10000"/>
                  </a:ext>
                </a:extLst>
              </a:tr>
              <a:tr h="320000">
                <a:tc>
                  <a:txBody>
                    <a:bodyPr/>
                    <a:lstStyle/>
                    <a:p>
                      <a:pPr algn="l"/>
                      <a:r>
                        <a:rPr lang="en-US" sz="1400" dirty="0"/>
                        <a:t>1.0 ≤ X &lt; 1.5</a:t>
                      </a:r>
                    </a:p>
                  </a:txBody>
                  <a:tcPr marL="68580" marR="68580" marT="0" marB="0" anchor="ctr"/>
                </a:tc>
                <a:tc>
                  <a:txBody>
                    <a:bodyPr/>
                    <a:lstStyle/>
                    <a:p>
                      <a:pPr algn="ctr"/>
                      <a:r>
                        <a:rPr lang="en-US" sz="1400" dirty="0"/>
                        <a:t>2</a:t>
                      </a:r>
                    </a:p>
                  </a:txBody>
                  <a:tcPr marL="68580" marR="68580" marT="0" marB="0" anchor="ctr"/>
                </a:tc>
                <a:tc>
                  <a:txBody>
                    <a:bodyPr/>
                    <a:lstStyle/>
                    <a:p>
                      <a:pPr algn="ctr"/>
                      <a:r>
                        <a:rPr lang="en-US" sz="1400" dirty="0"/>
                        <a:t>0.13</a:t>
                      </a:r>
                    </a:p>
                  </a:txBody>
                  <a:tcPr marL="68580" marR="68580" marT="0" marB="0" anchor="ctr"/>
                </a:tc>
                <a:extLst>
                  <a:ext uri="{0D108BD9-81ED-4DB2-BD59-A6C34878D82A}">
                    <a16:rowId xmlns:a16="http://schemas.microsoft.com/office/drawing/2014/main" val="10001"/>
                  </a:ext>
                </a:extLst>
              </a:tr>
              <a:tr h="320000">
                <a:tc>
                  <a:txBody>
                    <a:bodyPr/>
                    <a:lstStyle/>
                    <a:p>
                      <a:pPr algn="l"/>
                      <a:r>
                        <a:rPr lang="en-US" sz="1400" dirty="0"/>
                        <a:t>1.5 ≤ X &lt; 2.0</a:t>
                      </a:r>
                    </a:p>
                  </a:txBody>
                  <a:tcPr marL="68580" marR="68580" marT="0" marB="0" anchor="ctr"/>
                </a:tc>
                <a:tc>
                  <a:txBody>
                    <a:bodyPr/>
                    <a:lstStyle/>
                    <a:p>
                      <a:pPr algn="ctr"/>
                      <a:r>
                        <a:rPr lang="en-US" sz="1400" dirty="0"/>
                        <a:t>1</a:t>
                      </a:r>
                    </a:p>
                  </a:txBody>
                  <a:tcPr marL="68580" marR="68580" marT="0" marB="0" anchor="ctr"/>
                </a:tc>
                <a:tc>
                  <a:txBody>
                    <a:bodyPr/>
                    <a:lstStyle/>
                    <a:p>
                      <a:pPr algn="ctr"/>
                      <a:r>
                        <a:rPr lang="en-US" sz="1400" dirty="0"/>
                        <a:t>0.07</a:t>
                      </a:r>
                    </a:p>
                  </a:txBody>
                  <a:tcPr marL="68580" marR="68580" marT="0" marB="0" anchor="ctr"/>
                </a:tc>
                <a:extLst>
                  <a:ext uri="{0D108BD9-81ED-4DB2-BD59-A6C34878D82A}">
                    <a16:rowId xmlns:a16="http://schemas.microsoft.com/office/drawing/2014/main" val="10002"/>
                  </a:ext>
                </a:extLst>
              </a:tr>
              <a:tr h="320000">
                <a:tc>
                  <a:txBody>
                    <a:bodyPr/>
                    <a:lstStyle/>
                    <a:p>
                      <a:pPr algn="l"/>
                      <a:r>
                        <a:rPr lang="en-US" sz="1400" dirty="0"/>
                        <a:t>2.0 ≤ X &lt; 2.5</a:t>
                      </a:r>
                    </a:p>
                  </a:txBody>
                  <a:tcPr marL="68580" marR="68580" marT="0" marB="0" anchor="ctr"/>
                </a:tc>
                <a:tc>
                  <a:txBody>
                    <a:bodyPr/>
                    <a:lstStyle/>
                    <a:p>
                      <a:pPr algn="ctr"/>
                      <a:r>
                        <a:rPr lang="en-US" sz="1400" dirty="0"/>
                        <a:t>0</a:t>
                      </a:r>
                    </a:p>
                  </a:txBody>
                  <a:tcPr marL="68580" marR="68580" marT="0" marB="0" anchor="ctr"/>
                </a:tc>
                <a:tc>
                  <a:txBody>
                    <a:bodyPr/>
                    <a:lstStyle/>
                    <a:p>
                      <a:pPr algn="ctr"/>
                      <a:r>
                        <a:rPr lang="en-US" sz="1400" dirty="0"/>
                        <a:t>0.00</a:t>
                      </a:r>
                    </a:p>
                  </a:txBody>
                  <a:tcPr marL="68580" marR="68580" marT="0" marB="0" anchor="ctr"/>
                </a:tc>
                <a:extLst>
                  <a:ext uri="{0D108BD9-81ED-4DB2-BD59-A6C34878D82A}">
                    <a16:rowId xmlns:a16="http://schemas.microsoft.com/office/drawing/2014/main" val="10003"/>
                  </a:ext>
                </a:extLst>
              </a:tr>
              <a:tr h="320000">
                <a:tc>
                  <a:txBody>
                    <a:bodyPr/>
                    <a:lstStyle/>
                    <a:p>
                      <a:pPr algn="l"/>
                      <a:r>
                        <a:rPr lang="en-US" sz="1400" dirty="0"/>
                        <a:t>2.5 ≤ X &lt; 3.0</a:t>
                      </a:r>
                    </a:p>
                  </a:txBody>
                  <a:tcPr marL="68580" marR="68580" marT="0" marB="0" anchor="ctr"/>
                </a:tc>
                <a:tc>
                  <a:txBody>
                    <a:bodyPr/>
                    <a:lstStyle/>
                    <a:p>
                      <a:pPr algn="ctr"/>
                      <a:r>
                        <a:rPr lang="en-US" sz="1400" dirty="0"/>
                        <a:t>4</a:t>
                      </a:r>
                    </a:p>
                  </a:txBody>
                  <a:tcPr marL="68580" marR="68580" marT="0" marB="0" anchor="ctr"/>
                </a:tc>
                <a:tc>
                  <a:txBody>
                    <a:bodyPr/>
                    <a:lstStyle/>
                    <a:p>
                      <a:pPr algn="ctr"/>
                      <a:r>
                        <a:rPr lang="en-US" sz="1400" dirty="0"/>
                        <a:t>0.27</a:t>
                      </a:r>
                    </a:p>
                  </a:txBody>
                  <a:tcPr marL="68580" marR="68580" marT="0" marB="0" anchor="ctr"/>
                </a:tc>
                <a:extLst>
                  <a:ext uri="{0D108BD9-81ED-4DB2-BD59-A6C34878D82A}">
                    <a16:rowId xmlns:a16="http://schemas.microsoft.com/office/drawing/2014/main" val="10004"/>
                  </a:ext>
                </a:extLst>
              </a:tr>
              <a:tr h="320000">
                <a:tc>
                  <a:txBody>
                    <a:bodyPr/>
                    <a:lstStyle/>
                    <a:p>
                      <a:pPr algn="l"/>
                      <a:r>
                        <a:rPr lang="en-US" sz="1400" dirty="0"/>
                        <a:t>3.0 ≤ X &lt; 3.5</a:t>
                      </a:r>
                    </a:p>
                  </a:txBody>
                  <a:tcPr marL="68580" marR="68580" marT="0" marB="0" anchor="ctr"/>
                </a:tc>
                <a:tc>
                  <a:txBody>
                    <a:bodyPr/>
                    <a:lstStyle/>
                    <a:p>
                      <a:pPr algn="ctr"/>
                      <a:r>
                        <a:rPr lang="en-US" sz="1400" dirty="0"/>
                        <a:t>3</a:t>
                      </a:r>
                    </a:p>
                  </a:txBody>
                  <a:tcPr marL="68580" marR="68580" marT="0" marB="0" anchor="ctr"/>
                </a:tc>
                <a:tc>
                  <a:txBody>
                    <a:bodyPr/>
                    <a:lstStyle/>
                    <a:p>
                      <a:pPr algn="ctr"/>
                      <a:r>
                        <a:rPr lang="en-US" sz="1400" dirty="0"/>
                        <a:t>0.20</a:t>
                      </a:r>
                    </a:p>
                  </a:txBody>
                  <a:tcPr marL="68580" marR="68580" marT="0" marB="0" anchor="ctr"/>
                </a:tc>
                <a:extLst>
                  <a:ext uri="{0D108BD9-81ED-4DB2-BD59-A6C34878D82A}">
                    <a16:rowId xmlns:a16="http://schemas.microsoft.com/office/drawing/2014/main" val="10005"/>
                  </a:ext>
                </a:extLst>
              </a:tr>
              <a:tr h="320000">
                <a:tc>
                  <a:txBody>
                    <a:bodyPr/>
                    <a:lstStyle/>
                    <a:p>
                      <a:pPr algn="l"/>
                      <a:r>
                        <a:rPr lang="en-US" sz="1400" dirty="0"/>
                        <a:t>3.5 ≤ X &lt; 4.0</a:t>
                      </a:r>
                    </a:p>
                  </a:txBody>
                  <a:tcPr marL="68580" marR="68580" marT="0" marB="0" anchor="ctr"/>
                </a:tc>
                <a:tc>
                  <a:txBody>
                    <a:bodyPr/>
                    <a:lstStyle/>
                    <a:p>
                      <a:pPr algn="ctr"/>
                      <a:r>
                        <a:rPr lang="en-US" sz="1400" dirty="0"/>
                        <a:t>3</a:t>
                      </a:r>
                    </a:p>
                  </a:txBody>
                  <a:tcPr marL="68580" marR="68580" marT="0" marB="0" anchor="ctr"/>
                </a:tc>
                <a:tc>
                  <a:txBody>
                    <a:bodyPr/>
                    <a:lstStyle/>
                    <a:p>
                      <a:pPr algn="ctr"/>
                      <a:r>
                        <a:rPr lang="en-US" sz="1400" dirty="0"/>
                        <a:t>0.20</a:t>
                      </a:r>
                    </a:p>
                  </a:txBody>
                  <a:tcPr marL="68580" marR="68580" marT="0" marB="0" anchor="ctr"/>
                </a:tc>
                <a:extLst>
                  <a:ext uri="{0D108BD9-81ED-4DB2-BD59-A6C34878D82A}">
                    <a16:rowId xmlns:a16="http://schemas.microsoft.com/office/drawing/2014/main" val="10006"/>
                  </a:ext>
                </a:extLst>
              </a:tr>
              <a:tr h="320000">
                <a:tc>
                  <a:txBody>
                    <a:bodyPr/>
                    <a:lstStyle/>
                    <a:p>
                      <a:pPr algn="l"/>
                      <a:r>
                        <a:rPr lang="en-US" sz="1400" dirty="0"/>
                        <a:t>4.0 ≤ X &lt; 4.5</a:t>
                      </a:r>
                    </a:p>
                  </a:txBody>
                  <a:tcPr marL="68580" marR="68580" marT="0" marB="0" anchor="ctr"/>
                </a:tc>
                <a:tc>
                  <a:txBody>
                    <a:bodyPr/>
                    <a:lstStyle/>
                    <a:p>
                      <a:pPr algn="ctr"/>
                      <a:r>
                        <a:rPr lang="en-US" sz="1400" dirty="0"/>
                        <a:t>2</a:t>
                      </a:r>
                    </a:p>
                  </a:txBody>
                  <a:tcPr marL="68580" marR="68580" marT="0" marB="0" anchor="ctr"/>
                </a:tc>
                <a:tc>
                  <a:txBody>
                    <a:bodyPr/>
                    <a:lstStyle/>
                    <a:p>
                      <a:pPr algn="ctr"/>
                      <a:r>
                        <a:rPr lang="en-US" sz="1400" dirty="0"/>
                        <a:t>0.13</a:t>
                      </a:r>
                    </a:p>
                  </a:txBody>
                  <a:tcPr marL="68580" marR="68580" marT="0" marB="0" anchor="ctr"/>
                </a:tc>
                <a:extLst>
                  <a:ext uri="{0D108BD9-81ED-4DB2-BD59-A6C34878D82A}">
                    <a16:rowId xmlns:a16="http://schemas.microsoft.com/office/drawing/2014/main" val="10007"/>
                  </a:ext>
                </a:extLst>
              </a:tr>
            </a:tbl>
          </a:graphicData>
        </a:graphic>
      </p:graphicFrame>
      <p:sp>
        <p:nvSpPr>
          <p:cNvPr id="5" name="Takeaway"/>
          <p:cNvSpPr txBox="1"/>
          <p:nvPr/>
        </p:nvSpPr>
        <p:spPr>
          <a:xfrm>
            <a:off x="838200" y="4150000"/>
            <a:ext cx="5250000" cy="1900000"/>
          </a:xfrm>
          <a:prstGeom prst="rect">
            <a:avLst/>
          </a:prstGeom>
          <a:noFill/>
        </p:spPr>
        <p:txBody>
          <a:bodyPr wrap="square" lIns="0" tIns="0" rIns="0" bIns="0">
            <a:normAutofit/>
          </a:bodyPr>
          <a:lstStyle/>
          <a:p>
            <a:pPr marL="0" indent="0">
              <a:buNone/>
            </a:pPr>
            <a:r>
              <a:rPr lang="en-US" sz="1500" b="1" dirty="0">
                <a:solidFill>
                  <a:srgbClr val="C00000"/>
                </a:solidFill>
              </a:rPr>
              <a:t>Bin width is a choice, not a property of the data. Halving it splits the middle and exposes an empty bin: the values fall into two clusters.</a:t>
            </a:r>
          </a:p>
          <a:p>
            <a:pPr marL="0" indent="0">
              <a:spcBef>
                <a:spcPts val="400"/>
              </a:spcBef>
              <a:buNone/>
            </a:pPr>
            <a:r>
              <a:rPr lang="en-US" sz="1500" b="1" dirty="0">
                <a:solidFill>
                  <a:srgbClr val="C00000"/>
                </a:solidFill>
              </a:rPr>
              <a:t>Next: the same procedure on 272 Old Faithful eruptions.</a:t>
            </a:r>
          </a:p>
        </p:txBody>
      </p:sp>
    </p:spTree>
    <p:extLst>
      <p:ext uri="{BB962C8B-B14F-4D97-AF65-F5344CB8AC3E}">
        <p14:creationId xmlns:p14="http://schemas.microsoft.com/office/powerpoint/2010/main" val="1517484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18BEF-F19E-DBAD-FF9A-8FDF1FBD3654}"/>
              </a:ext>
            </a:extLst>
          </p:cNvPr>
          <p:cNvSpPr>
            <a:spLocks noGrp="1"/>
          </p:cNvSpPr>
          <p:nvPr>
            <p:ph type="title"/>
          </p:nvPr>
        </p:nvSpPr>
        <p:spPr>
          <a:xfrm>
            <a:off x="838200" y="365126"/>
            <a:ext cx="10515600" cy="825500"/>
          </a:xfrm>
        </p:spPr>
        <p:txBody>
          <a:bodyPr>
            <a:normAutofit/>
          </a:bodyPr>
          <a:lstStyle/>
          <a:p>
            <a:r>
              <a:rPr lang="en-US" sz="4000" dirty="0"/>
              <a:t>Example: Old Faithful Eruption Times</a:t>
            </a:r>
          </a:p>
        </p:txBody>
      </p:sp>
      <p:pic>
        <p:nvPicPr>
          <p:cNvPr id="12" name="Picture 11" descr="A geyser erupting from a volcano&#10;&#10;Description automatically generated">
            <a:extLst>
              <a:ext uri="{FF2B5EF4-FFF2-40B4-BE49-F238E27FC236}">
                <a16:creationId xmlns:a16="http://schemas.microsoft.com/office/drawing/2014/main" id="{7D4F0832-9507-7EF6-4632-576AC46874E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57175" y="2378007"/>
            <a:ext cx="6402243" cy="4270246"/>
          </a:xfrm>
          <a:prstGeom prst="rect">
            <a:avLst/>
          </a:prstGeom>
        </p:spPr>
      </p:pic>
      <p:pic>
        <p:nvPicPr>
          <p:cNvPr id="14" name="Picture 13" descr="Table of the Old Faithful data: for each of 272 eruptions the eruption time in minutes and the waiting time until the next eruption. The first rows read 3.600 and 79, 1.800 and 54, 3.333 and 74.">
            <a:extLst>
              <a:ext uri="{FF2B5EF4-FFF2-40B4-BE49-F238E27FC236}">
                <a16:creationId xmlns:a16="http://schemas.microsoft.com/office/drawing/2014/main" id="{9B6079F2-E75F-5FC2-3656-4040AC7A68F1}"/>
              </a:ext>
            </a:extLst>
          </p:cNvPr>
          <p:cNvPicPr>
            <a:picLocks noChangeAspect="1"/>
          </p:cNvPicPr>
          <p:nvPr/>
        </p:nvPicPr>
        <p:blipFill>
          <a:blip r:embed="rId4"/>
          <a:stretch>
            <a:fillRect/>
          </a:stretch>
        </p:blipFill>
        <p:spPr>
          <a:xfrm>
            <a:off x="7490691" y="2278912"/>
            <a:ext cx="4018898" cy="4369340"/>
          </a:xfrm>
          <a:prstGeom prst="rect">
            <a:avLst/>
          </a:prstGeom>
        </p:spPr>
      </p:pic>
    </p:spTree>
    <p:extLst>
      <p:ext uri="{BB962C8B-B14F-4D97-AF65-F5344CB8AC3E}">
        <p14:creationId xmlns:p14="http://schemas.microsoft.com/office/powerpoint/2010/main" val="3224327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FEA43-5CC7-674C-34A7-42C05AF202E3}"/>
              </a:ext>
            </a:extLst>
          </p:cNvPr>
          <p:cNvSpPr>
            <a:spLocks noGrp="1"/>
          </p:cNvSpPr>
          <p:nvPr>
            <p:ph type="title"/>
          </p:nvPr>
        </p:nvSpPr>
        <p:spPr>
          <a:xfrm>
            <a:off x="764309" y="0"/>
            <a:ext cx="10515600" cy="1325563"/>
          </a:xfrm>
        </p:spPr>
        <p:txBody>
          <a:bodyPr/>
          <a:lstStyle/>
          <a:p>
            <a:r>
              <a:rPr lang="en-US" sz="4400" dirty="0"/>
              <a:t>Old Faithful Eruption Times: Frequency Table</a:t>
            </a:r>
            <a:endParaRPr lang="en-US" dirty="0"/>
          </a:p>
        </p:txBody>
      </p:sp>
      <p:pic>
        <p:nvPicPr>
          <p:cNvPr id="4" name="Picture 3" descr="Frequency table of Old Faithful waiting times in ten-minute bins: under 50 minutes 21, 50 to 60 56, 60 to 70 26, 70 to 80 77, 80 to 90 80, over 90 12, with relative and cumulative relative frequencies.">
            <a:extLst>
              <a:ext uri="{FF2B5EF4-FFF2-40B4-BE49-F238E27FC236}">
                <a16:creationId xmlns:a16="http://schemas.microsoft.com/office/drawing/2014/main" id="{BC445D82-BC54-E443-F806-44E9E15C1C53}"/>
              </a:ext>
            </a:extLst>
          </p:cNvPr>
          <p:cNvPicPr>
            <a:picLocks noChangeAspect="1"/>
          </p:cNvPicPr>
          <p:nvPr/>
        </p:nvPicPr>
        <p:blipFill>
          <a:blip r:embed="rId2"/>
          <a:stretch>
            <a:fillRect/>
          </a:stretch>
        </p:blipFill>
        <p:spPr>
          <a:xfrm>
            <a:off x="1878155" y="1789972"/>
            <a:ext cx="8287907" cy="4220164"/>
          </a:xfrm>
          <a:prstGeom prst="rect">
            <a:avLst/>
          </a:prstGeom>
        </p:spPr>
      </p:pic>
    </p:spTree>
    <p:extLst>
      <p:ext uri="{BB962C8B-B14F-4D97-AF65-F5344CB8AC3E}">
        <p14:creationId xmlns:p14="http://schemas.microsoft.com/office/powerpoint/2010/main" val="1892766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1"/>
          <p:cNvSpPr>
            <a:spLocks noGrp="1"/>
          </p:cNvSpPr>
          <p:nvPr>
            <p:ph type="title"/>
          </p:nvPr>
        </p:nvSpPr>
        <p:spPr>
          <a:xfrm>
            <a:off x="-8000000" y="0"/>
            <a:ext cx="6000000" cy="800000"/>
          </a:xfrm>
        </p:spPr>
        <p:txBody>
          <a:bodyPr>
            <a:normAutofit/>
          </a:bodyPr>
          <a:lstStyle/>
          <a:p>
            <a:r>
              <a:rPr lang="en-US" sz="1800" dirty="0"/>
              <a:t>Graphical descriptions of data</a:t>
            </a:r>
          </a:p>
        </p:txBody>
      </p:sp>
      <p:sp>
        <p:nvSpPr>
          <p:cNvPr id="6" name="Rectangle: Rounded Corners 5">
            <a:extLst>
              <a:ext uri="{FF2B5EF4-FFF2-40B4-BE49-F238E27FC236}">
                <a16:creationId xmlns:a16="http://schemas.microsoft.com/office/drawing/2014/main" id="{2EC7F35D-317F-28D2-BBCE-99D9B2A1FD57}"/>
              </a:ext>
            </a:extLst>
          </p:cNvPr>
          <p:cNvSpPr/>
          <p:nvPr/>
        </p:nvSpPr>
        <p:spPr>
          <a:xfrm>
            <a:off x="1021247" y="2501144"/>
            <a:ext cx="3380510" cy="70196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t>Qualitative Variables</a:t>
            </a:r>
          </a:p>
        </p:txBody>
      </p:sp>
      <p:sp>
        <p:nvSpPr>
          <p:cNvPr id="7" name="Rectangle: Rounded Corners 6">
            <a:extLst>
              <a:ext uri="{FF2B5EF4-FFF2-40B4-BE49-F238E27FC236}">
                <a16:creationId xmlns:a16="http://schemas.microsoft.com/office/drawing/2014/main" id="{97881567-2056-16CB-4560-290AC5D327DC}"/>
              </a:ext>
            </a:extLst>
          </p:cNvPr>
          <p:cNvSpPr/>
          <p:nvPr/>
        </p:nvSpPr>
        <p:spPr>
          <a:xfrm>
            <a:off x="7808716" y="2514998"/>
            <a:ext cx="3468883" cy="70196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t>Quantitative Variables</a:t>
            </a:r>
          </a:p>
        </p:txBody>
      </p:sp>
      <p:sp>
        <p:nvSpPr>
          <p:cNvPr id="8" name="TextBox 7">
            <a:extLst>
              <a:ext uri="{FF2B5EF4-FFF2-40B4-BE49-F238E27FC236}">
                <a16:creationId xmlns:a16="http://schemas.microsoft.com/office/drawing/2014/main" id="{1660F8CB-99D1-AF64-D302-A3630815D19A}"/>
              </a:ext>
            </a:extLst>
          </p:cNvPr>
          <p:cNvSpPr txBox="1"/>
          <p:nvPr/>
        </p:nvSpPr>
        <p:spPr>
          <a:xfrm>
            <a:off x="1002773" y="3401690"/>
            <a:ext cx="3380508" cy="1015663"/>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2000" dirty="0"/>
              <a:t>Bar graph</a:t>
            </a:r>
          </a:p>
          <a:p>
            <a:pPr marL="285750" indent="-285750">
              <a:buFont typeface="Arial" panose="020B0604020202020204" pitchFamily="34" charset="0"/>
              <a:buChar char="•"/>
            </a:pPr>
            <a:r>
              <a:rPr lang="en-US" sz="2000" dirty="0"/>
              <a:t>Pie Chart</a:t>
            </a:r>
          </a:p>
          <a:p>
            <a:pPr marL="285750" indent="-285750">
              <a:buFont typeface="Arial" panose="020B0604020202020204" pitchFamily="34" charset="0"/>
              <a:buChar char="•"/>
            </a:pPr>
            <a:r>
              <a:rPr lang="en-US" sz="2000" dirty="0"/>
              <a:t>Pareto Chart</a:t>
            </a:r>
          </a:p>
        </p:txBody>
      </p:sp>
      <p:sp>
        <p:nvSpPr>
          <p:cNvPr id="10" name="Rectangle 9">
            <a:extLst>
              <a:ext uri="{FF2B5EF4-FFF2-40B4-BE49-F238E27FC236}">
                <a16:creationId xmlns:a16="http://schemas.microsoft.com/office/drawing/2014/main" id="{D5155137-1F8F-B30B-6371-056BD66E46D4}"/>
              </a:ext>
            </a:extLst>
          </p:cNvPr>
          <p:cNvSpPr/>
          <p:nvPr/>
        </p:nvSpPr>
        <p:spPr>
          <a:xfrm>
            <a:off x="4290919" y="133926"/>
            <a:ext cx="3406959" cy="7019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Graphical Descriptions Of Data</a:t>
            </a:r>
          </a:p>
        </p:txBody>
      </p:sp>
      <p:cxnSp>
        <p:nvCxnSpPr>
          <p:cNvPr id="12" name="Connector: Elbow 11">
            <a:extLst>
              <a:ext uri="{FF2B5EF4-FFF2-40B4-BE49-F238E27FC236}">
                <a16:creationId xmlns:a16="http://schemas.microsoft.com/office/drawing/2014/main" id="{0E4B24D7-47EA-F860-D406-1737EE3EAC68}"/>
              </a:ext>
            </a:extLst>
          </p:cNvPr>
          <p:cNvCxnSpPr>
            <a:cxnSpLocks/>
            <a:stCxn id="25" idx="1"/>
            <a:endCxn id="6" idx="0"/>
          </p:cNvCxnSpPr>
          <p:nvPr/>
        </p:nvCxnSpPr>
        <p:spPr>
          <a:xfrm rot="10800000" flipV="1">
            <a:off x="2711503" y="1524062"/>
            <a:ext cx="1671779" cy="977081"/>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C3A0F894-932E-A39B-EE28-C0F756836744}"/>
              </a:ext>
            </a:extLst>
          </p:cNvPr>
          <p:cNvCxnSpPr>
            <a:cxnSpLocks/>
            <a:stCxn id="25" idx="3"/>
            <a:endCxn id="7" idx="0"/>
          </p:cNvCxnSpPr>
          <p:nvPr/>
        </p:nvCxnSpPr>
        <p:spPr>
          <a:xfrm>
            <a:off x="7790240" y="1524063"/>
            <a:ext cx="1752918" cy="990935"/>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B470C11-E3DA-41FB-321D-DF57E25C9C0E}"/>
              </a:ext>
            </a:extLst>
          </p:cNvPr>
          <p:cNvSpPr/>
          <p:nvPr/>
        </p:nvSpPr>
        <p:spPr>
          <a:xfrm>
            <a:off x="4392520" y="4692471"/>
            <a:ext cx="3406959" cy="7019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Describe key features of the distribution</a:t>
            </a:r>
          </a:p>
        </p:txBody>
      </p:sp>
      <p:sp>
        <p:nvSpPr>
          <p:cNvPr id="16" name="TextBox 15">
            <a:extLst>
              <a:ext uri="{FF2B5EF4-FFF2-40B4-BE49-F238E27FC236}">
                <a16:creationId xmlns:a16="http://schemas.microsoft.com/office/drawing/2014/main" id="{DC7F01EC-1027-1A76-3043-99F0E76481CA}"/>
              </a:ext>
            </a:extLst>
          </p:cNvPr>
          <p:cNvSpPr txBox="1"/>
          <p:nvPr/>
        </p:nvSpPr>
        <p:spPr>
          <a:xfrm>
            <a:off x="4404748" y="5567343"/>
            <a:ext cx="3394731" cy="1200329"/>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dirty="0"/>
              <a:t>Modal Category</a:t>
            </a:r>
          </a:p>
          <a:p>
            <a:pPr marL="285750" indent="-285750">
              <a:buFont typeface="Arial" panose="020B0604020202020204" pitchFamily="34" charset="0"/>
              <a:buChar char="•"/>
            </a:pPr>
            <a:r>
              <a:rPr lang="en-US" dirty="0"/>
              <a:t>Shape</a:t>
            </a:r>
          </a:p>
          <a:p>
            <a:pPr marL="285750" indent="-285750">
              <a:buFont typeface="Arial" panose="020B0604020202020204" pitchFamily="34" charset="0"/>
              <a:buChar char="•"/>
            </a:pPr>
            <a:r>
              <a:rPr lang="en-US" dirty="0"/>
              <a:t>Center</a:t>
            </a:r>
          </a:p>
          <a:p>
            <a:pPr marL="285750" indent="-285750">
              <a:buFont typeface="Arial" panose="020B0604020202020204" pitchFamily="34" charset="0"/>
              <a:buChar char="•"/>
            </a:pPr>
            <a:r>
              <a:rPr lang="en-US" dirty="0"/>
              <a:t>Variability</a:t>
            </a:r>
          </a:p>
        </p:txBody>
      </p:sp>
      <p:cxnSp>
        <p:nvCxnSpPr>
          <p:cNvPr id="18" name="Connector: Elbow 17">
            <a:extLst>
              <a:ext uri="{FF2B5EF4-FFF2-40B4-BE49-F238E27FC236}">
                <a16:creationId xmlns:a16="http://schemas.microsoft.com/office/drawing/2014/main" id="{433238C4-A2B4-5CCD-B93B-C3EEBA196CA4}"/>
              </a:ext>
            </a:extLst>
          </p:cNvPr>
          <p:cNvCxnSpPr>
            <a:cxnSpLocks/>
            <a:stCxn id="8" idx="2"/>
            <a:endCxn id="15" idx="1"/>
          </p:cNvCxnSpPr>
          <p:nvPr/>
        </p:nvCxnSpPr>
        <p:spPr>
          <a:xfrm rot="16200000" flipH="1">
            <a:off x="3229723" y="3880656"/>
            <a:ext cx="626100" cy="1699493"/>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BA6A9435-F7E6-7CDC-62E5-FCB2A9FCE741}"/>
              </a:ext>
            </a:extLst>
          </p:cNvPr>
          <p:cNvCxnSpPr>
            <a:cxnSpLocks/>
            <a:stCxn id="9" idx="2"/>
            <a:endCxn id="15" idx="3"/>
          </p:cNvCxnSpPr>
          <p:nvPr/>
        </p:nvCxnSpPr>
        <p:spPr>
          <a:xfrm rot="5400000">
            <a:off x="8358269" y="3858563"/>
            <a:ext cx="626101" cy="1743679"/>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1966676-BC35-3C86-F6B0-3253A01BE201}"/>
              </a:ext>
            </a:extLst>
          </p:cNvPr>
          <p:cNvSpPr txBox="1"/>
          <p:nvPr/>
        </p:nvSpPr>
        <p:spPr>
          <a:xfrm>
            <a:off x="7808717" y="3401689"/>
            <a:ext cx="3468882" cy="1015663"/>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2000" dirty="0"/>
              <a:t>Dot Plot</a:t>
            </a:r>
          </a:p>
          <a:p>
            <a:pPr marL="285750" indent="-285750">
              <a:buFont typeface="Arial" panose="020B0604020202020204" pitchFamily="34" charset="0"/>
              <a:buChar char="•"/>
            </a:pPr>
            <a:r>
              <a:rPr lang="en-US" sz="2000" dirty="0"/>
              <a:t>Stem Chart</a:t>
            </a:r>
          </a:p>
          <a:p>
            <a:pPr marL="285750" indent="-285750">
              <a:buFont typeface="Arial" panose="020B0604020202020204" pitchFamily="34" charset="0"/>
              <a:buChar char="•"/>
            </a:pPr>
            <a:r>
              <a:rPr lang="en-US" sz="2000" dirty="0">
                <a:solidFill>
                  <a:schemeClr val="tx1"/>
                </a:solidFill>
              </a:rPr>
              <a:t>Histogram</a:t>
            </a:r>
            <a:r>
              <a:rPr lang="en-US" sz="2000" dirty="0"/>
              <a:t> </a:t>
            </a:r>
          </a:p>
        </p:txBody>
      </p:sp>
      <p:sp>
        <p:nvSpPr>
          <p:cNvPr id="25" name="Rectangle: Rounded Corners 24">
            <a:extLst>
              <a:ext uri="{FF2B5EF4-FFF2-40B4-BE49-F238E27FC236}">
                <a16:creationId xmlns:a16="http://schemas.microsoft.com/office/drawing/2014/main" id="{C40DF31A-AF91-AF49-1BB8-8D6E76C29BA4}"/>
              </a:ext>
            </a:extLst>
          </p:cNvPr>
          <p:cNvSpPr/>
          <p:nvPr/>
        </p:nvSpPr>
        <p:spPr>
          <a:xfrm>
            <a:off x="4383281" y="1173081"/>
            <a:ext cx="3406959" cy="7019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Frequency Tables</a:t>
            </a:r>
          </a:p>
        </p:txBody>
      </p:sp>
      <p:sp>
        <p:nvSpPr>
          <p:cNvPr id="28" name="Arrow: Down 27">
            <a:extLst>
              <a:ext uri="{FF2B5EF4-FFF2-40B4-BE49-F238E27FC236}">
                <a16:creationId xmlns:a16="http://schemas.microsoft.com/office/drawing/2014/main" id="{81F32552-BCAB-7E67-B88C-5F1E3B211CC8}"/>
              </a:ext>
            </a:extLst>
          </p:cNvPr>
          <p:cNvSpPr/>
          <p:nvPr/>
        </p:nvSpPr>
        <p:spPr>
          <a:xfrm>
            <a:off x="5886554" y="866958"/>
            <a:ext cx="418890" cy="337127"/>
          </a:xfrm>
          <a:prstGeom prst="down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291E9938-8966-4DC4-C588-135EC5244D53}"/>
              </a:ext>
            </a:extLst>
          </p:cNvPr>
          <p:cNvCxnSpPr>
            <a:stCxn id="25" idx="2"/>
            <a:endCxn id="15" idx="0"/>
          </p:cNvCxnSpPr>
          <p:nvPr/>
        </p:nvCxnSpPr>
        <p:spPr>
          <a:xfrm>
            <a:off x="6086761" y="1875044"/>
            <a:ext cx="9239" cy="281742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9196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4D57F0-DEEB-0C1F-56E4-CAE4784DB576}"/>
              </a:ext>
            </a:extLst>
          </p:cNvPr>
          <p:cNvSpPr>
            <a:spLocks noGrp="1"/>
          </p:cNvSpPr>
          <p:nvPr>
            <p:ph type="title"/>
          </p:nvPr>
        </p:nvSpPr>
        <p:spPr>
          <a:xfrm>
            <a:off x="841248" y="256032"/>
            <a:ext cx="10506456" cy="1014984"/>
          </a:xfrm>
        </p:spPr>
        <p:txBody>
          <a:bodyPr anchor="b">
            <a:normAutofit/>
          </a:bodyPr>
          <a:lstStyle/>
          <a:p>
            <a:r>
              <a:rPr lang="en-US" dirty="0"/>
              <a:t>Visualizing Distributions of Categorical Data</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descr="Flow diagram: graphical descriptions of data start from frequency tables, which branch to qualitative variables (bar graph, pie chart, Pareto chart) and quantitative variables (dot plot, stem chart, histogram); both branches lead to describing the key features of the distribution - modal category, shape, center and variability.">
            <a:extLst>
              <a:ext uri="{FF2B5EF4-FFF2-40B4-BE49-F238E27FC236}">
                <a16:creationId xmlns:a16="http://schemas.microsoft.com/office/drawing/2014/main" id="{B7A7144C-3BB9-B0B9-1DF4-7E20D741B2C9}"/>
              </a:ext>
            </a:extLst>
          </p:cNvPr>
          <p:cNvGraphicFramePr>
            <a:graphicFrameLocks noGrp="1"/>
          </p:cNvGraphicFramePr>
          <p:nvPr>
            <p:ph idx="1"/>
            <p:extLst>
              <p:ext uri="{D42A27DB-BD31-4B8C-83A1-F6EECF244321}">
                <p14:modId xmlns:p14="http://schemas.microsoft.com/office/powerpoint/2010/main" val="342159648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57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2178</TotalTime>
  <Words>1368</Words>
  <Application>Microsoft Office PowerPoint</Application>
  <PresentationFormat>Widescreen</PresentationFormat>
  <Paragraphs>198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Cambria Math</vt:lpstr>
      <vt:lpstr>Consolas</vt:lpstr>
      <vt:lpstr>Office Theme</vt:lpstr>
      <vt:lpstr>Lecture 3 Describing and Visualizing Distributions  </vt:lpstr>
      <vt:lpstr>Review</vt:lpstr>
      <vt:lpstr>Review</vt:lpstr>
      <vt:lpstr>Where we stopped on Friday: the teen cell-phone survey</vt:lpstr>
      <vt:lpstr>Features of Distributions</vt:lpstr>
      <vt:lpstr>What to Look For: the Modal Category</vt:lpstr>
      <vt:lpstr>What to Look For: Shape</vt:lpstr>
      <vt:lpstr>What to Look For: Center</vt:lpstr>
      <vt:lpstr>What to Look For: Variability</vt:lpstr>
      <vt:lpstr>Displaying Distributions: Frequency Tables</vt:lpstr>
      <vt:lpstr>Example: Mendel’s Pea Plants</vt:lpstr>
      <vt:lpstr>Try it out: A Frequency Table by Hand</vt:lpstr>
      <vt:lpstr>Try it out: A Discrete Variable</vt:lpstr>
      <vt:lpstr>Frequency Tables for Continuous Variables</vt:lpstr>
      <vt:lpstr>Try it out: Binning a Continuous Variable</vt:lpstr>
      <vt:lpstr>Example: Old Faithful Eruption Times</vt:lpstr>
      <vt:lpstr>Old Faithful Eruption Times: Frequency Table</vt:lpstr>
      <vt:lpstr>Graphical descriptions of data</vt:lpstr>
      <vt:lpstr>Visualizing Distributions of Categorical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Jarred Kvamme</dc:creator>
  <cp:lastModifiedBy>Jarred Kvamme</cp:lastModifiedBy>
  <cp:revision>340</cp:revision>
  <dcterms:created xsi:type="dcterms:W3CDTF">2023-08-05T23:57:41Z</dcterms:created>
  <dcterms:modified xsi:type="dcterms:W3CDTF">2026-09-02T18:59:50Z</dcterms:modified>
</cp:coreProperties>
</file>