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331" r:id="rId4"/>
    <p:sldId id="296" r:id="rId5"/>
    <p:sldId id="333" r:id="rId6"/>
    <p:sldId id="334" r:id="rId7"/>
    <p:sldId id="335" r:id="rId8"/>
    <p:sldId id="336" r:id="rId9"/>
    <p:sldId id="337" r:id="rId10"/>
    <p:sldId id="282" r:id="rId11"/>
    <p:sldId id="279" r:id="rId12"/>
    <p:sldId id="280" r:id="rId13"/>
    <p:sldId id="281" r:id="rId14"/>
    <p:sldId id="340" r:id="rId15"/>
    <p:sldId id="274" r:id="rId16"/>
    <p:sldId id="292" r:id="rId17"/>
    <p:sldId id="293" r:id="rId18"/>
    <p:sldId id="339" r:id="rId19"/>
    <p:sldId id="290" r:id="rId20"/>
    <p:sldId id="328" r:id="rId21"/>
    <p:sldId id="332" r:id="rId22"/>
    <p:sldId id="295" r:id="rId23"/>
    <p:sldId id="294" r:id="rId24"/>
    <p:sldId id="338" r:id="rId25"/>
    <p:sldId id="341" r:id="rId26"/>
    <p:sldId id="304" r:id="rId27"/>
    <p:sldId id="330" r:id="rId28"/>
    <p:sldId id="307" r:id="rId29"/>
    <p:sldId id="342" r:id="rId30"/>
    <p:sldId id="305" r:id="rId31"/>
    <p:sldId id="343" r:id="rId32"/>
    <p:sldId id="344" r:id="rId33"/>
    <p:sldId id="345" r:id="rId34"/>
    <p:sldId id="346" r:id="rId35"/>
    <p:sldId id="309" r:id="rId36"/>
    <p:sldId id="308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821C1-92D8-0827-CE2B-80FEA840C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EA748-2C8E-5D78-5734-D9BCC16ECD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15553-DE39-3C41-4AFF-70F29A86E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2837C-8079-1B7F-0DCF-61C39ED30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5E205-162F-206E-F4C6-EB23D9DC1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874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13490-30A7-12A6-2775-77578A346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7B95F-B119-D057-5670-8EC21A84E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D001D-CEFB-FD30-FB40-0BEA5B52D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3377D-E7F3-D264-FB03-A4AF3E336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48992-A907-9503-F005-BAA8A33CE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803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6B320-EDC1-EDD2-5F4C-2A675BD0C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58A940-1637-AC6F-0247-A5E578765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2A479-CAFF-245E-F61F-3D6F3E5C8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24E38-70F9-0CAE-F19E-6DDE60057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74C88-12BC-0657-008B-8419B1E10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099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02A09-336F-FDC8-F0C1-F84E09726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F6849-08AF-456F-8C3C-E6DE37B3B9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7E5562-6B4C-F11F-DF48-D254599EAA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A69C05-114E-11FE-5C76-D6F191757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71C5D0-A8D9-EEF2-15E4-CE74A390A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9944C5-75A0-666E-C3DD-6839AB17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10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EC19E-080C-F794-EB45-FB4903CDD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5744A-FDBE-87AE-7AF1-3AC154DB2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970E4-B2B1-0370-3C26-0D1A5A002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A4F036-B8A8-878F-A1CB-05DAE58015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8B7F82-EBC0-322A-130D-972F39800F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21A5BB-D71E-872F-6F0E-2279BE484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C56747-8CBE-BF00-C39A-F442E724C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E2C14A-6287-B5B6-C760-7F506FD87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436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E9713-B0F2-9D1D-23FC-F5900F773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6FC7EC-16C8-C311-316C-6D99B4F99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FE4DA7-A4C5-460E-592C-CEF23DF38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6F3F89-7820-6BF8-A747-E433ED21A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44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EAD0FD-7A61-970C-10A9-76E2B39DA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F95651-C89A-3C9B-3D47-F7E5CAF6B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09228-92F1-54DE-D9B2-4AC018D50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303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3F474-02F7-A264-4B8D-717F5EB00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FA8C9F-750F-7D81-0E80-7FBCDEBEB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0A1C0B-C510-B118-D8FA-12722456A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94604E-EC60-44AD-4B70-12B2B49AE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22C4B9-91B9-9E0E-9278-1C0433768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1E60F-F796-8B15-08E9-61BA30F0D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505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E564D-22A0-8A8D-C6FE-D62998433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713DEA-5246-B946-AFE4-3B305BCDB1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4208CC-31DD-00AF-BFC4-37F7B4BF3C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7E30D-B05F-B2CA-9A3C-E01E2B6B0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08FCE-463A-D1B2-8A60-3B6744202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38537-A621-46D4-781D-4E36BF836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242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105C2-17EC-1173-1FC9-8A7FC1018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BBB4A-325C-1F27-06A3-6F4F1A8F5C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A6F55-A1EF-6AEC-99F0-DBF50F5EB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1FD1D-86F4-EDE3-1CCE-ADED2161B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E0593-ABE9-0E50-7A75-9252A5A1F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965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87FF77-0DAD-7CA9-B02D-208C020489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9298FA-F111-2C9C-551D-A1F30B239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1B556-1ED0-55E4-9235-352E1A162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882561-BD16-4A95-ACA1-5204E478F2FE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4A71E-8AC3-EA68-1DCB-99E68A465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1CF60-74F8-B2C5-26C3-77536C36C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366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18B48B-0371-7ADD-E5C3-345B4D6CB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B5A92-73C5-8CE0-7C84-BE7902E60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5212B-F67A-E417-B1FE-C389458DF2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882561-BD16-4A95-ACA1-5204E478F2FE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9799A-D006-E28E-8EED-4BE2AFCB8D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69CB4-3B3A-FD13-F7E0-B4A0F34767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A81DD-F10A-4B1C-963A-0ABBB48658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091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emf"/><Relationship Id="rId4" Type="http://schemas.openxmlformats.org/officeDocument/2006/relationships/image" Target="../media/image11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F151A-3AFE-974F-DDC4-9B99389C34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4105419"/>
          </a:xfrm>
        </p:spPr>
        <p:txBody>
          <a:bodyPr>
            <a:normAutofit/>
          </a:bodyPr>
          <a:lstStyle/>
          <a:p>
            <a:r>
              <a:rPr lang="en-US"/>
              <a:t>Lecture 4</a:t>
            </a:r>
            <a:br>
              <a:rPr lang="en-US"/>
            </a:br>
            <a:r>
              <a:rPr lang="en-US"/>
              <a:t>Shape and Graphs of Distributions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153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8000"/>
            <a:ext cx="10515600" cy="605578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</a:t>
            </a:r>
          </a:p>
        </p:txBody>
      </p:sp>
      <p:sp>
        <p:nvSpPr>
          <p:cNvPr id="3" name="Question 1"/>
          <p:cNvSpPr/>
          <p:nvPr/>
        </p:nvSpPr>
        <p:spPr>
          <a:xfrm>
            <a:off x="838200" y="1007630"/>
            <a:ext cx="10515600" cy="98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4472C4"/>
                </a:solidFill>
              </a:rPr>
              <a:t>1   </a:t>
            </a:r>
            <a:r>
              <a:rPr lang="en-US" b="1"/>
              <a:t>What is a distribution?</a:t>
            </a:r>
            <a:endParaRPr lang="en-US" b="1" dirty="0"/>
          </a:p>
        </p:txBody>
      </p:sp>
      <p:sp>
        <p:nvSpPr>
          <p:cNvPr id="4" name="Answer 1"/>
          <p:cNvSpPr txBox="1"/>
          <p:nvPr/>
        </p:nvSpPr>
        <p:spPr>
          <a:xfrm>
            <a:off x="1066800" y="1567630"/>
            <a:ext cx="10058400" cy="3285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The values a variable takes and how often each one occurs.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5" name="Question 2"/>
          <p:cNvSpPr/>
          <p:nvPr/>
        </p:nvSpPr>
        <p:spPr>
          <a:xfrm>
            <a:off x="838200" y="2067630"/>
            <a:ext cx="10515600" cy="98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4472C4"/>
                </a:solidFill>
              </a:rPr>
              <a:t>2   </a:t>
            </a:r>
            <a:r>
              <a:rPr lang="en-US" b="1"/>
              <a:t>What are the three features we look for in a distribution?</a:t>
            </a:r>
            <a:endParaRPr lang="en-US" b="1" dirty="0"/>
          </a:p>
        </p:txBody>
      </p:sp>
      <p:sp>
        <p:nvSpPr>
          <p:cNvPr id="6" name="Answer 2"/>
          <p:cNvSpPr txBox="1"/>
          <p:nvPr/>
        </p:nvSpPr>
        <p:spPr>
          <a:xfrm>
            <a:off x="1066800" y="2627630"/>
            <a:ext cx="10058400" cy="3285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Shape, center, and variability.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7" name="Question 3"/>
          <p:cNvSpPr/>
          <p:nvPr/>
        </p:nvSpPr>
        <p:spPr>
          <a:xfrm>
            <a:off x="838200" y="3127630"/>
            <a:ext cx="10515600" cy="98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4472C4"/>
                </a:solidFill>
              </a:rPr>
              <a:t>3   </a:t>
            </a:r>
            <a:r>
              <a:rPr lang="en-US" b="1"/>
              <a:t>Which feature do we describe for a categorical variable?</a:t>
            </a:r>
            <a:endParaRPr lang="en-US" b="1" dirty="0"/>
          </a:p>
        </p:txBody>
      </p:sp>
      <p:sp>
        <p:nvSpPr>
          <p:cNvPr id="8" name="Answer 3"/>
          <p:cNvSpPr txBox="1"/>
          <p:nvPr/>
        </p:nvSpPr>
        <p:spPr>
          <a:xfrm>
            <a:off x="1066800" y="3687630"/>
            <a:ext cx="10058400" cy="3285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The modal category – the category with the highest frequency.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9" name="Question 4"/>
          <p:cNvSpPr/>
          <p:nvPr/>
        </p:nvSpPr>
        <p:spPr>
          <a:xfrm>
            <a:off x="838200" y="4187630"/>
            <a:ext cx="10515600" cy="98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4472C4"/>
                </a:solidFill>
              </a:rPr>
              <a:t>4   </a:t>
            </a:r>
            <a:r>
              <a:rPr lang="en-US" b="1"/>
              <a:t>What is a frequency table?</a:t>
            </a:r>
            <a:endParaRPr lang="en-US" b="1" dirty="0"/>
          </a:p>
        </p:txBody>
      </p:sp>
      <p:sp>
        <p:nvSpPr>
          <p:cNvPr id="10" name="Answer 4"/>
          <p:cNvSpPr txBox="1"/>
          <p:nvPr/>
        </p:nvSpPr>
        <p:spPr>
          <a:xfrm>
            <a:off x="1066800" y="4747630"/>
            <a:ext cx="10058400" cy="3285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A table of the distinct values of a variable together with the number of observations of each value.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11" name="Question 5"/>
          <p:cNvSpPr/>
          <p:nvPr/>
        </p:nvSpPr>
        <p:spPr>
          <a:xfrm>
            <a:off x="838200" y="5247630"/>
            <a:ext cx="10515600" cy="98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4472C4"/>
                </a:solidFill>
              </a:rPr>
              <a:t>5   </a:t>
            </a:r>
            <a:r>
              <a:rPr lang="en-US" b="1"/>
              <a:t>Why can't we build a frequency table for a continuous variable directly?</a:t>
            </a:r>
            <a:endParaRPr lang="en-US" b="1" dirty="0"/>
          </a:p>
        </p:txBody>
      </p:sp>
      <p:sp>
        <p:nvSpPr>
          <p:cNvPr id="12" name="Answer 5"/>
          <p:cNvSpPr txBox="1"/>
          <p:nvPr/>
        </p:nvSpPr>
        <p:spPr>
          <a:xfrm>
            <a:off x="1066800" y="5807630"/>
            <a:ext cx="10058400" cy="3285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There are too many distinct values – almost every observation is unique. We bin first.</a:t>
            </a:r>
            <a:endParaRPr lang="en-US" sz="1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7484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19130"/>
          </a:xfrm>
        </p:spPr>
        <p:txBody>
          <a:bodyPr>
            <a:normAutofit fontScale="90000"/>
          </a:bodyPr>
          <a:lstStyle/>
          <a:p>
            <a:r>
              <a:rPr lang="en-US" dirty="0"/>
              <a:t>Review</a:t>
            </a:r>
          </a:p>
        </p:txBody>
      </p:sp>
      <p:sp>
        <p:nvSpPr>
          <p:cNvPr id="3" name="Question 1"/>
          <p:cNvSpPr/>
          <p:nvPr/>
        </p:nvSpPr>
        <p:spPr>
          <a:xfrm>
            <a:off x="838200" y="107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4472C4"/>
                </a:solidFill>
              </a:rPr>
              <a:t>1   </a:t>
            </a:r>
            <a:r>
              <a:rPr lang="en-US" b="1"/>
              <a:t>How do we bin a continuous variable?</a:t>
            </a:r>
            <a:endParaRPr lang="en-US" b="1" dirty="0"/>
          </a:p>
        </p:txBody>
      </p:sp>
      <p:sp>
        <p:nvSpPr>
          <p:cNvPr id="4" name="Answer 1"/>
          <p:cNvSpPr txBox="1"/>
          <p:nvPr/>
        </p:nvSpPr>
        <p:spPr>
          <a:xfrm>
            <a:off x="1066800" y="1655688"/>
            <a:ext cx="10058400" cy="5585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US">
                <a:solidFill>
                  <a:srgbClr val="C00000"/>
                </a:solidFill>
              </a:rPr>
              <a:t>Divide the range into K non-overlapping intervals of equal width, then count how many fall in each.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" name="Question 2"/>
          <p:cNvSpPr/>
          <p:nvPr/>
        </p:nvSpPr>
        <p:spPr>
          <a:xfrm>
            <a:off x="838200" y="238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4472C4"/>
                </a:solidFill>
              </a:rPr>
              <a:t>2   </a:t>
            </a:r>
            <a:r>
              <a:rPr lang="en-US" b="1"/>
              <a:t>Which graphs do we use for a qualitative variable?</a:t>
            </a:r>
            <a:endParaRPr lang="en-US" b="1" dirty="0"/>
          </a:p>
        </p:txBody>
      </p:sp>
      <p:sp>
        <p:nvSpPr>
          <p:cNvPr id="6" name="Answer 2"/>
          <p:cNvSpPr txBox="1"/>
          <p:nvPr/>
        </p:nvSpPr>
        <p:spPr>
          <a:xfrm>
            <a:off x="1066800" y="2965688"/>
            <a:ext cx="10058400" cy="5585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Bar graphs, pie charts, and Pareto charts.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7" name="Question 3"/>
          <p:cNvSpPr/>
          <p:nvPr/>
        </p:nvSpPr>
        <p:spPr>
          <a:xfrm>
            <a:off x="838200" y="369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4472C4"/>
                </a:solidFill>
              </a:rPr>
              <a:t>3   </a:t>
            </a:r>
            <a:r>
              <a:rPr lang="en-US" b="1"/>
              <a:t>Which graphs do we use for a quantitative variable?</a:t>
            </a:r>
            <a:endParaRPr lang="en-US" b="1" dirty="0"/>
          </a:p>
        </p:txBody>
      </p:sp>
      <p:sp>
        <p:nvSpPr>
          <p:cNvPr id="8" name="Answer 3"/>
          <p:cNvSpPr txBox="1"/>
          <p:nvPr/>
        </p:nvSpPr>
        <p:spPr>
          <a:xfrm>
            <a:off x="1066800" y="4275688"/>
            <a:ext cx="10058400" cy="5585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Dot plots, stem and leaf plots, and histograms – today's topic.</a:t>
            </a:r>
            <a:endParaRPr lang="en-US" sz="1600" dirty="0">
              <a:solidFill>
                <a:srgbClr val="C00000"/>
              </a:solidFill>
            </a:endParaRPr>
          </a:p>
        </p:txBody>
      </p:sp>
      <p:sp>
        <p:nvSpPr>
          <p:cNvPr id="9" name="Question 4"/>
          <p:cNvSpPr/>
          <p:nvPr/>
        </p:nvSpPr>
        <p:spPr>
          <a:xfrm>
            <a:off x="838200" y="5005688"/>
            <a:ext cx="10515600" cy="1230000"/>
          </a:xfrm>
          <a:prstGeom prst="roundRect">
            <a:avLst>
              <a:gd name="adj" fmla="val 4000"/>
            </a:avLst>
          </a:prstGeom>
          <a:solidFill>
            <a:srgbClr val="F2F6FC"/>
          </a:solidFill>
          <a:ln w="19050">
            <a:solidFill>
              <a:schemeClr val="accent1"/>
            </a:solidFill>
          </a:ln>
        </p:spPr>
        <p:txBody>
          <a:bodyPr lIns="228600" tIns="182880" rIns="228600" bIns="91440" anchor="t">
            <a:norm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4472C4"/>
                </a:solidFill>
              </a:rPr>
              <a:t>4   </a:t>
            </a:r>
            <a:r>
              <a:rPr lang="en-US" b="1"/>
              <a:t>Why graph the data when we already have the frequency table?</a:t>
            </a:r>
            <a:endParaRPr lang="en-US" b="1" dirty="0"/>
          </a:p>
        </p:txBody>
      </p:sp>
      <p:sp>
        <p:nvSpPr>
          <p:cNvPr id="10" name="Answer 4"/>
          <p:cNvSpPr txBox="1"/>
          <p:nvPr/>
        </p:nvSpPr>
        <p:spPr>
          <a:xfrm>
            <a:off x="1066800" y="5585688"/>
            <a:ext cx="10058400" cy="55856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C00000"/>
                </a:solidFill>
              </a:rPr>
              <a:t>The graph shows shape, center, and spread at a glance, along with any outliers.</a:t>
            </a:r>
            <a:endParaRPr lang="en-US" sz="1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7484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34413-E6C5-A4B9-CF8E-83C7155B4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7446"/>
            <a:ext cx="10515600" cy="1325563"/>
          </a:xfrm>
        </p:spPr>
        <p:txBody>
          <a:bodyPr/>
          <a:lstStyle/>
          <a:p>
            <a:r>
              <a:rPr lang="en-US" dirty="0"/>
              <a:t>Shape of a distribution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CBE7E4-FC35-CA19-1C6D-5F0F5B3756BD}"/>
              </a:ext>
            </a:extLst>
          </p:cNvPr>
          <p:cNvSpPr txBox="1"/>
          <p:nvPr/>
        </p:nvSpPr>
        <p:spPr>
          <a:xfrm>
            <a:off x="762000" y="1320800"/>
            <a:ext cx="10795000" cy="7848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 b="1"/>
              <a:t>Mean</a:t>
            </a:r>
            <a:r>
              <a:rPr lang="en-US" sz="1500"/>
              <a:t> – the balancing point of the data. Add up every observation and divide by how many there are.</a:t>
            </a:r>
          </a:p>
          <a:p>
            <a:r>
              <a:rPr lang="en-US" sz="1500" b="1"/>
              <a:t>Median</a:t>
            </a:r>
            <a:r>
              <a:rPr lang="en-US" sz="1500"/>
              <a:t> – the middle value. Half of the observations fall below it and half fall above.</a:t>
            </a:r>
          </a:p>
          <a:p>
            <a:r>
              <a:rPr lang="en-US" sz="1500" b="1"/>
              <a:t>Mode</a:t>
            </a:r>
            <a:r>
              <a:rPr lang="en-US" sz="1500"/>
              <a:t> – the most common value, which is the peak of the distribution.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7A7A2D-7D78-6AA5-9162-5A84ABF6953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413000"/>
            <a:ext cx="1066800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518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5A4B7-2CC7-D662-1B45-2DFAF5B9E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Bimodality: Old Faithful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71429-1314-87B5-7191-B76A17435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320800"/>
            <a:ext cx="10795000" cy="660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/>
              <a:t>Two peaks are a signal that the sample mixes two different kinds of thing. Here, two kinds of eruption.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0A7D61-892D-69B1-12DE-6F2B5D76D09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082800"/>
            <a:ext cx="1066800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502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A1ABA-5E5B-1433-7EC5-172842307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Bimodality: a polarized public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ACAFD-94DD-8B93-01E5-F07725291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320800"/>
            <a:ext cx="10795000" cy="660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/>
              <a:t>A population polarized on an issue IS two sub-populations. Here the grouping variable is party.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96C5AC-15A5-4CC8-B81C-3710DD87E45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082800"/>
            <a:ext cx="10668000" cy="4267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64D6D0-C1FC-606D-F90C-8413F77B06BE}"/>
              </a:ext>
            </a:extLst>
          </p:cNvPr>
          <p:cNvSpPr txBox="1"/>
          <p:nvPr/>
        </p:nvSpPr>
        <p:spPr>
          <a:xfrm>
            <a:off x="762000" y="64008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i="1">
                <a:solidFill>
                  <a:srgbClr val="666666"/>
                </a:solidFill>
              </a:rPr>
              <a:t>Left panel is simulated for illustration, not survey data. To read more on how Americans actually group politically: Pew Research Center, "Beyond Red vs. Blue: The Political Typology" (June 10, 2026). https://www.pewresearch.org/politics/2026/06/10/beyond-red-vs-blue-the-political-typology/</a:t>
            </a:r>
          </a:p>
        </p:txBody>
      </p:sp>
    </p:spTree>
    <p:extLst>
      <p:ext uri="{BB962C8B-B14F-4D97-AF65-F5344CB8AC3E}">
        <p14:creationId xmlns:p14="http://schemas.microsoft.com/office/powerpoint/2010/main" val="2886513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E1F51-AFE2-83A6-29E3-2FDC3302A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Bimodality: penguin species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147A5-AF9D-9D2B-0DFA-401F9AE0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320800"/>
            <a:ext cx="10795000" cy="660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/>
              <a:t>Here the grouping variable was recorded, so we can check the claim instead of just arguing it.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0B1027-6532-DC9F-00FB-7DFEDB00A61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082800"/>
            <a:ext cx="10668000" cy="4267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32C582-FA00-CD6E-5DA3-BFD5E7F02DB7}"/>
              </a:ext>
            </a:extLst>
          </p:cNvPr>
          <p:cNvSpPr txBox="1"/>
          <p:nvPr/>
        </p:nvSpPr>
        <p:spPr>
          <a:xfrm>
            <a:off x="762000" y="6400800"/>
            <a:ext cx="10795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i="1">
                <a:solidFill>
                  <a:srgbClr val="666666"/>
                </a:solidFill>
              </a:rPr>
              <a:t>Palmer Archipelago penguin data: Gorman KB, Williams TD, Fraser WR (2014), PLoS ONE 9(3):e90081, via the palmerpenguins R package. 342 birds with flipper measurements.</a:t>
            </a:r>
          </a:p>
        </p:txBody>
      </p:sp>
    </p:spTree>
    <p:extLst>
      <p:ext uri="{BB962C8B-B14F-4D97-AF65-F5344CB8AC3E}">
        <p14:creationId xmlns:p14="http://schemas.microsoft.com/office/powerpoint/2010/main" val="1856293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DDF1736-0CBB-3BEB-7F60-B4E2FC6C9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999" y="1523999"/>
            <a:ext cx="3810000" cy="4953000"/>
          </a:xfrm>
        </p:spPr>
        <p:txBody>
          <a:bodyPr>
            <a:normAutofit/>
          </a:bodyPr>
          <a:lstStyle/>
          <a:p>
            <a:r>
              <a:rPr lang="en-US" sz="1500"/>
              <a:t>Skew appears when there is a hard limit on the values a variable can take</a:t>
            </a:r>
          </a:p>
          <a:p>
            <a:r>
              <a:rPr lang="en-US" sz="1500"/>
              <a:t>Values pile up against the limit and trail away from it</a:t>
            </a:r>
          </a:p>
          <a:p>
            <a:pPr lvl="1"/>
            <a:r>
              <a:rPr lang="en-US" sz="1500"/>
              <a:t>Prices and incomes cannot go below zero</a:t>
            </a:r>
          </a:p>
          <a:p>
            <a:pPr lvl="1"/>
            <a:r>
              <a:rPr lang="en-US" sz="1500"/>
              <a:t>The age of adults cannot go below 18</a:t>
            </a:r>
          </a:p>
          <a:p>
            <a:pPr lvl="1"/>
            <a:r>
              <a:rPr lang="en-US" sz="1500"/>
              <a:t>Exam scores cannot go above 100</a:t>
            </a:r>
          </a:p>
          <a:p>
            <a:r>
              <a:rPr lang="en-US" sz="1500"/>
              <a:t>The long tail drags the mean toward it, so the mean and median disagree</a:t>
            </a:r>
            <a:endParaRPr lang="en-US" sz="15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F1FF5F-F267-BB55-B783-828618180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1625600"/>
            <a:ext cx="6874996" cy="49276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B4EB8B-E9AD-2F06-C70F-BC88F8C51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Skew: a hard limit on the values</a:t>
            </a:r>
          </a:p>
        </p:txBody>
      </p:sp>
    </p:spTree>
    <p:extLst>
      <p:ext uri="{BB962C8B-B14F-4D97-AF65-F5344CB8AC3E}">
        <p14:creationId xmlns:p14="http://schemas.microsoft.com/office/powerpoint/2010/main" val="1348071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DDF1736-0CBB-3BEB-7F60-B4E2FC6C9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523999"/>
            <a:ext cx="3810000" cy="4953000"/>
          </a:xfrm>
        </p:spPr>
        <p:txBody>
          <a:bodyPr>
            <a:normAutofit/>
          </a:bodyPr>
          <a:lstStyle/>
          <a:p>
            <a:r>
              <a:rPr lang="en-US" sz="1500"/>
              <a:t>An outlier is an extreme value lying far away from the rest of the data</a:t>
            </a:r>
          </a:p>
          <a:p>
            <a:r>
              <a:rPr lang="en-US" sz="1500"/>
              <a:t>Two very different causes:</a:t>
            </a:r>
          </a:p>
          <a:p>
            <a:pPr lvl="1"/>
            <a:r>
              <a:rPr lang="en-US" sz="1500"/>
              <a:t>a real observation that genuinely is unusual</a:t>
            </a:r>
          </a:p>
          <a:p>
            <a:pPr lvl="1"/>
            <a:r>
              <a:rPr lang="en-US" sz="1500"/>
              <a:t>a measurement or recording error</a:t>
            </a:r>
          </a:p>
          <a:p>
            <a:r>
              <a:rPr lang="en-US" sz="1500"/>
              <a:t>The plot cannot tell you which. Go back to the source and check</a:t>
            </a:r>
          </a:p>
          <a:p>
            <a:r>
              <a:rPr lang="en-US" sz="1500"/>
              <a:t>Either way an outlier pulls the mean hard, so find them first</a:t>
            </a:r>
            <a:endParaRPr lang="en-US" sz="15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B623FF-7929-5BFA-C7E7-60E352C4D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0" y="1651000"/>
            <a:ext cx="6737684" cy="46228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F10A37-E675-2F98-7EEF-26F18403E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Outliers: a real value, or a mistake</a:t>
            </a:r>
          </a:p>
        </p:txBody>
      </p:sp>
    </p:spTree>
    <p:extLst>
      <p:ext uri="{BB962C8B-B14F-4D97-AF65-F5344CB8AC3E}">
        <p14:creationId xmlns:p14="http://schemas.microsoft.com/office/powerpoint/2010/main" val="3513789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9458B-9FCD-C074-086C-F92B55C26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Dot plots – </a:t>
            </a:r>
            <a:r>
              <a:rPr lang="en-US" dirty="0"/>
              <a:t>shows a dot for each observation placed above the value for that observation </a:t>
            </a:r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b="1" dirty="0"/>
              <a:t>Steps to construct a dot plot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Draw a horizontal line and mark the line with regular values of the variable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For each observation, place a dot above its value on the number line</a:t>
            </a:r>
          </a:p>
          <a:p>
            <a:pPr lvl="2">
              <a:buFontTx/>
              <a:buChar char="-"/>
            </a:pPr>
            <a:r>
              <a:rPr lang="en-US" dirty="0"/>
              <a:t>Works best with quantitative discrete data</a:t>
            </a:r>
          </a:p>
          <a:p>
            <a:pPr lvl="2">
              <a:buFontTx/>
              <a:buChar char="-"/>
            </a:pPr>
            <a:r>
              <a:rPr lang="en-US" dirty="0"/>
              <a:t>Doesn’t work well if the variable is continuous and takes on many distinct values…</a:t>
            </a:r>
          </a:p>
          <a:p>
            <a:pPr lvl="2">
              <a:buFontTx/>
              <a:buChar char="-"/>
            </a:pPr>
            <a:r>
              <a:rPr lang="en-US" dirty="0"/>
              <a:t>For continuous data, the values may need to be round to the nearest tenth or integer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1FBAE74-D6F2-09F5-B523-7C2CC99DD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Visualizing Distributions: Quantitative Variables </a:t>
            </a:r>
          </a:p>
        </p:txBody>
      </p:sp>
    </p:spTree>
    <p:extLst>
      <p:ext uri="{BB962C8B-B14F-4D97-AF65-F5344CB8AC3E}">
        <p14:creationId xmlns:p14="http://schemas.microsoft.com/office/powerpoint/2010/main" val="3307896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itle 1"/>
          <p:cNvSpPr>
            <a:spLocks noGrp="1"/>
          </p:cNvSpPr>
          <p:nvPr>
            <p:ph type="title"/>
          </p:nvPr>
        </p:nvSpPr>
        <p:spPr>
          <a:xfrm>
            <a:off x="-8000000" y="0"/>
            <a:ext cx="6000000" cy="800000"/>
          </a:xfrm>
        </p:spPr>
        <p:txBody>
          <a:bodyPr>
            <a:normAutofit/>
          </a:bodyPr>
          <a:lstStyle/>
          <a:p>
            <a:r>
              <a:rPr lang="en-US" sz="1800" dirty="0"/>
              <a:t>Dot plot of Old Faithful waiting times</a:t>
            </a:r>
          </a:p>
        </p:txBody>
      </p:sp>
      <p:pic>
        <p:nvPicPr>
          <p:cNvPr id="4" name="Picture 3" descr="Dot plot of Old Faithful waiting times, one dot per eruption. The dots form two clusters, one around 50 to 55 minutes and a larger one around 78 to 83 minutes, with a thin gap near 67 minutes.">
            <a:extLst>
              <a:ext uri="{FF2B5EF4-FFF2-40B4-BE49-F238E27FC236}">
                <a16:creationId xmlns:a16="http://schemas.microsoft.com/office/drawing/2014/main" id="{93CDB88E-8525-C007-528D-F06C6B574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091" y="176156"/>
            <a:ext cx="9865915" cy="668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734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18BEF-F19E-DBAD-FF9A-8FDF1FBD3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5500"/>
          </a:xfrm>
        </p:spPr>
        <p:txBody>
          <a:bodyPr>
            <a:normAutofit/>
          </a:bodyPr>
          <a:lstStyle/>
          <a:p>
            <a:r>
              <a:rPr lang="en-US" sz="4000" dirty="0"/>
              <a:t>Example: MPG and Engine Cylinders</a:t>
            </a:r>
          </a:p>
        </p:txBody>
      </p:sp>
      <p:pic>
        <p:nvPicPr>
          <p:cNvPr id="6" name="Picture 5" descr="Table of the car data: observation number, miles per gallon, cylinders and model, from the Mazda RX4 at 21.0 mpg with 6 cylinders through to the Volvo 142E at 21.4 mpg with 4 cylinders, 32 cars in all.">
            <a:extLst>
              <a:ext uri="{FF2B5EF4-FFF2-40B4-BE49-F238E27FC236}">
                <a16:creationId xmlns:a16="http://schemas.microsoft.com/office/drawing/2014/main" id="{60B6F122-13F2-0495-B148-F9F908F24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201" y="1764176"/>
            <a:ext cx="7687748" cy="3943900"/>
          </a:xfrm>
          <a:prstGeom prst="rect">
            <a:avLst/>
          </a:prstGeom>
        </p:spPr>
      </p:pic>
      <p:pic>
        <p:nvPicPr>
          <p:cNvPr id="1026" name="Picture 2" descr="Cutaway illustration of a car engine, labelling the camshaft, pistons, valves, crankshaft and flywheel.">
            <a:extLst>
              <a:ext uri="{FF2B5EF4-FFF2-40B4-BE49-F238E27FC236}">
                <a16:creationId xmlns:a16="http://schemas.microsoft.com/office/drawing/2014/main" id="{E678D63E-B7D3-7D74-1055-221F6D88A1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88" y="1764176"/>
            <a:ext cx="3979862" cy="4331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45576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itle 1"/>
          <p:cNvSpPr>
            <a:spLocks noGrp="1"/>
          </p:cNvSpPr>
          <p:nvPr>
            <p:ph type="title"/>
          </p:nvPr>
        </p:nvSpPr>
        <p:spPr>
          <a:xfrm>
            <a:off x="-8000000" y="0"/>
            <a:ext cx="6000000" cy="800000"/>
          </a:xfrm>
        </p:spPr>
        <p:txBody>
          <a:bodyPr>
            <a:normAutofit/>
          </a:bodyPr>
          <a:lstStyle/>
          <a:p>
            <a:r>
              <a:rPr lang="en-US" sz="1800" dirty="0"/>
              <a:t>Dot plot of miles per gallon by cylinder count</a:t>
            </a:r>
          </a:p>
        </p:txBody>
      </p:sp>
      <p:pic>
        <p:nvPicPr>
          <p:cNvPr id="4" name="Picture 3" descr="Dot plot of miles per gallon for 32 car models. Cylinder count is shown by both shape and colour: 4-cylinder cars are blue circles and reach the highest mileage, up to about 34 mpg; 6-cylinder cars are orange triangles clustered near 18 to 21; 8-cylinder cars are green squares and sit lowest, from about 10 to 19 mpg.">
            <a:extLst>
              <a:ext uri="{FF2B5EF4-FFF2-40B4-BE49-F238E27FC236}">
                <a16:creationId xmlns:a16="http://schemas.microsoft.com/office/drawing/2014/main" id="{15BCE4F3-B78E-72F0-EC01-6B2C24A47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365" y="0"/>
            <a:ext cx="102832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165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499E1-A3CF-B10B-5489-809A2DBF2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Dot plot: strengths and weaknesses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138BF-C872-34D7-AFBE-F1E53C128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1F7A4D"/>
                </a:solidFill>
              </a:rPr>
              <a:t>Strengths</a:t>
            </a:r>
          </a:p>
          <a:p>
            <a:pPr lvl="1"/>
            <a:r>
              <a:rPr lang="en-US"/>
              <a:t>Shows every individual observation, so nothing is hidden or summarized away</a:t>
            </a:r>
          </a:p>
          <a:p>
            <a:pPr lvl="1"/>
            <a:r>
              <a:rPr lang="en-US"/>
              <a:t>Quick to draw by hand, and easy for a reader to check against the data</a:t>
            </a:r>
          </a:p>
          <a:p>
            <a:pPr lvl="1"/>
            <a:r>
              <a:rPr lang="en-US"/>
              <a:t>Good for small samples and for comparing a few groups side by side</a:t>
            </a:r>
          </a:p>
          <a:p>
            <a:r>
              <a:rPr lang="en-US" b="1">
                <a:solidFill>
                  <a:srgbClr val="C00000"/>
                </a:solidFill>
              </a:rPr>
              <a:t>Weaknesses</a:t>
            </a:r>
          </a:p>
          <a:p>
            <a:pPr lvl="1"/>
            <a:r>
              <a:rPr lang="en-US"/>
              <a:t>Becomes an unreadable smear once n is large or values repeat heavily</a:t>
            </a:r>
          </a:p>
          <a:p>
            <a:pPr lvl="1"/>
            <a:r>
              <a:rPr lang="en-US"/>
              <a:t>Needs rounding for continuous data, which throws away precision</a:t>
            </a:r>
          </a:p>
          <a:p>
            <a:pPr lvl="1"/>
            <a:r>
              <a:rPr lang="en-US"/>
              <a:t>Cannot be smoothed the way a histogram can with wider bins</a:t>
            </a:r>
          </a:p>
        </p:txBody>
      </p:sp>
    </p:spTree>
    <p:extLst>
      <p:ext uri="{BB962C8B-B14F-4D97-AF65-F5344CB8AC3E}">
        <p14:creationId xmlns:p14="http://schemas.microsoft.com/office/powerpoint/2010/main" val="40520887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18BEF-F19E-DBAD-FF9A-8FDF1FBD3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Visualizing Distributions: Quantitative Variables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23648-85AB-3CBC-D261-04D672727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125" y="1825624"/>
            <a:ext cx="8065365" cy="4918075"/>
          </a:xfrm>
        </p:spPr>
        <p:txBody>
          <a:bodyPr>
            <a:normAutofit/>
          </a:bodyPr>
          <a:lstStyle/>
          <a:p>
            <a:endParaRPr lang="en-US" b="1" dirty="0"/>
          </a:p>
          <a:p>
            <a:pPr marL="457200" lvl="1" indent="0">
              <a:buNone/>
            </a:pPr>
            <a:r>
              <a:rPr lang="en-US" b="1" dirty="0"/>
              <a:t>Stem and leaf plot – </a:t>
            </a:r>
            <a:r>
              <a:rPr lang="en-US" dirty="0"/>
              <a:t>like a dot plot, a stem and leaf diagram also displays individual observations. </a:t>
            </a:r>
          </a:p>
          <a:p>
            <a:pPr marL="457200" lvl="1" indent="0">
              <a:buNone/>
            </a:pPr>
            <a:r>
              <a:rPr lang="en-US" b="1" dirty="0"/>
              <a:t>Stem </a:t>
            </a:r>
            <a:r>
              <a:rPr lang="en-US" dirty="0"/>
              <a:t>– all the digits in an observation except the last digit</a:t>
            </a:r>
          </a:p>
          <a:p>
            <a:pPr marL="457200" lvl="1" indent="0">
              <a:buNone/>
            </a:pPr>
            <a:r>
              <a:rPr lang="en-US" b="1" dirty="0"/>
              <a:t>Leaf</a:t>
            </a:r>
            <a:r>
              <a:rPr lang="en-US" dirty="0"/>
              <a:t> – the last digit in an observation</a:t>
            </a:r>
            <a:endParaRPr lang="en-US" b="1" dirty="0"/>
          </a:p>
          <a:p>
            <a:pPr marL="457200" lvl="1" indent="0">
              <a:buNone/>
            </a:pPr>
            <a:r>
              <a:rPr lang="en-US" b="1" dirty="0"/>
              <a:t>Steps to construct a stem and leaf plot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Sort the data in order from smallest to largest.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Place the stems in a column in increasing order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Place a vertical line to the right of the stems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/>
              <a:t>To the right of the vertical line, fill in the leaves that correspond with each stem in increasing order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76F8EEE-5CDB-A30C-103E-14D517265954}"/>
              </a:ext>
            </a:extLst>
          </p:cNvPr>
          <p:cNvCxnSpPr/>
          <p:nvPr/>
        </p:nvCxnSpPr>
        <p:spPr>
          <a:xfrm>
            <a:off x="8968509" y="4082473"/>
            <a:ext cx="302029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DD83D42-36EE-26DF-33FE-3BD77AB3DD71}"/>
              </a:ext>
            </a:extLst>
          </p:cNvPr>
          <p:cNvCxnSpPr>
            <a:cxnSpLocks/>
          </p:cNvCxnSpPr>
          <p:nvPr/>
        </p:nvCxnSpPr>
        <p:spPr>
          <a:xfrm flipV="1">
            <a:off x="10543309" y="3627582"/>
            <a:ext cx="0" cy="294870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428CF57-AEF1-F10F-618C-3AA3F2C9DD91}"/>
              </a:ext>
            </a:extLst>
          </p:cNvPr>
          <p:cNvSpPr txBox="1"/>
          <p:nvPr/>
        </p:nvSpPr>
        <p:spPr>
          <a:xfrm>
            <a:off x="9397125" y="3713141"/>
            <a:ext cx="807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Stems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9F37A8-5990-6A9E-3D34-A5A0A49D381D}"/>
              </a:ext>
            </a:extLst>
          </p:cNvPr>
          <p:cNvSpPr txBox="1"/>
          <p:nvPr/>
        </p:nvSpPr>
        <p:spPr>
          <a:xfrm>
            <a:off x="10789825" y="3713141"/>
            <a:ext cx="864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Leaves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59F44D-2921-4D83-B0E5-CE1DCCECF4D6}"/>
              </a:ext>
            </a:extLst>
          </p:cNvPr>
          <p:cNvSpPr txBox="1"/>
          <p:nvPr/>
        </p:nvSpPr>
        <p:spPr>
          <a:xfrm>
            <a:off x="10371121" y="247699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82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9468D34-472F-2504-FDF2-79B2ED88C287}"/>
              </a:ext>
            </a:extLst>
          </p:cNvPr>
          <p:cNvCxnSpPr>
            <a:cxnSpLocks/>
          </p:cNvCxnSpPr>
          <p:nvPr/>
        </p:nvCxnSpPr>
        <p:spPr>
          <a:xfrm flipH="1">
            <a:off x="10188880" y="2771795"/>
            <a:ext cx="315982" cy="151286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784D934-AA0C-5E59-F64A-F238184E5036}"/>
              </a:ext>
            </a:extLst>
          </p:cNvPr>
          <p:cNvSpPr txBox="1"/>
          <p:nvPr/>
        </p:nvSpPr>
        <p:spPr>
          <a:xfrm>
            <a:off x="10069461" y="4267139"/>
            <a:ext cx="947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8          2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0F6A166-0263-3F11-F469-05F0F88801FA}"/>
              </a:ext>
            </a:extLst>
          </p:cNvPr>
          <p:cNvCxnSpPr>
            <a:cxnSpLocks/>
          </p:cNvCxnSpPr>
          <p:nvPr/>
        </p:nvCxnSpPr>
        <p:spPr>
          <a:xfrm>
            <a:off x="10633078" y="2771795"/>
            <a:ext cx="236403" cy="1512866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78529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18BEF-F19E-DBAD-FF9A-8FDF1FBD3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18" y="28257"/>
            <a:ext cx="10515600" cy="825500"/>
          </a:xfrm>
        </p:spPr>
        <p:txBody>
          <a:bodyPr>
            <a:normAutofit/>
          </a:bodyPr>
          <a:lstStyle/>
          <a:p>
            <a:r>
              <a:rPr lang="en-US" sz="3200" dirty="0"/>
              <a:t>Example: MPG</a:t>
            </a:r>
          </a:p>
        </p:txBody>
      </p:sp>
      <p:pic>
        <p:nvPicPr>
          <p:cNvPr id="6" name="Picture 5" descr="Table of the car data: observation number, miles per gallon, cylinders and model, from the Mazda RX4 at 21.0 mpg with 6 cylinders through to the Volvo 142E at 21.4 mpg with 4 cylinders, 32 cars in all.">
            <a:extLst>
              <a:ext uri="{FF2B5EF4-FFF2-40B4-BE49-F238E27FC236}">
                <a16:creationId xmlns:a16="http://schemas.microsoft.com/office/drawing/2014/main" id="{60B6F122-13F2-0495-B148-F9F908F24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728" y="4285672"/>
            <a:ext cx="4645094" cy="2382985"/>
          </a:xfrm>
          <a:prstGeom prst="rect">
            <a:avLst/>
          </a:prstGeom>
        </p:spPr>
      </p:pic>
      <p:pic>
        <p:nvPicPr>
          <p:cNvPr id="4" name="Picture 3" descr="Dot plot of miles per gallon for 32 car models. Cylinder count is shown by both shape and colour: 4-cylinder cars are blue circles and reach the highest mileage, up to about 34 mpg; 6-cylinder cars are orange triangles clustered near 18 to 21; 8-cylinder cars are green squares and sit lowest, from about 10 to 19 mpg.">
            <a:extLst>
              <a:ext uri="{FF2B5EF4-FFF2-40B4-BE49-F238E27FC236}">
                <a16:creationId xmlns:a16="http://schemas.microsoft.com/office/drawing/2014/main" id="{FB701B9A-D517-32D0-A350-4500F634B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728" y="818384"/>
            <a:ext cx="5275799" cy="3518475"/>
          </a:xfrm>
          <a:prstGeom prst="rect">
            <a:avLst/>
          </a:prstGeom>
        </p:spPr>
      </p:pic>
      <p:pic>
        <p:nvPicPr>
          <p:cNvPr id="7" name="Picture 6" descr="Stem and leaf plot of the mileage figures, with stems 10 through 33 for the whole-number part and leaves for the first decimal.">
            <a:extLst>
              <a:ext uri="{FF2B5EF4-FFF2-40B4-BE49-F238E27FC236}">
                <a16:creationId xmlns:a16="http://schemas.microsoft.com/office/drawing/2014/main" id="{C4E7196C-9CAB-32E1-5755-5C8C7E55C8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475" y="466136"/>
            <a:ext cx="2543175" cy="6202521"/>
          </a:xfrm>
          <a:prstGeom prst="rect">
            <a:avLst/>
          </a:prstGeom>
        </p:spPr>
      </p:pic>
      <p:pic>
        <p:nvPicPr>
          <p:cNvPr id="8" name="Picture 7" descr="The same stem and leaf plot with the stems combined in pairs, giving a more compact display with stems 10, 12, 14 and so on.">
            <a:extLst>
              <a:ext uri="{FF2B5EF4-FFF2-40B4-BE49-F238E27FC236}">
                <a16:creationId xmlns:a16="http://schemas.microsoft.com/office/drawing/2014/main" id="{D6849ACD-33DD-B90C-2FCD-2F174EB768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7544" y="2131695"/>
            <a:ext cx="2453640" cy="3489960"/>
          </a:xfrm>
          <a:prstGeom prst="rect">
            <a:avLst/>
          </a:prstGeom>
        </p:spPr>
      </p:pic>
      <p:sp>
        <p:nvSpPr>
          <p:cNvPr id="10" name="Arrow: Right 9">
            <a:extLst>
              <a:ext uri="{FF2B5EF4-FFF2-40B4-BE49-F238E27FC236}">
                <a16:creationId xmlns:a16="http://schemas.microsoft.com/office/drawing/2014/main" id="{C86389B6-E359-7156-60D5-5AC30ED7B48C}"/>
              </a:ext>
            </a:extLst>
          </p:cNvPr>
          <p:cNvSpPr/>
          <p:nvPr/>
        </p:nvSpPr>
        <p:spPr>
          <a:xfrm>
            <a:off x="9165650" y="3260436"/>
            <a:ext cx="708023" cy="48029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449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75132-6122-451D-8580-53616DB7E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808856" cy="194281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Try it out: Stem and leaf plot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933D906-CF81-5AD4-2902-D9DD0E0EF8B7}"/>
              </a:ext>
            </a:extLst>
          </p:cNvPr>
          <p:cNvSpPr txBox="1">
            <a:spLocks/>
          </p:cNvSpPr>
          <p:nvPr/>
        </p:nvSpPr>
        <p:spPr>
          <a:xfrm>
            <a:off x="838199" y="2686323"/>
            <a:ext cx="7659256" cy="34335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= 4.2,  3.8,  4.6,  3.2,  2.7,  8.2, 9.1, 0.2,  1.2,  6.2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59330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BB6CE-4FB4-FF4C-AB10-B7ABB4F5B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Stem and leaf plot: strengths and weaknesses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2BA43-965C-73D3-6704-DEC897DB7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1F7A4D"/>
                </a:solidFill>
              </a:rPr>
              <a:t>Strengths</a:t>
            </a:r>
          </a:p>
          <a:p>
            <a:pPr lvl="1"/>
            <a:r>
              <a:rPr lang="en-US"/>
              <a:t>Keeps the actual data values, so the original observations can be read back off the plot</a:t>
            </a:r>
          </a:p>
          <a:p>
            <a:pPr lvl="1"/>
            <a:r>
              <a:rPr lang="en-US"/>
              <a:t>Shows the shape and the digits at the same time</a:t>
            </a:r>
          </a:p>
          <a:p>
            <a:pPr lvl="1"/>
            <a:r>
              <a:rPr lang="en-US"/>
              <a:t>Works well for moderate samples, roughly n of 15 to 50</a:t>
            </a:r>
          </a:p>
          <a:p>
            <a:r>
              <a:rPr lang="en-US" b="1">
                <a:solidFill>
                  <a:srgbClr val="C00000"/>
                </a:solidFill>
              </a:rPr>
              <a:t>Weaknesses</a:t>
            </a:r>
          </a:p>
          <a:p>
            <a:pPr lvl="1"/>
            <a:r>
              <a:rPr lang="en-US"/>
              <a:t>Awkward for large n: the leaves run off the page</a:t>
            </a:r>
          </a:p>
          <a:p>
            <a:pPr lvl="1"/>
            <a:r>
              <a:rPr lang="en-US"/>
              <a:t>A poor fit for decimals, or for values spanning many orders of magnitude</a:t>
            </a:r>
          </a:p>
          <a:p>
            <a:pPr lvl="1"/>
            <a:r>
              <a:rPr lang="en-US"/>
              <a:t>The shape depends on which digit you choose as the stem</a:t>
            </a:r>
          </a:p>
        </p:txBody>
      </p:sp>
    </p:spTree>
    <p:extLst>
      <p:ext uri="{BB962C8B-B14F-4D97-AF65-F5344CB8AC3E}">
        <p14:creationId xmlns:p14="http://schemas.microsoft.com/office/powerpoint/2010/main" val="1072808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18BEF-F19E-DBAD-FF9A-8FDF1FBD3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Visualizing Distributions: Quantitative Variables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8FD37C-6477-7C00-926C-1FB6661998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38125" y="1825624"/>
                <a:ext cx="11408930" cy="4918075"/>
              </a:xfrm>
            </p:spPr>
            <p:txBody>
              <a:bodyPr>
                <a:normAutofit/>
              </a:bodyPr>
              <a:lstStyle/>
              <a:p>
                <a:endParaRPr lang="en-US" b="1" dirty="0"/>
              </a:p>
              <a:p>
                <a:pPr marL="457200" lvl="1" indent="0">
                  <a:buNone/>
                </a:pPr>
                <a:r>
                  <a:rPr lang="en-US" b="1" dirty="0"/>
                  <a:t>Stem and leaf plots </a:t>
                </a:r>
                <a:r>
                  <a:rPr lang="en-US" dirty="0"/>
                  <a:t>and </a:t>
                </a:r>
                <a:r>
                  <a:rPr lang="en-US" b="1" dirty="0"/>
                  <a:t>dot plots</a:t>
                </a:r>
                <a:r>
                  <a:rPr lang="en-US" dirty="0"/>
                  <a:t> are unwieldy for large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r>
                  <a:rPr lang="en-US" b="1" dirty="0"/>
                  <a:t>Histogram </a:t>
                </a:r>
                <a:r>
                  <a:rPr lang="en-US" dirty="0"/>
                  <a:t>– uses bars to portray the frequencies or relative frequencies of the possible outcomes for a quantitative variable </a:t>
                </a:r>
              </a:p>
              <a:p>
                <a:pPr marL="914400" lvl="2" indent="0">
                  <a:buNone/>
                </a:pPr>
                <a:endParaRPr lang="en-US" b="1" dirty="0"/>
              </a:p>
              <a:p>
                <a:pPr marL="457200" lvl="1" indent="0">
                  <a:buNone/>
                </a:pPr>
                <a:r>
                  <a:rPr lang="en-US" b="1" dirty="0"/>
                  <a:t>Steps to construct a histogram 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b="1" dirty="0"/>
                  <a:t>Divide the range of the data into intervals of equal width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b="1" dirty="0"/>
                  <a:t>Compute the frequency of each interval (</a:t>
                </a:r>
                <a:r>
                  <a:rPr lang="en-US" b="1" dirty="0" err="1"/>
                  <a:t>i.e</a:t>
                </a:r>
                <a:r>
                  <a:rPr lang="en-US" b="1" dirty="0"/>
                  <a:t> construct the frequency table)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b="1" dirty="0"/>
                  <a:t>Label the x-axis with the values or endpoints of each interval.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b="1" dirty="0"/>
                  <a:t>Draw a bar over each value or interval with height equal to its frequency or relative frequency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US" b="1" dirty="0"/>
              </a:p>
              <a:p>
                <a:pPr marL="457200" lvl="1" indent="0">
                  <a:buNone/>
                </a:pPr>
                <a:endParaRPr lang="en-US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8FD37C-6477-7C00-926C-1FB6661998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8125" y="1825624"/>
                <a:ext cx="11408930" cy="491807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30363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75132-6122-451D-8580-53616DB7E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4" y="272525"/>
            <a:ext cx="10808856" cy="7426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Try it out: Histogram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933D906-CF81-5AD4-2902-D9DD0E0EF8B7}"/>
              </a:ext>
            </a:extLst>
          </p:cNvPr>
          <p:cNvSpPr txBox="1">
            <a:spLocks/>
          </p:cNvSpPr>
          <p:nvPr/>
        </p:nvSpPr>
        <p:spPr>
          <a:xfrm>
            <a:off x="445365" y="2714328"/>
            <a:ext cx="11746635" cy="14293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x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-1.5, -1.2, -1.0, -0.8, -0.7, -0.6, -0.1, -0.1,  0.1,  0.1,  0.1,  0.6,  0.6,  0.8,  1.1,  1.2,  1.3,  1.8,  1.9,  2.4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213490-33AD-E45E-125B-D7FA89BFD34B}"/>
              </a:ext>
            </a:extLst>
          </p:cNvPr>
          <p:cNvSpPr/>
          <p:nvPr/>
        </p:nvSpPr>
        <p:spPr>
          <a:xfrm>
            <a:off x="886692" y="2714328"/>
            <a:ext cx="1551708" cy="35242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2BE3A7-1702-3816-F90B-109E53109E51}"/>
              </a:ext>
            </a:extLst>
          </p:cNvPr>
          <p:cNvSpPr/>
          <p:nvPr/>
        </p:nvSpPr>
        <p:spPr>
          <a:xfrm>
            <a:off x="2438400" y="2717637"/>
            <a:ext cx="2613891" cy="352425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32DFA3D-1F2D-810A-D784-FDFCB6351755}"/>
              </a:ext>
            </a:extLst>
          </p:cNvPr>
          <p:cNvSpPr/>
          <p:nvPr/>
        </p:nvSpPr>
        <p:spPr>
          <a:xfrm>
            <a:off x="5056909" y="2714082"/>
            <a:ext cx="3034146" cy="352425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DB1E14-5CA4-E52D-1D4D-540E17BC5261}"/>
              </a:ext>
            </a:extLst>
          </p:cNvPr>
          <p:cNvSpPr txBox="1"/>
          <p:nvPr/>
        </p:nvSpPr>
        <p:spPr>
          <a:xfrm>
            <a:off x="1335373" y="2244437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Bin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49E00A-FD2A-8691-15B7-0AA80B145502}"/>
              </a:ext>
            </a:extLst>
          </p:cNvPr>
          <p:cNvSpPr txBox="1"/>
          <p:nvPr/>
        </p:nvSpPr>
        <p:spPr>
          <a:xfrm>
            <a:off x="3533258" y="2244437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Bin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EBB7CE-1134-61D1-9E84-7D80185C0A5D}"/>
              </a:ext>
            </a:extLst>
          </p:cNvPr>
          <p:cNvSpPr txBox="1"/>
          <p:nvPr/>
        </p:nvSpPr>
        <p:spPr>
          <a:xfrm>
            <a:off x="6246809" y="2244437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Bin 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E79703-FDB1-EE29-83CF-5DB78B5B6876}"/>
              </a:ext>
            </a:extLst>
          </p:cNvPr>
          <p:cNvSpPr txBox="1"/>
          <p:nvPr/>
        </p:nvSpPr>
        <p:spPr>
          <a:xfrm>
            <a:off x="9047449" y="2244437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Bin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27883C8-8643-0C42-12FE-77851E1B8346}"/>
                  </a:ext>
                </a:extLst>
              </p:cNvPr>
              <p:cNvSpPr txBox="1"/>
              <p:nvPr/>
            </p:nvSpPr>
            <p:spPr>
              <a:xfrm>
                <a:off x="591127" y="1330036"/>
                <a:ext cx="878349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Consider the following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=20 </m:t>
                    </m:r>
                  </m:oMath>
                </a14:m>
                <a:r>
                  <a:rPr lang="en-US" sz="2400" dirty="0"/>
                  <a:t> observations of a continuous variable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27883C8-8643-0C42-12FE-77851E1B83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27" y="1330036"/>
                <a:ext cx="8783495" cy="461665"/>
              </a:xfrm>
              <a:prstGeom prst="rect">
                <a:avLst/>
              </a:prstGeom>
              <a:blipFill>
                <a:blip r:embed="rId2"/>
                <a:stretch>
                  <a:fillRect l="-1110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EA35771E-E8CA-C571-F4E4-AD86BA85E2A3}"/>
              </a:ext>
            </a:extLst>
          </p:cNvPr>
          <p:cNvSpPr txBox="1"/>
          <p:nvPr/>
        </p:nvSpPr>
        <p:spPr>
          <a:xfrm>
            <a:off x="10452380" y="2288978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Bin 5</a:t>
            </a:r>
          </a:p>
        </p:txBody>
      </p:sp>
      <p:pic>
        <p:nvPicPr>
          <p:cNvPr id="6" name="Picture 5" descr="Histogram of the twenty practice observations in five bins, each bar coloured to match the bin marked in the list of values above it. The bars rise to a peak of six in the middle bin and fall away on both sides.">
            <a:extLst>
              <a:ext uri="{FF2B5EF4-FFF2-40B4-BE49-F238E27FC236}">
                <a16:creationId xmlns:a16="http://schemas.microsoft.com/office/drawing/2014/main" id="{AD8586AA-4204-7713-BBA1-0EA1B4445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4543" y="3490844"/>
            <a:ext cx="7287642" cy="328658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F2DE21B1-71D4-A42F-0951-CFE21E065BD5}"/>
              </a:ext>
            </a:extLst>
          </p:cNvPr>
          <p:cNvSpPr/>
          <p:nvPr/>
        </p:nvSpPr>
        <p:spPr>
          <a:xfrm>
            <a:off x="8091055" y="2717637"/>
            <a:ext cx="2447636" cy="352425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6F3A87-5B31-0332-7EB2-3FEAC81845AC}"/>
              </a:ext>
            </a:extLst>
          </p:cNvPr>
          <p:cNvSpPr/>
          <p:nvPr/>
        </p:nvSpPr>
        <p:spPr>
          <a:xfrm>
            <a:off x="10538691" y="2711982"/>
            <a:ext cx="481725" cy="352425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5339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2" grpId="0"/>
      <p:bldP spid="13" grpId="0"/>
      <p:bldP spid="14" grpId="0"/>
      <p:bldP spid="15" grpId="0"/>
      <p:bldP spid="17" grpId="0"/>
      <p:bldP spid="18" grpId="0" animBg="1"/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38ABF-62AA-E160-D36F-52F78653B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choose the number of Bins?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D5FB28-1A6C-7A86-F4F5-8287DC49DB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796848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sz="2400" dirty="0"/>
                  <a:t>How to choose the best number of bins is not a straightforward question and there is a lot of literature on the subject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r>
                  <a:rPr lang="en-US" sz="2400" dirty="0"/>
                  <a:t>We can construct our histogram using a specific </a:t>
                </a:r>
                <a:r>
                  <a:rPr lang="en-US" sz="2400" dirty="0" err="1"/>
                  <a:t>binwidth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/>
                  <a:t> or under a set number of bins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400" dirty="0"/>
                  <a:t> 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func>
                              <m:funcPr>
                                <m:ctrl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fNam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e>
                        </m:func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lang="en-US" dirty="0"/>
                  <a:t>            or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func>
                              <m:funcPr>
                                <m:ctrl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fNam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func>
                          </m:e>
                        </m:func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>
                    <a:solidFill>
                      <a:srgbClr val="C00000"/>
                    </a:solidFill>
                  </a:rPr>
                  <a:t>Square root method:     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round</m:t>
                    </m:r>
                    <m: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C00000"/>
                    </a:solidFill>
                  </a:rPr>
                  <a:t>       </a:t>
                </a:r>
                <a:r>
                  <a:rPr lang="en-US" dirty="0"/>
                  <a:t>(A fairly safe and basic rule of thumb)</a:t>
                </a:r>
                <a:endParaRPr lang="en-US" dirty="0">
                  <a:solidFill>
                    <a:srgbClr val="C00000"/>
                  </a:solidFill>
                </a:endParaRP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Sturges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Rule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[1]</m:t>
                        </m:r>
                      </m:sup>
                    </m:sSup>
                  </m:oMath>
                </a14:m>
                <a:r>
                  <a:rPr lang="en-US" dirty="0"/>
                  <a:t>: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round</m:t>
                            </m:r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)+1 </m:t>
                        </m:r>
                      </m:e>
                    </m:func>
                  </m:oMath>
                </a14:m>
                <a:r>
                  <a:rPr lang="en-US" dirty="0"/>
                  <a:t>    (not great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&lt;30</m:t>
                    </m:r>
                  </m:oMath>
                </a14:m>
                <a:r>
                  <a:rPr lang="en-US" dirty="0"/>
                  <a:t>)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Rices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Rule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[2]</m:t>
                        </m:r>
                      </m:sup>
                    </m:sSup>
                  </m:oMath>
                </a14:m>
                <a:r>
                  <a:rPr lang="en-US" dirty="0"/>
                  <a:t>: 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ad>
                      <m:ra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sz="1200" b="0" i="0" dirty="0">
                    <a:solidFill>
                      <a:srgbClr val="222222"/>
                    </a:solidFill>
                    <a:effectLst/>
                    <a:latin typeface="Arial" panose="020B0604020202020204" pitchFamily="34" charset="0"/>
                  </a:rPr>
                  <a:t>[1] Sturges, Herbert A. "The choice of a class interval." Journal of the </a:t>
                </a:r>
                <a:r>
                  <a:rPr lang="en-US" sz="1200" b="0" i="0" dirty="0" err="1">
                    <a:solidFill>
                      <a:srgbClr val="222222"/>
                    </a:solidFill>
                    <a:effectLst/>
                    <a:latin typeface="Arial" panose="020B0604020202020204" pitchFamily="34" charset="0"/>
                  </a:rPr>
                  <a:t>american</a:t>
                </a:r>
                <a:r>
                  <a:rPr lang="en-US" sz="1200" b="0" i="0" dirty="0">
                    <a:solidFill>
                      <a:srgbClr val="222222"/>
                    </a:solidFill>
                    <a:effectLst/>
                    <a:latin typeface="Arial" panose="020B0604020202020204" pitchFamily="34" charset="0"/>
                  </a:rPr>
                  <a:t> statistical association 21.153 (1926): 65-66.</a:t>
                </a:r>
              </a:p>
              <a:p>
                <a:pPr marL="0" indent="0">
                  <a:buNone/>
                </a:pPr>
                <a:r>
                  <a:rPr lang="en-US" sz="1200" dirty="0">
                    <a:solidFill>
                      <a:srgbClr val="222222"/>
                    </a:solidFill>
                    <a:latin typeface="Arial" panose="020B0604020202020204" pitchFamily="34" charset="0"/>
                  </a:rPr>
                  <a:t>[2] </a:t>
                </a:r>
                <a:r>
                  <a:rPr lang="en-US" sz="1200" b="0" i="0" dirty="0">
                    <a:solidFill>
                      <a:srgbClr val="222222"/>
                    </a:solidFill>
                    <a:effectLst/>
                    <a:latin typeface="Arial" panose="020B0604020202020204" pitchFamily="34" charset="0"/>
                  </a:rPr>
                  <a:t>Lane, David. </a:t>
                </a:r>
                <a:r>
                  <a:rPr lang="en-US" sz="1200" b="0" i="1" dirty="0">
                    <a:solidFill>
                      <a:srgbClr val="222222"/>
                    </a:solidFill>
                    <a:effectLst/>
                    <a:latin typeface="Arial" panose="020B0604020202020204" pitchFamily="34" charset="0"/>
                  </a:rPr>
                  <a:t>Online statistics education: A multimedia course of study</a:t>
                </a:r>
                <a:r>
                  <a:rPr lang="en-US" sz="1200" b="0" i="0" dirty="0">
                    <a:solidFill>
                      <a:srgbClr val="222222"/>
                    </a:solidFill>
                    <a:effectLst/>
                    <a:latin typeface="Arial" panose="020B0604020202020204" pitchFamily="34" charset="0"/>
                  </a:rPr>
                  <a:t>. Association for the Advancement of Computing in Education (AACE), 2003. – Chapter 2 “Graphing Distributions </a:t>
                </a:r>
              </a:p>
              <a:p>
                <a:pPr marL="0" indent="0">
                  <a:buNone/>
                </a:pPr>
                <a:endParaRPr lang="en-US" sz="1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D5FB28-1A6C-7A86-F4F5-8287DC49DB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796848"/>
              </a:xfrm>
              <a:blipFill>
                <a:blip r:embed="rId2"/>
                <a:stretch>
                  <a:fillRect l="-696" t="-2160" r="-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03440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18BEF-F19E-DBAD-FF9A-8FDF1FBD3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Some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FD37C-6477-7C00-926C-1FB666199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125" y="1533236"/>
            <a:ext cx="5857875" cy="521046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If </a:t>
            </a:r>
            <a:r>
              <a:rPr lang="en-US" u="sng" dirty="0"/>
              <a:t>too few</a:t>
            </a:r>
            <a:r>
              <a:rPr lang="en-US" dirty="0"/>
              <a:t> intervals are used, then the graph will be too crude</a:t>
            </a:r>
          </a:p>
          <a:p>
            <a:endParaRPr lang="en-US" dirty="0"/>
          </a:p>
          <a:p>
            <a:r>
              <a:rPr lang="en-US" dirty="0"/>
              <a:t>If </a:t>
            </a:r>
            <a:r>
              <a:rPr lang="en-US" u="sng" dirty="0"/>
              <a:t>too many</a:t>
            </a:r>
            <a:r>
              <a:rPr lang="en-US" dirty="0"/>
              <a:t> intervals are used, graph will contain many short bars and gaps. </a:t>
            </a:r>
          </a:p>
          <a:p>
            <a:pPr marL="457200" lvl="1" indent="0">
              <a:buNone/>
            </a:pPr>
            <a:r>
              <a:rPr lang="en-US" dirty="0"/>
              <a:t>Usually  between 5 - 15 intervals are enough. 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Most plotting software will automatically choose the number of bins.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u="sng" dirty="0"/>
              <a:t>ALWAYS</a:t>
            </a:r>
            <a:r>
              <a:rPr lang="en-US" dirty="0"/>
              <a:t> plot the histogram to get an idea about the shape of the distribution of a quantitative variable </a:t>
            </a:r>
          </a:p>
          <a:p>
            <a:endParaRPr lang="en-US" dirty="0"/>
          </a:p>
          <a:p>
            <a:r>
              <a:rPr lang="en-US" dirty="0"/>
              <a:t>Is the number of observations is small (say n &lt; 50) then it’s a good idea to supplement a histogram with a dot plot or stem plot</a:t>
            </a:r>
          </a:p>
        </p:txBody>
      </p:sp>
      <p:pic>
        <p:nvPicPr>
          <p:cNvPr id="5" name="Picture 4" descr="Histogram of Old Faithful waiting times using only three very wide bins, too crude to show the two clusters.">
            <a:extLst>
              <a:ext uri="{FF2B5EF4-FFF2-40B4-BE49-F238E27FC236}">
                <a16:creationId xmlns:a16="http://schemas.microsoft.com/office/drawing/2014/main" id="{1EB687C5-40BA-D0EA-5A63-59C5B8F47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1566" y="1"/>
            <a:ext cx="4256175" cy="2552700"/>
          </a:xfrm>
          <a:prstGeom prst="rect">
            <a:avLst/>
          </a:prstGeom>
        </p:spPr>
      </p:pic>
      <p:pic>
        <p:nvPicPr>
          <p:cNvPr id="9" name="Picture 8" descr="The same waiting times in about a dozen bins, which shows the two clusters clearly.">
            <a:extLst>
              <a:ext uri="{FF2B5EF4-FFF2-40B4-BE49-F238E27FC236}">
                <a16:creationId xmlns:a16="http://schemas.microsoft.com/office/drawing/2014/main" id="{958A48EC-CDD0-04BA-47F9-5B4CC4AE0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1565" y="2256176"/>
            <a:ext cx="4366397" cy="2283962"/>
          </a:xfrm>
          <a:prstGeom prst="rect">
            <a:avLst/>
          </a:prstGeom>
        </p:spPr>
      </p:pic>
      <p:pic>
        <p:nvPicPr>
          <p:cNvPr id="11" name="Picture 10" descr="The same waiting times in very many narrow bins, which breaks the shape into short bars and gaps.">
            <a:extLst>
              <a:ext uri="{FF2B5EF4-FFF2-40B4-BE49-F238E27FC236}">
                <a16:creationId xmlns:a16="http://schemas.microsoft.com/office/drawing/2014/main" id="{78740C87-4A50-38E8-A519-55957D15C2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0453" y="4467408"/>
            <a:ext cx="4347509" cy="2276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6699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requency table of Old Faithful waiting times in ten-minute bins with frequency, relative frequency and cumulative relative frequency.">
            <a:extLst>
              <a:ext uri="{FF2B5EF4-FFF2-40B4-BE49-F238E27FC236}">
                <a16:creationId xmlns:a16="http://schemas.microsoft.com/office/drawing/2014/main" id="{43F76311-3A9D-2395-F921-58D84AC2F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043" y="2371724"/>
            <a:ext cx="5299432" cy="2512843"/>
          </a:xfrm>
          <a:prstGeom prst="rect">
            <a:avLst/>
          </a:prstGeom>
        </p:spPr>
      </p:pic>
      <p:pic>
        <p:nvPicPr>
          <p:cNvPr id="10" name="Picture 9" descr="Histogram of Old Faithful waiting times in ten-minute bins, frequency on the vertical axis, showing two peaks either side of a dip near 65 minutes.">
            <a:extLst>
              <a:ext uri="{FF2B5EF4-FFF2-40B4-BE49-F238E27FC236}">
                <a16:creationId xmlns:a16="http://schemas.microsoft.com/office/drawing/2014/main" id="{9AC59B7A-4888-2F53-4913-9DA0E6037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428176"/>
            <a:ext cx="5972175" cy="3429824"/>
          </a:xfrm>
          <a:prstGeom prst="rect">
            <a:avLst/>
          </a:prstGeom>
        </p:spPr>
      </p:pic>
      <p:pic>
        <p:nvPicPr>
          <p:cNvPr id="8" name="Picture 7" descr="The same histogram with relative frequency on the vertical axis; the shape is identical, only the scale changes.">
            <a:extLst>
              <a:ext uri="{FF2B5EF4-FFF2-40B4-BE49-F238E27FC236}">
                <a16:creationId xmlns:a16="http://schemas.microsoft.com/office/drawing/2014/main" id="{978CA529-7CC3-CAE2-9847-392C83BDC9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0644" y="171451"/>
            <a:ext cx="6271356" cy="379095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4A4E0D4A-62CF-AB62-D6A7-48E60442E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209" y="1546224"/>
            <a:ext cx="4991100" cy="825500"/>
          </a:xfrm>
        </p:spPr>
        <p:txBody>
          <a:bodyPr>
            <a:normAutofit/>
          </a:bodyPr>
          <a:lstStyle/>
          <a:p>
            <a:r>
              <a:rPr lang="en-US" sz="2400" dirty="0"/>
              <a:t>Example: Old Faithful Eruption Times</a:t>
            </a:r>
          </a:p>
        </p:txBody>
      </p:sp>
    </p:spTree>
    <p:extLst>
      <p:ext uri="{BB962C8B-B14F-4D97-AF65-F5344CB8AC3E}">
        <p14:creationId xmlns:p14="http://schemas.microsoft.com/office/powerpoint/2010/main" val="7262303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F7785-FEE9-FCDE-BE15-9C0902173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Histogram: strengths and weaknesses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9BD64-F37A-6B24-63CE-8584D3FBB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1F7A4D"/>
                </a:solidFill>
              </a:rPr>
              <a:t>Strengths</a:t>
            </a:r>
          </a:p>
          <a:p>
            <a:pPr lvl="1"/>
            <a:r>
              <a:rPr lang="en-US"/>
              <a:t>A great way to get an idea of shape when the sample is medium or large (n &gt; 20)</a:t>
            </a:r>
          </a:p>
          <a:p>
            <a:pPr lvl="1"/>
            <a:r>
              <a:rPr lang="en-US"/>
              <a:t>Handles continuous data at any sample size, and stays readable as n grows</a:t>
            </a:r>
          </a:p>
          <a:p>
            <a:pPr lvl="1"/>
            <a:r>
              <a:rPr lang="en-US"/>
              <a:t>The standard choice for showing a distribution to someone else</a:t>
            </a:r>
          </a:p>
          <a:p>
            <a:r>
              <a:rPr lang="en-US" b="1">
                <a:solidFill>
                  <a:srgbClr val="C00000"/>
                </a:solidFill>
              </a:rPr>
              <a:t>Weaknesses</a:t>
            </a:r>
          </a:p>
          <a:p>
            <a:pPr lvl="1"/>
            <a:r>
              <a:rPr lang="en-US"/>
              <a:t>Hides the individual observations: you see bars, not data points</a:t>
            </a:r>
          </a:p>
          <a:p>
            <a:pPr lvl="1"/>
            <a:r>
              <a:rPr lang="en-US"/>
              <a:t>The shape depends on the number of bins, so it can distort shape for small samples</a:t>
            </a:r>
          </a:p>
          <a:p>
            <a:pPr lvl="1"/>
            <a:r>
              <a:rPr lang="en-US"/>
              <a:t>Bin edges are arbitrary, and moving them can change the story the picture tells</a:t>
            </a:r>
          </a:p>
        </p:txBody>
      </p:sp>
    </p:spTree>
    <p:extLst>
      <p:ext uri="{BB962C8B-B14F-4D97-AF65-F5344CB8AC3E}">
        <p14:creationId xmlns:p14="http://schemas.microsoft.com/office/powerpoint/2010/main" val="27250627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DF18B-03F1-B339-420D-B9726A8F5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From pictures to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3AFEC-517A-96A4-2E3F-C4B69D443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b="1"/>
              <a:t>Next: measures of location and position.</a:t>
            </a:r>
            <a:r>
              <a:rPr lang="en-US" sz="1600"/>
              <a:t> Single numbers that say where a distribution sits.</a:t>
            </a:r>
          </a:p>
          <a:p>
            <a:r>
              <a:rPr lang="en-US" sz="1600" b="1"/>
              <a:t>Numbers can be computed with.</a:t>
            </a:r>
            <a:r>
              <a:rPr lang="en-US" sz="1600"/>
              <a:t> A graph is read by eye. A statistic goes into a table, a comparison, or a hypothesis test.</a:t>
            </a:r>
          </a:p>
          <a:p>
            <a:r>
              <a:rPr lang="en-US" sz="1600" b="1"/>
              <a:t>"What is a typical value?"</a:t>
            </a:r>
            <a:r>
              <a:rPr lang="en-US" sz="1600"/>
              <a:t> The first question anyone asks of a dataset, and the mean, median and mode each answer it differently.</a:t>
            </a:r>
          </a:p>
          <a:p>
            <a:r>
              <a:rPr lang="en-US" sz="1600" b="1"/>
              <a:t>Comparing groups.</a:t>
            </a:r>
            <a:r>
              <a:rPr lang="en-US" sz="1600"/>
              <a:t> Two samples are compared through their centers, not by squinting at two histograms.</a:t>
            </a:r>
          </a:p>
          <a:p>
            <a:r>
              <a:rPr lang="en-US" sz="1600" b="1"/>
              <a:t>Where does one observation sit?</a:t>
            </a:r>
            <a:r>
              <a:rPr lang="en-US" sz="1600"/>
              <a:t> A score of 78 means little until you know it falls at the 90th percentile.</a:t>
            </a:r>
          </a:p>
          <a:p>
            <a:r>
              <a:rPr lang="en-US" sz="1600" b="1"/>
              <a:t>Shape decides which measure to trust.</a:t>
            </a:r>
            <a:r>
              <a:rPr lang="en-US" sz="1600"/>
              <a:t> Skew and outliers drag the mean but leave the median alone, which is why we did shape first.</a:t>
            </a:r>
          </a:p>
        </p:txBody>
      </p:sp>
    </p:spTree>
    <p:extLst>
      <p:ext uri="{BB962C8B-B14F-4D97-AF65-F5344CB8AC3E}">
        <p14:creationId xmlns:p14="http://schemas.microsoft.com/office/powerpoint/2010/main" val="2023894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D0608-1958-6936-37C8-0B0F2E703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0727"/>
            <a:ext cx="10515600" cy="1325563"/>
          </a:xfrm>
        </p:spPr>
        <p:txBody>
          <a:bodyPr/>
          <a:lstStyle/>
          <a:p>
            <a:r>
              <a:rPr lang="en-US" dirty="0"/>
              <a:t>Measures of Central Tendency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9C4FB3-6656-121C-4A91-2FBCF82E26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6290"/>
                <a:ext cx="9977582" cy="5107709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The (arithmetic) </a:t>
                </a:r>
                <a:r>
                  <a:rPr lang="en-US" sz="2400" b="1" dirty="0"/>
                  <a:t>mean </a:t>
                </a:r>
                <a:r>
                  <a:rPr lang="en-US" sz="2400" dirty="0"/>
                  <a:t>is the average value of a set of observations </a:t>
                </a:r>
              </a:p>
              <a:p>
                <a:pPr marL="457200" lvl="1" indent="0">
                  <a:buNone/>
                </a:pPr>
                <a:r>
                  <a:rPr lang="en-US" sz="2000" dirty="0"/>
                  <a:t>it measures the center of mass of a distribution (the balancing point)</a:t>
                </a:r>
              </a:p>
              <a:p>
                <a:pPr marL="457200" lvl="1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400" dirty="0"/>
                  <a:t>	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+…+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hr m:val="∑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nary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2400" dirty="0"/>
                  <a:t>the mean is usually not equal to any of the values observed in the sample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2400" dirty="0"/>
                  <a:t>The mean is highly influenced by </a:t>
                </a:r>
                <a:r>
                  <a:rPr lang="en-US" sz="2400" b="1" dirty="0"/>
                  <a:t>outliers </a:t>
                </a:r>
                <a:r>
                  <a:rPr lang="en-US" sz="2400" dirty="0"/>
                  <a:t> - observations that take on extreme values relative to the distribution</a:t>
                </a:r>
                <a:endParaRPr lang="en-US" sz="2400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9C4FB3-6656-121C-4A91-2FBCF82E26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6290"/>
                <a:ext cx="9977582" cy="5107709"/>
              </a:xfrm>
              <a:blipFill>
                <a:blip r:embed="rId2"/>
                <a:stretch>
                  <a:fillRect l="-856" t="-16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96931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D68A1-D925-CD0E-C91F-BDCFF9B4B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Practice: Calculate The Mean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EC930D-CF63-11CB-F799-8B6F103744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636491" cy="435133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={1, 3, 5, 5, 6, 7, 7, 8}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EC930D-CF63-11CB-F799-8B6F103744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636491" cy="435133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27023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243EE-CAAA-9631-C3E9-DBEC3605D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 of Central Tendency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35A268-CA85-9E12-C415-E91D6F48B5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9875982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</a:t>
                </a:r>
                <a:r>
                  <a:rPr lang="en-US" b="1" dirty="0"/>
                  <a:t>median</a:t>
                </a:r>
                <a:r>
                  <a:rPr lang="en-US" dirty="0"/>
                  <a:t> is the middle value of a set of observations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b="1" dirty="0"/>
                  <a:t>How to compute the median: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Compute the median by first ordering the observations from smallest value to largest value and choose the number in the middle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If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is odd the median is the middle number</a:t>
                </a:r>
              </a:p>
              <a:p>
                <a:pPr marL="457200" lvl="1" indent="0">
                  <a:buNone/>
                </a:pPr>
                <a:r>
                  <a:rPr lang="en-US" dirty="0"/>
                  <a:t> -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is even the median is the sum of the two middle values divided by 2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35A268-CA85-9E12-C415-E91D6F48B5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9875982" cy="4351338"/>
              </a:xfrm>
              <a:blipFill>
                <a:blip r:embed="rId2"/>
                <a:stretch>
                  <a:fillRect l="-1296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69635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2D970-D5B1-13BB-C01E-5224E1F21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Practice: Calculate the Median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24A11B-CBAA-E4CB-9C3F-629D626DCA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={1, 3, 5, 5, 6, 7, 7, 8}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24A11B-CBAA-E4CB-9C3F-629D626DCA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6356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7AA1FB4F-B4C0-19FC-F8A6-80F1019CDA1B}"/>
              </a:ext>
            </a:extLst>
          </p:cNvPr>
          <p:cNvGrpSpPr/>
          <p:nvPr/>
        </p:nvGrpSpPr>
        <p:grpSpPr>
          <a:xfrm>
            <a:off x="281345" y="2185532"/>
            <a:ext cx="11223178" cy="3231099"/>
            <a:chOff x="170508" y="2213128"/>
            <a:chExt cx="11223178" cy="32310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0D94D794-5780-EB94-1BF2-FE234895A4DE}"/>
                    </a:ext>
                  </a:extLst>
                </p:cNvPr>
                <p:cNvSpPr txBox="1"/>
                <p:nvPr/>
              </p:nvSpPr>
              <p:spPr>
                <a:xfrm>
                  <a:off x="2051669" y="5058295"/>
                  <a:ext cx="78925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>
                        <m:acc>
                          <m:accPr>
                            <m:chr m:val="̅"/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accPr>
                          <m:e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𝑥</m:t>
                            </m:r>
                          </m:e>
                        </m:acc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=9.2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0D94D794-5780-EB94-1BF2-FE234895A4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1669" y="5058295"/>
                  <a:ext cx="789255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3876" r="-6977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5EB56406-5F22-DCCD-EA7F-C958F3D211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0508" y="2213128"/>
              <a:ext cx="5170726" cy="2494353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E8AA625E-81C5-ECCB-6AEA-588CF86FB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604632">
              <a:off x="6222960" y="2269308"/>
              <a:ext cx="5170726" cy="2494353"/>
            </a:xfrm>
            <a:prstGeom prst="rect">
              <a:avLst/>
            </a:prstGeom>
          </p:spPr>
        </p:pic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B2F214C2-1D86-F2C7-F495-1D8DF5707C70}"/>
                </a:ext>
              </a:extLst>
            </p:cNvPr>
            <p:cNvSpPr/>
            <p:nvPr/>
          </p:nvSpPr>
          <p:spPr>
            <a:xfrm>
              <a:off x="7678880" y="4258680"/>
              <a:ext cx="259773" cy="586392"/>
            </a:xfrm>
            <a:prstGeom prst="triangl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216A7137-8C55-1EF5-CC3D-BFDC40D635C1}"/>
                </a:ext>
              </a:extLst>
            </p:cNvPr>
            <p:cNvSpPr/>
            <p:nvPr/>
          </p:nvSpPr>
          <p:spPr>
            <a:xfrm>
              <a:off x="2123207" y="4296496"/>
              <a:ext cx="259773" cy="586392"/>
            </a:xfrm>
            <a:prstGeom prst="triangl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9FE77AA-7C50-0F7E-C479-3A2E60163D35}"/>
                    </a:ext>
                  </a:extLst>
                </p:cNvPr>
                <p:cNvSpPr txBox="1"/>
                <p:nvPr/>
              </p:nvSpPr>
              <p:spPr>
                <a:xfrm>
                  <a:off x="7414138" y="4925623"/>
                  <a:ext cx="2095895" cy="51860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𝑚𝑒𝑑𝑖𝑎𝑛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</m:t>
                        </m:r>
                        <m:f>
                          <m:fPr>
                            <m:ctrlP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fPr>
                          <m:num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8+8</m:t>
                            </m:r>
                          </m:num>
                          <m:den>
                            <m:r>
                              <a:rPr kumimoji="0" lang="en-US" sz="18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den>
                        </m:f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=8</m:t>
                        </m:r>
                      </m:oMath>
                    </m:oMathPara>
                  </a14:m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9FE77AA-7C50-0F7E-C479-3A2E60163D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4138" y="4925623"/>
                  <a:ext cx="2095895" cy="51860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0AB15456-BDE7-CB11-8743-884D2B7E62B6}"/>
              </a:ext>
            </a:extLst>
          </p:cNvPr>
          <p:cNvSpPr txBox="1"/>
          <p:nvPr/>
        </p:nvSpPr>
        <p:spPr>
          <a:xfrm>
            <a:off x="594017" y="5686108"/>
            <a:ext cx="36052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mean is the center of gravity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33A6C0A-C879-8A3D-A8EE-96D4E66E3A74}"/>
              </a:ext>
            </a:extLst>
          </p:cNvPr>
          <p:cNvSpPr txBox="1"/>
          <p:nvPr/>
        </p:nvSpPr>
        <p:spPr>
          <a:xfrm>
            <a:off x="6325923" y="5810799"/>
            <a:ext cx="34387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median is the middle value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C585F4-2355-392B-9E1E-5B47162BF9BA}"/>
              </a:ext>
            </a:extLst>
          </p:cNvPr>
          <p:cNvSpPr txBox="1"/>
          <p:nvPr/>
        </p:nvSpPr>
        <p:spPr>
          <a:xfrm>
            <a:off x="1320800" y="314036"/>
            <a:ext cx="800251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Data: 3  3  3  3  3  3  3  4  4  4  4  4  4  4  4  4  4  5  5  5  5  5  5  5  5  5  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5  5  5  5  5  5  5  5  5  6  6  6  6  6  6  6  6  6  6  7  7  7  7  7  7  7  7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7  8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8  8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8  8  8  9  9  9  9  9  9  9 10 10 10 10 10 10 10 11 11 11 11 11 12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12 12 12 12 12 12 12 13 13 13 14 14 14 14 14 14 15 15 15 16 16 16 16 17 17 17 18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18 20 20 20 20 20</a:t>
            </a:r>
          </a:p>
        </p:txBody>
      </p:sp>
    </p:spTree>
    <p:extLst>
      <p:ext uri="{BB962C8B-B14F-4D97-AF65-F5344CB8AC3E}">
        <p14:creationId xmlns:p14="http://schemas.microsoft.com/office/powerpoint/2010/main" val="28089169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4DE6C-08A1-E5FC-FBD2-2A6CFB149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and median treat outliers differently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FE07D2-A170-60BA-CCDC-92189FF4B0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={1, 3, 5, 5, 6, 7, 7, 8, 32}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FE07D2-A170-60BA-CCDC-92189FF4B0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77796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B45CB9-38D1-C6A4-DC41-174772C79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502" y="0"/>
            <a:ext cx="100509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9761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F5637-759B-CDC6-A079-016153789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 formulas for the mean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86C35F-87BF-000B-FFF1-FA6B4C96E0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800" dirty="0"/>
                  <a:t>We can also express the mean in terms of the frequency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800" dirty="0"/>
                  <a:t> or the relative frequency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𝑅𝐹</m:t>
                    </m:r>
                  </m:oMath>
                </a14:m>
                <a:endParaRPr lang="en-US" sz="2800" dirty="0"/>
              </a:p>
              <a:p>
                <a:endParaRPr lang="en-US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or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     </m:t>
                      </m:r>
                      <m:acc>
                        <m:accPr>
                          <m:chr m:val="̅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𝑅𝐹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800" dirty="0"/>
              </a:p>
              <a:p>
                <a:pPr marL="0" indent="0">
                  <a:buNone/>
                </a:pPr>
                <a:r>
                  <a:rPr lang="en-US" sz="2800" dirty="0"/>
                  <a:t>Where the sum is over all distinct values of the variable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28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86C35F-87BF-000B-FFF1-FA6B4C96E0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14940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04281-A2B3-E169-D64B-55C4B2F0F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Computing the mean from a frequency 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CB2C17F-8867-4F95-3EA4-C71E0B623A8C}"/>
                  </a:ext>
                </a:extLst>
              </p:cNvPr>
              <p:cNvSpPr txBox="1"/>
              <p:nvPr/>
            </p:nvSpPr>
            <p:spPr>
              <a:xfrm>
                <a:off x="932873" y="1985818"/>
                <a:ext cx="10797309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={1, 3, 5, 5, 6, 7, 7, 8}</m:t>
                      </m:r>
                    </m:oMath>
                  </m:oMathPara>
                </a14:m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CB2C17F-8867-4F95-3EA4-C71E0B623A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873" y="1985818"/>
                <a:ext cx="10797309" cy="1477328"/>
              </a:xfrm>
              <a:prstGeom prst="rect">
                <a:avLst/>
              </a:prstGeom>
              <a:blipFill>
                <a:blip r:embed="rId2"/>
                <a:stretch>
                  <a:fillRect l="-1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BED149D-C46B-66BE-11B4-97A112E755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1566213"/>
              </p:ext>
            </p:extLst>
          </p:nvPr>
        </p:nvGraphicFramePr>
        <p:xfrm>
          <a:off x="7389092" y="1421340"/>
          <a:ext cx="434109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030">
                  <a:extLst>
                    <a:ext uri="{9D8B030D-6E8A-4147-A177-3AD203B41FA5}">
                      <a16:colId xmlns:a16="http://schemas.microsoft.com/office/drawing/2014/main" val="2635967006"/>
                    </a:ext>
                  </a:extLst>
                </a:gridCol>
                <a:gridCol w="1447030">
                  <a:extLst>
                    <a:ext uri="{9D8B030D-6E8A-4147-A177-3AD203B41FA5}">
                      <a16:colId xmlns:a16="http://schemas.microsoft.com/office/drawing/2014/main" val="3005329175"/>
                    </a:ext>
                  </a:extLst>
                </a:gridCol>
                <a:gridCol w="1447030">
                  <a:extLst>
                    <a:ext uri="{9D8B030D-6E8A-4147-A177-3AD203B41FA5}">
                      <a16:colId xmlns:a16="http://schemas.microsoft.com/office/drawing/2014/main" val="1816929551"/>
                    </a:ext>
                  </a:extLst>
                </a:gridCol>
              </a:tblGrid>
              <a:tr h="44085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Freq.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Rel. Freq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9691844"/>
                  </a:ext>
                </a:extLst>
              </a:tr>
              <a:tr h="44085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0.125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2206646"/>
                  </a:ext>
                </a:extLst>
              </a:tr>
              <a:tr h="44085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0.125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8416178"/>
                  </a:ext>
                </a:extLst>
              </a:tr>
              <a:tr h="44085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9562944"/>
                  </a:ext>
                </a:extLst>
              </a:tr>
              <a:tr h="44085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0.125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7024317"/>
                  </a:ext>
                </a:extLst>
              </a:tr>
              <a:tr h="44085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0.250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989846"/>
                  </a:ext>
                </a:extLst>
              </a:tr>
              <a:tr h="440858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0.125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7081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77349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BCB12-022F-4788-84E1-8A1F30003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mode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930ED-E752-41BA-164E-704684B9D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770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</a:t>
            </a:r>
            <a:r>
              <a:rPr lang="en-US" b="1" dirty="0"/>
              <a:t>mode </a:t>
            </a:r>
            <a:r>
              <a:rPr lang="en-US" dirty="0"/>
              <a:t>is the value with the largest relative frequency (</a:t>
            </a:r>
            <a:r>
              <a:rPr lang="en-US" dirty="0" err="1"/>
              <a:t>i.e</a:t>
            </a:r>
            <a:r>
              <a:rPr lang="en-US" dirty="0"/>
              <a:t> the value that occurs most often)</a:t>
            </a:r>
          </a:p>
          <a:p>
            <a:pPr marL="0" indent="0">
              <a:buNone/>
            </a:pPr>
            <a:endParaRPr lang="en-US" dirty="0"/>
          </a:p>
          <a:p>
            <a:pPr lvl="1">
              <a:buFontTx/>
              <a:buChar char="-"/>
            </a:pPr>
            <a:r>
              <a:rPr lang="en-US" dirty="0"/>
              <a:t>Can be used with categorical data (mean and median cannot) </a:t>
            </a:r>
          </a:p>
          <a:p>
            <a:pPr marL="914400" lvl="2" indent="0">
              <a:buNone/>
            </a:pPr>
            <a:r>
              <a:rPr lang="en-US" dirty="0"/>
              <a:t>- </a:t>
            </a:r>
            <a:r>
              <a:rPr lang="en-US" dirty="0" err="1"/>
              <a:t>e.g</a:t>
            </a:r>
            <a:r>
              <a:rPr lang="en-US" dirty="0"/>
              <a:t> the most </a:t>
            </a:r>
            <a:r>
              <a:rPr lang="en-US"/>
              <a:t>frequent category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>
              <a:buFontTx/>
              <a:buChar char="-"/>
            </a:pPr>
            <a:r>
              <a:rPr lang="en-US" dirty="0"/>
              <a:t>It may not be unique if two or more values have the same frequency</a:t>
            </a:r>
          </a:p>
          <a:p>
            <a:pPr lvl="1">
              <a:buFontTx/>
              <a:buChar char="-"/>
            </a:pPr>
            <a:endParaRPr lang="en-US" dirty="0"/>
          </a:p>
          <a:p>
            <a:pPr lvl="1">
              <a:buFontTx/>
              <a:buChar char="-"/>
            </a:pPr>
            <a:r>
              <a:rPr lang="en-US" b="1" u="sng" dirty="0"/>
              <a:t>Caution</a:t>
            </a:r>
            <a:r>
              <a:rPr lang="en-US" b="1" dirty="0"/>
              <a:t> </a:t>
            </a:r>
            <a:r>
              <a:rPr lang="en-US" dirty="0"/>
              <a:t>for quantitative data, the mode </a:t>
            </a:r>
            <a:r>
              <a:rPr lang="en-US" u="sng" dirty="0"/>
              <a:t>may not </a:t>
            </a:r>
            <a:r>
              <a:rPr lang="en-US" dirty="0"/>
              <a:t>anywhere near the center of the distribution.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54BF4C3-8199-5A84-CD68-A8AED98D62D4}"/>
              </a:ext>
            </a:extLst>
          </p:cNvPr>
          <p:cNvSpPr txBox="1">
            <a:spLocks/>
          </p:cNvSpPr>
          <p:nvPr/>
        </p:nvSpPr>
        <p:spPr>
          <a:xfrm>
            <a:off x="8026400" y="1690688"/>
            <a:ext cx="388389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Ex.)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= 1,1,4,5,6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 = 1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 = 1,1,4,5,6,6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   1, 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FC46AD-94DD-AE71-3A19-101CF0E4AD10}"/>
              </a:ext>
            </a:extLst>
          </p:cNvPr>
          <p:cNvSpPr/>
          <p:nvPr/>
        </p:nvSpPr>
        <p:spPr>
          <a:xfrm>
            <a:off x="9097817" y="2253672"/>
            <a:ext cx="572655" cy="3694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6B7EBB-3587-1875-97E0-69C04C310EFE}"/>
              </a:ext>
            </a:extLst>
          </p:cNvPr>
          <p:cNvSpPr/>
          <p:nvPr/>
        </p:nvSpPr>
        <p:spPr>
          <a:xfrm>
            <a:off x="9097817" y="4234874"/>
            <a:ext cx="572655" cy="3694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59EECC-247B-77E7-E610-6554F4673539}"/>
              </a:ext>
            </a:extLst>
          </p:cNvPr>
          <p:cNvSpPr/>
          <p:nvPr/>
        </p:nvSpPr>
        <p:spPr>
          <a:xfrm>
            <a:off x="10169234" y="4242018"/>
            <a:ext cx="572655" cy="3694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88303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A22F9-922D-909D-3C73-EA3AFAF01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CC8FCB-1C29-7C52-743C-6204403397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0200" y="1727777"/>
                <a:ext cx="4565073" cy="1841211"/>
              </a:xfrm>
            </p:spPr>
            <p:txBody>
              <a:bodyPr>
                <a:normAutofit fontScale="25000" lnSpcReduction="20000"/>
              </a:bodyPr>
              <a:lstStyle/>
              <a:p>
                <a:pPr marL="0"/>
                <a:r>
                  <a:rPr lang="en-US" sz="9600" dirty="0"/>
                  <a:t>Roll a six-sided die </a:t>
                </a:r>
                <a14:m>
                  <m:oMath xmlns:m="http://schemas.openxmlformats.org/officeDocument/2006/math">
                    <m:r>
                      <a:rPr lang="en-US" sz="96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9600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sz="9600" dirty="0"/>
                  <a:t> times and record the number rolled each time</a:t>
                </a:r>
              </a:p>
              <a:p>
                <a:pPr marL="0"/>
                <a:endParaRPr lang="en-US" sz="9600" dirty="0"/>
              </a:p>
              <a:p>
                <a:pPr marL="0"/>
                <a:r>
                  <a:rPr lang="en-US" sz="9600" dirty="0"/>
                  <a:t>Data = 1,2,3,3,4,4,4,5,6,6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CC8FCB-1C29-7C52-743C-6204403397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0200" y="1727777"/>
                <a:ext cx="4565073" cy="1841211"/>
              </a:xfrm>
              <a:blipFill>
                <a:blip r:embed="rId2"/>
                <a:stretch>
                  <a:fillRect l="-2003" t="-7616" r="-20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AD142727-FE0E-B241-4F4A-6EE854E43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309" y="3568988"/>
            <a:ext cx="4212438" cy="31479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6700DEC-0BFD-362F-79B5-AB575314C21F}"/>
              </a:ext>
            </a:extLst>
          </p:cNvPr>
          <p:cNvSpPr txBox="1"/>
          <p:nvPr/>
        </p:nvSpPr>
        <p:spPr>
          <a:xfrm>
            <a:off x="6363855" y="3030426"/>
            <a:ext cx="531126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Compute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mean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using all 3 equations: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Compute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median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Compute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 </a:t>
            </a:r>
          </a:p>
        </p:txBody>
      </p:sp>
    </p:spTree>
    <p:extLst>
      <p:ext uri="{BB962C8B-B14F-4D97-AF65-F5344CB8AC3E}">
        <p14:creationId xmlns:p14="http://schemas.microsoft.com/office/powerpoint/2010/main" val="2053492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2178</TotalTime>
  <Words>2256</Words>
  <Application>Microsoft Office PowerPoint</Application>
  <PresentationFormat>Widescreen</PresentationFormat>
  <Paragraphs>242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Arial</vt:lpstr>
      <vt:lpstr>Calibri</vt:lpstr>
      <vt:lpstr>Calibri Light</vt:lpstr>
      <vt:lpstr>Cambria Math</vt:lpstr>
      <vt:lpstr>Wingdings</vt:lpstr>
      <vt:lpstr>Office Theme</vt:lpstr>
      <vt:lpstr>Lecture 4 Shape and Graphs of Distributions</vt:lpstr>
      <vt:lpstr>Review</vt:lpstr>
      <vt:lpstr>Review</vt:lpstr>
      <vt:lpstr>Shape of a distribution</vt:lpstr>
      <vt:lpstr>Bimodality: Old Faithful</vt:lpstr>
      <vt:lpstr>Bimodality: a polarized public</vt:lpstr>
      <vt:lpstr>Bimodality: penguin species</vt:lpstr>
      <vt:lpstr>Skew: a hard limit on the values</vt:lpstr>
      <vt:lpstr>Outliers: a real value, or a mistake</vt:lpstr>
      <vt:lpstr>Visualizing Distributions: Quantitative Variables </vt:lpstr>
      <vt:lpstr>Dot plot of Old Faithful waiting times</vt:lpstr>
      <vt:lpstr>Example: MPG and Engine Cylinders</vt:lpstr>
      <vt:lpstr>Dot plot of miles per gallon by cylinder count</vt:lpstr>
      <vt:lpstr>Dot plot: strengths and weaknesses</vt:lpstr>
      <vt:lpstr>Visualizing Distributions: Quantitative Variables </vt:lpstr>
      <vt:lpstr>Example: MPG</vt:lpstr>
      <vt:lpstr>Try it out: Stem and leaf plot</vt:lpstr>
      <vt:lpstr>Stem and leaf plot: strengths and weaknesses</vt:lpstr>
      <vt:lpstr>Visualizing Distributions: Quantitative Variables </vt:lpstr>
      <vt:lpstr>Try it out: Histogram</vt:lpstr>
      <vt:lpstr>How to choose the number of Bins?</vt:lpstr>
      <vt:lpstr>Some tips</vt:lpstr>
      <vt:lpstr>Example: Old Faithful Eruption Times</vt:lpstr>
      <vt:lpstr>Histogram: strengths and weaknesses</vt:lpstr>
      <vt:lpstr>From pictures to numbers</vt:lpstr>
      <vt:lpstr>Measures of Central Tendency  </vt:lpstr>
      <vt:lpstr>Practice: Calculate The Mean </vt:lpstr>
      <vt:lpstr>Measures of Central Tendency </vt:lpstr>
      <vt:lpstr>Practice: Calculate the Median</vt:lpstr>
      <vt:lpstr>PowerPoint Presentation</vt:lpstr>
      <vt:lpstr>Mean and median treat outliers differently</vt:lpstr>
      <vt:lpstr>PowerPoint Presentation</vt:lpstr>
      <vt:lpstr>Alternative formulas for the mean</vt:lpstr>
      <vt:lpstr>Example: Computing the mean from a frequency table</vt:lpstr>
      <vt:lpstr>The mode</vt:lpstr>
      <vt:lpstr>Practice: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Jarred Kvamme</dc:creator>
  <cp:lastModifiedBy>Jarred Kvamme</cp:lastModifiedBy>
  <cp:revision>341</cp:revision>
  <dcterms:created xsi:type="dcterms:W3CDTF">2023-08-05T23:57:41Z</dcterms:created>
  <dcterms:modified xsi:type="dcterms:W3CDTF">2026-09-02T19:02:44Z</dcterms:modified>
</cp:coreProperties>
</file>