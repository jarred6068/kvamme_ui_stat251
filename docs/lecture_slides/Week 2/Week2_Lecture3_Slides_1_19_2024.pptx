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331" r:id="rId4"/>
    <p:sldId id="340" r:id="rId5"/>
    <p:sldId id="341" r:id="rId6"/>
    <p:sldId id="342" r:id="rId7"/>
    <p:sldId id="346" r:id="rId8"/>
    <p:sldId id="343" r:id="rId9"/>
    <p:sldId id="330" r:id="rId10"/>
    <p:sldId id="344" r:id="rId11"/>
    <p:sldId id="286" r:id="rId12"/>
    <p:sldId id="345" r:id="rId13"/>
    <p:sldId id="273" r:id="rId14"/>
    <p:sldId id="288" r:id="rId15"/>
    <p:sldId id="277" r:id="rId16"/>
    <p:sldId id="287" r:id="rId17"/>
    <p:sldId id="282" r:id="rId18"/>
    <p:sldId id="279" r:id="rId19"/>
    <p:sldId id="280" r:id="rId20"/>
    <p:sldId id="281" r:id="rId21"/>
    <p:sldId id="274" r:id="rId22"/>
    <p:sldId id="292" r:id="rId23"/>
    <p:sldId id="293" r:id="rId24"/>
    <p:sldId id="290" r:id="rId25"/>
    <p:sldId id="328" r:id="rId26"/>
    <p:sldId id="332" r:id="rId27"/>
    <p:sldId id="295" r:id="rId28"/>
    <p:sldId id="29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E0BEC64-4DB8-4E1E-9141-FE658705EB6D}" type="doc">
      <dgm:prSet loTypeId="urn:microsoft.com/office/officeart/2018/2/layout/IconVerticalSolidList" loCatId="icon" qsTypeId="urn:microsoft.com/office/officeart/2005/8/quickstyle/simple1#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CA502C5D-40F4-49F3-BC7B-0085D91E03CA}">
      <dgm:prSet/>
      <dgm:spPr/>
      <dgm:t>
        <a:bodyPr/>
        <a:lstStyle/>
        <a:p>
          <a:r>
            <a:rPr lang="en-US" b="1" dirty="0">
              <a:solidFill>
                <a:schemeClr val="tx1"/>
              </a:solidFill>
            </a:rPr>
            <a:t>Pie Charts </a:t>
          </a:r>
          <a:r>
            <a:rPr lang="en-US" dirty="0">
              <a:solidFill>
                <a:schemeClr val="tx1"/>
              </a:solidFill>
            </a:rPr>
            <a:t> - a circle divided into ‘slices’ corresponding to each category. The size of a slice shows the proportion of observations in a category</a:t>
          </a:r>
        </a:p>
      </dgm:t>
    </dgm:pt>
    <dgm:pt modelId="{CB438F69-D025-4B5A-858E-FCAD70A4AB3E}" type="parTrans" cxnId="{9DACF44E-2C51-4166-A4FE-84636AC2B785}">
      <dgm:prSet/>
      <dgm:spPr/>
      <dgm:t>
        <a:bodyPr/>
        <a:lstStyle/>
        <a:p>
          <a:endParaRPr lang="en-US"/>
        </a:p>
      </dgm:t>
    </dgm:pt>
    <dgm:pt modelId="{13576EAA-9730-4FD3-860B-F9AA5157B07F}" type="sibTrans" cxnId="{9DACF44E-2C51-4166-A4FE-84636AC2B785}">
      <dgm:prSet/>
      <dgm:spPr/>
      <dgm:t>
        <a:bodyPr/>
        <a:lstStyle/>
        <a:p>
          <a:endParaRPr lang="en-US"/>
        </a:p>
      </dgm:t>
    </dgm:pt>
    <dgm:pt modelId="{AA7A37FA-7E41-44E4-84F3-0EA7E91D9E1F}">
      <dgm:prSet/>
      <dgm:spPr/>
      <dgm:t>
        <a:bodyPr/>
        <a:lstStyle/>
        <a:p>
          <a:r>
            <a:rPr lang="en-US" b="1" dirty="0">
              <a:solidFill>
                <a:schemeClr val="tx1"/>
              </a:solidFill>
            </a:rPr>
            <a:t>Bar graph</a:t>
          </a:r>
          <a:r>
            <a:rPr lang="en-US" dirty="0">
              <a:solidFill>
                <a:schemeClr val="tx1"/>
              </a:solidFill>
            </a:rPr>
            <a:t> –  displays a vertical bar for each category. The height of the bar shows the percentages of observations in the category</a:t>
          </a:r>
        </a:p>
      </dgm:t>
    </dgm:pt>
    <dgm:pt modelId="{2DC48EBE-F9E6-4A2A-A841-1B1C3F1E5BFC}" type="parTrans" cxnId="{5F526CA6-8F1C-4CC7-94E6-DF978DDAB504}">
      <dgm:prSet/>
      <dgm:spPr/>
      <dgm:t>
        <a:bodyPr/>
        <a:lstStyle/>
        <a:p>
          <a:endParaRPr lang="en-US"/>
        </a:p>
      </dgm:t>
    </dgm:pt>
    <dgm:pt modelId="{73A33601-3261-4294-8CEE-4FD511498DFD}" type="sibTrans" cxnId="{5F526CA6-8F1C-4CC7-94E6-DF978DDAB504}">
      <dgm:prSet/>
      <dgm:spPr/>
      <dgm:t>
        <a:bodyPr/>
        <a:lstStyle/>
        <a:p>
          <a:endParaRPr lang="en-US"/>
        </a:p>
      </dgm:t>
    </dgm:pt>
    <dgm:pt modelId="{FAB20843-291C-4BE3-9A5B-2040125B8D60}">
      <dgm:prSet/>
      <dgm:spPr/>
      <dgm:t>
        <a:bodyPr/>
        <a:lstStyle/>
        <a:p>
          <a:r>
            <a:rPr lang="en-US" b="1" dirty="0">
              <a:solidFill>
                <a:schemeClr val="tx1"/>
              </a:solidFill>
            </a:rPr>
            <a:t>Pareto Chart </a:t>
          </a:r>
          <a:r>
            <a:rPr lang="en-US" dirty="0">
              <a:solidFill>
                <a:schemeClr val="tx1"/>
              </a:solidFill>
            </a:rPr>
            <a:t> - a bar chart with the categories ordered by decreasing frequency</a:t>
          </a:r>
        </a:p>
      </dgm:t>
    </dgm:pt>
    <dgm:pt modelId="{BD864967-7A38-48FA-9C44-777878D0203F}" type="parTrans" cxnId="{6CA842EC-6902-459B-A68A-C2F15A91F72B}">
      <dgm:prSet/>
      <dgm:spPr/>
      <dgm:t>
        <a:bodyPr/>
        <a:lstStyle/>
        <a:p>
          <a:endParaRPr lang="en-US"/>
        </a:p>
      </dgm:t>
    </dgm:pt>
    <dgm:pt modelId="{01A881F3-C6D7-4C18-B0BE-D1684BC42102}" type="sibTrans" cxnId="{6CA842EC-6902-459B-A68A-C2F15A91F72B}">
      <dgm:prSet/>
      <dgm:spPr/>
      <dgm:t>
        <a:bodyPr/>
        <a:lstStyle/>
        <a:p>
          <a:endParaRPr lang="en-US"/>
        </a:p>
      </dgm:t>
    </dgm:pt>
    <dgm:pt modelId="{E3DC32B4-DA0B-4A1F-BB20-D6197D7CBE59}" type="pres">
      <dgm:prSet presAssocID="{FE0BEC64-4DB8-4E1E-9141-FE658705EB6D}" presName="root" presStyleCnt="0">
        <dgm:presLayoutVars>
          <dgm:dir/>
          <dgm:resizeHandles val="exact"/>
        </dgm:presLayoutVars>
      </dgm:prSet>
      <dgm:spPr/>
    </dgm:pt>
    <dgm:pt modelId="{2A076E44-F78B-4009-A025-7726AC7DA28A}" type="pres">
      <dgm:prSet presAssocID="{CA502C5D-40F4-49F3-BC7B-0085D91E03CA}" presName="compNode" presStyleCnt="0"/>
      <dgm:spPr/>
    </dgm:pt>
    <dgm:pt modelId="{EB923C56-EBB1-423B-8CB3-643288F0F4A3}" type="pres">
      <dgm:prSet presAssocID="{CA502C5D-40F4-49F3-BC7B-0085D91E03CA}" presName="bgRect" presStyleLbl="bgShp" presStyleIdx="0" presStyleCnt="3"/>
      <dgm:spPr/>
    </dgm:pt>
    <dgm:pt modelId="{4D241B2D-0D74-4A77-BEB5-43230D1500B9}" type="pres">
      <dgm:prSet presAssocID="{CA502C5D-40F4-49F3-BC7B-0085D91E03CA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e chart"/>
        </a:ext>
      </dgm:extLst>
    </dgm:pt>
    <dgm:pt modelId="{F1517DDA-2ED6-4F13-945C-69A9CD2E1FDD}" type="pres">
      <dgm:prSet presAssocID="{CA502C5D-40F4-49F3-BC7B-0085D91E03CA}" presName="spaceRect" presStyleCnt="0"/>
      <dgm:spPr/>
    </dgm:pt>
    <dgm:pt modelId="{E77E8EFE-0E2D-47C7-BC5F-D4B9FDFCFBF5}" type="pres">
      <dgm:prSet presAssocID="{CA502C5D-40F4-49F3-BC7B-0085D91E03CA}" presName="parTx" presStyleLbl="revTx" presStyleIdx="0" presStyleCnt="3">
        <dgm:presLayoutVars>
          <dgm:chMax val="0"/>
          <dgm:chPref val="0"/>
        </dgm:presLayoutVars>
      </dgm:prSet>
      <dgm:spPr/>
    </dgm:pt>
    <dgm:pt modelId="{37C6688A-B330-40F2-A07C-222658632DA1}" type="pres">
      <dgm:prSet presAssocID="{13576EAA-9730-4FD3-860B-F9AA5157B07F}" presName="sibTrans" presStyleCnt="0"/>
      <dgm:spPr/>
    </dgm:pt>
    <dgm:pt modelId="{D54D3B23-C69D-40EF-99DF-8C83AB82572B}" type="pres">
      <dgm:prSet presAssocID="{AA7A37FA-7E41-44E4-84F3-0EA7E91D9E1F}" presName="compNode" presStyleCnt="0"/>
      <dgm:spPr/>
    </dgm:pt>
    <dgm:pt modelId="{0AE7E51E-5C5E-44E5-BE45-998FD5309657}" type="pres">
      <dgm:prSet presAssocID="{AA7A37FA-7E41-44E4-84F3-0EA7E91D9E1F}" presName="bgRect" presStyleLbl="bgShp" presStyleIdx="1" presStyleCnt="3"/>
      <dgm:spPr/>
    </dgm:pt>
    <dgm:pt modelId="{275C9952-BC92-4110-956A-B1D23303B722}" type="pres">
      <dgm:prSet presAssocID="{AA7A37FA-7E41-44E4-84F3-0EA7E91D9E1F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Bar Chart"/>
        </a:ext>
      </dgm:extLst>
    </dgm:pt>
    <dgm:pt modelId="{E6C21582-C418-42CE-997A-5212FBED965D}" type="pres">
      <dgm:prSet presAssocID="{AA7A37FA-7E41-44E4-84F3-0EA7E91D9E1F}" presName="spaceRect" presStyleCnt="0"/>
      <dgm:spPr/>
    </dgm:pt>
    <dgm:pt modelId="{E0A50C8B-B00D-4D59-8ED5-C2DA5DC31292}" type="pres">
      <dgm:prSet presAssocID="{AA7A37FA-7E41-44E4-84F3-0EA7E91D9E1F}" presName="parTx" presStyleLbl="revTx" presStyleIdx="1" presStyleCnt="3">
        <dgm:presLayoutVars>
          <dgm:chMax val="0"/>
          <dgm:chPref val="0"/>
        </dgm:presLayoutVars>
      </dgm:prSet>
      <dgm:spPr/>
    </dgm:pt>
    <dgm:pt modelId="{F9A699F8-5B71-4678-8BCA-CCC28468844C}" type="pres">
      <dgm:prSet presAssocID="{73A33601-3261-4294-8CEE-4FD511498DFD}" presName="sibTrans" presStyleCnt="0"/>
      <dgm:spPr/>
    </dgm:pt>
    <dgm:pt modelId="{5D444092-0A30-46D1-BB5C-078C2950982D}" type="pres">
      <dgm:prSet presAssocID="{FAB20843-291C-4BE3-9A5B-2040125B8D60}" presName="compNode" presStyleCnt="0"/>
      <dgm:spPr/>
    </dgm:pt>
    <dgm:pt modelId="{35439630-125D-4B6E-BEF2-8356DF4AE984}" type="pres">
      <dgm:prSet presAssocID="{FAB20843-291C-4BE3-9A5B-2040125B8D60}" presName="bgRect" presStyleLbl="bgShp" presStyleIdx="2" presStyleCnt="3"/>
      <dgm:spPr/>
    </dgm:pt>
    <dgm:pt modelId="{6548AFB6-224F-4C8C-883E-0CF32424BCA0}" type="pres">
      <dgm:prSet presAssocID="{FAB20843-291C-4BE3-9A5B-2040125B8D60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A5EBE4BA-89CD-49C3-82D2-44D39B95BB40}" type="pres">
      <dgm:prSet presAssocID="{FAB20843-291C-4BE3-9A5B-2040125B8D60}" presName="spaceRect" presStyleCnt="0"/>
      <dgm:spPr/>
    </dgm:pt>
    <dgm:pt modelId="{9B709BBB-0EE4-44F0-BF0D-4A09AFADDEE6}" type="pres">
      <dgm:prSet presAssocID="{FAB20843-291C-4BE3-9A5B-2040125B8D6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30B3E5D-BBF8-4EFD-94AE-77FEC573F21B}" type="presOf" srcId="{CA502C5D-40F4-49F3-BC7B-0085D91E03CA}" destId="{E77E8EFE-0E2D-47C7-BC5F-D4B9FDFCFBF5}" srcOrd="0" destOrd="0" presId="urn:microsoft.com/office/officeart/2018/2/layout/IconVerticalSolidList"/>
    <dgm:cxn modelId="{9DACF44E-2C51-4166-A4FE-84636AC2B785}" srcId="{FE0BEC64-4DB8-4E1E-9141-FE658705EB6D}" destId="{CA502C5D-40F4-49F3-BC7B-0085D91E03CA}" srcOrd="0" destOrd="0" parTransId="{CB438F69-D025-4B5A-858E-FCAD70A4AB3E}" sibTransId="{13576EAA-9730-4FD3-860B-F9AA5157B07F}"/>
    <dgm:cxn modelId="{A1BB374F-6C52-4CB5-9C67-DD08AC5B12AC}" type="presOf" srcId="{FE0BEC64-4DB8-4E1E-9141-FE658705EB6D}" destId="{E3DC32B4-DA0B-4A1F-BB20-D6197D7CBE59}" srcOrd="0" destOrd="0" presId="urn:microsoft.com/office/officeart/2018/2/layout/IconVerticalSolidList"/>
    <dgm:cxn modelId="{5F526CA6-8F1C-4CC7-94E6-DF978DDAB504}" srcId="{FE0BEC64-4DB8-4E1E-9141-FE658705EB6D}" destId="{AA7A37FA-7E41-44E4-84F3-0EA7E91D9E1F}" srcOrd="1" destOrd="0" parTransId="{2DC48EBE-F9E6-4A2A-A841-1B1C3F1E5BFC}" sibTransId="{73A33601-3261-4294-8CEE-4FD511498DFD}"/>
    <dgm:cxn modelId="{4212E5E7-A0A5-4EC6-8690-0F99FC2AA5F3}" type="presOf" srcId="{FAB20843-291C-4BE3-9A5B-2040125B8D60}" destId="{9B709BBB-0EE4-44F0-BF0D-4A09AFADDEE6}" srcOrd="0" destOrd="0" presId="urn:microsoft.com/office/officeart/2018/2/layout/IconVerticalSolidList"/>
    <dgm:cxn modelId="{6CA842EC-6902-459B-A68A-C2F15A91F72B}" srcId="{FE0BEC64-4DB8-4E1E-9141-FE658705EB6D}" destId="{FAB20843-291C-4BE3-9A5B-2040125B8D60}" srcOrd="2" destOrd="0" parTransId="{BD864967-7A38-48FA-9C44-777878D0203F}" sibTransId="{01A881F3-C6D7-4C18-B0BE-D1684BC42102}"/>
    <dgm:cxn modelId="{93EA99FF-B121-4D7B-95BD-CEFFD3139A42}" type="presOf" srcId="{AA7A37FA-7E41-44E4-84F3-0EA7E91D9E1F}" destId="{E0A50C8B-B00D-4D59-8ED5-C2DA5DC31292}" srcOrd="0" destOrd="0" presId="urn:microsoft.com/office/officeart/2018/2/layout/IconVerticalSolidList"/>
    <dgm:cxn modelId="{99A2EDF6-4A05-4E11-A71E-26EEE38682C9}" type="presParOf" srcId="{E3DC32B4-DA0B-4A1F-BB20-D6197D7CBE59}" destId="{2A076E44-F78B-4009-A025-7726AC7DA28A}" srcOrd="0" destOrd="0" presId="urn:microsoft.com/office/officeart/2018/2/layout/IconVerticalSolidList"/>
    <dgm:cxn modelId="{FFB951CB-8DA0-4B69-8F01-14772F2BCE91}" type="presParOf" srcId="{2A076E44-F78B-4009-A025-7726AC7DA28A}" destId="{EB923C56-EBB1-423B-8CB3-643288F0F4A3}" srcOrd="0" destOrd="0" presId="urn:microsoft.com/office/officeart/2018/2/layout/IconVerticalSolidList"/>
    <dgm:cxn modelId="{D24A4BDF-F47A-4CD3-BDB0-0D1D5B07270F}" type="presParOf" srcId="{2A076E44-F78B-4009-A025-7726AC7DA28A}" destId="{4D241B2D-0D74-4A77-BEB5-43230D1500B9}" srcOrd="1" destOrd="0" presId="urn:microsoft.com/office/officeart/2018/2/layout/IconVerticalSolidList"/>
    <dgm:cxn modelId="{3E043E56-E563-41A2-A017-C1E85698E092}" type="presParOf" srcId="{2A076E44-F78B-4009-A025-7726AC7DA28A}" destId="{F1517DDA-2ED6-4F13-945C-69A9CD2E1FDD}" srcOrd="2" destOrd="0" presId="urn:microsoft.com/office/officeart/2018/2/layout/IconVerticalSolidList"/>
    <dgm:cxn modelId="{7904831E-3BD7-45DF-89B1-0746F23274E3}" type="presParOf" srcId="{2A076E44-F78B-4009-A025-7726AC7DA28A}" destId="{E77E8EFE-0E2D-47C7-BC5F-D4B9FDFCFBF5}" srcOrd="3" destOrd="0" presId="urn:microsoft.com/office/officeart/2018/2/layout/IconVerticalSolidList"/>
    <dgm:cxn modelId="{7CC18E2C-F8C6-4E9E-88D8-C7DFFDC6CB89}" type="presParOf" srcId="{E3DC32B4-DA0B-4A1F-BB20-D6197D7CBE59}" destId="{37C6688A-B330-40F2-A07C-222658632DA1}" srcOrd="1" destOrd="0" presId="urn:microsoft.com/office/officeart/2018/2/layout/IconVerticalSolidList"/>
    <dgm:cxn modelId="{570D7736-59A2-484A-BCFC-0A122F53B643}" type="presParOf" srcId="{E3DC32B4-DA0B-4A1F-BB20-D6197D7CBE59}" destId="{D54D3B23-C69D-40EF-99DF-8C83AB82572B}" srcOrd="2" destOrd="0" presId="urn:microsoft.com/office/officeart/2018/2/layout/IconVerticalSolidList"/>
    <dgm:cxn modelId="{C9EEF233-CD42-4789-940C-3ED49640C9E8}" type="presParOf" srcId="{D54D3B23-C69D-40EF-99DF-8C83AB82572B}" destId="{0AE7E51E-5C5E-44E5-BE45-998FD5309657}" srcOrd="0" destOrd="0" presId="urn:microsoft.com/office/officeart/2018/2/layout/IconVerticalSolidList"/>
    <dgm:cxn modelId="{AE7E5D0D-99D5-49D5-ACB9-68C831A854F2}" type="presParOf" srcId="{D54D3B23-C69D-40EF-99DF-8C83AB82572B}" destId="{275C9952-BC92-4110-956A-B1D23303B722}" srcOrd="1" destOrd="0" presId="urn:microsoft.com/office/officeart/2018/2/layout/IconVerticalSolidList"/>
    <dgm:cxn modelId="{B10A5F5B-60C9-4FBE-92FA-9C948B8EBDEB}" type="presParOf" srcId="{D54D3B23-C69D-40EF-99DF-8C83AB82572B}" destId="{E6C21582-C418-42CE-997A-5212FBED965D}" srcOrd="2" destOrd="0" presId="urn:microsoft.com/office/officeart/2018/2/layout/IconVerticalSolidList"/>
    <dgm:cxn modelId="{9DE90B52-4D4E-481E-8482-467E7358B763}" type="presParOf" srcId="{D54D3B23-C69D-40EF-99DF-8C83AB82572B}" destId="{E0A50C8B-B00D-4D59-8ED5-C2DA5DC31292}" srcOrd="3" destOrd="0" presId="urn:microsoft.com/office/officeart/2018/2/layout/IconVerticalSolidList"/>
    <dgm:cxn modelId="{CF444EC1-4676-45E6-B23B-0F3B97848A4E}" type="presParOf" srcId="{E3DC32B4-DA0B-4A1F-BB20-D6197D7CBE59}" destId="{F9A699F8-5B71-4678-8BCA-CCC28468844C}" srcOrd="3" destOrd="0" presId="urn:microsoft.com/office/officeart/2018/2/layout/IconVerticalSolidList"/>
    <dgm:cxn modelId="{6862A95A-BE55-41EE-AE83-85B3E9341E51}" type="presParOf" srcId="{E3DC32B4-DA0B-4A1F-BB20-D6197D7CBE59}" destId="{5D444092-0A30-46D1-BB5C-078C2950982D}" srcOrd="4" destOrd="0" presId="urn:microsoft.com/office/officeart/2018/2/layout/IconVerticalSolidList"/>
    <dgm:cxn modelId="{37FB6B29-AF39-473D-B72D-FA2FE56AA8D5}" type="presParOf" srcId="{5D444092-0A30-46D1-BB5C-078C2950982D}" destId="{35439630-125D-4B6E-BEF2-8356DF4AE984}" srcOrd="0" destOrd="0" presId="urn:microsoft.com/office/officeart/2018/2/layout/IconVerticalSolidList"/>
    <dgm:cxn modelId="{D7694081-7D7A-4882-AC4E-9247EEBFDB67}" type="presParOf" srcId="{5D444092-0A30-46D1-BB5C-078C2950982D}" destId="{6548AFB6-224F-4C8C-883E-0CF32424BCA0}" srcOrd="1" destOrd="0" presId="urn:microsoft.com/office/officeart/2018/2/layout/IconVerticalSolidList"/>
    <dgm:cxn modelId="{694988BA-0DAA-409C-A980-DBBBCE2EA6FA}" type="presParOf" srcId="{5D444092-0A30-46D1-BB5C-078C2950982D}" destId="{A5EBE4BA-89CD-49C3-82D2-44D39B95BB40}" srcOrd="2" destOrd="0" presId="urn:microsoft.com/office/officeart/2018/2/layout/IconVerticalSolidList"/>
    <dgm:cxn modelId="{5D2ED4D8-00A2-4D70-8AE5-19ED9C8B2C6B}" type="presParOf" srcId="{5D444092-0A30-46D1-BB5C-078C2950982D}" destId="{9B709BBB-0EE4-44F0-BF0D-4A09AFADDEE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923C56-EBB1-423B-8CB3-643288F0F4A3}">
      <dsp:nvSpPr>
        <dsp:cNvPr id="0" name=""/>
        <dsp:cNvSpPr/>
      </dsp:nvSpPr>
      <dsp:spPr>
        <a:xfrm>
          <a:off x="0" y="531"/>
          <a:ext cx="10515600" cy="124470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241B2D-0D74-4A77-BEB5-43230D1500B9}">
      <dsp:nvSpPr>
        <dsp:cNvPr id="0" name=""/>
        <dsp:cNvSpPr/>
      </dsp:nvSpPr>
      <dsp:spPr>
        <a:xfrm>
          <a:off x="376522" y="280590"/>
          <a:ext cx="684586" cy="6845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7E8EFE-0E2D-47C7-BC5F-D4B9FDFCFBF5}">
      <dsp:nvSpPr>
        <dsp:cNvPr id="0" name=""/>
        <dsp:cNvSpPr/>
      </dsp:nvSpPr>
      <dsp:spPr>
        <a:xfrm>
          <a:off x="1437631" y="531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solidFill>
                <a:schemeClr val="tx1"/>
              </a:solidFill>
            </a:rPr>
            <a:t>Pie Charts </a:t>
          </a:r>
          <a:r>
            <a:rPr lang="en-US" sz="2300" kern="1200" dirty="0">
              <a:solidFill>
                <a:schemeClr val="tx1"/>
              </a:solidFill>
            </a:rPr>
            <a:t> - a circle divided into ‘slices’ corresponding to each category. The size of a slice shows the proportion of observations in a category</a:t>
          </a:r>
        </a:p>
      </dsp:txBody>
      <dsp:txXfrm>
        <a:off x="1437631" y="531"/>
        <a:ext cx="9077968" cy="1244702"/>
      </dsp:txXfrm>
    </dsp:sp>
    <dsp:sp modelId="{0AE7E51E-5C5E-44E5-BE45-998FD5309657}">
      <dsp:nvSpPr>
        <dsp:cNvPr id="0" name=""/>
        <dsp:cNvSpPr/>
      </dsp:nvSpPr>
      <dsp:spPr>
        <a:xfrm>
          <a:off x="0" y="1556410"/>
          <a:ext cx="10515600" cy="124470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5C9952-BC92-4110-956A-B1D23303B722}">
      <dsp:nvSpPr>
        <dsp:cNvPr id="0" name=""/>
        <dsp:cNvSpPr/>
      </dsp:nvSpPr>
      <dsp:spPr>
        <a:xfrm>
          <a:off x="376522" y="1836468"/>
          <a:ext cx="684586" cy="6845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A50C8B-B00D-4D59-8ED5-C2DA5DC31292}">
      <dsp:nvSpPr>
        <dsp:cNvPr id="0" name=""/>
        <dsp:cNvSpPr/>
      </dsp:nvSpPr>
      <dsp:spPr>
        <a:xfrm>
          <a:off x="1437631" y="1556410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solidFill>
                <a:schemeClr val="tx1"/>
              </a:solidFill>
            </a:rPr>
            <a:t>Bar graph</a:t>
          </a:r>
          <a:r>
            <a:rPr lang="en-US" sz="2300" kern="1200" dirty="0">
              <a:solidFill>
                <a:schemeClr val="tx1"/>
              </a:solidFill>
            </a:rPr>
            <a:t> –  displays a vertical bar for each category. The height of the bar shows the percentages of observations in the category</a:t>
          </a:r>
        </a:p>
      </dsp:txBody>
      <dsp:txXfrm>
        <a:off x="1437631" y="1556410"/>
        <a:ext cx="9077968" cy="1244702"/>
      </dsp:txXfrm>
    </dsp:sp>
    <dsp:sp modelId="{35439630-125D-4B6E-BEF2-8356DF4AE984}">
      <dsp:nvSpPr>
        <dsp:cNvPr id="0" name=""/>
        <dsp:cNvSpPr/>
      </dsp:nvSpPr>
      <dsp:spPr>
        <a:xfrm>
          <a:off x="0" y="3112289"/>
          <a:ext cx="10515600" cy="124470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48AFB6-224F-4C8C-883E-0CF32424BCA0}">
      <dsp:nvSpPr>
        <dsp:cNvPr id="0" name=""/>
        <dsp:cNvSpPr/>
      </dsp:nvSpPr>
      <dsp:spPr>
        <a:xfrm>
          <a:off x="376522" y="3392347"/>
          <a:ext cx="684586" cy="6845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709BBB-0EE4-44F0-BF0D-4A09AFADDEE6}">
      <dsp:nvSpPr>
        <dsp:cNvPr id="0" name=""/>
        <dsp:cNvSpPr/>
      </dsp:nvSpPr>
      <dsp:spPr>
        <a:xfrm>
          <a:off x="1437631" y="3112289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solidFill>
                <a:schemeClr val="tx1"/>
              </a:solidFill>
            </a:rPr>
            <a:t>Pareto Chart </a:t>
          </a:r>
          <a:r>
            <a:rPr lang="en-US" sz="2300" kern="1200" dirty="0">
              <a:solidFill>
                <a:schemeClr val="tx1"/>
              </a:solidFill>
            </a:rPr>
            <a:t> - a bar chart with the categories ordered by decreasing frequency</a:t>
          </a:r>
        </a:p>
      </dsp:txBody>
      <dsp:txXfrm>
        <a:off x="1437631" y="3112289"/>
        <a:ext cx="9077968" cy="12447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flickr.com/photos/yellowstonenps/13931227900/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rmAutofit/>
          </a:bodyPr>
          <a:lstStyle/>
          <a:p>
            <a:r>
              <a:rPr lang="en-US" dirty="0"/>
              <a:t>Lecture 3</a:t>
            </a:r>
            <a:br>
              <a:rPr lang="en-US" dirty="0"/>
            </a:br>
            <a:r>
              <a:rPr lang="en-US" dirty="0"/>
              <a:t>Describing and Visualizing Distributions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8000"/>
            <a:ext cx="10515600" cy="605578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</a:t>
            </a:r>
          </a:p>
        </p:txBody>
      </p:sp>
      <p:sp>
        <p:nvSpPr>
          <p:cNvPr id="3" name="Question 1"/>
          <p:cNvSpPr/>
          <p:nvPr/>
        </p:nvSpPr>
        <p:spPr>
          <a:xfrm>
            <a:off x="838200" y="100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4472C4"/>
                </a:solidFill>
              </a:rPr>
              <a:t>1   </a:t>
            </a:r>
            <a:r>
              <a:rPr lang="en-US" b="1" dirty="0"/>
              <a:t>What is a statistic?</a:t>
            </a:r>
          </a:p>
        </p:txBody>
      </p:sp>
      <p:sp>
        <p:nvSpPr>
          <p:cNvPr id="4" name="Answer 1"/>
          <p:cNvSpPr txBox="1"/>
          <p:nvPr/>
        </p:nvSpPr>
        <p:spPr>
          <a:xfrm>
            <a:off x="1066800" y="156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A numerical characteristic of a sample – a number computed from the observations we actually collected.</a:t>
            </a:r>
          </a:p>
        </p:txBody>
      </p:sp>
      <p:sp>
        <p:nvSpPr>
          <p:cNvPr id="5" name="Question 2"/>
          <p:cNvSpPr/>
          <p:nvPr/>
        </p:nvSpPr>
        <p:spPr>
          <a:xfrm>
            <a:off x="838200" y="206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4472C4"/>
                </a:solidFill>
              </a:rPr>
              <a:t>2   </a:t>
            </a:r>
            <a:r>
              <a:rPr lang="en-US" b="1" dirty="0"/>
              <a:t>What is a parameter?</a:t>
            </a:r>
          </a:p>
        </p:txBody>
      </p:sp>
      <p:sp>
        <p:nvSpPr>
          <p:cNvPr id="6" name="Answer 2"/>
          <p:cNvSpPr txBox="1"/>
          <p:nvPr/>
        </p:nvSpPr>
        <p:spPr>
          <a:xfrm>
            <a:off x="1066800" y="262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The same kind of number for a population, computed from every observation – and usually unknown.</a:t>
            </a:r>
          </a:p>
        </p:txBody>
      </p:sp>
      <p:sp>
        <p:nvSpPr>
          <p:cNvPr id="7" name="Question 3"/>
          <p:cNvSpPr/>
          <p:nvPr/>
        </p:nvSpPr>
        <p:spPr>
          <a:xfrm>
            <a:off x="838200" y="312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4472C4"/>
                </a:solidFill>
              </a:rPr>
              <a:t>3   </a:t>
            </a:r>
            <a:r>
              <a:rPr lang="en-US" b="1" dirty="0"/>
              <a:t>What do we use data for?</a:t>
            </a:r>
          </a:p>
        </p:txBody>
      </p:sp>
      <p:sp>
        <p:nvSpPr>
          <p:cNvPr id="8" name="Answer 3"/>
          <p:cNvSpPr txBox="1"/>
          <p:nvPr/>
        </p:nvSpPr>
        <p:spPr>
          <a:xfrm>
            <a:off x="1066800" y="368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To answer questions about a population.</a:t>
            </a:r>
          </a:p>
        </p:txBody>
      </p:sp>
      <p:sp>
        <p:nvSpPr>
          <p:cNvPr id="9" name="Question 4"/>
          <p:cNvSpPr/>
          <p:nvPr/>
        </p:nvSpPr>
        <p:spPr>
          <a:xfrm>
            <a:off x="838200" y="418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4472C4"/>
                </a:solidFill>
              </a:rPr>
              <a:t>4   </a:t>
            </a:r>
            <a:r>
              <a:rPr lang="en-US" b="1" dirty="0"/>
              <a:t>What is a population?</a:t>
            </a:r>
          </a:p>
        </p:txBody>
      </p:sp>
      <p:sp>
        <p:nvSpPr>
          <p:cNvPr id="10" name="Answer 4"/>
          <p:cNvSpPr txBox="1"/>
          <p:nvPr/>
        </p:nvSpPr>
        <p:spPr>
          <a:xfrm>
            <a:off x="1066800" y="474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The set of all observations of interest – observed and unobserved.</a:t>
            </a:r>
          </a:p>
        </p:txBody>
      </p:sp>
      <p:sp>
        <p:nvSpPr>
          <p:cNvPr id="11" name="Question 5"/>
          <p:cNvSpPr/>
          <p:nvPr/>
        </p:nvSpPr>
        <p:spPr>
          <a:xfrm>
            <a:off x="838200" y="524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4472C4"/>
                </a:solidFill>
              </a:rPr>
              <a:t>5   </a:t>
            </a:r>
            <a:r>
              <a:rPr lang="en-US" b="1" dirty="0"/>
              <a:t>What is a sample?</a:t>
            </a:r>
          </a:p>
        </p:txBody>
      </p:sp>
      <p:sp>
        <p:nvSpPr>
          <p:cNvPr id="12" name="Answer 5"/>
          <p:cNvSpPr txBox="1"/>
          <p:nvPr/>
        </p:nvSpPr>
        <p:spPr>
          <a:xfrm>
            <a:off x="1066800" y="580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The subset of the population that we actually observe.</a:t>
            </a:r>
          </a:p>
        </p:txBody>
      </p:sp>
    </p:spTree>
    <p:extLst>
      <p:ext uri="{BB962C8B-B14F-4D97-AF65-F5344CB8AC3E}">
        <p14:creationId xmlns:p14="http://schemas.microsoft.com/office/powerpoint/2010/main" val="151748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19130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</a:t>
            </a: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4472C4"/>
                </a:solidFill>
              </a:rPr>
              <a:t>1   </a:t>
            </a:r>
            <a:r>
              <a:rPr lang="en-US" b="1" dirty="0"/>
              <a:t>What do we call the way we collect the data?</a:t>
            </a:r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The sampling design.</a:t>
            </a: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4472C4"/>
                </a:solidFill>
              </a:rPr>
              <a:t>2   </a:t>
            </a:r>
            <a:r>
              <a:rPr lang="en-US" b="1" dirty="0"/>
              <a:t>What are the three arms of statistics?</a:t>
            </a:r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Design, description and inference.</a:t>
            </a: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4472C4"/>
                </a:solidFill>
              </a:rPr>
              <a:t>3   </a:t>
            </a:r>
            <a:r>
              <a:rPr lang="en-US" b="1" dirty="0"/>
              <a:t>Which one comes first, and why?</a:t>
            </a:r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Design – how we plan to collect the data, settled before any data exists. No amount of description or inference repairs a bad design.</a:t>
            </a: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4472C4"/>
                </a:solidFill>
              </a:rPr>
              <a:t>4   </a:t>
            </a:r>
            <a:r>
              <a:rPr lang="en-US" b="1" dirty="0"/>
              <a:t>What is an estimate?</a:t>
            </a:r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A statistic computed from a sample, used to approximate an unknown population parameter</a:t>
            </a:r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1327843-2234-FD4B-8B1B-E62A4EDD2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487" y="643466"/>
            <a:ext cx="8315026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6819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14C2221-2B8C-494D-9442-F812DF4E8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0C838-419D-A320-939B-B830BDB03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13932"/>
            <a:ext cx="3143250" cy="2601119"/>
          </a:xfrm>
        </p:spPr>
        <p:txBody>
          <a:bodyPr anchor="t">
            <a:normAutofit/>
          </a:bodyPr>
          <a:lstStyle/>
          <a:p>
            <a:pPr algn="ctr"/>
            <a:r>
              <a:rPr lang="en-US" sz="3200" dirty="0"/>
              <a:t>Features of Distributions</a:t>
            </a:r>
          </a:p>
        </p:txBody>
      </p:sp>
      <p:pic>
        <p:nvPicPr>
          <p:cNvPr id="7" name="Graphic 6" descr="Bar chart">
            <a:extLst>
              <a:ext uri="{FF2B5EF4-FFF2-40B4-BE49-F238E27FC236}">
                <a16:creationId xmlns:a16="http://schemas.microsoft.com/office/drawing/2014/main" id="{A24949B9-7196-14B2-6760-43F0BB29F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26" y="2429668"/>
            <a:ext cx="914400" cy="9144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77A37-4E8C-D029-B59B-07E4F0EE31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0" y="730249"/>
            <a:ext cx="8305799" cy="5803901"/>
          </a:xfrm>
        </p:spPr>
        <p:txBody>
          <a:bodyPr anchor="ctr">
            <a:normAutofit lnSpcReduction="10000"/>
          </a:bodyPr>
          <a:lstStyle/>
          <a:p>
            <a:r>
              <a:rPr lang="en-US" sz="2000" dirty="0"/>
              <a:t>A </a:t>
            </a:r>
            <a:r>
              <a:rPr lang="en-US" sz="2000" b="1" dirty="0"/>
              <a:t>distribution</a:t>
            </a:r>
            <a:r>
              <a:rPr lang="en-US" sz="2000" dirty="0"/>
              <a:t> of a variable gives (a) the values that occur and (b) how often each value occurs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u="sng" dirty="0"/>
              <a:t>Features of A Distribution</a:t>
            </a:r>
          </a:p>
          <a:p>
            <a:pPr marL="0" indent="0">
              <a:buNone/>
            </a:pPr>
            <a:r>
              <a:rPr lang="en-US" sz="2000" b="1" dirty="0"/>
              <a:t>Categorical Variables:</a:t>
            </a:r>
          </a:p>
          <a:p>
            <a:r>
              <a:rPr lang="en-US" sz="2000" b="1" dirty="0"/>
              <a:t>Modal category </a:t>
            </a:r>
            <a:r>
              <a:rPr lang="en-US" sz="2000" dirty="0"/>
              <a:t>– the category with the highest frequency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Quantitative Variables:</a:t>
            </a:r>
          </a:p>
          <a:p>
            <a:r>
              <a:rPr lang="en-US" sz="2000" b="1" dirty="0"/>
              <a:t>Shape</a:t>
            </a:r>
            <a:r>
              <a:rPr lang="en-US" sz="2000" dirty="0"/>
              <a:t> – do observations cluster into certain areas, are values spread out or more densely packed together?</a:t>
            </a:r>
          </a:p>
          <a:p>
            <a:endParaRPr lang="en-US" sz="2000" b="1" dirty="0"/>
          </a:p>
          <a:p>
            <a:r>
              <a:rPr lang="en-US" sz="2000" b="1" dirty="0"/>
              <a:t>Center</a:t>
            </a:r>
            <a:r>
              <a:rPr lang="en-US" sz="2000" dirty="0"/>
              <a:t> – where is the middle point on the distribution, where does a typical value fall?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Variability</a:t>
            </a:r>
            <a:r>
              <a:rPr lang="en-US" sz="2000" dirty="0"/>
              <a:t> – how tightly to observations cluster around the center of the distribution </a:t>
            </a:r>
          </a:p>
        </p:txBody>
      </p:sp>
    </p:spTree>
    <p:extLst>
      <p:ext uri="{BB962C8B-B14F-4D97-AF65-F5344CB8AC3E}">
        <p14:creationId xmlns:p14="http://schemas.microsoft.com/office/powerpoint/2010/main" val="10966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E7931-7E6D-2752-3470-1130A2671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Displaying Distributions: Frequency Tables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2BC55B-314A-1FBB-D20E-C5A2049501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686300" cy="4351338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Frequency table – </a:t>
                </a:r>
                <a:r>
                  <a:rPr lang="en-US" dirty="0"/>
                  <a:t>a table listing the distinct values of variable together with the number of observations of each value</a:t>
                </a:r>
              </a:p>
              <a:p>
                <a:endParaRPr lang="en-US" b="1" dirty="0"/>
              </a:p>
              <a:p>
                <a:r>
                  <a:rPr lang="en-US" b="1" dirty="0"/>
                  <a:t>Frequency</a:t>
                </a:r>
                <a:r>
                  <a:rPr lang="en-US" dirty="0"/>
                  <a:t> – the number of times a value occurs</a:t>
                </a:r>
              </a:p>
              <a:p>
                <a:endParaRPr lang="en-US" dirty="0"/>
              </a:p>
              <a:p>
                <a:r>
                  <a:rPr lang="en-US" b="1" dirty="0"/>
                  <a:t>Relative Frequency</a:t>
                </a:r>
                <a:r>
                  <a:rPr lang="en-US" dirty="0"/>
                  <a:t> – the proportion of observations that assume a given value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400" b="0" i="0" smtClean="0">
                        <a:latin typeface="Cambria Math" panose="02040503050406030204" pitchFamily="18" charset="0"/>
                      </a:rPr>
                      <m:t>RF</m:t>
                    </m:r>
                    <m:r>
                      <a:rPr lang="en-US" sz="3400" b="0" i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3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US" sz="3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3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Cumulative Relative Frequency </a:t>
                </a:r>
                <a:r>
                  <a:rPr lang="en-US" dirty="0"/>
                  <a:t>- the proportion of observations </a:t>
                </a:r>
                <a:r>
                  <a:rPr lang="en-US" u="sng" dirty="0"/>
                  <a:t>equal to or less than</a:t>
                </a:r>
                <a:r>
                  <a:rPr lang="en-US" dirty="0"/>
                  <a:t> a given value (more on this later)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2BC55B-314A-1FBB-D20E-C5A2049501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686300" cy="4351338"/>
              </a:xfrm>
              <a:blipFill>
                <a:blip r:embed="rId2"/>
                <a:stretch>
                  <a:fillRect l="-1172" t="-2521" r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C16CEE11-2CF1-DEAD-BC8D-9BB706DE1AB6}"/>
              </a:ext>
            </a:extLst>
          </p:cNvPr>
          <p:cNvSpPr txBox="1"/>
          <p:nvPr/>
        </p:nvSpPr>
        <p:spPr>
          <a:xfrm>
            <a:off x="6873497" y="1506022"/>
            <a:ext cx="4392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Ex. Are teens distracted by their cell phones?</a:t>
            </a:r>
          </a:p>
        </p:txBody>
      </p:sp>
      <p:pic>
        <p:nvPicPr>
          <p:cNvPr id="30" name="Table stage 1">
            <a:extLst>
              <a:ext uri="{FF2B5EF4-FFF2-40B4-BE49-F238E27FC236}">
                <a16:creationId xmlns:a16="http://schemas.microsoft.com/office/drawing/2014/main" id="{A726F141-28A4-5B62-1A80-B214989D15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1891" y="1887427"/>
            <a:ext cx="6358151" cy="2636307"/>
          </a:xfrm>
          <a:prstGeom prst="rect">
            <a:avLst/>
          </a:prstGeom>
        </p:spPr>
      </p:pic>
      <p:pic>
        <p:nvPicPr>
          <p:cNvPr id="31" name="Table stage 2">
            <a:extLst>
              <a:ext uri="{FF2B5EF4-FFF2-40B4-BE49-F238E27FC236}">
                <a16:creationId xmlns:a16="http://schemas.microsoft.com/office/drawing/2014/main" id="{A726F141-28A4-5B62-1A80-B214989D1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891" y="1887427"/>
            <a:ext cx="6358151" cy="26363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26F141-28A4-5B62-1A80-B214989D15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891" y="1887427"/>
            <a:ext cx="6358151" cy="2636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21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Mendel’s Pea Plants</a:t>
            </a:r>
          </a:p>
        </p:txBody>
      </p:sp>
      <p:sp>
        <p:nvSpPr>
          <p:cNvPr id="3" name="Caption"/>
          <p:cNvSpPr txBox="1"/>
          <p:nvPr/>
        </p:nvSpPr>
        <p:spPr>
          <a:xfrm>
            <a:off x="838200" y="1560000"/>
            <a:ext cx="10515600" cy="7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700" dirty="0"/>
              <a:t>In one of Gregor Mendel’s classic studies he bred 8,023 pea plants and recorded the color of the peas – the seeds – that each plant produced.</a:t>
            </a:r>
          </a:p>
        </p:txBody>
      </p:sp>
      <p:pic>
        <p:nvPicPr>
          <p:cNvPr id="4" name="Mendel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50000"/>
            <a:ext cx="5486400" cy="1859664"/>
          </a:xfrm>
          <a:prstGeom prst="rect">
            <a:avLst/>
          </a:prstGeom>
        </p:spPr>
      </p:pic>
      <p:sp>
        <p:nvSpPr>
          <p:cNvPr id="5" name="Genetics"/>
          <p:cNvSpPr/>
          <p:nvPr/>
        </p:nvSpPr>
        <p:spPr>
          <a:xfrm>
            <a:off x="6650000" y="2420000"/>
            <a:ext cx="4703800" cy="255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05740" tIns="160020" rIns="205740" bIns="114300">
            <a:normAutofit/>
          </a:bodyPr>
          <a:lstStyle/>
          <a:p>
            <a:pPr marL="0" indent="0">
              <a:buNone/>
            </a:pPr>
            <a:r>
              <a:rPr lang="en-US" sz="1600" b="1" dirty="0"/>
              <a:t>Pea color is set by a single gene.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1600" dirty="0"/>
              <a:t>Yellow (Y) is </a:t>
            </a:r>
            <a:r>
              <a:rPr lang="en-US" sz="1600" b="1" dirty="0">
                <a:solidFill>
                  <a:srgbClr val="4472C4"/>
                </a:solidFill>
              </a:rPr>
              <a:t>dominant</a:t>
            </a:r>
            <a:r>
              <a:rPr lang="en-US" sz="1600" dirty="0"/>
              <a:t>; green (y) is </a:t>
            </a:r>
            <a:r>
              <a:rPr lang="en-US" sz="1600" b="1" dirty="0">
                <a:solidFill>
                  <a:srgbClr val="4472C4"/>
                </a:solidFill>
              </a:rPr>
              <a:t>recessive</a:t>
            </a:r>
            <a:r>
              <a:rPr lang="en-US" sz="1600" dirty="0"/>
              <a:t>. A plant is green only if it inherits y from both parents.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1600" dirty="0"/>
              <a:t>Cross two Yy plants and the offspring are YY, Yy, yY, yy in equal proportion – and only yy shows green. So the theory predicts 3 yellow to every 1 green.</a:t>
            </a:r>
          </a:p>
        </p:txBody>
      </p:sp>
      <p:sp>
        <p:nvSpPr>
          <p:cNvPr id="6" name="Payoff"/>
          <p:cNvSpPr txBox="1"/>
          <p:nvPr/>
        </p:nvSpPr>
        <p:spPr>
          <a:xfrm>
            <a:off x="838200" y="5450000"/>
            <a:ext cx="10515600" cy="9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C00000"/>
                </a:solidFill>
              </a:rPr>
              <a:t>Mendel counted 0.751 and 0.249 – almost exactly 3/4 and 1/4. A frequency table is doing real scientific work here.</a:t>
            </a:r>
          </a:p>
        </p:txBody>
      </p:sp>
    </p:spTree>
    <p:extLst>
      <p:ext uri="{BB962C8B-B14F-4D97-AF65-F5344CB8AC3E}">
        <p14:creationId xmlns:p14="http://schemas.microsoft.com/office/powerpoint/2010/main" val="1517484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Try it out: A Frequency Table by Hand</a:t>
            </a:r>
          </a:p>
        </p:txBody>
      </p:sp>
      <p:sp>
        <p:nvSpPr>
          <p:cNvPr id="3" name="Prompt"/>
          <p:cNvSpPr txBox="1"/>
          <p:nvPr/>
        </p:nvSpPr>
        <p:spPr>
          <a:xfrm>
            <a:off x="838200" y="1600200"/>
            <a:ext cx="5250000" cy="47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600" dirty="0"/>
              <a:t>We put Pew's question to 20 students in this room: are you losing focus in class by checking your phone?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500" dirty="0">
                <a:latin typeface="Consolas" panose="020B0609020204030204"/>
              </a:rPr>
              <a:t>Sometimes  Never  Rarely  Never  Often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Rarely  Never  Sometimes  Rarely  Never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Sometimes  Rarely  Never  Often  Sometimes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Rarely  Never  Rarely  Sometimes  Never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en-US" sz="1600" b="1" dirty="0"/>
              <a:t>Build the frequency table: frequency, relative frequency and cumulative relative frequency. Which is the modal category?</a:t>
            </a:r>
          </a:p>
        </p:txBody>
      </p:sp>
      <p:graphicFrame>
        <p:nvGraphicFramePr>
          <p:cNvPr id="4" name="Answer table"/>
          <p:cNvGraphicFramePr>
            <a:graphicFrameLocks noGrp="1"/>
          </p:cNvGraphicFramePr>
          <p:nvPr/>
        </p:nvGraphicFramePr>
        <p:xfrm>
          <a:off x="6400800" y="1750000"/>
          <a:ext cx="5100000" cy="22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Response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Rel. freq.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Cum. rel. freq.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Never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0.35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0.35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Rarely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0.30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0.65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Sometimes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0.90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Often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1.00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Total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1.00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6400800" y="4230000"/>
            <a:ext cx="5100000" cy="14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Modal category: Never. Pew's 743 teens gave 0.39, 0.29, 0.24, 0.08 – 20 students landed within a few points of them.</a:t>
            </a:r>
          </a:p>
        </p:txBody>
      </p:sp>
    </p:spTree>
    <p:extLst>
      <p:ext uri="{BB962C8B-B14F-4D97-AF65-F5344CB8AC3E}">
        <p14:creationId xmlns:p14="http://schemas.microsoft.com/office/powerpoint/2010/main" val="1517484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EC7F35D-317F-28D2-BBCE-99D9B2A1FD57}"/>
              </a:ext>
            </a:extLst>
          </p:cNvPr>
          <p:cNvSpPr/>
          <p:nvPr/>
        </p:nvSpPr>
        <p:spPr>
          <a:xfrm>
            <a:off x="1021247" y="2501144"/>
            <a:ext cx="3380510" cy="7019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Qualitative Variables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881567-2056-16CB-4560-290AC5D327DC}"/>
              </a:ext>
            </a:extLst>
          </p:cNvPr>
          <p:cNvSpPr/>
          <p:nvPr/>
        </p:nvSpPr>
        <p:spPr>
          <a:xfrm>
            <a:off x="7808716" y="2514998"/>
            <a:ext cx="3468883" cy="7019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Quantitative Variables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60F8CB-99D1-AF64-D302-A3630815D19A}"/>
              </a:ext>
            </a:extLst>
          </p:cNvPr>
          <p:cNvSpPr txBox="1"/>
          <p:nvPr/>
        </p:nvSpPr>
        <p:spPr>
          <a:xfrm>
            <a:off x="1002773" y="3401690"/>
            <a:ext cx="3380508" cy="10156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Bar graph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Pie Chart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Pareto Chart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155137-1F8F-B30B-6371-056BD66E46D4}"/>
              </a:ext>
            </a:extLst>
          </p:cNvPr>
          <p:cNvSpPr/>
          <p:nvPr/>
        </p:nvSpPr>
        <p:spPr>
          <a:xfrm>
            <a:off x="4290919" y="133926"/>
            <a:ext cx="3406959" cy="701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Graphical Descriptions Of Data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E4B24D7-47EA-F860-D406-1737EE3EAC68}"/>
              </a:ext>
            </a:extLst>
          </p:cNvPr>
          <p:cNvCxnSpPr>
            <a:cxnSpLocks/>
            <a:stCxn id="25" idx="1"/>
            <a:endCxn id="6" idx="0"/>
          </p:cNvCxnSpPr>
          <p:nvPr/>
        </p:nvCxnSpPr>
        <p:spPr>
          <a:xfrm rot="10800000" flipV="1">
            <a:off x="2711503" y="1524062"/>
            <a:ext cx="1671779" cy="977081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3A0F894-932E-A39B-EE28-C0F756836744}"/>
              </a:ext>
            </a:extLst>
          </p:cNvPr>
          <p:cNvCxnSpPr>
            <a:cxnSpLocks/>
            <a:stCxn id="25" idx="3"/>
            <a:endCxn id="7" idx="0"/>
          </p:cNvCxnSpPr>
          <p:nvPr/>
        </p:nvCxnSpPr>
        <p:spPr>
          <a:xfrm>
            <a:off x="7790240" y="1524063"/>
            <a:ext cx="1752918" cy="990935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B470C11-E3DA-41FB-321D-DF57E25C9C0E}"/>
              </a:ext>
            </a:extLst>
          </p:cNvPr>
          <p:cNvSpPr/>
          <p:nvPr/>
        </p:nvSpPr>
        <p:spPr>
          <a:xfrm>
            <a:off x="4392520" y="4692471"/>
            <a:ext cx="3406959" cy="701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Describe key features of the distribution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7F01EC-1027-1A76-3043-99F0E76481CA}"/>
              </a:ext>
            </a:extLst>
          </p:cNvPr>
          <p:cNvSpPr txBox="1"/>
          <p:nvPr/>
        </p:nvSpPr>
        <p:spPr>
          <a:xfrm>
            <a:off x="4404748" y="5567343"/>
            <a:ext cx="3394731" cy="12003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Modal Category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Center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Spread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433238C4-A2B4-5CCD-B93B-C3EEBA196CA4}"/>
              </a:ext>
            </a:extLst>
          </p:cNvPr>
          <p:cNvCxnSpPr>
            <a:cxnSpLocks/>
            <a:stCxn id="8" idx="2"/>
            <a:endCxn id="15" idx="1"/>
          </p:cNvCxnSpPr>
          <p:nvPr/>
        </p:nvCxnSpPr>
        <p:spPr>
          <a:xfrm rot="16200000" flipH="1">
            <a:off x="3229723" y="3880656"/>
            <a:ext cx="626100" cy="1699493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A6A9435-F7E6-7CDC-62E5-FCB2A9FCE741}"/>
              </a:ext>
            </a:extLst>
          </p:cNvPr>
          <p:cNvCxnSpPr>
            <a:cxnSpLocks/>
            <a:stCxn id="9" idx="2"/>
            <a:endCxn id="15" idx="3"/>
          </p:cNvCxnSpPr>
          <p:nvPr/>
        </p:nvCxnSpPr>
        <p:spPr>
          <a:xfrm rot="5400000">
            <a:off x="8358269" y="3858563"/>
            <a:ext cx="626101" cy="1743679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1966676-BC35-3C86-F6B0-3253A01BE201}"/>
              </a:ext>
            </a:extLst>
          </p:cNvPr>
          <p:cNvSpPr txBox="1"/>
          <p:nvPr/>
        </p:nvSpPr>
        <p:spPr>
          <a:xfrm>
            <a:off x="7808717" y="3401689"/>
            <a:ext cx="3468882" cy="10156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Dot Plot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Stem Chart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Histogram</a:t>
            </a:r>
            <a:r>
              <a:rPr lang="en-US" sz="2000" dirty="0"/>
              <a:t> 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40DF31A-AF91-AF49-1BB8-8D6E76C29BA4}"/>
              </a:ext>
            </a:extLst>
          </p:cNvPr>
          <p:cNvSpPr/>
          <p:nvPr/>
        </p:nvSpPr>
        <p:spPr>
          <a:xfrm>
            <a:off x="4383281" y="1173081"/>
            <a:ext cx="3406959" cy="7019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Frequency Tables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81F32552-BCAB-7E67-B88C-5F1E3B211CC8}"/>
              </a:ext>
            </a:extLst>
          </p:cNvPr>
          <p:cNvSpPr/>
          <p:nvPr/>
        </p:nvSpPr>
        <p:spPr>
          <a:xfrm>
            <a:off x="5886554" y="866958"/>
            <a:ext cx="418890" cy="337127"/>
          </a:xfrm>
          <a:prstGeom prst="down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1E9938-8966-4DC4-C588-135EC5244D53}"/>
              </a:ext>
            </a:extLst>
          </p:cNvPr>
          <p:cNvCxnSpPr>
            <a:stCxn id="25" idx="2"/>
            <a:endCxn id="15" idx="0"/>
          </p:cNvCxnSpPr>
          <p:nvPr/>
        </p:nvCxnSpPr>
        <p:spPr>
          <a:xfrm>
            <a:off x="6086761" y="1875044"/>
            <a:ext cx="9239" cy="281742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9196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Try it out: A Discrete Variable</a:t>
            </a:r>
          </a:p>
        </p:txBody>
      </p:sp>
      <p:sp>
        <p:nvSpPr>
          <p:cNvPr id="3" name="Prompt"/>
          <p:cNvSpPr txBox="1"/>
          <p:nvPr/>
        </p:nvSpPr>
        <p:spPr>
          <a:xfrm>
            <a:off x="838200" y="1600200"/>
            <a:ext cx="5250000" cy="47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/>
              <a:t>Ten students report how many siblings they have. Writing the responses as a set: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500" dirty="0">
                <a:latin typeface="Consolas" panose="020B0609020204030204"/>
              </a:rPr>
              <a:t>R = {0, 1, 1, 2, 0,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        3, 1, 2, 1, 4}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en-US" sz="1600" b="1" dirty="0"/>
              <a:t>Build the frequency table. What is the modal value? Is the distribution symmetric, or skewed – and which way?</a:t>
            </a:r>
          </a:p>
        </p:txBody>
      </p:sp>
      <p:graphicFrame>
        <p:nvGraphicFramePr>
          <p:cNvPr id="4" name="Answer table"/>
          <p:cNvGraphicFramePr>
            <a:graphicFrameLocks noGrp="1"/>
          </p:cNvGraphicFramePr>
          <p:nvPr/>
        </p:nvGraphicFramePr>
        <p:xfrm>
          <a:off x="6400800" y="1750000"/>
          <a:ext cx="4300000" cy="23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Rel. freq.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0.40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Total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1.00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6400800" y="4390000"/>
            <a:ext cx="4300000" cy="13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Mode = 1. Median = 1 but the mean is 1.5: the mean is pulled above the median by the long right tail, so the distribution is skewed right.</a:t>
            </a:r>
          </a:p>
        </p:txBody>
      </p:sp>
    </p:spTree>
    <p:extLst>
      <p:ext uri="{BB962C8B-B14F-4D97-AF65-F5344CB8AC3E}">
        <p14:creationId xmlns:p14="http://schemas.microsoft.com/office/powerpoint/2010/main" val="15174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194FF-DF74-EF86-DF92-8D34A4EA8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Frequency Tables for Continuous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94895-622E-4F90-9B01-BC714AD08F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36200" cy="4351338"/>
          </a:xfrm>
        </p:spPr>
        <p:txBody>
          <a:bodyPr/>
          <a:lstStyle/>
          <a:p>
            <a:r>
              <a:rPr lang="en-US" dirty="0"/>
              <a:t>The number of possible values is usually very large </a:t>
            </a:r>
          </a:p>
          <a:p>
            <a:r>
              <a:rPr lang="en-US" dirty="0"/>
              <a:t>Convert continuous values into discrete groups (sometimes called bins):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Steps: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Divide the range of the variable into a set of non-overlapping intervals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Count the number of values that fall into each interval</a:t>
            </a:r>
          </a:p>
        </p:txBody>
      </p:sp>
    </p:spTree>
    <p:extLst>
      <p:ext uri="{BB962C8B-B14F-4D97-AF65-F5344CB8AC3E}">
        <p14:creationId xmlns:p14="http://schemas.microsoft.com/office/powerpoint/2010/main" val="967060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Try it out: Binning a Continuous Variable</a:t>
            </a:r>
          </a:p>
        </p:txBody>
      </p:sp>
      <p:sp>
        <p:nvSpPr>
          <p:cNvPr id="3" name="Prompt"/>
          <p:cNvSpPr txBox="1"/>
          <p:nvPr/>
        </p:nvSpPr>
        <p:spPr>
          <a:xfrm>
            <a:off x="838200" y="1600200"/>
            <a:ext cx="5250000" cy="47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/>
              <a:t>Fifteen observations of a continuous variable, written as a set: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500" dirty="0">
                <a:latin typeface="Consolas" panose="020B0609020204030204"/>
              </a:rPr>
              <a:t>X = {1.23, 1.38, 1.76, 2.60, 2.65,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        2.79, 2.89, 3.12, 3.15, 3.18,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        3.65, 3.77, 3.87, 4.12, 4.41}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en-US" sz="1600" b="1" dirty="0"/>
              <a:t>No two values are alike, so listing them gives 15 values of frequency 1 and tells us nothing. Group them into whole-number bins.</a:t>
            </a:r>
          </a:p>
        </p:txBody>
      </p:sp>
      <p:graphicFrame>
        <p:nvGraphicFramePr>
          <p:cNvPr id="4" name="Answer table"/>
          <p:cNvGraphicFramePr>
            <a:graphicFrameLocks noGrp="1"/>
          </p:cNvGraphicFramePr>
          <p:nvPr/>
        </p:nvGraphicFramePr>
        <p:xfrm>
          <a:off x="6400800" y="1620000"/>
          <a:ext cx="4100000" cy="19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Bin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Rel. freq.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 ≤ X &lt; 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 ≤ X &lt; 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0.27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 ≤ X &lt; 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0.40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4 ≤ X &lt; 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Total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1.00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Second binning"/>
          <p:cNvGraphicFramePr>
            <a:graphicFrameLocks noGrp="1"/>
          </p:cNvGraphicFramePr>
          <p:nvPr/>
        </p:nvGraphicFramePr>
        <p:xfrm>
          <a:off x="6400800" y="3800000"/>
          <a:ext cx="4100000" cy="25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Narrower bins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Rel. freq.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1.0 ≤ X &lt; 1.5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1.5 ≤ X &lt; 2.0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0.07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2.0 ≤ X &lt; 2.5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2.5 ≤ X &lt; 3.0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0.27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3.0 ≤ X &lt; 3.5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3.5 ≤ X &lt; 4.0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0.20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4.0 ≤ X &lt; 4.5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838200" y="4150000"/>
            <a:ext cx="5250000" cy="19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Bin width is a choice, not a property of the data. Halving it splits the middle and exposes an empty bin: the values fall into two clusters.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C00000"/>
                </a:solidFill>
              </a:rPr>
              <a:t>Next: the same procedure on 272 Old Faithful eruptions.</a:t>
            </a:r>
          </a:p>
        </p:txBody>
      </p:sp>
    </p:spTree>
    <p:extLst>
      <p:ext uri="{BB962C8B-B14F-4D97-AF65-F5344CB8AC3E}">
        <p14:creationId xmlns:p14="http://schemas.microsoft.com/office/powerpoint/2010/main" val="1517484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500"/>
          </a:xfrm>
        </p:spPr>
        <p:txBody>
          <a:bodyPr>
            <a:normAutofit/>
          </a:bodyPr>
          <a:lstStyle/>
          <a:p>
            <a:r>
              <a:rPr lang="en-US" sz="4000" dirty="0"/>
              <a:t>Example: Old Faithful Eruption Times</a:t>
            </a:r>
          </a:p>
        </p:txBody>
      </p:sp>
      <p:pic>
        <p:nvPicPr>
          <p:cNvPr id="12" name="Picture 11" descr="A geyser erupting from a volcano&#10;&#10;Description automatically generated">
            <a:extLst>
              <a:ext uri="{FF2B5EF4-FFF2-40B4-BE49-F238E27FC236}">
                <a16:creationId xmlns:a16="http://schemas.microsoft.com/office/drawing/2014/main" id="{7D4F0832-9507-7EF6-4632-576AC46874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57175" y="2378007"/>
            <a:ext cx="6402243" cy="42702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B6079F2-E75F-5FC2-3656-4040AC7A68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0691" y="2278912"/>
            <a:ext cx="4018898" cy="436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327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A43-5CC7-674C-34A7-42C05AF20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309" y="0"/>
            <a:ext cx="10515600" cy="1325563"/>
          </a:xfrm>
        </p:spPr>
        <p:txBody>
          <a:bodyPr/>
          <a:lstStyle/>
          <a:p>
            <a:r>
              <a:rPr lang="en-US" sz="4400" dirty="0"/>
              <a:t>Old Faithful Eruption Times: Frequency Table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445D82-BC54-E443-F806-44E9E15C1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155" y="1789972"/>
            <a:ext cx="8287907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7663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4D57F0-DEEB-0C1F-56E4-CAE4784DB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dirty="0"/>
              <a:t>Visualizing Distributions of Categorical Data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7A7144C-3BB9-B0B9-1DF4-7E20D741B2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1596485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557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C6A261-0EA6-9E96-37C0-CB6898B1B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4" y="1704974"/>
            <a:ext cx="5891026" cy="39909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AAEAA6-C6FF-BCA1-1B38-7E475B406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0774" y="1478046"/>
            <a:ext cx="5703693" cy="4217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625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9458B-9FCD-C074-086C-F92B55C26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Dot plots – </a:t>
            </a:r>
            <a:r>
              <a:rPr lang="en-US" dirty="0"/>
              <a:t>shows a dot for each observation placed above the value for that observation 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b="1" dirty="0"/>
              <a:t>Steps to construct a dot plot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Draw a horizontal line and mark the line with regular values of the variable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For each observation, place a dot above its value on the number line</a:t>
            </a:r>
          </a:p>
          <a:p>
            <a:pPr lvl="2">
              <a:buFontTx/>
              <a:buChar char="-"/>
            </a:pPr>
            <a:r>
              <a:rPr lang="en-US" dirty="0"/>
              <a:t>Works best with quantitative discrete data</a:t>
            </a:r>
          </a:p>
          <a:p>
            <a:pPr lvl="2">
              <a:buFontTx/>
              <a:buChar char="-"/>
            </a:pPr>
            <a:r>
              <a:rPr lang="en-US" dirty="0"/>
              <a:t>Doesn’t work well if the variable is continuous and takes on many distinct values…</a:t>
            </a:r>
          </a:p>
          <a:p>
            <a:pPr lvl="2">
              <a:buFontTx/>
              <a:buChar char="-"/>
            </a:pPr>
            <a:r>
              <a:rPr lang="en-US" dirty="0"/>
              <a:t>For continuous data, the values may need to be round to the nearest tenth or integer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1FBAE74-D6F2-09F5-B523-7C2CC99DD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</p:spTree>
    <p:extLst>
      <p:ext uri="{BB962C8B-B14F-4D97-AF65-F5344CB8AC3E}">
        <p14:creationId xmlns:p14="http://schemas.microsoft.com/office/powerpoint/2010/main" val="33078967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CDB88E-8525-C007-528D-F06C6B574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091" y="176156"/>
            <a:ext cx="9865915" cy="668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734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500"/>
          </a:xfrm>
        </p:spPr>
        <p:txBody>
          <a:bodyPr>
            <a:normAutofit/>
          </a:bodyPr>
          <a:lstStyle/>
          <a:p>
            <a:r>
              <a:rPr lang="en-US" sz="4000" dirty="0"/>
              <a:t>Example: MPG and Engine Cylinders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B6F122-13F2-0495-B148-F9F908F24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201" y="1764176"/>
            <a:ext cx="7687748" cy="3943900"/>
          </a:xfrm>
          <a:prstGeom prst="rect">
            <a:avLst/>
          </a:prstGeom>
        </p:spPr>
      </p:pic>
      <p:pic>
        <p:nvPicPr>
          <p:cNvPr id="1026" name="Picture 2" descr="The engine | How a Car Works">
            <a:extLst>
              <a:ext uri="{FF2B5EF4-FFF2-40B4-BE49-F238E27FC236}">
                <a16:creationId xmlns:a16="http://schemas.microsoft.com/office/drawing/2014/main" id="{E678D63E-B7D3-7D74-1055-221F6D88A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88" y="1764176"/>
            <a:ext cx="3979862" cy="4331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45576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BCE4F3-B78E-72F0-EC01-6B2C24A47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65" y="0"/>
            <a:ext cx="102832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1659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23648-85AB-3CBC-D261-04D672727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1825624"/>
            <a:ext cx="8065365" cy="4918075"/>
          </a:xfrm>
        </p:spPr>
        <p:txBody>
          <a:bodyPr>
            <a:normAutofit/>
          </a:bodyPr>
          <a:lstStyle/>
          <a:p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Stem and leaf plot – </a:t>
            </a:r>
            <a:r>
              <a:rPr lang="en-US" dirty="0"/>
              <a:t>like a dot plot, a stem and leaf diagram also displays individual observations. </a:t>
            </a:r>
          </a:p>
          <a:p>
            <a:pPr marL="457200" lvl="1" indent="0">
              <a:buNone/>
            </a:pPr>
            <a:r>
              <a:rPr lang="en-US" b="1" dirty="0"/>
              <a:t>Stem </a:t>
            </a:r>
            <a:r>
              <a:rPr lang="en-US" dirty="0"/>
              <a:t>– all the digits in an observation except the last digit</a:t>
            </a:r>
          </a:p>
          <a:p>
            <a:pPr marL="457200" lvl="1" indent="0">
              <a:buNone/>
            </a:pPr>
            <a:r>
              <a:rPr lang="en-US" b="1" dirty="0"/>
              <a:t>Leaf</a:t>
            </a:r>
            <a:r>
              <a:rPr lang="en-US" dirty="0"/>
              <a:t> – the last digit in an observation</a:t>
            </a:r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Steps to construct a stem and leaf plot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Sort the data in order from smallest to largest.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Place the stems in a column in increasing order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Place a vertical line to the right of the stems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To the right of the vertical line, fill in the leaves that correspond with each stem in increasing order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76F8EEE-5CDB-A30C-103E-14D517265954}"/>
              </a:ext>
            </a:extLst>
          </p:cNvPr>
          <p:cNvCxnSpPr/>
          <p:nvPr/>
        </p:nvCxnSpPr>
        <p:spPr>
          <a:xfrm>
            <a:off x="8968509" y="4082473"/>
            <a:ext cx="30202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DD83D42-36EE-26DF-33FE-3BD77AB3DD71}"/>
              </a:ext>
            </a:extLst>
          </p:cNvPr>
          <p:cNvCxnSpPr>
            <a:cxnSpLocks/>
          </p:cNvCxnSpPr>
          <p:nvPr/>
        </p:nvCxnSpPr>
        <p:spPr>
          <a:xfrm flipV="1">
            <a:off x="10543309" y="3627582"/>
            <a:ext cx="0" cy="29487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428CF57-AEF1-F10F-618C-3AA3F2C9DD91}"/>
              </a:ext>
            </a:extLst>
          </p:cNvPr>
          <p:cNvSpPr txBox="1"/>
          <p:nvPr/>
        </p:nvSpPr>
        <p:spPr>
          <a:xfrm>
            <a:off x="9397125" y="3713141"/>
            <a:ext cx="807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Stems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9F37A8-5990-6A9E-3D34-A5A0A49D381D}"/>
              </a:ext>
            </a:extLst>
          </p:cNvPr>
          <p:cNvSpPr txBox="1"/>
          <p:nvPr/>
        </p:nvSpPr>
        <p:spPr>
          <a:xfrm>
            <a:off x="10789825" y="3713141"/>
            <a:ext cx="864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Leaves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59F44D-2921-4D83-B0E5-CE1DCCECF4D6}"/>
              </a:ext>
            </a:extLst>
          </p:cNvPr>
          <p:cNvSpPr txBox="1"/>
          <p:nvPr/>
        </p:nvSpPr>
        <p:spPr>
          <a:xfrm>
            <a:off x="10371121" y="247699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468D34-472F-2504-FDF2-79B2ED88C287}"/>
              </a:ext>
            </a:extLst>
          </p:cNvPr>
          <p:cNvCxnSpPr>
            <a:cxnSpLocks/>
          </p:cNvCxnSpPr>
          <p:nvPr/>
        </p:nvCxnSpPr>
        <p:spPr>
          <a:xfrm flipH="1">
            <a:off x="10188880" y="2771795"/>
            <a:ext cx="315982" cy="15128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84D934-AA0C-5E59-F64A-F238184E5036}"/>
              </a:ext>
            </a:extLst>
          </p:cNvPr>
          <p:cNvSpPr txBox="1"/>
          <p:nvPr/>
        </p:nvSpPr>
        <p:spPr>
          <a:xfrm>
            <a:off x="10069461" y="4267139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8          2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0F6A166-0263-3F11-F469-05F0F88801FA}"/>
              </a:ext>
            </a:extLst>
          </p:cNvPr>
          <p:cNvCxnSpPr>
            <a:cxnSpLocks/>
          </p:cNvCxnSpPr>
          <p:nvPr/>
        </p:nvCxnSpPr>
        <p:spPr>
          <a:xfrm>
            <a:off x="10633078" y="2771795"/>
            <a:ext cx="236403" cy="15128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78529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18" y="28257"/>
            <a:ext cx="10515600" cy="825500"/>
          </a:xfrm>
        </p:spPr>
        <p:txBody>
          <a:bodyPr>
            <a:normAutofit/>
          </a:bodyPr>
          <a:lstStyle/>
          <a:p>
            <a:r>
              <a:rPr lang="en-US" sz="3200" dirty="0"/>
              <a:t>Example: MPG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B6F122-13F2-0495-B148-F9F908F24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28" y="4285672"/>
            <a:ext cx="4645094" cy="238298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B701B9A-D517-32D0-A350-4500F634B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728" y="818384"/>
            <a:ext cx="5275799" cy="35184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E7196C-9CAB-32E1-5755-5C8C7E55C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475" y="466136"/>
            <a:ext cx="2543175" cy="62025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849ACD-33DD-B90C-2FCD-2F174EB76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7544" y="2131695"/>
            <a:ext cx="2453640" cy="348996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C86389B6-E359-7156-60D5-5AC30ED7B48C}"/>
              </a:ext>
            </a:extLst>
          </p:cNvPr>
          <p:cNvSpPr/>
          <p:nvPr/>
        </p:nvSpPr>
        <p:spPr>
          <a:xfrm>
            <a:off x="9165650" y="3260436"/>
            <a:ext cx="708023" cy="4802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49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808856" cy="194281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Try it out: Stem and leaf plot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33D906-CF81-5AD4-2902-D9DD0E0EF8B7}"/>
              </a:ext>
            </a:extLst>
          </p:cNvPr>
          <p:cNvSpPr txBox="1">
            <a:spLocks/>
          </p:cNvSpPr>
          <p:nvPr/>
        </p:nvSpPr>
        <p:spPr>
          <a:xfrm>
            <a:off x="838199" y="2686323"/>
            <a:ext cx="7659256" cy="34335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4.2,  3.8,  4.6,  3.2,  2.7,  8.2, 9.1, 0.2,  1.2,  6.2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5933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8FD37C-6477-7C00-926C-1FB6661998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8125" y="1825624"/>
                <a:ext cx="11408930" cy="4918075"/>
              </a:xfrm>
            </p:spPr>
            <p:txBody>
              <a:bodyPr>
                <a:normAutofit/>
              </a:bodyPr>
              <a:lstStyle/>
              <a:p>
                <a:endParaRPr lang="en-US" b="1" dirty="0"/>
              </a:p>
              <a:p>
                <a:pPr marL="457200" lvl="1" indent="0">
                  <a:buNone/>
                </a:pPr>
                <a:r>
                  <a:rPr lang="en-US" b="1" dirty="0"/>
                  <a:t>Stem and leaf plots </a:t>
                </a:r>
                <a:r>
                  <a:rPr lang="en-US" dirty="0"/>
                  <a:t>and </a:t>
                </a:r>
                <a:r>
                  <a:rPr lang="en-US" b="1" dirty="0"/>
                  <a:t>dot plots</a:t>
                </a:r>
                <a:r>
                  <a:rPr lang="en-US" dirty="0"/>
                  <a:t> are unwieldy for 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Histogram </a:t>
                </a:r>
                <a:r>
                  <a:rPr lang="en-US" dirty="0"/>
                  <a:t>– uses bars to portray the frequencies or relative frequencies of the possible outcomes for a quantitative variable </a:t>
                </a:r>
              </a:p>
              <a:p>
                <a:pPr marL="914400" lvl="2" indent="0">
                  <a:buNone/>
                </a:pPr>
                <a:endParaRPr lang="en-US" b="1" dirty="0"/>
              </a:p>
              <a:p>
                <a:pPr marL="457200" lvl="1" indent="0">
                  <a:buNone/>
                </a:pPr>
                <a:r>
                  <a:rPr lang="en-US" b="1" dirty="0"/>
                  <a:t>Steps to construct a histogram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Divide the range of the data into intervals of equal width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Compute the frequency of each interval (</a:t>
                </a:r>
                <a:r>
                  <a:rPr lang="en-US" b="1" dirty="0" err="1"/>
                  <a:t>i.e</a:t>
                </a:r>
                <a:r>
                  <a:rPr lang="en-US" b="1" dirty="0"/>
                  <a:t> construct the frequency table)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Label the x-axis with the values or endpoints of each interval.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Draw a bar over each value or interval with height equal to its frequency or relative frequency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pPr marL="457200" lvl="1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8FD37C-6477-7C00-926C-1FB6661998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8125" y="1825624"/>
                <a:ext cx="11408930" cy="491807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30363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4" y="272525"/>
            <a:ext cx="10808856" cy="7426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Try it out: Histogram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33D906-CF81-5AD4-2902-D9DD0E0EF8B7}"/>
              </a:ext>
            </a:extLst>
          </p:cNvPr>
          <p:cNvSpPr txBox="1">
            <a:spLocks/>
          </p:cNvSpPr>
          <p:nvPr/>
        </p:nvSpPr>
        <p:spPr>
          <a:xfrm>
            <a:off x="445365" y="2714328"/>
            <a:ext cx="11746635" cy="14293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-1.5, -1.2, -1.0, -0.8, -0.7, -0.6, -0.1, -0.1,  0.1,  0.1,  0.1,  0.6,  0.6,  0.8,  1.1,  1.2,  1.3,  1.8,  1.9,  2.4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213490-33AD-E45E-125B-D7FA89BFD34B}"/>
              </a:ext>
            </a:extLst>
          </p:cNvPr>
          <p:cNvSpPr/>
          <p:nvPr/>
        </p:nvSpPr>
        <p:spPr>
          <a:xfrm>
            <a:off x="886692" y="2714328"/>
            <a:ext cx="1551708" cy="352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2BE3A7-1702-3816-F90B-109E53109E51}"/>
              </a:ext>
            </a:extLst>
          </p:cNvPr>
          <p:cNvSpPr/>
          <p:nvPr/>
        </p:nvSpPr>
        <p:spPr>
          <a:xfrm>
            <a:off x="2438400" y="2717637"/>
            <a:ext cx="2613891" cy="35242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2DFA3D-1F2D-810A-D784-FDFCB6351755}"/>
              </a:ext>
            </a:extLst>
          </p:cNvPr>
          <p:cNvSpPr/>
          <p:nvPr/>
        </p:nvSpPr>
        <p:spPr>
          <a:xfrm>
            <a:off x="5056909" y="2714082"/>
            <a:ext cx="3034146" cy="352425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DB1E14-5CA4-E52D-1D4D-540E17BC5261}"/>
              </a:ext>
            </a:extLst>
          </p:cNvPr>
          <p:cNvSpPr txBox="1"/>
          <p:nvPr/>
        </p:nvSpPr>
        <p:spPr>
          <a:xfrm>
            <a:off x="1335373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49E00A-FD2A-8691-15B7-0AA80B145502}"/>
              </a:ext>
            </a:extLst>
          </p:cNvPr>
          <p:cNvSpPr txBox="1"/>
          <p:nvPr/>
        </p:nvSpPr>
        <p:spPr>
          <a:xfrm>
            <a:off x="3533258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EBB7CE-1134-61D1-9E84-7D80185C0A5D}"/>
              </a:ext>
            </a:extLst>
          </p:cNvPr>
          <p:cNvSpPr txBox="1"/>
          <p:nvPr/>
        </p:nvSpPr>
        <p:spPr>
          <a:xfrm>
            <a:off x="6246809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79703-FDB1-EE29-83CF-5DB78B5B6876}"/>
              </a:ext>
            </a:extLst>
          </p:cNvPr>
          <p:cNvSpPr txBox="1"/>
          <p:nvPr/>
        </p:nvSpPr>
        <p:spPr>
          <a:xfrm>
            <a:off x="9047449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7883C8-8643-0C42-12FE-77851E1B8346}"/>
                  </a:ext>
                </a:extLst>
              </p:cNvPr>
              <p:cNvSpPr txBox="1"/>
              <p:nvPr/>
            </p:nvSpPr>
            <p:spPr>
              <a:xfrm>
                <a:off x="591127" y="1330036"/>
                <a:ext cx="878349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Consider the following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=20 </m:t>
                    </m:r>
                  </m:oMath>
                </a14:m>
                <a:r>
                  <a:rPr lang="en-US" sz="2400" dirty="0"/>
                  <a:t> observations of a continuous variable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7883C8-8643-0C42-12FE-77851E1B8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27" y="1330036"/>
                <a:ext cx="8783495" cy="461665"/>
              </a:xfrm>
              <a:prstGeom prst="rect">
                <a:avLst/>
              </a:prstGeom>
              <a:blipFill>
                <a:blip r:embed="rId2"/>
                <a:stretch>
                  <a:fillRect l="-1110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A35771E-E8CA-C571-F4E4-AD86BA85E2A3}"/>
              </a:ext>
            </a:extLst>
          </p:cNvPr>
          <p:cNvSpPr txBox="1"/>
          <p:nvPr/>
        </p:nvSpPr>
        <p:spPr>
          <a:xfrm>
            <a:off x="10452380" y="2288978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8586AA-4204-7713-BBA1-0EA1B4445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4543" y="3490844"/>
            <a:ext cx="7287642" cy="328658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F2DE21B1-71D4-A42F-0951-CFE21E065BD5}"/>
              </a:ext>
            </a:extLst>
          </p:cNvPr>
          <p:cNvSpPr/>
          <p:nvPr/>
        </p:nvSpPr>
        <p:spPr>
          <a:xfrm>
            <a:off x="8091055" y="2717637"/>
            <a:ext cx="2447636" cy="352425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F3A87-5B31-0332-7EB2-3FEAC81845AC}"/>
              </a:ext>
            </a:extLst>
          </p:cNvPr>
          <p:cNvSpPr/>
          <p:nvPr/>
        </p:nvSpPr>
        <p:spPr>
          <a:xfrm>
            <a:off x="10538691" y="2711982"/>
            <a:ext cx="481725" cy="35242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5339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/>
      <p:bldP spid="13" grpId="0"/>
      <p:bldP spid="14" grpId="0"/>
      <p:bldP spid="15" grpId="0"/>
      <p:bldP spid="17" grpId="0"/>
      <p:bldP spid="1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38ABF-62AA-E160-D36F-52F78653B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choose the number of Bins?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5FB28-1A6C-7A86-F4F5-8287DC49DB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9684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sz="2400" dirty="0"/>
                  <a:t>How to choose the best number of bins is not a straightforward question and there is a lot of literature on the subject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dirty="0"/>
                  <a:t>We can construct our histogram using a specific </a:t>
                </a:r>
                <a:r>
                  <a:rPr lang="en-US" sz="2400" dirty="0" err="1"/>
                  <a:t>binwidth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or under a set number of bins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unc>
                              <m:funcPr>
                                <m:ctrl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fNam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func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en-US" dirty="0"/>
                  <a:t>            or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unc>
                              <m:funcPr>
                                <m:ctrl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fNam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func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Square root method: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round</m:t>
                    </m:r>
                    <m:r>
                      <a:rPr lang="en-US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      </a:t>
                </a:r>
                <a:r>
                  <a:rPr lang="en-US" dirty="0"/>
                  <a:t>(A fairly safe and basic rule of thumb)</a:t>
                </a:r>
                <a:endParaRPr lang="en-US" dirty="0">
                  <a:solidFill>
                    <a:srgbClr val="FF0000"/>
                  </a:solidFill>
                </a:endParaRP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Sturges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Rule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sup>
                    </m:sSup>
                  </m:oMath>
                </a14:m>
                <a:r>
                  <a:rPr lang="en-US" dirty="0"/>
                  <a:t>: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round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)+1 </m:t>
                        </m:r>
                      </m:e>
                    </m:func>
                  </m:oMath>
                </a14:m>
                <a:r>
                  <a:rPr lang="en-US" dirty="0"/>
                  <a:t>    (not great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&lt;30</m:t>
                    </m:r>
                  </m:oMath>
                </a14:m>
                <a:r>
                  <a:rPr lang="en-US" dirty="0"/>
                  <a:t>)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Rices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Rule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sup>
                    </m:sSup>
                  </m:oMath>
                </a14:m>
                <a:r>
                  <a:rPr lang="en-US" dirty="0"/>
                  <a:t>: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ad>
                      <m:ra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sz="105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[1] Sturges, Herbert A. "The choice of a class interval." Journal of the </a:t>
                </a:r>
                <a:r>
                  <a:rPr lang="en-US" sz="1050" b="0" i="0" dirty="0" err="1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american</a:t>
                </a:r>
                <a:r>
                  <a:rPr lang="en-US" sz="105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 statistical association 21.153 (1926): 65-66.</a:t>
                </a:r>
              </a:p>
              <a:p>
                <a:pPr marL="0" indent="0">
                  <a:buNone/>
                </a:pPr>
                <a:r>
                  <a:rPr lang="en-US" sz="1050" dirty="0">
                    <a:solidFill>
                      <a:srgbClr val="222222"/>
                    </a:solidFill>
                    <a:latin typeface="Arial" panose="020B0604020202020204" pitchFamily="34" charset="0"/>
                  </a:rPr>
                  <a:t>[2] </a:t>
                </a:r>
                <a:r>
                  <a:rPr lang="en-US" sz="105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Lane, David. </a:t>
                </a:r>
                <a:r>
                  <a:rPr lang="en-US" sz="1050" b="0" i="1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Online statistics education: A multimedia course of study</a:t>
                </a:r>
                <a:r>
                  <a:rPr lang="en-US" sz="105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. Association for the Advancement of Computing in Education (AACE), 2003. – Chapter 2 “Graphing Distributions </a:t>
                </a:r>
              </a:p>
              <a:p>
                <a:pPr marL="0" indent="0">
                  <a:buNone/>
                </a:pPr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5FB28-1A6C-7A86-F4F5-8287DC49D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96848"/>
              </a:xfrm>
              <a:blipFill>
                <a:blip r:embed="rId2"/>
                <a:stretch>
                  <a:fillRect l="-696" t="-2160" r="-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03440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Some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FD37C-6477-7C00-926C-1FB666199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1533236"/>
            <a:ext cx="5857875" cy="52104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If </a:t>
            </a:r>
            <a:r>
              <a:rPr lang="en-US" u="sng" dirty="0"/>
              <a:t>too few</a:t>
            </a:r>
            <a:r>
              <a:rPr lang="en-US" dirty="0"/>
              <a:t> intervals are used, then the graph will be too crude</a:t>
            </a:r>
          </a:p>
          <a:p>
            <a:endParaRPr lang="en-US" dirty="0"/>
          </a:p>
          <a:p>
            <a:r>
              <a:rPr lang="en-US" dirty="0"/>
              <a:t>If </a:t>
            </a:r>
            <a:r>
              <a:rPr lang="en-US" u="sng" dirty="0"/>
              <a:t>too many</a:t>
            </a:r>
            <a:r>
              <a:rPr lang="en-US" dirty="0"/>
              <a:t> intervals are used, graph will contain many short bars and gaps. </a:t>
            </a:r>
          </a:p>
          <a:p>
            <a:pPr marL="457200" lvl="1" indent="0">
              <a:buNone/>
            </a:pPr>
            <a:r>
              <a:rPr lang="en-US" dirty="0"/>
              <a:t>Usually  between 5 - 15 intervals are enough.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Most plotting software will automatically choose the number of bins.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u="sng" dirty="0"/>
              <a:t>ALWAYS</a:t>
            </a:r>
            <a:r>
              <a:rPr lang="en-US" dirty="0"/>
              <a:t> plot the histogram to get an idea about the shape of the distribution of a quantitative variable </a:t>
            </a:r>
          </a:p>
          <a:p>
            <a:endParaRPr lang="en-US" dirty="0"/>
          </a:p>
          <a:p>
            <a:r>
              <a:rPr lang="en-US" dirty="0"/>
              <a:t>Is the number of observations is small (say n &lt; 50) then it’s a good idea to supplement a histogram with a dot plot or stem plot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B687C5-40BA-D0EA-5A63-59C5B8F47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566" y="1"/>
            <a:ext cx="4256175" cy="25527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58A48EC-CDD0-04BA-47F9-5B4CC4AE0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565" y="2256176"/>
            <a:ext cx="4366397" cy="22839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740C87-4A50-38E8-A519-55957D15C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0453" y="4467408"/>
            <a:ext cx="4347509" cy="2276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6699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3F76311-3A9D-2395-F921-58D84AC2F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43" y="2371724"/>
            <a:ext cx="5299432" cy="25128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C59B7A-4888-2F53-4913-9DA0E60378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428176"/>
            <a:ext cx="5972175" cy="34298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8CA529-7CC3-CAE2-9847-392C83BDC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644" y="171451"/>
            <a:ext cx="6271356" cy="379095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A4E0D4A-62CF-AB62-D6A7-48E60442E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209" y="1546224"/>
            <a:ext cx="4991100" cy="825500"/>
          </a:xfrm>
        </p:spPr>
        <p:txBody>
          <a:bodyPr>
            <a:normAutofit/>
          </a:bodyPr>
          <a:lstStyle/>
          <a:p>
            <a:r>
              <a:rPr lang="en-US" sz="2400" dirty="0"/>
              <a:t>Example: Old Faithful Eruption Times</a:t>
            </a:r>
          </a:p>
        </p:txBody>
      </p:sp>
    </p:spTree>
    <p:extLst>
      <p:ext uri="{BB962C8B-B14F-4D97-AF65-F5344CB8AC3E}">
        <p14:creationId xmlns:p14="http://schemas.microsoft.com/office/powerpoint/2010/main" val="726230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2171</TotalTime>
  <Words>1806</Words>
  <Application>Microsoft Office PowerPoint</Application>
  <PresentationFormat>Widescreen</PresentationFormat>
  <Paragraphs>258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Consolas</vt:lpstr>
      <vt:lpstr>Office Theme</vt:lpstr>
      <vt:lpstr>Lecture 3 Describing and Visualizing Distributions  </vt:lpstr>
      <vt:lpstr>Review</vt:lpstr>
      <vt:lpstr>Review</vt:lpstr>
      <vt:lpstr>PowerPoint Presentation</vt:lpstr>
      <vt:lpstr>Features of Distributions</vt:lpstr>
      <vt:lpstr>Displaying Distributions: Frequency Tables</vt:lpstr>
      <vt:lpstr>Example: Mendel’s Pea Plants</vt:lpstr>
      <vt:lpstr>Try it out: A Frequency Table by Hand</vt:lpstr>
      <vt:lpstr>PowerPoint Presentation</vt:lpstr>
      <vt:lpstr>Try it out: A Discrete Variable</vt:lpstr>
      <vt:lpstr>Frequency Tables for Continuous Variables</vt:lpstr>
      <vt:lpstr>Try it out: Binning a Continuous Variable</vt:lpstr>
      <vt:lpstr>Example: Old Faithful Eruption Times</vt:lpstr>
      <vt:lpstr>Old Faithful Eruption Times: Frequency Table</vt:lpstr>
      <vt:lpstr>Visualizing Distributions of Categorical Data</vt:lpstr>
      <vt:lpstr>PowerPoint Presentation</vt:lpstr>
      <vt:lpstr>Visualizing Distributions: Quantitative Variables </vt:lpstr>
      <vt:lpstr>PowerPoint Presentation</vt:lpstr>
      <vt:lpstr>Example: MPG and Engine Cylinders</vt:lpstr>
      <vt:lpstr>PowerPoint Presentation</vt:lpstr>
      <vt:lpstr>Visualizing Distributions: Quantitative Variables </vt:lpstr>
      <vt:lpstr>Example: MPG</vt:lpstr>
      <vt:lpstr>Try it out: Stem and leaf plot</vt:lpstr>
      <vt:lpstr>Visualizing Distributions: Quantitative Variables </vt:lpstr>
      <vt:lpstr>Try it out: Histogram</vt:lpstr>
      <vt:lpstr>How to choose the number of Bins?</vt:lpstr>
      <vt:lpstr>Some tips</vt:lpstr>
      <vt:lpstr>Example: Old Faithful Eruption Times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335</cp:revision>
  <dcterms:created xsi:type="dcterms:W3CDTF">2023-08-05T23:57:41Z</dcterms:created>
  <dcterms:modified xsi:type="dcterms:W3CDTF">2026-08-31T18:17:13Z</dcterms:modified>
</cp:coreProperties>
</file>